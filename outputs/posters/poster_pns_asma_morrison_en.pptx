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80747562094d36" /><Relationship Type="http://schemas.openxmlformats.org/officeDocument/2006/relationships/extended-properties" Target="/docProps/app.xml" Id="R5ab18f3fdbe84ccd" /><Relationship Type="http://schemas.openxmlformats.org/officeDocument/2006/relationships/officeDocument" Target="/ppt/presentation.xml" Id="R2aec61892f6044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d79f40acb4593"/>
  </p:sldMasterIdLst>
  <p:notesMasterIdLst>
    <p:notesMasterId xmlns:r="http://schemas.openxmlformats.org/officeDocument/2006/relationships" r:id="Re2605e1096c44c20"/>
  </p:notesMasterIdLst>
  <p:sldIdLst>
    <p:sldId xmlns:r="http://schemas.openxmlformats.org/officeDocument/2006/relationships" id="256" r:id="Rb97627f83d454bfa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84c5ee513b437d" /><Relationship Type="http://schemas.openxmlformats.org/officeDocument/2006/relationships/slideMaster" Target="/ppt/slideMasters/slideMaster1.xml" Id="R644d79f40acb4593" /><Relationship Type="http://schemas.openxmlformats.org/officeDocument/2006/relationships/notesMaster" Target="/ppt/notesMasters/notesMaster1.xml" Id="Re2605e1096c44c20" /><Relationship Type="http://schemas.openxmlformats.org/officeDocument/2006/relationships/presProps" Target="/ppt/presProps.xml" Id="R1122269c8d934d7c" /><Relationship Type="http://schemas.openxmlformats.org/officeDocument/2006/relationships/tableStyles" Target="/ppt/tableStyles.xml" Id="R5dd9461f409d4e11" /><Relationship Type="http://schemas.openxmlformats.org/officeDocument/2006/relationships/slide" Target="/ppt/slides/slide1.xml" Id="Rb97627f83d454b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812dd3f0c24a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1cc47e5e5445fd" /><Relationship Type="http://schemas.openxmlformats.org/officeDocument/2006/relationships/notesMaster" Target="/ppt/notesMasters/notesMaster1.xml" Id="R227433ba0cfa46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40cd7b3c3c41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e648541f754c06" /><Relationship Type="http://schemas.openxmlformats.org/officeDocument/2006/relationships/slideLayout" Target="/ppt/slideLayouts/slideLayout1.xml" Id="Rfad600ee12c441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d600ee12c441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02aeb43ef4c97" /><Relationship Type="http://schemas.openxmlformats.org/officeDocument/2006/relationships/image" Target="/ppt/media/image.png" Id="R7a56c00e549743f0" /><Relationship Type="http://schemas.openxmlformats.org/officeDocument/2006/relationships/image" Target="/ppt/media/image2.png" Id="R16d57b7efad2412e" /><Relationship Type="http://schemas.openxmlformats.org/officeDocument/2006/relationships/image" Target="/ppt/media/image3.png" Id="R587a7c2cd77340c6" /><Relationship Type="http://schemas.openxmlformats.org/officeDocument/2006/relationships/image" Target="/ppt/media/image4.png" Id="R5ded3da0c05a457b" /><Relationship Type="http://schemas.openxmlformats.org/officeDocument/2006/relationships/image" Target="/ppt/media/image5.png" Id="R6e6b21235e85480e" /><Relationship Type="http://schemas.openxmlformats.org/officeDocument/2006/relationships/image" Target="/ppt/media/image6.png" Id="Rc11ccae5299848db" /><Relationship Type="http://schemas.openxmlformats.org/officeDocument/2006/relationships/image" Target="/ppt/media/image7.png" Id="Rd59cbeaac26044f2" /><Relationship Type="http://schemas.openxmlformats.org/officeDocument/2006/relationships/image" Target="/ppt/media/image8.png" Id="Rb0b91ed4fb884748" /><Relationship Type="http://schemas.openxmlformats.org/officeDocument/2006/relationships/notesSlide" Target="/ppt/notesSlides/notesSlide1.xml" Id="R6a252dc341704c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6c00e549743f0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57b7efad2412e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a7c2cd77340c6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F3917962-4BFC-48D9-ACA7-0AA06BBF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9D12DE1F-63D4-4066-A99A-7803FC36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2DB71BC1-CBBD-4944-8262-629EF1F1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Physician-diagnosed asthma increased in Brazil; attacks and medication-use indicators did not show proportional improvement in disease control.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842609E9-07E3-4383-B34B-6C4FB549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F3E3DDC7-FAB7-480B-9683-D21062D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467BDEEE-42EA-424E-B534-71D0782F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F330FF2C-A534-4031-9104-D94292DA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19712E0C-8A90-4A8E-AD99-A07E0FD8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835EE0C5-A943-4AA9-864B-BAF5EB09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D21008B1-F6BB-4C56-965B-A799A9DB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2FDDA41A-8E98-4FDB-ACD6-949A8DE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E4F4D8AD-03D9-4021-A309-995F9486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7B1F63BF-7E08-4767-A850-F72BC1FF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A3AA1067-BE82-4158-840E-64571C9C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2965C92B-C640-405A-ADBC-C9E80B41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B15B7185-5319-429B-A82A-6673C185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A980F264-84C4-4FD9-A4D7-7A373FA4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285F4BD5-CEA6-4D03-96E7-0EFFBDD6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91880EA2-EA10-4CFE-88ED-A262FAB4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1B762024-61B2-48D9-BAE9-64724BE3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DC894CB1-2C73-43D1-B104-9269B1C5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D471ECE7-FF21-4155-B48F-2B969A89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5512A0C6-60C5-4098-AF48-3FFF76AE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5871EDE4-E41A-4F34-A22F-9C08DF5C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8056234E-A1E9-419D-9E6B-38C496A9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C68A1DC6-9A61-4476-A353-787C89AD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National 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0F17A1BC-3045-4564-9C54-0A85FF8F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4BF458A2-0A86-4607-81EC-DE0834D4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Attacks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7F4AEA68-7A75-4344-A347-6A93877E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38.3%→37.7%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E5F52621-823C-414F-BEAD-8A8C3A0B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No proportional improvement in control.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DBDA1B61-64D8-4D20-93C4-A95ED9E7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FBD9A5E1-B949-47A5-9419-FE7192FE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5CD3CBE4-1C2A-49DE-A20F-056C3DB4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6332FCC1-B577-405E-AFC4-C0A2744A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Read by denominator and CI.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290B8A6A-964D-431A-B58F-2684E287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C6672C41-07D2-4B67-99BD-15784571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d3da0c05a457b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FC3D3BB4-79E2-4DC7-A770-8284E966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AF037BB9-FC2D-4C1E-B2E1-00D58C09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b21235e85480e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9CCE5D92-4DE6-4E10-91FA-C2FFD572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Current smokers per 100,000 inhabitants by state, PNS 2013 and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25DB8DCD-68C1-408D-887A-8707A687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ccae5299848db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Key findings-box">
            <a:extLst xmlns:a="http://schemas.openxmlformats.org/drawingml/2006/main">
              <a:ext uri="{FF2B5EF4-FFF2-40B4-BE49-F238E27FC236}">
                <a16:creationId xmlns:a16="http://schemas.microsoft.com/office/drawing/2014/main" id="{6C14D8FD-CEEA-4DA9-8B63-C49028AB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Key findings-head">
            <a:extLst xmlns:a="http://schemas.openxmlformats.org/drawingml/2006/main">
              <a:ext uri="{FF2B5EF4-FFF2-40B4-BE49-F238E27FC236}">
                <a16:creationId xmlns:a16="http://schemas.microsoft.com/office/drawing/2014/main" id="{807E4494-785D-4F46-B32B-0C201345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Key findings-title">
            <a:extLst xmlns:a="http://schemas.openxmlformats.org/drawingml/2006/main">
              <a:ext uri="{FF2B5EF4-FFF2-40B4-BE49-F238E27FC236}">
                <a16:creationId xmlns:a16="http://schemas.microsoft.com/office/drawing/2014/main" id="{766FDB1E-D807-4655-8E8A-A4DC2B25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Key findings</a:t>
            </a:r>
          </a:p>
        </p:txBody>
      </p:sp>
      <p:sp>
        <p:nvSpPr>
          <p:cNvPr id="50" name="5-Key findings-body">
            <a:extLst xmlns:a="http://schemas.openxmlformats.org/drawingml/2006/main">
              <a:ext uri="{FF2B5EF4-FFF2-40B4-BE49-F238E27FC236}">
                <a16:creationId xmlns:a16="http://schemas.microsoft.com/office/drawing/2014/main" id="{1B56CBDC-CACA-47AB-A812-8C1A0235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Physician-diagnosed asthma: 4.41% in 2013 to 5.40% in 2019, with non-overlapping CIs.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Attacks in the previous 12 months: 38.3% to 37.7%, indicating approximate stability.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Oral/inhaler medication use among people with asthma: 81.5% to 64.4%; reading requires denominator and CI caution.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Smoking declined in several states; the national rate cited changed from 14,650 to 12,151 per 100,000.</a:t>
            </a:r>
          </a:p>
        </p:txBody>
      </p:sp>
      <p:sp>
        <p:nvSpPr>
          <p:cNvPr id="51" name="6-Applied discussion-box">
            <a:extLst xmlns:a="http://schemas.openxmlformats.org/drawingml/2006/main">
              <a:ext uri="{FF2B5EF4-FFF2-40B4-BE49-F238E27FC236}">
                <a16:creationId xmlns:a16="http://schemas.microsoft.com/office/drawing/2014/main" id="{A8E63FC3-EA75-46B1-9C11-0D437229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Applied discussion-head">
            <a:extLst xmlns:a="http://schemas.openxmlformats.org/drawingml/2006/main">
              <a:ext uri="{FF2B5EF4-FFF2-40B4-BE49-F238E27FC236}">
                <a16:creationId xmlns:a16="http://schemas.microsoft.com/office/drawing/2014/main" id="{851D27FC-4DF4-465C-9406-3A5DDB4B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Applied discussion-title">
            <a:extLst xmlns:a="http://schemas.openxmlformats.org/drawingml/2006/main">
              <a:ext uri="{FF2B5EF4-FFF2-40B4-BE49-F238E27FC236}">
                <a16:creationId xmlns:a16="http://schemas.microsoft.com/office/drawing/2014/main" id="{30E92A5F-9405-406F-ACFE-3A06C5D8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45782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Applied discussion</a:t>
            </a:r>
          </a:p>
        </p:txBody>
      </p:sp>
      <p:sp>
        <p:nvSpPr>
          <p:cNvPr id="54" name="6-Applied discussion-body">
            <a:extLst xmlns:a="http://schemas.openxmlformats.org/drawingml/2006/main">
              <a:ext uri="{FF2B5EF4-FFF2-40B4-BE49-F238E27FC236}">
                <a16:creationId xmlns:a16="http://schemas.microsoft.com/office/drawing/2014/main" id="{E0994A0D-24AD-41F3-B15E-D56CFBC1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The diagnosis increase may reflect higher occurrence, better diagnostic access or both.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Stable attacks suggest clinical management did not improve proportionally.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Asthma control depends on medication access, clinical follow-up, education, exposure control and non-pharmacological interventions.</a:t>
            </a:r>
          </a:p>
        </p:txBody>
      </p:sp>
      <p:sp>
        <p:nvSpPr>
          <p:cNvPr id="55" name="7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8121A1F6-B696-4ED7-911F-96D3A828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6" name="7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88D8D64F-C10C-4580-91B0-6664E900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7" name="7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AB2F1219-34F5-4E7D-8141-35B051BA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Central conclusion</a:t>
            </a:r>
          </a:p>
        </p:txBody>
      </p:sp>
      <p:sp>
        <p:nvSpPr>
          <p:cNvPr id="58" name="7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C3555E63-B793-49A9-9312-9A237E68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Brazil showed increased diagnosis, but not equivalent evidence of improved control.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State-level charts must be read with 95% CIs because many comparisons have overlapping intervals.</a:t>
            </a:r>
          </a:p>
        </p:txBody>
      </p:sp>
      <p:sp>
        <p:nvSpPr>
          <p:cNvPr id="59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2274B125-517D-4DCE-9E26-E7C008F9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Asthma attacks in the previous 12 months (%) by state and Brazil, PNS 2013 and 2019.</a:t>
            </a:r>
          </a:p>
        </p:txBody>
      </p:sp>
      <p:sp>
        <p:nvSpPr>
          <p:cNvPr id="60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9B48D0BC-2398-4EC0-8C7D-04809EAC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beaac26044f2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62" name="qr-box">
            <a:extLst xmlns:a="http://schemas.openxmlformats.org/drawingml/2006/main">
              <a:ext uri="{FF2B5EF4-FFF2-40B4-BE49-F238E27FC236}">
                <a16:creationId xmlns:a16="http://schemas.microsoft.com/office/drawing/2014/main" id="{34283B7C-DB80-46AC-8D76-82BB1570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91ed4fb884748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4" name="qr-label">
            <a:extLst xmlns:a="http://schemas.openxmlformats.org/drawingml/2006/main">
              <a:ext uri="{FF2B5EF4-FFF2-40B4-BE49-F238E27FC236}">
                <a16:creationId xmlns:a16="http://schemas.microsoft.com/office/drawing/2014/main" id="{83D23F73-ADF2-4076-A04A-6A61B2B3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5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5F036B7B-E7F5-4538-9335-C2181798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78751C3B-6DAB-4964-9844-6E217D3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7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0337290F-DB9E-4653-B80F-08F55504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0403966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2026-07-21T21:42:11.1290000Z</dcterms:created>
  <dcterms:modified xsi:type="dcterms:W3CDTF">2026-07-21T21:42:11.1290000Z</dcterms:modified>
</coreProperties>
</file>