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fce82cbf6a44f9d" /><Relationship Type="http://schemas.openxmlformats.org/officeDocument/2006/relationships/extended-properties" Target="/docProps/app.xml" Id="R7365baefbebd4e02" /><Relationship Type="http://schemas.openxmlformats.org/officeDocument/2006/relationships/officeDocument" Target="/ppt/presentation.xml" Id="R6961ef360f134f8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da2ef1d5af344fd"/>
  </p:sldMasterIdLst>
  <p:notesMasterIdLst>
    <p:notesMasterId xmlns:r="http://schemas.openxmlformats.org/officeDocument/2006/relationships" r:id="R6d7ffd8de59a4810"/>
  </p:notesMasterIdLst>
  <p:sldIdLst>
    <p:sldId xmlns:r="http://schemas.openxmlformats.org/officeDocument/2006/relationships" id="256" r:id="Rf33a82278b664e36"/>
  </p:sldIdLst>
  <p:sldSz cx="9525000" cy="1346835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e59b582b7354a72" /><Relationship Type="http://schemas.openxmlformats.org/officeDocument/2006/relationships/slideMaster" Target="/ppt/slideMasters/slideMaster1.xml" Id="R2da2ef1d5af344fd" /><Relationship Type="http://schemas.openxmlformats.org/officeDocument/2006/relationships/notesMaster" Target="/ppt/notesMasters/notesMaster1.xml" Id="R6d7ffd8de59a4810" /><Relationship Type="http://schemas.openxmlformats.org/officeDocument/2006/relationships/presProps" Target="/ppt/presProps.xml" Id="R27762fa22bd3446c" /><Relationship Type="http://schemas.openxmlformats.org/officeDocument/2006/relationships/tableStyles" Target="/ppt/tableStyles.xml" Id="R98ba982f46aa4c72" /><Relationship Type="http://schemas.openxmlformats.org/officeDocument/2006/relationships/slide" Target="/ppt/slides/slide1.xml" Id="Rf33a82278b664e3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5cfe1c77fb041e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467de96d369459e" /><Relationship Type="http://schemas.openxmlformats.org/officeDocument/2006/relationships/notesMaster" Target="/ppt/notesMasters/notesMaster1.xml" Id="Rc24751c057934e1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f2fc82e811496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5959d435aa64613" /><Relationship Type="http://schemas.openxmlformats.org/officeDocument/2006/relationships/slideLayout" Target="/ppt/slideLayouts/slideLayout1.xml" Id="R4dc07bc70e634c0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c07bc70e634c0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79bcfd9b724f38" /><Relationship Type="http://schemas.openxmlformats.org/officeDocument/2006/relationships/image" Target="/ppt/media/image.png" Id="R23bc01011c684544" /><Relationship Type="http://schemas.openxmlformats.org/officeDocument/2006/relationships/image" Target="/ppt/media/image2.png" Id="Rdb324d8a126448dd" /><Relationship Type="http://schemas.openxmlformats.org/officeDocument/2006/relationships/image" Target="/ppt/media/image3.png" Id="Rf0d67e9d4d674a24" /><Relationship Type="http://schemas.openxmlformats.org/officeDocument/2006/relationships/image" Target="/ppt/media/image4.png" Id="R03b06f23e692415c" /><Relationship Type="http://schemas.openxmlformats.org/officeDocument/2006/relationships/image" Target="/ppt/media/image5.png" Id="R5023f48603e04910" /><Relationship Type="http://schemas.openxmlformats.org/officeDocument/2006/relationships/image" Target="/ppt/media/image6.png" Id="Ra2d18521674749aa" /><Relationship Type="http://schemas.openxmlformats.org/officeDocument/2006/relationships/image" Target="/ppt/media/image7.png" Id="R303fb0780265450d" /><Relationship Type="http://schemas.openxmlformats.org/officeDocument/2006/relationships/image" Target="/ppt/media/image8.png" Id="Reedfa9a9f28e4690" /><Relationship Type="http://schemas.openxmlformats.org/officeDocument/2006/relationships/notesSlide" Target="/ppt/notesSlides/notesSlide1.xml" Id="R377cb7d7b2f148c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bc01011c684544"/>
          <a:srcRect xmlns:a="http://schemas.openxmlformats.org/drawingml/2006/main" l="0" t="38622" r="0" b="386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000" cy="1219200"/>
          </a:xfrm>
          <a:prstGeom xmlns:a="http://schemas.openxmlformats.org/drawingml/2006/main" prst="rect">
            <a:avLst/>
          </a:prstGeom>
        </p:spPr>
      </p:pic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324d8a126448dd"/>
          <a:stretch xmlns:a="http://schemas.openxmlformats.org/drawingml/2006/main"/>
        </p:blipFill>
        <p:spPr>
          <a:xfrm xmlns:a="http://schemas.openxmlformats.org/drawingml/2006/main">
            <a:off x="323850" y="265374"/>
            <a:ext cx="2952750" cy="612252"/>
          </a:xfrm>
          <a:prstGeom xmlns:a="http://schemas.openxmlformats.org/drawingml/2006/main" prst="rect">
            <a:avLst/>
          </a:prstGeom>
        </p:spPr>
      </p:pic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d67e9d4d674a24"/>
          <a:stretch xmlns:a="http://schemas.openxmlformats.org/drawingml/2006/main"/>
        </p:blipFill>
        <p:spPr>
          <a:xfrm xmlns:a="http://schemas.openxmlformats.org/drawingml/2006/main">
            <a:off x="3905250" y="425056"/>
            <a:ext cx="4953000" cy="311937"/>
          </a:xfrm>
          <a:prstGeom xmlns:a="http://schemas.openxmlformats.org/drawingml/2006/main" prst="rect">
            <a:avLst/>
          </a:prstGeom>
        </p:spPr>
      </p:pic>
      <p:sp>
        <p:nvSpPr>
          <p:cNvPr id="4" name="morrison-title">
            <a:extLst xmlns:a="http://schemas.openxmlformats.org/drawingml/2006/main">
              <a:ext uri="{FF2B5EF4-FFF2-40B4-BE49-F238E27FC236}">
                <a16:creationId xmlns:a16="http://schemas.microsoft.com/office/drawing/2014/main" id="{142E962B-AE39-4875-B258-83253AE86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352550"/>
            <a:ext cx="8839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53F59"/>
                </a:solidFill>
              </a:defRPr>
            </a:pPr>
            <a:r>
              <a:rPr sz="1875" b="1">
                <a:solidFill>
                  <a:srgbClr val="153F59"/>
                </a:solidFill>
              </a:rPr>
              <a:t>Implementing the National Health Survey Sampling Design in R: a case study on asthma in Brazil</a:t>
            </a:r>
          </a:p>
        </p:txBody>
      </p:sp>
      <p:sp>
        <p:nvSpPr>
          <p:cNvPr id="5" name="morrison-authors">
            <a:extLst xmlns:a="http://schemas.openxmlformats.org/drawingml/2006/main">
              <a:ext uri="{FF2B5EF4-FFF2-40B4-BE49-F238E27FC236}">
                <a16:creationId xmlns:a16="http://schemas.microsoft.com/office/drawing/2014/main" id="{8290CFC9-914C-4594-8961-4C1FC2044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962150"/>
            <a:ext cx="883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6372"/>
                </a:solidFill>
              </a:defRPr>
            </a:pPr>
            <a:r>
              <a:rPr sz="825" b="0">
                <a:solidFill>
                  <a:srgbClr val="4F6372"/>
                </a:solidFill>
              </a:rPr>
              <a:t>I. Dube; M. E. L. Silva | Observational data management</a:t>
            </a:r>
          </a:p>
        </p:txBody>
      </p:sp>
      <p:sp>
        <p:nvSpPr>
          <p:cNvPr id="6" name="central-message">
            <a:extLst xmlns:a="http://schemas.openxmlformats.org/drawingml/2006/main">
              <a:ext uri="{FF2B5EF4-FFF2-40B4-BE49-F238E27FC236}">
                <a16:creationId xmlns:a16="http://schemas.microsoft.com/office/drawing/2014/main" id="{D3A3CAD2-F3B1-4570-A7C8-5B545AB6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8153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Asthma diagnosis increased in Brazil; respiratory absenteeism shows potential productivity loss and economic impact.</a:t>
            </a:r>
          </a:p>
        </p:txBody>
      </p:sp>
      <p:sp>
        <p:nvSpPr>
          <p:cNvPr id="7" name="1-Method in one line-box">
            <a:extLst xmlns:a="http://schemas.openxmlformats.org/drawingml/2006/main">
              <a:ext uri="{FF2B5EF4-FFF2-40B4-BE49-F238E27FC236}">
                <a16:creationId xmlns:a16="http://schemas.microsoft.com/office/drawing/2014/main" id="{870C86D8-0E10-4DBA-82B2-5BCEC58F7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5150"/>
            <a:ext cx="268605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8" name="1-Method in one line-head">
            <a:extLst xmlns:a="http://schemas.openxmlformats.org/drawingml/2006/main">
              <a:ext uri="{FF2B5EF4-FFF2-40B4-BE49-F238E27FC236}">
                <a16:creationId xmlns:a16="http://schemas.microsoft.com/office/drawing/2014/main" id="{CE6880CA-76A1-4C92-BAD4-53C2AF76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515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9" name="1-Method in one line-title">
            <a:extLst xmlns:a="http://schemas.openxmlformats.org/drawingml/2006/main">
              <a:ext uri="{FF2B5EF4-FFF2-40B4-BE49-F238E27FC236}">
                <a16:creationId xmlns:a16="http://schemas.microsoft.com/office/drawing/2014/main" id="{D74270D0-BF45-401C-A496-86B03929F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5277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1. Method in one line</a:t>
            </a:r>
          </a:p>
        </p:txBody>
      </p:sp>
      <p:sp>
        <p:nvSpPr>
          <p:cNvPr id="10" name="1-Method in one line-body">
            <a:extLst xmlns:a="http://schemas.openxmlformats.org/drawingml/2006/main">
              <a:ext uri="{FF2B5EF4-FFF2-40B4-BE49-F238E27FC236}">
                <a16:creationId xmlns:a16="http://schemas.microsoft.com/office/drawing/2014/main" id="{FBE7A65A-E1FE-48DD-8B8E-78ECA91C1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48050"/>
            <a:ext cx="24955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The design was built with PNSIBGE::pns_design(), preserving PSU, strata and calibrated selected-resident weights.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Estimation uses the survey package for proportions, means, totals and rates.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Rates per 100,000 rescale weighted proportions while preserving uncertainty from the complex design.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Lonely PSUs and small domains require explicit inferential choices.</a:t>
            </a:r>
          </a:p>
        </p:txBody>
      </p:sp>
      <p:sp>
        <p:nvSpPr>
          <p:cNvPr id="11" name="morrison-formula-box">
            <a:extLst xmlns:a="http://schemas.openxmlformats.org/drawingml/2006/main">
              <a:ext uri="{FF2B5EF4-FFF2-40B4-BE49-F238E27FC236}">
                <a16:creationId xmlns:a16="http://schemas.microsoft.com/office/drawing/2014/main" id="{F02AF21C-8241-44C5-8095-0374F8834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10150"/>
            <a:ext cx="26860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12" name="morrison-formula-title">
            <a:extLst xmlns:a="http://schemas.openxmlformats.org/drawingml/2006/main">
              <a:ext uri="{FF2B5EF4-FFF2-40B4-BE49-F238E27FC236}">
                <a16:creationId xmlns:a16="http://schemas.microsoft.com/office/drawing/2014/main" id="{75C011E8-74A7-4650-BB65-3988AD49C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67300"/>
            <a:ext cx="2686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3F59"/>
                </a:solidFill>
              </a:defRPr>
            </a:pPr>
            <a:r>
              <a:rPr sz="900" b="1">
                <a:solidFill>
                  <a:srgbClr val="153F59"/>
                </a:solidFill>
              </a:rPr>
              <a:t>Estimators and formulas</a:t>
            </a:r>
          </a:p>
        </p:txBody>
      </p:sp>
      <p:sp>
        <p:nvSpPr>
          <p:cNvPr id="13" name="morrison-formula">
            <a:extLst xmlns:a="http://schemas.openxmlformats.org/drawingml/2006/main">
              <a:ext uri="{FF2B5EF4-FFF2-40B4-BE49-F238E27FC236}">
                <a16:creationId xmlns:a16="http://schemas.microsoft.com/office/drawing/2014/main" id="{977D5E72-E325-4976-84F2-21A0D7D0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76850"/>
            <a:ext cx="24955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p̂ = Σᵢ wᵢyᵢ / Σᵢ wᵢ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wᵢ = sampling weight; yᵢ = binary indicator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% = 100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rate₁₀₀k = 100000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CI₉₅%(p̂) = survey::svyciprop(method = "beta")</a:t>
            </a:r>
          </a:p>
        </p:txBody>
      </p:sp>
      <p:sp>
        <p:nvSpPr>
          <p:cNvPr id="14" name="2-Data and denominators-box">
            <a:extLst xmlns:a="http://schemas.openxmlformats.org/drawingml/2006/main">
              <a:ext uri="{FF2B5EF4-FFF2-40B4-BE49-F238E27FC236}">
                <a16:creationId xmlns:a16="http://schemas.microsoft.com/office/drawing/2014/main" id="{CA2AC51D-24B8-483D-B848-4D63543A1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53200"/>
            <a:ext cx="26860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5" name="2-Data and denominators-head">
            <a:extLst xmlns:a="http://schemas.openxmlformats.org/drawingml/2006/main">
              <a:ext uri="{FF2B5EF4-FFF2-40B4-BE49-F238E27FC236}">
                <a16:creationId xmlns:a16="http://schemas.microsoft.com/office/drawing/2014/main" id="{363368C9-43A9-4783-8A3D-D7803E856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532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16" name="2-Data and denominators-title">
            <a:extLst xmlns:a="http://schemas.openxmlformats.org/drawingml/2006/main">
              <a:ext uri="{FF2B5EF4-FFF2-40B4-BE49-F238E27FC236}">
                <a16:creationId xmlns:a16="http://schemas.microsoft.com/office/drawing/2014/main" id="{48D928BA-1C98-41C2-873A-E5B294C10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008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2. Data and denominators</a:t>
            </a:r>
          </a:p>
        </p:txBody>
      </p:sp>
      <p:sp>
        <p:nvSpPr>
          <p:cNvPr id="17" name="2-Data and denominators-body">
            <a:extLst xmlns:a="http://schemas.openxmlformats.org/drawingml/2006/main">
              <a:ext uri="{FF2B5EF4-FFF2-40B4-BE49-F238E27FC236}">
                <a16:creationId xmlns:a16="http://schemas.microsoft.com/office/drawing/2014/main" id="{80E4215E-E828-44AC-8742-CF906157B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896100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Analytical unit: selected resident from PNS.</a:t>
            </a:r>
          </a:p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Core variables: Q074 physician-diagnosed asthma; Q076 recent attack; Q07701/Q07704/Q07708 medication use; P050 smoking.</a:t>
            </a:r>
          </a:p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Denominators vary by indicator: general population, people with asthma, people with asthma and attack, or valid responses.</a:t>
            </a:r>
          </a:p>
        </p:txBody>
      </p:sp>
      <p:sp>
        <p:nvSpPr>
          <p:cNvPr id="18" name="3-Why beta CIs?-box">
            <a:extLst xmlns:a="http://schemas.openxmlformats.org/drawingml/2006/main">
              <a:ext uri="{FF2B5EF4-FFF2-40B4-BE49-F238E27FC236}">
                <a16:creationId xmlns:a16="http://schemas.microsoft.com/office/drawing/2014/main" id="{B37FEAC3-9EDE-47BA-9078-8CCA10670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8001000"/>
            <a:ext cx="26860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9" name="3-Why beta CIs?-head">
            <a:extLst xmlns:a="http://schemas.openxmlformats.org/drawingml/2006/main">
              <a:ext uri="{FF2B5EF4-FFF2-40B4-BE49-F238E27FC236}">
                <a16:creationId xmlns:a16="http://schemas.microsoft.com/office/drawing/2014/main" id="{B41F5C66-8637-4037-9DF4-ADA06D4E1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80010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0" name="3-Why beta CIs?-title">
            <a:extLst xmlns:a="http://schemas.openxmlformats.org/drawingml/2006/main">
              <a:ext uri="{FF2B5EF4-FFF2-40B4-BE49-F238E27FC236}">
                <a16:creationId xmlns:a16="http://schemas.microsoft.com/office/drawing/2014/main" id="{B9920D36-5EB0-4055-9F64-B7362A791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486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3. Why beta CIs?</a:t>
            </a:r>
          </a:p>
        </p:txBody>
      </p:sp>
      <p:sp>
        <p:nvSpPr>
          <p:cNvPr id="21" name="3-Why beta CIs?-body">
            <a:extLst xmlns:a="http://schemas.openxmlformats.org/drawingml/2006/main">
              <a:ext uri="{FF2B5EF4-FFF2-40B4-BE49-F238E27FC236}">
                <a16:creationId xmlns:a16="http://schemas.microsoft.com/office/drawing/2014/main" id="{28469837-1877-4D5F-A3F9-5A39EEC9D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834390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Wald intervals can have unstable coverage for low/high proportions or domains with few events.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The beta CI from survey::svyciprop(method = "beta") respects the 0-1 scale and reduces impossible limits.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Year/state comparisons were interpreted through magnitude and 95% CI overlap, not bar height alone.</a:t>
            </a:r>
          </a:p>
        </p:txBody>
      </p:sp>
      <p:sp>
        <p:nvSpPr>
          <p:cNvPr id="22" name="4-ETL and interoperability-box">
            <a:extLst xmlns:a="http://schemas.openxmlformats.org/drawingml/2006/main">
              <a:ext uri="{FF2B5EF4-FFF2-40B4-BE49-F238E27FC236}">
                <a16:creationId xmlns:a16="http://schemas.microsoft.com/office/drawing/2014/main" id="{209A17EA-DD67-4577-8D9D-67DDA1200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525000"/>
            <a:ext cx="26860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3" name="4-ETL and interoperability-head">
            <a:extLst xmlns:a="http://schemas.openxmlformats.org/drawingml/2006/main">
              <a:ext uri="{FF2B5EF4-FFF2-40B4-BE49-F238E27FC236}">
                <a16:creationId xmlns:a16="http://schemas.microsoft.com/office/drawing/2014/main" id="{699E286A-98EB-4B0B-8C79-A6B34B8E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5250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4" name="4-ETL and interoperability-title">
            <a:extLst xmlns:a="http://schemas.openxmlformats.org/drawingml/2006/main">
              <a:ext uri="{FF2B5EF4-FFF2-40B4-BE49-F238E27FC236}">
                <a16:creationId xmlns:a16="http://schemas.microsoft.com/office/drawing/2014/main" id="{8DBA172B-0DF2-4A7D-BDF0-BC1399C53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5726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4. ETL and interoperability</a:t>
            </a:r>
          </a:p>
        </p:txBody>
      </p:sp>
      <p:sp>
        <p:nvSpPr>
          <p:cNvPr id="25" name="4-ETL and interoperability-body">
            <a:extLst xmlns:a="http://schemas.openxmlformats.org/drawingml/2006/main">
              <a:ext uri="{FF2B5EF4-FFF2-40B4-BE49-F238E27FC236}">
                <a16:creationId xmlns:a16="http://schemas.microsoft.com/office/drawing/2014/main" id="{AB78CB38-17AE-4027-A278-AB3C9ECE8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98679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The analytical workflow follows ETL logic: extract microdata, transform variables and load reproducible analytical tables.</a:t>
            </a:r>
          </a:p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PNS is not a longitudinal clinical database, but it can act as a population reference layer.</a:t>
            </a:r>
          </a:p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OMOP/OHDSI offers principles for standardization, vocabularies and reproducibility for future comparison with health-care databases.</a:t>
            </a:r>
          </a:p>
        </p:txBody>
      </p:sp>
      <p:sp>
        <p:nvSpPr>
          <p:cNvPr id="26" name="m-prev-metric">
            <a:extLst xmlns:a="http://schemas.openxmlformats.org/drawingml/2006/main">
              <a:ext uri="{FF2B5EF4-FFF2-40B4-BE49-F238E27FC236}">
                <a16:creationId xmlns:a16="http://schemas.microsoft.com/office/drawing/2014/main" id="{A60801E9-7843-41A1-9B49-2C85EEBA2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7" name="m-prev-metric-title">
            <a:extLst xmlns:a="http://schemas.openxmlformats.org/drawingml/2006/main">
              <a:ext uri="{FF2B5EF4-FFF2-40B4-BE49-F238E27FC236}">
                <a16:creationId xmlns:a16="http://schemas.microsoft.com/office/drawing/2014/main" id="{FDDD986D-7282-40F9-BDB7-C0A382FAD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Brazil: diagnosis</a:t>
            </a:r>
          </a:p>
        </p:txBody>
      </p:sp>
      <p:sp>
        <p:nvSpPr>
          <p:cNvPr id="28" name="m-prev-metric-value">
            <a:extLst xmlns:a="http://schemas.openxmlformats.org/drawingml/2006/main">
              <a:ext uri="{FF2B5EF4-FFF2-40B4-BE49-F238E27FC236}">
                <a16:creationId xmlns:a16="http://schemas.microsoft.com/office/drawing/2014/main" id="{4851CDF8-13C0-471D-8136-B7F709E1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4.41%→5.40%</a:t>
            </a:r>
          </a:p>
        </p:txBody>
      </p:sp>
      <p:sp>
        <p:nvSpPr>
          <p:cNvPr id="29" name="m-prev-metric-note">
            <a:extLst xmlns:a="http://schemas.openxmlformats.org/drawingml/2006/main">
              <a:ext uri="{FF2B5EF4-FFF2-40B4-BE49-F238E27FC236}">
                <a16:creationId xmlns:a16="http://schemas.microsoft.com/office/drawing/2014/main" id="{B919D514-B959-44CE-ADA8-69970F9B4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Increase with non-overlapping 95% CIs.</a:t>
            </a:r>
          </a:p>
        </p:txBody>
      </p:sp>
      <p:sp>
        <p:nvSpPr>
          <p:cNvPr id="30" name="m-crisis-metric">
            <a:extLst xmlns:a="http://schemas.openxmlformats.org/drawingml/2006/main">
              <a:ext uri="{FF2B5EF4-FFF2-40B4-BE49-F238E27FC236}">
                <a16:creationId xmlns:a16="http://schemas.microsoft.com/office/drawing/2014/main" id="{73D9EBE3-747B-4826-B661-B5BD9D5EA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1" name="m-crisis-metric-title">
            <a:extLst xmlns:a="http://schemas.openxmlformats.org/drawingml/2006/main">
              <a:ext uri="{FF2B5EF4-FFF2-40B4-BE49-F238E27FC236}">
                <a16:creationId xmlns:a16="http://schemas.microsoft.com/office/drawing/2014/main" id="{17105B93-0FC9-4C3D-B6AF-78EC13EA4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Brazil: work</a:t>
            </a:r>
          </a:p>
        </p:txBody>
      </p:sp>
      <p:sp>
        <p:nvSpPr>
          <p:cNvPr id="32" name="m-crisis-metric-value">
            <a:extLst xmlns:a="http://schemas.openxmlformats.org/drawingml/2006/main">
              <a:ext uri="{FF2B5EF4-FFF2-40B4-BE49-F238E27FC236}">
                <a16:creationId xmlns:a16="http://schemas.microsoft.com/office/drawing/2014/main" id="{576C704F-34F5-4215-A8B6-97A5933B1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15.2%; 4.8 d</a:t>
            </a:r>
          </a:p>
        </p:txBody>
      </p:sp>
      <p:sp>
        <p:nvSpPr>
          <p:cNvPr id="33" name="m-crisis-metric-note">
            <a:extLst xmlns:a="http://schemas.openxmlformats.org/drawingml/2006/main">
              <a:ext uri="{FF2B5EF4-FFF2-40B4-BE49-F238E27FC236}">
                <a16:creationId xmlns:a16="http://schemas.microsoft.com/office/drawing/2014/main" id="{C57F4AA5-8623-4F0C-85A8-4282D1842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Respiratory burden affects workdays.</a:t>
            </a:r>
          </a:p>
        </p:txBody>
      </p:sp>
      <p:sp>
        <p:nvSpPr>
          <p:cNvPr id="34" name="m-meds-metric">
            <a:extLst xmlns:a="http://schemas.openxmlformats.org/drawingml/2006/main">
              <a:ext uri="{FF2B5EF4-FFF2-40B4-BE49-F238E27FC236}">
                <a16:creationId xmlns:a16="http://schemas.microsoft.com/office/drawing/2014/main" id="{14212630-D217-4340-8F25-F67F69706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5" name="m-meds-metric-title">
            <a:extLst xmlns:a="http://schemas.openxmlformats.org/drawingml/2006/main">
              <a:ext uri="{FF2B5EF4-FFF2-40B4-BE49-F238E27FC236}">
                <a16:creationId xmlns:a16="http://schemas.microsoft.com/office/drawing/2014/main" id="{973D47FA-A8B6-4F9E-BEF5-4AD696E6C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Brazil: medication</a:t>
            </a:r>
          </a:p>
        </p:txBody>
      </p:sp>
      <p:sp>
        <p:nvSpPr>
          <p:cNvPr id="36" name="m-meds-metric-value">
            <a:extLst xmlns:a="http://schemas.openxmlformats.org/drawingml/2006/main">
              <a:ext uri="{FF2B5EF4-FFF2-40B4-BE49-F238E27FC236}">
                <a16:creationId xmlns:a16="http://schemas.microsoft.com/office/drawing/2014/main" id="{0568B7B3-D492-42C2-BAF4-AD7C5925C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81.5%→64.4%</a:t>
            </a:r>
          </a:p>
        </p:txBody>
      </p:sp>
      <p:sp>
        <p:nvSpPr>
          <p:cNvPr id="37" name="m-meds-metric-note">
            <a:extLst xmlns:a="http://schemas.openxmlformats.org/drawingml/2006/main">
              <a:ext uri="{FF2B5EF4-FFF2-40B4-BE49-F238E27FC236}">
                <a16:creationId xmlns:a16="http://schemas.microsoft.com/office/drawing/2014/main" id="{1217FDF6-3758-4C82-BFE0-D96462AE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Lower use among asthmatics; 95% CIs guide caution.</a:t>
            </a:r>
          </a:p>
        </p:txBody>
      </p:sp>
      <p:sp>
        <p:nvSpPr>
          <p:cNvPr id="38" name="m-chart-prev-caption">
            <a:extLst xmlns:a="http://schemas.openxmlformats.org/drawingml/2006/main">
              <a:ext uri="{FF2B5EF4-FFF2-40B4-BE49-F238E27FC236}">
                <a16:creationId xmlns:a16="http://schemas.microsoft.com/office/drawing/2014/main" id="{C5A9D9E8-C532-468C-A565-F1FA1B3A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171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1: Physician-diagnosed asthma prevalence (%) by state and Brazil, PNS 2013 and 2019.</a:t>
            </a:r>
          </a:p>
        </p:txBody>
      </p:sp>
      <p:sp>
        <p:nvSpPr>
          <p:cNvPr id="39" name="m-chart-prev-frame">
            <a:extLst xmlns:a="http://schemas.openxmlformats.org/drawingml/2006/main">
              <a:ext uri="{FF2B5EF4-FFF2-40B4-BE49-F238E27FC236}">
                <a16:creationId xmlns:a16="http://schemas.microsoft.com/office/drawing/2014/main" id="{B60C6F91-BF22-40B6-AA73-72C16E44B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419600"/>
            <a:ext cx="36766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b06f23e692415c"/>
          <a:stretch xmlns:a="http://schemas.openxmlformats.org/drawingml/2006/main"/>
        </p:blipFill>
        <p:spPr>
          <a:xfrm xmlns:a="http://schemas.openxmlformats.org/drawingml/2006/main">
            <a:off x="3480513" y="4476750"/>
            <a:ext cx="3040224" cy="2190750"/>
          </a:xfrm>
          <a:prstGeom xmlns:a="http://schemas.openxmlformats.org/drawingml/2006/main" prst="rect">
            <a:avLst/>
          </a:prstGeom>
        </p:spPr>
      </p:pic>
      <p:sp>
        <p:nvSpPr>
          <p:cNvPr id="41" name="m-chart-meds-caption">
            <a:extLst xmlns:a="http://schemas.openxmlformats.org/drawingml/2006/main">
              <a:ext uri="{FF2B5EF4-FFF2-40B4-BE49-F238E27FC236}">
                <a16:creationId xmlns:a16="http://schemas.microsoft.com/office/drawing/2014/main" id="{5D82DAAA-5616-4CDD-9B22-FC15BD1EF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838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3: Oral medication or inhaler use among people with physician-diagnosed asthma by state and Brazil.</a:t>
            </a:r>
          </a:p>
        </p:txBody>
      </p:sp>
      <p:sp>
        <p:nvSpPr>
          <p:cNvPr id="42" name="m-chart-meds-frame">
            <a:extLst xmlns:a="http://schemas.openxmlformats.org/drawingml/2006/main">
              <a:ext uri="{FF2B5EF4-FFF2-40B4-BE49-F238E27FC236}">
                <a16:creationId xmlns:a16="http://schemas.microsoft.com/office/drawing/2014/main" id="{D51493F3-6BBC-4414-B200-131944E54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7086600"/>
            <a:ext cx="36766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0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23f48603e04910"/>
          <a:stretch xmlns:a="http://schemas.openxmlformats.org/drawingml/2006/main"/>
        </p:blipFill>
        <p:spPr>
          <a:xfrm xmlns:a="http://schemas.openxmlformats.org/drawingml/2006/main">
            <a:off x="3480513" y="7143750"/>
            <a:ext cx="3040224" cy="2190750"/>
          </a:xfrm>
          <a:prstGeom xmlns:a="http://schemas.openxmlformats.org/drawingml/2006/main" prst="rect">
            <a:avLst/>
          </a:prstGeom>
        </p:spPr>
      </p:pic>
      <p:sp>
        <p:nvSpPr>
          <p:cNvPr id="44" name="m-chart-smoke-caption">
            <a:extLst xmlns:a="http://schemas.openxmlformats.org/drawingml/2006/main">
              <a:ext uri="{FF2B5EF4-FFF2-40B4-BE49-F238E27FC236}">
                <a16:creationId xmlns:a16="http://schemas.microsoft.com/office/drawing/2014/main" id="{11A000DB-9E1D-4FBD-9F71-8FD3CF611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9505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4: Mean lost days by health reason in Brazil, highlighting respiratory causes, PNS 2019.</a:t>
            </a:r>
          </a:p>
        </p:txBody>
      </p:sp>
      <p:sp>
        <p:nvSpPr>
          <p:cNvPr id="45" name="m-chart-smoke-frame">
            <a:extLst xmlns:a="http://schemas.openxmlformats.org/drawingml/2006/main">
              <a:ext uri="{FF2B5EF4-FFF2-40B4-BE49-F238E27FC236}">
                <a16:creationId xmlns:a16="http://schemas.microsoft.com/office/drawing/2014/main" id="{F516699F-3593-4673-9239-25D5E86DA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9753600"/>
            <a:ext cx="367665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0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d18521674749aa"/>
          <a:stretch xmlns:a="http://schemas.openxmlformats.org/drawingml/2006/main"/>
        </p:blipFill>
        <p:spPr>
          <a:xfrm xmlns:a="http://schemas.openxmlformats.org/drawingml/2006/main">
            <a:off x="3612696" y="9810750"/>
            <a:ext cx="2775857" cy="2000250"/>
          </a:xfrm>
          <a:prstGeom xmlns:a="http://schemas.openxmlformats.org/drawingml/2006/main" prst="rect">
            <a:avLst/>
          </a:prstGeom>
        </p:spPr>
      </p:pic>
      <p:sp>
        <p:nvSpPr>
          <p:cNvPr id="47" name="5-Discussion-box">
            <a:extLst xmlns:a="http://schemas.openxmlformats.org/drawingml/2006/main">
              <a:ext uri="{FF2B5EF4-FFF2-40B4-BE49-F238E27FC236}">
                <a16:creationId xmlns:a16="http://schemas.microsoft.com/office/drawing/2014/main" id="{5062F57C-DFB4-452D-946C-18A70698A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05150"/>
            <a:ext cx="2362200" cy="3752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48" name="5-Discussion-head">
            <a:extLst xmlns:a="http://schemas.openxmlformats.org/drawingml/2006/main">
              <a:ext uri="{FF2B5EF4-FFF2-40B4-BE49-F238E27FC236}">
                <a16:creationId xmlns:a16="http://schemas.microsoft.com/office/drawing/2014/main" id="{98FC0017-3B80-4C46-9C0A-35498FEBB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0515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49" name="5-Discussion-title">
            <a:extLst xmlns:a="http://schemas.openxmlformats.org/drawingml/2006/main">
              <a:ext uri="{FF2B5EF4-FFF2-40B4-BE49-F238E27FC236}">
                <a16:creationId xmlns:a16="http://schemas.microsoft.com/office/drawing/2014/main" id="{AFFD0BD6-2B6E-441D-983A-E8C701B5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5277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5. Discussion</a:t>
            </a:r>
          </a:p>
        </p:txBody>
      </p:sp>
      <p:sp>
        <p:nvSpPr>
          <p:cNvPr id="50" name="5-Discussion-body">
            <a:extLst xmlns:a="http://schemas.openxmlformats.org/drawingml/2006/main">
              <a:ext uri="{FF2B5EF4-FFF2-40B4-BE49-F238E27FC236}">
                <a16:creationId xmlns:a16="http://schemas.microsoft.com/office/drawing/2014/main" id="{06C5DEFF-D299-4555-8AC0-C2F6B2029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48050"/>
            <a:ext cx="2171700" cy="335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Brazil: physician-diagnosed asthma increased from 4.41% in 2013 to 5.40% in 2019, with non-overlapping 95% CIs.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Respiratory causes, a category including asthma, bronchitis and pneumonia, accounted for 15.2% of health-related absenteeism.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Mean lost days for respiratory causes reached 4.8 days, indicating potential productivity cost.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Oral/inhaler medication use among people with asthma changed from 81.5% to 64.4%; interpret with 95% CIs and the diagnosed-group profile.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More diagnosed asthma expands the population at risk of attacks, work absence and lower productivity.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The respiratory category suggests asthma can contribute to lost workdays, household income pressure and reduced effective labor supply.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Better asthma control can have economic returns: fewer absences, fewer lost days and lower demand for acute care.</a:t>
            </a:r>
          </a:p>
        </p:txBody>
      </p:sp>
      <p:sp>
        <p:nvSpPr>
          <p:cNvPr id="51" name="6-Central conclusion-box">
            <a:extLst xmlns:a="http://schemas.openxmlformats.org/drawingml/2006/main">
              <a:ext uri="{FF2B5EF4-FFF2-40B4-BE49-F238E27FC236}">
                <a16:creationId xmlns:a16="http://schemas.microsoft.com/office/drawing/2014/main" id="{6D976B1A-ED83-4AA9-88F8-C57187EA9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991350"/>
            <a:ext cx="23622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2" name="6-Central conclusion-head">
            <a:extLst xmlns:a="http://schemas.openxmlformats.org/drawingml/2006/main">
              <a:ext uri="{FF2B5EF4-FFF2-40B4-BE49-F238E27FC236}">
                <a16:creationId xmlns:a16="http://schemas.microsoft.com/office/drawing/2014/main" id="{E6E70CF2-C5CA-453D-8CCF-FA5C7D52D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99135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53" name="6-Central conclusion-title">
            <a:extLst xmlns:a="http://schemas.openxmlformats.org/drawingml/2006/main">
              <a:ext uri="{FF2B5EF4-FFF2-40B4-BE49-F238E27FC236}">
                <a16:creationId xmlns:a16="http://schemas.microsoft.com/office/drawing/2014/main" id="{77A07877-CF4A-486F-98A2-FCF5E1565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703897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6. Central conclusion</a:t>
            </a:r>
          </a:p>
        </p:txBody>
      </p:sp>
      <p:sp>
        <p:nvSpPr>
          <p:cNvPr id="54" name="6-Central conclusion-body">
            <a:extLst xmlns:a="http://schemas.openxmlformats.org/drawingml/2006/main">
              <a:ext uri="{FF2B5EF4-FFF2-40B4-BE49-F238E27FC236}">
                <a16:creationId xmlns:a16="http://schemas.microsoft.com/office/drawing/2014/main" id="{A0628E55-DBA5-409F-B0AC-299A37CAB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7334250"/>
            <a:ext cx="2171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102536"/>
                </a:solidFill>
              </a:defRPr>
            </a:pPr>
            <a:r>
              <a:rPr sz="525" b="0">
                <a:solidFill>
                  <a:srgbClr val="102536"/>
                </a:solidFill>
              </a:rPr>
              <a:t>• Correct implementation of the sampling design is required for valid estimates.</a:t>
            </a:r>
          </a:p>
          <a:p xmlns:a="http://schemas.openxmlformats.org/drawingml/2006/main">
            <a:pPr algn="l">
              <a:defRPr sz="525" b="0">
                <a:solidFill>
                  <a:srgbClr val="102536"/>
                </a:solidFill>
              </a:defRPr>
            </a:pPr>
            <a:r>
              <a:rPr sz="525" b="0">
                <a:solidFill>
                  <a:srgbClr val="102536"/>
                </a:solidFill>
              </a:rPr>
              <a:t>• Asthma should be treated as both a clinical and economic issue because it can affect productivity, income and the labor force.</a:t>
            </a:r>
          </a:p>
          <a:p xmlns:a="http://schemas.openxmlformats.org/drawingml/2006/main">
            <a:pPr algn="l">
              <a:defRPr sz="525" b="0">
                <a:solidFill>
                  <a:srgbClr val="102536"/>
                </a:solidFill>
              </a:defRPr>
            </a:pPr>
            <a:r>
              <a:rPr sz="525" b="0">
                <a:solidFill>
                  <a:srgbClr val="102536"/>
                </a:solidFill>
              </a:rPr>
              <a:t>• Absenteeism results are aggregated respiratory estimates; they should not be read as asthma-only estimates.</a:t>
            </a:r>
          </a:p>
        </p:txBody>
      </p:sp>
      <p:sp>
        <p:nvSpPr>
          <p:cNvPr id="55" name="m-chart-crisis-caption">
            <a:extLst xmlns:a="http://schemas.openxmlformats.org/drawingml/2006/main">
              <a:ext uri="{FF2B5EF4-FFF2-40B4-BE49-F238E27FC236}">
                <a16:creationId xmlns:a16="http://schemas.microsoft.com/office/drawing/2014/main" id="{C3C585E2-B1B8-458C-A71E-A76675E9F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8362950"/>
            <a:ext cx="2362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2: Health-related absenteeism in Brazil, highlighting respiratory causes, PNS 2019.</a:t>
            </a:r>
          </a:p>
        </p:txBody>
      </p:sp>
      <p:sp>
        <p:nvSpPr>
          <p:cNvPr id="56" name="m-chart-crisis-frame">
            <a:extLst xmlns:a="http://schemas.openxmlformats.org/drawingml/2006/main">
              <a:ext uri="{FF2B5EF4-FFF2-40B4-BE49-F238E27FC236}">
                <a16:creationId xmlns:a16="http://schemas.microsoft.com/office/drawing/2014/main" id="{55EBBA24-9314-4C28-9F61-CF8C47EA6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86106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3fb0780265450d"/>
          <a:stretch xmlns:a="http://schemas.openxmlformats.org/drawingml/2006/main"/>
        </p:blipFill>
        <p:spPr>
          <a:xfrm xmlns:a="http://schemas.openxmlformats.org/drawingml/2006/main">
            <a:off x="7075326" y="8667750"/>
            <a:ext cx="2194249" cy="1581150"/>
          </a:xfrm>
          <a:prstGeom xmlns:a="http://schemas.openxmlformats.org/drawingml/2006/main" prst="rect">
            <a:avLst/>
          </a:prstGeom>
        </p:spPr>
      </p:pic>
      <p:sp>
        <p:nvSpPr>
          <p:cNvPr id="58" name="qr-box">
            <a:extLst xmlns:a="http://schemas.openxmlformats.org/drawingml/2006/main">
              <a:ext uri="{FF2B5EF4-FFF2-40B4-BE49-F238E27FC236}">
                <a16:creationId xmlns:a16="http://schemas.microsoft.com/office/drawing/2014/main" id="{72ED4A2C-4C63-4A50-9988-6BF3A3A5E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0591800"/>
            <a:ext cx="11811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pic>
        <p:nvPicPr>
          <p:cNvPr id="1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dfa9a9f28e4690"/>
          <a:stretch xmlns:a="http://schemas.openxmlformats.org/drawingml/2006/main"/>
        </p:blipFill>
        <p:spPr>
          <a:xfrm xmlns:a="http://schemas.openxmlformats.org/drawingml/2006/main">
            <a:off x="7715250" y="10706100"/>
            <a:ext cx="914400" cy="914400"/>
          </a:xfrm>
          <a:prstGeom xmlns:a="http://schemas.openxmlformats.org/drawingml/2006/main" prst="rect">
            <a:avLst/>
          </a:prstGeom>
        </p:spPr>
      </p:pic>
      <p:sp>
        <p:nvSpPr>
          <p:cNvPr id="60" name="qr-label">
            <a:extLst xmlns:a="http://schemas.openxmlformats.org/drawingml/2006/main">
              <a:ext uri="{FF2B5EF4-FFF2-40B4-BE49-F238E27FC236}">
                <a16:creationId xmlns:a16="http://schemas.microsoft.com/office/drawing/2014/main" id="{284B1126-D6B4-4CFD-8FA2-8340F53C5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1696700"/>
            <a:ext cx="1028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Methodological report, reproducible code and figures</a:t>
            </a:r>
          </a:p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https://ingodube.github.io/PNS_2013_2019/metodologia.html</a:t>
            </a:r>
          </a:p>
        </p:txBody>
      </p:sp>
      <p:sp>
        <p:nvSpPr>
          <p:cNvPr id="61" name="references-box">
            <a:extLst xmlns:a="http://schemas.openxmlformats.org/drawingml/2006/main">
              <a:ext uri="{FF2B5EF4-FFF2-40B4-BE49-F238E27FC236}">
                <a16:creationId xmlns:a16="http://schemas.microsoft.com/office/drawing/2014/main" id="{A1FA98AD-5DE6-4480-BFF2-0BD6C1283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382500"/>
            <a:ext cx="88773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2" name="references-title">
            <a:extLst xmlns:a="http://schemas.openxmlformats.org/drawingml/2006/main">
              <a:ext uri="{FF2B5EF4-FFF2-40B4-BE49-F238E27FC236}">
                <a16:creationId xmlns:a16="http://schemas.microsoft.com/office/drawing/2014/main" id="{891BD574-A221-473A-9635-D7E8D2221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449175"/>
            <a:ext cx="872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3F59"/>
                </a:solidFill>
              </a:defRPr>
            </a:pPr>
            <a:r>
              <a:rPr sz="825" b="1">
                <a:solidFill>
                  <a:srgbClr val="153F59"/>
                </a:solidFill>
              </a:rPr>
              <a:t>References</a:t>
            </a:r>
          </a:p>
        </p:txBody>
      </p:sp>
      <p:sp>
        <p:nvSpPr>
          <p:cNvPr id="63" name="references-body">
            <a:extLst xmlns:a="http://schemas.openxmlformats.org/drawingml/2006/main">
              <a:ext uri="{FF2B5EF4-FFF2-40B4-BE49-F238E27FC236}">
                <a16:creationId xmlns:a16="http://schemas.microsoft.com/office/drawing/2014/main" id="{EACE7DC9-D049-4D18-A9F1-79074A0BA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49200"/>
            <a:ext cx="8724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[1] GLOBAL ASTHMA NETWORK. Global Asthma Report 2022. Auckland, New Zealand: Global Asthma Network, 2022. Disponível em: https://globalasthmareport.org/resources/Global_Asthma_Report_2022.pdf. Acesso em: 19 set. 2025.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[2] SOUZA-JÚNIOR, Paulo Roberto Borges de et al. Desenho da amostra da Pesquisa Nacional de Saúde 2013. Epidemiologia e Serviços de Saúde, v. 24, p. 207-216, 2015.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[3] DUBE, I.; SILVA, M. E. L. PNS_2013_2019. GitHub, 2026. Disponível em: https://github.com/ingodube/PNS_2013_2019. Acesso em: 28 mai. 2026.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[4] MENEZES, A. M. B. et al. Prevalência de diagnóstico médico de asma em adultos brasileiros: Pesquisa Nacional de Saúde, 2013. Revista Brasileira de Epidemiologia, São Paulo, v. 18, supl. 2, p. 204-213, 2015.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[5] SEVERE ASTHMA. Non-Pharmacological Interventions for Asthma. Disponível em: https://www.severeasthma.org.au/non-pharmacological-interventions-asthma/. Acesso em: 19 set. 2025.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[6] SANTOS, Felipe Moraes dos et al. Tendência da prevalência de asma autorreferida no Brasil de 2003 a 2013 em adultos e fatores associados à prevalência. Jornal Brasileiro de Pneumologia, v. 44, n. 6, p. 491-497, 2018. doi:10.1590/S1806-37562017000000328.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[7] TO, T. et al. Global asthma prevalence in adults: findings from the cross-sectional world health survey. BMC Public Health, v. 12, art. 204, 2012. doi:10.1186/1471-2458-12-204.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[8] OHDSI. Standardized Data: The OMOP Common Data Model. Disponível em: https://www.ohdsi.org/data-standardization/.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[9] OHDSI. OMOP Common Data Model. Disponível em: https://ohdsi.github.io/CommonDataModel/.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[10] OHDSI. ETL Creation Best Practices. Disponível em: https://www.ohdsi.org/web/wiki/doku.php?id=documentation:etl_best_practices.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[11] LUMLEY, Thomas. Complex Surveys: A Guide to Analysis Using R. Hoboken: Wiley, 2010.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[12] BROWN, Lawrence D.; CAI, T. Tony; DASGUPTA, Anirban. Interval estimation for a binomial proportion. Statistical Science, v. 16, n. 2, p. 101-133, 2001. doi:10.1214/ss/1009213286.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[13] KORN, Edward L.; GRAUBARD, Barry I. Confidence intervals for proportions with small expected number of positive counts estimated from survey data. Survey Methodology, v. 24, n. 2, p. 193-201, 1998.</a:t>
            </a:r>
          </a:p>
        </p:txBody>
      </p:sp>
    </p:spTree>
    <p:extLst>
      <p:ext uri="{BB962C8B-B14F-4D97-AF65-F5344CB8AC3E}">
        <p14:creationId xmlns:p14="http://schemas.microsoft.com/office/powerpoint/2010/main" val="19239565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2026-07-21T22:06:35.2520000Z</dcterms:created>
  <dcterms:modified xsi:type="dcterms:W3CDTF">2026-07-21T22:06:35.2520000Z</dcterms:modified>
</coreProperties>
</file>