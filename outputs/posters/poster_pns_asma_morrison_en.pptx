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f348233f624fbb" /><Relationship Type="http://schemas.openxmlformats.org/officeDocument/2006/relationships/extended-properties" Target="/docProps/app.xml" Id="R88d4002275d74150" /><Relationship Type="http://schemas.openxmlformats.org/officeDocument/2006/relationships/officeDocument" Target="/ppt/presentation.xml" Id="R1b8c696196b34f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7b12f783bb4a1d"/>
  </p:sldMasterIdLst>
  <p:notesMasterIdLst>
    <p:notesMasterId xmlns:r="http://schemas.openxmlformats.org/officeDocument/2006/relationships" r:id="R12085d50d3734d2b"/>
  </p:notesMasterIdLst>
  <p:sldIdLst>
    <p:sldId xmlns:r="http://schemas.openxmlformats.org/officeDocument/2006/relationships" id="256" r:id="Rb3422bf467914f7b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f2f9663aa74880" /><Relationship Type="http://schemas.openxmlformats.org/officeDocument/2006/relationships/slideMaster" Target="/ppt/slideMasters/slideMaster1.xml" Id="R4a7b12f783bb4a1d" /><Relationship Type="http://schemas.openxmlformats.org/officeDocument/2006/relationships/notesMaster" Target="/ppt/notesMasters/notesMaster1.xml" Id="R12085d50d3734d2b" /><Relationship Type="http://schemas.openxmlformats.org/officeDocument/2006/relationships/presProps" Target="/ppt/presProps.xml" Id="Rf2da40952696480e" /><Relationship Type="http://schemas.openxmlformats.org/officeDocument/2006/relationships/tableStyles" Target="/ppt/tableStyles.xml" Id="R99953d6cc3044426" /><Relationship Type="http://schemas.openxmlformats.org/officeDocument/2006/relationships/slide" Target="/ppt/slides/slide1.xml" Id="Rb3422bf467914f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85f65e387147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19fe2253d84545" /><Relationship Type="http://schemas.openxmlformats.org/officeDocument/2006/relationships/notesMaster" Target="/ppt/notesMasters/notesMaster1.xml" Id="R95136a45f78f4b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ffb1d76fb34f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3808a910f44b00" /><Relationship Type="http://schemas.openxmlformats.org/officeDocument/2006/relationships/slideLayout" Target="/ppt/slideLayouts/slideLayout1.xml" Id="R30e1a708aeaf41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e1a708aeaf41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0fb9bd6d64895" /><Relationship Type="http://schemas.openxmlformats.org/officeDocument/2006/relationships/image" Target="/ppt/media/image.png" Id="Ra19843fa2cbe480a" /><Relationship Type="http://schemas.openxmlformats.org/officeDocument/2006/relationships/image" Target="/ppt/media/image2.png" Id="Rc7f534bae3084816" /><Relationship Type="http://schemas.openxmlformats.org/officeDocument/2006/relationships/image" Target="/ppt/media/image3.png" Id="Rb3edff04db114327" /><Relationship Type="http://schemas.openxmlformats.org/officeDocument/2006/relationships/image" Target="/ppt/media/image4.png" Id="R5b2096def7224d54" /><Relationship Type="http://schemas.openxmlformats.org/officeDocument/2006/relationships/image" Target="/ppt/media/image5.png" Id="Re88a0e6de9d444fa" /><Relationship Type="http://schemas.openxmlformats.org/officeDocument/2006/relationships/image" Target="/ppt/media/image6.png" Id="R6107c40be7d14a5a" /><Relationship Type="http://schemas.openxmlformats.org/officeDocument/2006/relationships/image" Target="/ppt/media/image7.png" Id="Rb0d5084f8b23497e" /><Relationship Type="http://schemas.openxmlformats.org/officeDocument/2006/relationships/image" Target="/ppt/media/image8.png" Id="Rec145b8af6c54586" /><Relationship Type="http://schemas.openxmlformats.org/officeDocument/2006/relationships/notesSlide" Target="/ppt/notesSlides/notesSlide1.xml" Id="Ra2d71c2b1f684a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9843fa2cbe480a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534bae3084816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dff04db114327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54E3D109-9A72-4C1E-ADC1-9E725CAA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9EE0579C-7CAE-4D67-A752-59A9C046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9CC40E63-56C5-411E-8BC7-CC279536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Asthma diagnosis increased in Brazil; respiratory absenteeism shows potential productivity loss and economic impact.</a:t>
            </a:r>
          </a:p>
        </p:txBody>
      </p:sp>
      <p:sp>
        <p:nvSpPr>
          <p:cNvPr id="7" name="1-Method in one line-box">
            <a:extLst xmlns:a="http://schemas.openxmlformats.org/drawingml/2006/main">
              <a:ext uri="{FF2B5EF4-FFF2-40B4-BE49-F238E27FC236}">
                <a16:creationId xmlns:a16="http://schemas.microsoft.com/office/drawing/2014/main" id="{C4144248-02F6-4D66-89A2-F68A73F0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ethod in one line-head">
            <a:extLst xmlns:a="http://schemas.openxmlformats.org/drawingml/2006/main">
              <a:ext uri="{FF2B5EF4-FFF2-40B4-BE49-F238E27FC236}">
                <a16:creationId xmlns:a16="http://schemas.microsoft.com/office/drawing/2014/main" id="{7D31712E-9EDB-4DDD-87DF-1858D4E2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ethod in one line-title">
            <a:extLst xmlns:a="http://schemas.openxmlformats.org/drawingml/2006/main">
              <a:ext uri="{FF2B5EF4-FFF2-40B4-BE49-F238E27FC236}">
                <a16:creationId xmlns:a16="http://schemas.microsoft.com/office/drawing/2014/main" id="{44D1045C-9E14-45B5-B0D6-D28E32AA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Method in one line</a:t>
            </a:r>
          </a:p>
        </p:txBody>
      </p:sp>
      <p:sp>
        <p:nvSpPr>
          <p:cNvPr id="10" name="1-Method in one line-body">
            <a:extLst xmlns:a="http://schemas.openxmlformats.org/drawingml/2006/main">
              <a:ext uri="{FF2B5EF4-FFF2-40B4-BE49-F238E27FC236}">
                <a16:creationId xmlns:a16="http://schemas.microsoft.com/office/drawing/2014/main" id="{3A2051BC-3814-47BD-A665-0E1BC456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38D2B7D9-F8EA-49CA-82A0-D4ABA075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2633DEBF-F995-408A-BBE5-C161427C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A0B723B3-964B-45DB-9D11-BD935897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14" name="2-Data and denominators-box">
            <a:extLst xmlns:a="http://schemas.openxmlformats.org/drawingml/2006/main">
              <a:ext uri="{FF2B5EF4-FFF2-40B4-BE49-F238E27FC236}">
                <a16:creationId xmlns:a16="http://schemas.microsoft.com/office/drawing/2014/main" id="{8F700EF9-BB2A-4358-BA30-B33A1737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ta and denominators-head">
            <a:extLst xmlns:a="http://schemas.openxmlformats.org/drawingml/2006/main">
              <a:ext uri="{FF2B5EF4-FFF2-40B4-BE49-F238E27FC236}">
                <a16:creationId xmlns:a16="http://schemas.microsoft.com/office/drawing/2014/main" id="{1C946E1B-30B9-4F50-889A-AFBCE194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ta and denominators-title">
            <a:extLst xmlns:a="http://schemas.openxmlformats.org/drawingml/2006/main">
              <a:ext uri="{FF2B5EF4-FFF2-40B4-BE49-F238E27FC236}">
                <a16:creationId xmlns:a16="http://schemas.microsoft.com/office/drawing/2014/main" id="{1A2285B8-D7BD-4AAB-AD03-0BF5F644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Data and denominators</a:t>
            </a:r>
          </a:p>
        </p:txBody>
      </p:sp>
      <p:sp>
        <p:nvSpPr>
          <p:cNvPr id="17" name="2-Data and denominators-body">
            <a:extLst xmlns:a="http://schemas.openxmlformats.org/drawingml/2006/main">
              <a:ext uri="{FF2B5EF4-FFF2-40B4-BE49-F238E27FC236}">
                <a16:creationId xmlns:a16="http://schemas.microsoft.com/office/drawing/2014/main" id="{B7CD6B2E-CAF0-43AB-922E-5CA7FBE5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3-Why beta CIs?-box">
            <a:extLst xmlns:a="http://schemas.openxmlformats.org/drawingml/2006/main">
              <a:ext uri="{FF2B5EF4-FFF2-40B4-BE49-F238E27FC236}">
                <a16:creationId xmlns:a16="http://schemas.microsoft.com/office/drawing/2014/main" id="{ADB1113D-1CDE-4301-ADBC-02E43A1F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Why beta CIs?-head">
            <a:extLst xmlns:a="http://schemas.openxmlformats.org/drawingml/2006/main">
              <a:ext uri="{FF2B5EF4-FFF2-40B4-BE49-F238E27FC236}">
                <a16:creationId xmlns:a16="http://schemas.microsoft.com/office/drawing/2014/main" id="{DFC5E3D4-739F-4DF0-85DA-ADE9D9BD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Why beta CIs?-title">
            <a:extLst xmlns:a="http://schemas.openxmlformats.org/drawingml/2006/main">
              <a:ext uri="{FF2B5EF4-FFF2-40B4-BE49-F238E27FC236}">
                <a16:creationId xmlns:a16="http://schemas.microsoft.com/office/drawing/2014/main" id="{1DA89584-DD52-47F2-896F-380AE3AE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Why beta CIs?</a:t>
            </a:r>
          </a:p>
        </p:txBody>
      </p:sp>
      <p:sp>
        <p:nvSpPr>
          <p:cNvPr id="21" name="3-Why beta CIs?-body">
            <a:extLst xmlns:a="http://schemas.openxmlformats.org/drawingml/2006/main">
              <a:ext uri="{FF2B5EF4-FFF2-40B4-BE49-F238E27FC236}">
                <a16:creationId xmlns:a16="http://schemas.microsoft.com/office/drawing/2014/main" id="{80CF3FD3-B5C1-426C-B9D0-96209827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22" name="4-ETL and interoperability-box">
            <a:extLst xmlns:a="http://schemas.openxmlformats.org/drawingml/2006/main">
              <a:ext uri="{FF2B5EF4-FFF2-40B4-BE49-F238E27FC236}">
                <a16:creationId xmlns:a16="http://schemas.microsoft.com/office/drawing/2014/main" id="{21AB174D-2F3E-4557-B405-35F6A279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and interoperability-head">
            <a:extLst xmlns:a="http://schemas.openxmlformats.org/drawingml/2006/main">
              <a:ext uri="{FF2B5EF4-FFF2-40B4-BE49-F238E27FC236}">
                <a16:creationId xmlns:a16="http://schemas.microsoft.com/office/drawing/2014/main" id="{C32EC4C6-84FA-462E-B30C-06F2C798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and interoperability-title">
            <a:extLst xmlns:a="http://schemas.openxmlformats.org/drawingml/2006/main">
              <a:ext uri="{FF2B5EF4-FFF2-40B4-BE49-F238E27FC236}">
                <a16:creationId xmlns:a16="http://schemas.microsoft.com/office/drawing/2014/main" id="{C76B389D-74D4-4035-8863-F6975C6C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and interoperability</a:t>
            </a:r>
          </a:p>
        </p:txBody>
      </p:sp>
      <p:sp>
        <p:nvSpPr>
          <p:cNvPr id="25" name="4-ETL and interoperability-body">
            <a:extLst xmlns:a="http://schemas.openxmlformats.org/drawingml/2006/main">
              <a:ext uri="{FF2B5EF4-FFF2-40B4-BE49-F238E27FC236}">
                <a16:creationId xmlns:a16="http://schemas.microsoft.com/office/drawing/2014/main" id="{879F6F64-7D51-448C-9F01-4E6A65C4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944D44C2-C0B4-4658-864F-42AB8CE4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CCD4D041-874D-4FA1-9A3F-3D7C9A9E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diagnosis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EF647F3C-1368-496D-ACF8-75AC31C3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5221FA8D-C41B-4FC3-B42A-1362586C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Increase with non-overlapping 95% CIs.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4DF20AC7-BA42-4B8A-B6C1-AB5C7BDE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8609AAB0-7558-461D-9741-D0C070D6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work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863903AD-4AFA-43AA-8D44-F29B5AC3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15.2%; 4.8 d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88078065-051F-4682-9D04-C241E250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Respiratory burden affects workdays.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BAFA449D-6301-4ED2-96DF-9E8645AF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6C4A309F-2C93-44B4-8F1D-41FD3267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medication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E4EE88F0-7381-4591-866A-D81B19FD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3043654D-12AB-4A0E-B1A6-F90C7FFB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Lower use among asthmatics; 95% CIs guide caution.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92F1CCA3-F7D1-400A-AC18-E9038139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4AFEDE3F-21B1-4ED1-B722-F51D4A6B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096def7224d54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6AA34498-3203-470E-A9CE-6D596E81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AB2CF0A1-D7AB-4AD9-83A9-BA34D217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8a0e6de9d444fa"/>
          <a:stretch xmlns:a="http://schemas.openxmlformats.org/drawingml/2006/main"/>
        </p:blipFill>
        <p:spPr>
          <a:xfrm xmlns:a="http://schemas.openxmlformats.org/drawingml/2006/main">
            <a:off x="3464428" y="7143750"/>
            <a:ext cx="3072393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18D7A0FB-A52D-4D3A-8B61-4AB205A4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Mean lost days by health reason in Brazil, highlighting respiratory causes, PNS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CAFD662F-5384-488B-933D-B1E8EFC5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07c40be7d14a5a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Discussion-box">
            <a:extLst xmlns:a="http://schemas.openxmlformats.org/drawingml/2006/main">
              <a:ext uri="{FF2B5EF4-FFF2-40B4-BE49-F238E27FC236}">
                <a16:creationId xmlns:a16="http://schemas.microsoft.com/office/drawing/2014/main" id="{500B4B90-EE1A-4640-9FD7-BCC9E428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Discussion-head">
            <a:extLst xmlns:a="http://schemas.openxmlformats.org/drawingml/2006/main">
              <a:ext uri="{FF2B5EF4-FFF2-40B4-BE49-F238E27FC236}">
                <a16:creationId xmlns:a16="http://schemas.microsoft.com/office/drawing/2014/main" id="{FCCB7E24-DC1F-40F5-8345-9BBE4079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Discussion-title">
            <a:extLst xmlns:a="http://schemas.openxmlformats.org/drawingml/2006/main">
              <a:ext uri="{FF2B5EF4-FFF2-40B4-BE49-F238E27FC236}">
                <a16:creationId xmlns:a16="http://schemas.microsoft.com/office/drawing/2014/main" id="{937BCA4E-EF56-4116-B4EF-DC0AEFE8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Discussion</a:t>
            </a:r>
          </a:p>
        </p:txBody>
      </p:sp>
      <p:sp>
        <p:nvSpPr>
          <p:cNvPr id="50" name="5-Discussion-body">
            <a:extLst xmlns:a="http://schemas.openxmlformats.org/drawingml/2006/main">
              <a:ext uri="{FF2B5EF4-FFF2-40B4-BE49-F238E27FC236}">
                <a16:creationId xmlns:a16="http://schemas.microsoft.com/office/drawing/2014/main" id="{92FBE32A-81A4-4D3B-9E82-B1CA3372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Brazil: physician-diagnosed asthma increased from 4.41% in 2013 to 5.40% in 2019, with non-overlapping 95% CIs.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Respiratory causes, a category including asthma, bronchitis and pneumonia, accounted for 15.2% of health-related absenteeism.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Mean lost days for respiratory causes reached 4.8 days, indicating potential productivity cost.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Oral/inhaler medication use among people with asthma changed from 81.5% to 64.4%; interpret with 95% CIs and the diagnosed-group profile.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More diagnosed asthma expands the population at risk of attacks, work absence and lower productivity.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The respiratory category suggests asthma can contribute to lost workdays, household income pressure and reduced effective labor supply.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Better asthma control can have economic returns: fewer absences, fewer lost days and lower demand for acute care.</a:t>
            </a:r>
          </a:p>
        </p:txBody>
      </p:sp>
      <p:sp>
        <p:nvSpPr>
          <p:cNvPr id="51" name="6-Central conclusion-box">
            <a:extLst xmlns:a="http://schemas.openxmlformats.org/drawingml/2006/main">
              <a:ext uri="{FF2B5EF4-FFF2-40B4-BE49-F238E27FC236}">
                <a16:creationId xmlns:a16="http://schemas.microsoft.com/office/drawing/2014/main" id="{4B177726-F58A-4DCC-A287-13088BA0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Central conclusion-head">
            <a:extLst xmlns:a="http://schemas.openxmlformats.org/drawingml/2006/main">
              <a:ext uri="{FF2B5EF4-FFF2-40B4-BE49-F238E27FC236}">
                <a16:creationId xmlns:a16="http://schemas.microsoft.com/office/drawing/2014/main" id="{72FA9D0A-70CA-4C6A-BDB1-1D2C2577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Central conclusion-title">
            <a:extLst xmlns:a="http://schemas.openxmlformats.org/drawingml/2006/main">
              <a:ext uri="{FF2B5EF4-FFF2-40B4-BE49-F238E27FC236}">
                <a16:creationId xmlns:a16="http://schemas.microsoft.com/office/drawing/2014/main" id="{C2DE8933-CFC7-4F2A-90AC-0AB74D10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Central conclusion</a:t>
            </a:r>
          </a:p>
        </p:txBody>
      </p:sp>
      <p:sp>
        <p:nvSpPr>
          <p:cNvPr id="54" name="6-Central conclusion-body">
            <a:extLst xmlns:a="http://schemas.openxmlformats.org/drawingml/2006/main">
              <a:ext uri="{FF2B5EF4-FFF2-40B4-BE49-F238E27FC236}">
                <a16:creationId xmlns:a16="http://schemas.microsoft.com/office/drawing/2014/main" id="{BEAF476C-6C95-408E-A81F-47A9F44D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Asthma should be treated as both a clinical and economic issue because it can affect productivity, income and the labor force.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Absenteeism results are aggregated respiratory estimates; they should not be read as asthma-only estimates.</a:t>
            </a:r>
          </a:p>
        </p:txBody>
      </p:sp>
      <p:sp>
        <p:nvSpPr>
          <p:cNvPr id="55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830B44AF-7BAD-4DCD-AFB1-93B50EB8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Health-related absenteeism in Brazil, highlighting respiratory causes, PNS 2019.</a:t>
            </a:r>
          </a:p>
        </p:txBody>
      </p:sp>
      <p:sp>
        <p:nvSpPr>
          <p:cNvPr id="56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4CC0D7F9-3EAB-4CFB-A4D7-3F7A4CF8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d5084f8b23497e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58" name="qr-box">
            <a:extLst xmlns:a="http://schemas.openxmlformats.org/drawingml/2006/main">
              <a:ext uri="{FF2B5EF4-FFF2-40B4-BE49-F238E27FC236}">
                <a16:creationId xmlns:a16="http://schemas.microsoft.com/office/drawing/2014/main" id="{DDC96D3C-321C-494B-8C46-8F84CC90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45b8af6c54586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0" name="qr-label">
            <a:extLst xmlns:a="http://schemas.openxmlformats.org/drawingml/2006/main">
              <a:ext uri="{FF2B5EF4-FFF2-40B4-BE49-F238E27FC236}">
                <a16:creationId xmlns:a16="http://schemas.microsoft.com/office/drawing/2014/main" id="{813FDD06-176A-43B5-94A0-C41FBD49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1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846A2A3F-93CF-486F-95DC-BE0846C3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268200"/>
            <a:ext cx="8877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84376EE6-1E8A-4F82-9384-FD890006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348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63" name="references-column-divider">
            <a:extLst xmlns:a="http://schemas.openxmlformats.org/drawingml/2006/main">
              <a:ext uri="{FF2B5EF4-FFF2-40B4-BE49-F238E27FC236}">
                <a16:creationId xmlns:a16="http://schemas.microsoft.com/office/drawing/2014/main" id="{1F6A9AA9-2D5C-462C-B4A2-79395880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515850"/>
            <a:ext cx="95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D0D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4" name="references-body-left">
            <a:extLst xmlns:a="http://schemas.openxmlformats.org/drawingml/2006/main">
              <a:ext uri="{FF2B5EF4-FFF2-40B4-BE49-F238E27FC236}">
                <a16:creationId xmlns:a16="http://schemas.microsoft.com/office/drawing/2014/main" id="{8A7C1ECC-D0B6-4D05-B8EB-310DA86B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34900"/>
            <a:ext cx="4276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65" name="references-body-right">
            <a:extLst xmlns:a="http://schemas.openxmlformats.org/drawingml/2006/main">
              <a:ext uri="{FF2B5EF4-FFF2-40B4-BE49-F238E27FC236}">
                <a16:creationId xmlns:a16="http://schemas.microsoft.com/office/drawing/2014/main" id="{86EAC8F0-7365-45EC-A68E-E7767EC1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2534900"/>
            <a:ext cx="4276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11054157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2026-07-21T22:39:13.1410000Z</dcterms:created>
  <dcterms:modified xsi:type="dcterms:W3CDTF">2026-07-21T22:39:13.1410000Z</dcterms:modified>
</coreProperties>
</file>