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f71b4294594a2d" /><Relationship Type="http://schemas.openxmlformats.org/officeDocument/2006/relationships/extended-properties" Target="/docProps/app.xml" Id="R1711081a04b3473f" /><Relationship Type="http://schemas.openxmlformats.org/officeDocument/2006/relationships/officeDocument" Target="/ppt/presentation.xml" Id="Rd96ee76aec2549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752d503b234f06"/>
  </p:sldMasterIdLst>
  <p:notesMasterIdLst>
    <p:notesMasterId xmlns:r="http://schemas.openxmlformats.org/officeDocument/2006/relationships" r:id="Rb06ff4d118614aa7"/>
  </p:notesMasterIdLst>
  <p:sldIdLst>
    <p:sldId xmlns:r="http://schemas.openxmlformats.org/officeDocument/2006/relationships" id="256" r:id="R5b89afd532354a63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d74d1bf1dc4283" /><Relationship Type="http://schemas.openxmlformats.org/officeDocument/2006/relationships/slideMaster" Target="/ppt/slideMasters/slideMaster1.xml" Id="Rdc752d503b234f06" /><Relationship Type="http://schemas.openxmlformats.org/officeDocument/2006/relationships/notesMaster" Target="/ppt/notesMasters/notesMaster1.xml" Id="Rb06ff4d118614aa7" /><Relationship Type="http://schemas.openxmlformats.org/officeDocument/2006/relationships/presProps" Target="/ppt/presProps.xml" Id="R0265d35179584e9f" /><Relationship Type="http://schemas.openxmlformats.org/officeDocument/2006/relationships/tableStyles" Target="/ppt/tableStyles.xml" Id="R0af2a2588b884ba9" /><Relationship Type="http://schemas.openxmlformats.org/officeDocument/2006/relationships/slide" Target="/ppt/slides/slide1.xml" Id="R5b89afd532354a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2b2d298a494e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d25e0fb2c54a90" /><Relationship Type="http://schemas.openxmlformats.org/officeDocument/2006/relationships/notesMaster" Target="/ppt/notesMasters/notesMaster1.xml" Id="Rb5367b91862841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cc5f5136754a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2d371eb5b2423c" /><Relationship Type="http://schemas.openxmlformats.org/officeDocument/2006/relationships/slideLayout" Target="/ppt/slideLayouts/slideLayout1.xml" Id="R182f39f4a35646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2f39f4a35646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20403159c4edd" /><Relationship Type="http://schemas.openxmlformats.org/officeDocument/2006/relationships/image" Target="/ppt/media/image.png" Id="R1f45f1b68a744b86" /><Relationship Type="http://schemas.openxmlformats.org/officeDocument/2006/relationships/image" Target="/ppt/media/image2.png" Id="R5b81d9b1ed554cb5" /><Relationship Type="http://schemas.openxmlformats.org/officeDocument/2006/relationships/image" Target="/ppt/media/image3.png" Id="Recd12eb6e37549d1" /><Relationship Type="http://schemas.openxmlformats.org/officeDocument/2006/relationships/image" Target="/ppt/media/image4.png" Id="Rb1df846461c1401c" /><Relationship Type="http://schemas.openxmlformats.org/officeDocument/2006/relationships/image" Target="/ppt/media/image5.png" Id="Ra871666a8e8d4bac" /><Relationship Type="http://schemas.openxmlformats.org/officeDocument/2006/relationships/image" Target="/ppt/media/image6.png" Id="R8c7d4bcbde72413e" /><Relationship Type="http://schemas.openxmlformats.org/officeDocument/2006/relationships/notesSlide" Target="/ppt/notesSlides/notesSlide1.xml" Id="Rc930edd967d140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3" name="page-bg">
            <a:extLst xmlns:a="http://schemas.openxmlformats.org/drawingml/2006/main">
              <a:ext uri="{FF2B5EF4-FFF2-40B4-BE49-F238E27FC236}">
                <a16:creationId xmlns:a16="http://schemas.microsoft.com/office/drawing/2014/main" id="{52DABD01-6951-4B9D-B867-B95CD8CE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entral-blue-panel">
            <a:extLst xmlns:a="http://schemas.openxmlformats.org/drawingml/2006/main">
              <a:ext uri="{FF2B5EF4-FFF2-40B4-BE49-F238E27FC236}">
                <a16:creationId xmlns:a16="http://schemas.microsoft.com/office/drawing/2014/main" id="{61B496AF-27C9-4488-B310-73EF9F9A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4800" y="4698000"/>
            <a:ext cx="26974800" cy="2822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E2F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5f1b68a744b86"/>
          <a:stretch xmlns:a="http://schemas.openxmlformats.org/drawingml/2006/main"/>
        </p:blipFill>
        <p:spPr>
          <a:xfrm xmlns:a="http://schemas.openxmlformats.org/drawingml/2006/main">
            <a:off x="0" y="1088"/>
            <a:ext cx="43891200" cy="4695825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1d9b1ed554cb5"/>
          <a:stretch xmlns:a="http://schemas.openxmlformats.org/drawingml/2006/main"/>
        </p:blipFill>
        <p:spPr>
          <a:xfrm xmlns:a="http://schemas.openxmlformats.org/drawingml/2006/main">
            <a:off x="37728000" y="29300889"/>
            <a:ext cx="5976000" cy="3246222"/>
          </a:xfrm>
          <a:prstGeom xmlns:a="http://schemas.openxmlformats.org/drawingml/2006/main" prst="rect">
            <a:avLst/>
          </a:prstGeom>
        </p:spPr>
      </p:pic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BA755D97-1389-44E8-BE47-18D5B6C7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5220000"/>
            <a:ext cx="7704000" cy="20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Implementing the Brazilian National Health Survey sampling design in R: a case study on asthma in Brazil.</a:t>
            </a:r>
          </a:p>
        </p:txBody>
      </p:sp>
      <p:sp>
        <p:nvSpPr>
          <p:cNvPr id="6" name="presenter">
            <a:extLst xmlns:a="http://schemas.openxmlformats.org/drawingml/2006/main">
              <a:ext uri="{FF2B5EF4-FFF2-40B4-BE49-F238E27FC236}">
                <a16:creationId xmlns:a16="http://schemas.microsoft.com/office/drawing/2014/main" id="{916E4110-87C5-4D2E-BD48-FAC9C537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" y="7560000"/>
            <a:ext cx="709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98" b="0">
                <a:solidFill>
                  <a:srgbClr val="4F6372"/>
                </a:solidFill>
              </a:defRPr>
            </a:pPr>
            <a:r>
              <a:rPr sz="2098" b="0">
                <a:solidFill>
                  <a:srgbClr val="4F6372"/>
                </a:solidFill>
              </a:rPr>
              <a:t>PRESENTED BY: I. Dube; M. E. L. Silva</a:t>
            </a:r>
          </a:p>
        </p:txBody>
      </p:sp>
      <p:sp>
        <p:nvSpPr>
          <p:cNvPr id="7" name="INTRO-heading">
            <a:extLst xmlns:a="http://schemas.openxmlformats.org/drawingml/2006/main">
              <a:ext uri="{FF2B5EF4-FFF2-40B4-BE49-F238E27FC236}">
                <a16:creationId xmlns:a16="http://schemas.microsoft.com/office/drawing/2014/main" id="{85F463BC-8925-4AB3-8B2E-DAA7B1BB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8640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INTRO</a:t>
            </a:r>
          </a:p>
        </p:txBody>
      </p:sp>
      <p:sp>
        <p:nvSpPr>
          <p:cNvPr id="8" name="INTRO-body">
            <a:extLst xmlns:a="http://schemas.openxmlformats.org/drawingml/2006/main">
              <a:ext uri="{FF2B5EF4-FFF2-40B4-BE49-F238E27FC236}">
                <a16:creationId xmlns:a16="http://schemas.microsoft.com/office/drawing/2014/main" id="{035B73E9-B019-4773-B413-EF90ED5E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9360000"/>
            <a:ext cx="7704000" cy="35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Epidemiological indicators convert individual survey answers into evidence for surveillance, planning and public policy.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Asthma combines diagnosis, attacks, medication use, risk factors and functional limitation.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PNS supports Brazil/state comparisons when weights, strata and clusters are incorporated.</a:t>
            </a:r>
          </a:p>
        </p:txBody>
      </p:sp>
      <p:sp>
        <p:nvSpPr>
          <p:cNvPr id="9" name="METHODS-heading">
            <a:extLst xmlns:a="http://schemas.openxmlformats.org/drawingml/2006/main">
              <a:ext uri="{FF2B5EF4-FFF2-40B4-BE49-F238E27FC236}">
                <a16:creationId xmlns:a16="http://schemas.microsoft.com/office/drawing/2014/main" id="{475F2B3C-3C2C-4A6D-BCA7-86810614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212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7A3B73"/>
                </a:solidFill>
              </a:defRPr>
            </a:pPr>
            <a:r>
              <a:rPr sz="2721" b="1">
                <a:solidFill>
                  <a:srgbClr val="7A3B73"/>
                </a:solidFill>
              </a:rPr>
              <a:t>METHODS</a:t>
            </a:r>
          </a:p>
        </p:txBody>
      </p:sp>
      <p:sp>
        <p:nvSpPr>
          <p:cNvPr id="10" name="METHODS-body">
            <a:extLst xmlns:a="http://schemas.openxmlformats.org/drawingml/2006/main">
              <a:ext uri="{FF2B5EF4-FFF2-40B4-BE49-F238E27FC236}">
                <a16:creationId xmlns:a16="http://schemas.microsoft.com/office/drawing/2014/main" id="{00DAA080-4842-42A4-B4CC-E614A57A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932000"/>
            <a:ext cx="7704000" cy="35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2013/2019 PNS microdata from the selected resident.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Variables: Q074 asthma; Q076 recent attack; Q07701/Q07704/Q07708 medication; P050 smoking; J002/J003/J00402 absenteeism and lost days.</a:t>
            </a:r>
          </a:p>
          <a:p xmlns:a="http://schemas.openxmlformats.org/drawingml/2006/main">
            <a:pPr algn="l">
              <a:defRPr sz="2211" b="0">
                <a:solidFill>
                  <a:srgbClr val="102536"/>
                </a:solidFill>
              </a:defRPr>
            </a:pPr>
            <a:r>
              <a:rPr sz="2211" b="0">
                <a:solidFill>
                  <a:srgbClr val="102536"/>
                </a:solidFill>
              </a:rPr>
              <a:t>• Complex design via PNSIBGE::pns_design(), with PSU, strata and calibrated weights; estimation with survey.</a:t>
            </a:r>
          </a:p>
        </p:txBody>
      </p:sp>
      <p:sp>
        <p:nvSpPr>
          <p:cNvPr id="11" name="ETL FLOW-heading">
            <a:extLst xmlns:a="http://schemas.openxmlformats.org/drawingml/2006/main">
              <a:ext uri="{FF2B5EF4-FFF2-40B4-BE49-F238E27FC236}">
                <a16:creationId xmlns:a16="http://schemas.microsoft.com/office/drawing/2014/main" id="{E5AD9A05-8BC7-489C-9B41-BD58936C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7928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ETL FLOW</a:t>
            </a:r>
          </a:p>
        </p:txBody>
      </p:sp>
      <p:sp>
        <p:nvSpPr>
          <p:cNvPr id="12" name="etl-main-0">
            <a:extLst xmlns:a="http://schemas.openxmlformats.org/drawingml/2006/main">
              <a:ext uri="{FF2B5EF4-FFF2-40B4-BE49-F238E27FC236}">
                <a16:creationId xmlns:a16="http://schemas.microsoft.com/office/drawing/2014/main" id="{0DC07D0D-545C-4171-867C-66133507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18756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3" name="etl-main-text-0">
            <a:extLst xmlns:a="http://schemas.openxmlformats.org/drawingml/2006/main">
              <a:ext uri="{FF2B5EF4-FFF2-40B4-BE49-F238E27FC236}">
                <a16:creationId xmlns:a16="http://schemas.microsoft.com/office/drawing/2014/main" id="{28FACF04-5B42-40F7-ADCB-C003FA0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18936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Extract PNS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2013/2019 data</a:t>
            </a:r>
          </a:p>
        </p:txBody>
      </p:sp>
      <p:sp>
        <p:nvSpPr>
          <p:cNvPr id="14" name="etl-down-0">
            <a:extLst xmlns:a="http://schemas.openxmlformats.org/drawingml/2006/main">
              <a:ext uri="{FF2B5EF4-FFF2-40B4-BE49-F238E27FC236}">
                <a16:creationId xmlns:a16="http://schemas.microsoft.com/office/drawing/2014/main" id="{E631F499-61EF-411D-94A9-C7A0CB4C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8000" y="19872000"/>
            <a:ext cx="43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15" name="etl-main-1">
            <a:extLst xmlns:a="http://schemas.openxmlformats.org/drawingml/2006/main">
              <a:ext uri="{FF2B5EF4-FFF2-40B4-BE49-F238E27FC236}">
                <a16:creationId xmlns:a16="http://schemas.microsoft.com/office/drawing/2014/main" id="{75C0220C-5D3E-45FD-A782-F7D3D07E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20268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6" name="etl-main-text-1">
            <a:extLst xmlns:a="http://schemas.openxmlformats.org/drawingml/2006/main">
              <a:ext uri="{FF2B5EF4-FFF2-40B4-BE49-F238E27FC236}">
                <a16:creationId xmlns:a16="http://schemas.microsoft.com/office/drawing/2014/main" id="{C50F5CC3-53F3-493B-BD8D-D8BF8235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20448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Treat indicator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variables</a:t>
            </a:r>
          </a:p>
        </p:txBody>
      </p:sp>
      <p:sp>
        <p:nvSpPr>
          <p:cNvPr id="17" name="etl-down-1">
            <a:extLst xmlns:a="http://schemas.openxmlformats.org/drawingml/2006/main">
              <a:ext uri="{FF2B5EF4-FFF2-40B4-BE49-F238E27FC236}">
                <a16:creationId xmlns:a16="http://schemas.microsoft.com/office/drawing/2014/main" id="{C1DAFEBF-CEB6-442C-9C96-90B087EB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8000" y="21384000"/>
            <a:ext cx="43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18" name="etl-main-2">
            <a:extLst xmlns:a="http://schemas.openxmlformats.org/drawingml/2006/main">
              <a:ext uri="{FF2B5EF4-FFF2-40B4-BE49-F238E27FC236}">
                <a16:creationId xmlns:a16="http://schemas.microsoft.com/office/drawing/2014/main" id="{DF92C5D6-B2B5-4EB3-B190-10EBC25C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000" y="21780000"/>
            <a:ext cx="5112000" cy="10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19" name="etl-main-text-2">
            <a:extLst xmlns:a="http://schemas.openxmlformats.org/drawingml/2006/main">
              <a:ext uri="{FF2B5EF4-FFF2-40B4-BE49-F238E27FC236}">
                <a16:creationId xmlns:a16="http://schemas.microsoft.com/office/drawing/2014/main" id="{6196B97E-460C-4512-A70C-1A222186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00" y="21960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Implement the</a:t>
            </a:r>
          </a:p>
          <a:p xmlns:a="http://schemas.openxmlformats.org/drawingml/2006/main">
            <a:pPr algn="ctr">
              <a:defRPr sz="1928" b="1">
                <a:solidFill>
                  <a:srgbClr val="FFFFFF"/>
                </a:solidFill>
              </a:defRPr>
            </a:pPr>
            <a:r>
              <a:rPr sz="1928" b="1">
                <a:solidFill>
                  <a:srgbClr val="FFFFFF"/>
                </a:solidFill>
              </a:rPr>
              <a:t>sampling design</a:t>
            </a:r>
          </a:p>
        </p:txBody>
      </p:sp>
      <p:sp>
        <p:nvSpPr>
          <p:cNvPr id="20" name="etl-branch-symbol">
            <a:extLst xmlns:a="http://schemas.openxmlformats.org/drawingml/2006/main">
              <a:ext uri="{FF2B5EF4-FFF2-40B4-BE49-F238E27FC236}">
                <a16:creationId xmlns:a16="http://schemas.microsoft.com/office/drawing/2014/main" id="{349F51E3-38CB-4AC7-B8AD-916AB0DE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000" y="23292000"/>
            <a:ext cx="5688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35" b="1">
                <a:solidFill>
                  <a:srgbClr val="153F59"/>
                </a:solidFill>
              </a:defRPr>
            </a:pPr>
            <a:r>
              <a:rPr sz="2835" b="1">
                <a:solidFill>
                  <a:srgbClr val="153F59"/>
                </a:solidFill>
              </a:rPr>
              <a:t>↙       ↓       ↘</a:t>
            </a:r>
          </a:p>
        </p:txBody>
      </p:sp>
      <p:sp>
        <p:nvSpPr>
          <p:cNvPr id="21" name="etl-branch-0">
            <a:extLst xmlns:a="http://schemas.openxmlformats.org/drawingml/2006/main">
              <a:ext uri="{FF2B5EF4-FFF2-40B4-BE49-F238E27FC236}">
                <a16:creationId xmlns:a16="http://schemas.microsoft.com/office/drawing/2014/main" id="{7262C771-74CE-4623-8FE6-E2E500E6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2" name="etl-branch-text-0">
            <a:extLst xmlns:a="http://schemas.openxmlformats.org/drawingml/2006/main">
              <a:ext uri="{FF2B5EF4-FFF2-40B4-BE49-F238E27FC236}">
                <a16:creationId xmlns:a16="http://schemas.microsoft.com/office/drawing/2014/main" id="{49346880-BA43-4464-8C59-F898087E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Means</a:t>
            </a:r>
          </a:p>
        </p:txBody>
      </p:sp>
      <p:sp>
        <p:nvSpPr>
          <p:cNvPr id="23" name="etl-branch-down-0">
            <a:extLst xmlns:a="http://schemas.openxmlformats.org/drawingml/2006/main">
              <a:ext uri="{FF2B5EF4-FFF2-40B4-BE49-F238E27FC236}">
                <a16:creationId xmlns:a16="http://schemas.microsoft.com/office/drawing/2014/main" id="{30928226-5FA7-4D83-AD12-63C353D3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24" name="etl-ci-0">
            <a:extLst xmlns:a="http://schemas.openxmlformats.org/drawingml/2006/main">
              <a:ext uri="{FF2B5EF4-FFF2-40B4-BE49-F238E27FC236}">
                <a16:creationId xmlns:a16="http://schemas.microsoft.com/office/drawing/2014/main" id="{6FD597F2-01FE-4B0F-A309-4B1EA09C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5" name="etl-ci-text-0">
            <a:extLst xmlns:a="http://schemas.openxmlformats.org/drawingml/2006/main">
              <a:ext uri="{FF2B5EF4-FFF2-40B4-BE49-F238E27FC236}">
                <a16:creationId xmlns:a16="http://schemas.microsoft.com/office/drawing/2014/main" id="{54B63343-780E-4795-8C4E-642D6466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Normal</a:t>
            </a:r>
          </a:p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95% CI</a:t>
            </a:r>
          </a:p>
        </p:txBody>
      </p:sp>
      <p:sp>
        <p:nvSpPr>
          <p:cNvPr id="26" name="etl-branch-1">
            <a:extLst xmlns:a="http://schemas.openxmlformats.org/drawingml/2006/main">
              <a:ext uri="{FF2B5EF4-FFF2-40B4-BE49-F238E27FC236}">
                <a16:creationId xmlns:a16="http://schemas.microsoft.com/office/drawing/2014/main" id="{22310C5A-3CB3-4183-9A9B-CE960D31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27" name="etl-branch-text-1">
            <a:extLst xmlns:a="http://schemas.openxmlformats.org/drawingml/2006/main">
              <a:ext uri="{FF2B5EF4-FFF2-40B4-BE49-F238E27FC236}">
                <a16:creationId xmlns:a16="http://schemas.microsoft.com/office/drawing/2014/main" id="{4CBDD65E-8C29-47FC-A1C7-829CA601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Proportions</a:t>
            </a:r>
          </a:p>
        </p:txBody>
      </p:sp>
      <p:sp>
        <p:nvSpPr>
          <p:cNvPr id="28" name="etl-branch-down-1">
            <a:extLst xmlns:a="http://schemas.openxmlformats.org/drawingml/2006/main">
              <a:ext uri="{FF2B5EF4-FFF2-40B4-BE49-F238E27FC236}">
                <a16:creationId xmlns:a16="http://schemas.microsoft.com/office/drawing/2014/main" id="{8058D370-BEBB-439C-8FFD-EE3250E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29" name="etl-ci-1">
            <a:extLst xmlns:a="http://schemas.openxmlformats.org/drawingml/2006/main">
              <a:ext uri="{FF2B5EF4-FFF2-40B4-BE49-F238E27FC236}">
                <a16:creationId xmlns:a16="http://schemas.microsoft.com/office/drawing/2014/main" id="{110693EA-1C51-45C3-9CEA-AE1CFCAA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0" name="etl-ci-text-1">
            <a:extLst xmlns:a="http://schemas.openxmlformats.org/drawingml/2006/main">
              <a:ext uri="{FF2B5EF4-FFF2-40B4-BE49-F238E27FC236}">
                <a16:creationId xmlns:a16="http://schemas.microsoft.com/office/drawing/2014/main" id="{18684DB0-3382-4E03-AC64-BB18AC20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Beta</a:t>
            </a:r>
          </a:p>
          <a:p xmlns:a="http://schemas.openxmlformats.org/drawingml/2006/main">
            <a:pPr algn="ctr">
              <a:defRPr sz="1956" b="1">
                <a:solidFill>
                  <a:srgbClr val="FFFFFF"/>
                </a:solidFill>
              </a:defRPr>
            </a:pPr>
            <a:r>
              <a:rPr sz="1956" b="1">
                <a:solidFill>
                  <a:srgbClr val="FFFFFF"/>
                </a:solidFill>
              </a:rPr>
              <a:t>95% CI</a:t>
            </a:r>
          </a:p>
        </p:txBody>
      </p:sp>
      <p:sp>
        <p:nvSpPr>
          <p:cNvPr id="31" name="etl-branch-2">
            <a:extLst xmlns:a="http://schemas.openxmlformats.org/drawingml/2006/main">
              <a:ext uri="{FF2B5EF4-FFF2-40B4-BE49-F238E27FC236}">
                <a16:creationId xmlns:a16="http://schemas.microsoft.com/office/drawing/2014/main" id="{F8F47096-23CB-4041-A3E8-2F2B822C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2000" y="23940000"/>
            <a:ext cx="2304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2" name="etl-branch-text-2">
            <a:extLst xmlns:a="http://schemas.openxmlformats.org/drawingml/2006/main">
              <a:ext uri="{FF2B5EF4-FFF2-40B4-BE49-F238E27FC236}">
                <a16:creationId xmlns:a16="http://schemas.microsoft.com/office/drawing/2014/main" id="{BC7B2614-9977-4B83-B221-9DD618EA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0" y="24156000"/>
            <a:ext cx="208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84" b="1">
                <a:solidFill>
                  <a:srgbClr val="FFFFFF"/>
                </a:solidFill>
              </a:defRPr>
            </a:pPr>
            <a:r>
              <a:rPr sz="1984" b="1">
                <a:solidFill>
                  <a:srgbClr val="FFFFFF"/>
                </a:solidFill>
              </a:rPr>
              <a:t>Totals/rates</a:t>
            </a:r>
          </a:p>
        </p:txBody>
      </p:sp>
      <p:sp>
        <p:nvSpPr>
          <p:cNvPr id="33" name="etl-branch-down-2">
            <a:extLst xmlns:a="http://schemas.openxmlformats.org/drawingml/2006/main">
              <a:ext uri="{FF2B5EF4-FFF2-40B4-BE49-F238E27FC236}">
                <a16:creationId xmlns:a16="http://schemas.microsoft.com/office/drawing/2014/main" id="{441103B3-EB25-40D7-B147-6420D6C4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000" y="24840000"/>
            <a:ext cx="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68" b="1">
                <a:solidFill>
                  <a:srgbClr val="153F59"/>
                </a:solidFill>
              </a:defRPr>
            </a:pPr>
            <a:r>
              <a:rPr sz="2268" b="1">
                <a:solidFill>
                  <a:srgbClr val="153F59"/>
                </a:solidFill>
              </a:rPr>
              <a:t>↓</a:t>
            </a:r>
          </a:p>
        </p:txBody>
      </p:sp>
      <p:sp>
        <p:nvSpPr>
          <p:cNvPr id="34" name="etl-ci-2">
            <a:extLst xmlns:a="http://schemas.openxmlformats.org/drawingml/2006/main">
              <a:ext uri="{FF2B5EF4-FFF2-40B4-BE49-F238E27FC236}">
                <a16:creationId xmlns:a16="http://schemas.microsoft.com/office/drawing/2014/main" id="{F975E194-E6A5-4F70-B513-44B0E81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000" y="25308000"/>
            <a:ext cx="2016000" cy="12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36000">
            <a:solidFill>
              <a:srgbClr val="153F59"/>
            </a:solidFill>
            <a:prstDash val="solid"/>
          </a:ln>
        </p:spPr>
      </p:sp>
      <p:sp>
        <p:nvSpPr>
          <p:cNvPr id="35" name="etl-ci-text-2">
            <a:extLst xmlns:a="http://schemas.openxmlformats.org/drawingml/2006/main">
              <a:ext uri="{FF2B5EF4-FFF2-40B4-BE49-F238E27FC236}">
                <a16:creationId xmlns:a16="http://schemas.microsoft.com/office/drawing/2014/main" id="{BC566754-1913-4384-A36A-FDF0A029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0" y="25524000"/>
            <a:ext cx="180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1">
                <a:solidFill>
                  <a:srgbClr val="FFFFFF"/>
                </a:solidFill>
              </a:defRPr>
            </a:pPr>
            <a:r>
              <a:rPr sz="1559" b="1">
                <a:solidFill>
                  <a:srgbClr val="FFFFFF"/>
                </a:solidFill>
              </a:rPr>
              <a:t>95% CI by</a:t>
            </a:r>
          </a:p>
          <a:p xmlns:a="http://schemas.openxmlformats.org/drawingml/2006/main">
            <a:pPr algn="ctr">
              <a:defRPr sz="1559" b="1">
                <a:solidFill>
                  <a:srgbClr val="FFFFFF"/>
                </a:solidFill>
              </a:defRPr>
            </a:pPr>
            <a:r>
              <a:rPr sz="1559" b="1">
                <a:solidFill>
                  <a:srgbClr val="FFFFFF"/>
                </a:solidFill>
              </a:rPr>
              <a:t>estimator</a:t>
            </a:r>
          </a:p>
        </p:txBody>
      </p:sp>
      <p:sp>
        <p:nvSpPr>
          <p:cNvPr id="36" name="formula-heading">
            <a:extLst xmlns:a="http://schemas.openxmlformats.org/drawingml/2006/main">
              <a:ext uri="{FF2B5EF4-FFF2-40B4-BE49-F238E27FC236}">
                <a16:creationId xmlns:a16="http://schemas.microsoft.com/office/drawing/2014/main" id="{87881C60-7FA7-46CE-831A-ADF65C8B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6856000"/>
            <a:ext cx="770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21" b="1">
                <a:solidFill>
                  <a:srgbClr val="153F59"/>
                </a:solidFill>
              </a:defRPr>
            </a:pPr>
            <a:r>
              <a:rPr sz="2721" b="1">
                <a:solidFill>
                  <a:srgbClr val="153F59"/>
                </a:solidFill>
              </a:rPr>
              <a:t>ESTIMATORS</a:t>
            </a:r>
          </a:p>
        </p:txBody>
      </p:sp>
      <p:sp>
        <p:nvSpPr>
          <p:cNvPr id="37" name="formula-box">
            <a:extLst xmlns:a="http://schemas.openxmlformats.org/drawingml/2006/main">
              <a:ext uri="{FF2B5EF4-FFF2-40B4-BE49-F238E27FC236}">
                <a16:creationId xmlns:a16="http://schemas.microsoft.com/office/drawing/2014/main" id="{DC8CA35D-989D-4AA5-8901-888D92CE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7576000"/>
            <a:ext cx="756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12eb6e37549d1"/>
          <a:stretch xmlns:a="http://schemas.openxmlformats.org/drawingml/2006/main"/>
        </p:blipFill>
        <p:spPr>
          <a:xfrm xmlns:a="http://schemas.openxmlformats.org/drawingml/2006/main">
            <a:off x="1761015" y="27756000"/>
            <a:ext cx="4901970" cy="3528000"/>
          </a:xfrm>
          <a:prstGeom xmlns:a="http://schemas.openxmlformats.org/drawingml/2006/main" prst="rect">
            <a:avLst/>
          </a:prstGeom>
        </p:spPr>
      </p:pic>
      <p:sp>
        <p:nvSpPr>
          <p:cNvPr id="39" name="formula-legend">
            <a:extLst xmlns:a="http://schemas.openxmlformats.org/drawingml/2006/main">
              <a:ext uri="{FF2B5EF4-FFF2-40B4-BE49-F238E27FC236}">
                <a16:creationId xmlns:a16="http://schemas.microsoft.com/office/drawing/2014/main" id="{9470D84E-1219-46D1-A1D2-CFBBD748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31428000"/>
            <a:ext cx="6984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87" b="0">
                <a:solidFill>
                  <a:srgbClr val="102536"/>
                </a:solidFill>
              </a:defRPr>
            </a:pPr>
            <a:r>
              <a:rPr sz="1587" b="0">
                <a:solidFill>
                  <a:srgbClr val="102536"/>
                </a:solidFill>
              </a:rPr>
              <a:t>wᵢ = sampling weight; yᵢ = binary indicator; xᵢ = continuous variable.</a:t>
            </a:r>
          </a:p>
        </p:txBody>
      </p:sp>
      <p:sp>
        <p:nvSpPr>
          <p:cNvPr id="40" name="main-finding">
            <a:extLst xmlns:a="http://schemas.openxmlformats.org/drawingml/2006/main">
              <a:ext uri="{FF2B5EF4-FFF2-40B4-BE49-F238E27FC236}">
                <a16:creationId xmlns:a16="http://schemas.microsoft.com/office/drawing/2014/main" id="{4AA356F5-8BC7-42B5-B930-356062F8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000" y="5292000"/>
            <a:ext cx="25380000" cy="25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009" b="1">
                <a:solidFill>
                  <a:srgbClr val="153F59"/>
                </a:solidFill>
              </a:defRPr>
            </a:pPr>
            <a:r>
              <a:rPr sz="6009" b="1">
                <a:solidFill>
                  <a:srgbClr val="153F59"/>
                </a:solidFill>
              </a:rPr>
              <a:t>Asthma diagnosis increased; control, medication access and functional burden must be interpreted through the PNS sampling design.</a:t>
            </a:r>
          </a:p>
        </p:txBody>
      </p:sp>
      <p:sp>
        <p:nvSpPr>
          <p:cNvPr id="41" name="finding-underline">
            <a:extLst xmlns:a="http://schemas.openxmlformats.org/drawingml/2006/main">
              <a:ext uri="{FF2B5EF4-FFF2-40B4-BE49-F238E27FC236}">
                <a16:creationId xmlns:a16="http://schemas.microsoft.com/office/drawing/2014/main" id="{B5DFECA9-D0CF-4CAC-821E-372B9D2D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0000" y="7956000"/>
            <a:ext cx="203400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42" name="Diagnosis in Brazil-card">
            <a:extLst xmlns:a="http://schemas.openxmlformats.org/drawingml/2006/main">
              <a:ext uri="{FF2B5EF4-FFF2-40B4-BE49-F238E27FC236}">
                <a16:creationId xmlns:a16="http://schemas.microsoft.com/office/drawing/2014/main" id="{95CF7735-AB5B-4AA3-9630-420E6F70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43" name="Diagnosis in Brazil-card-title">
            <a:extLst xmlns:a="http://schemas.openxmlformats.org/drawingml/2006/main">
              <a:ext uri="{FF2B5EF4-FFF2-40B4-BE49-F238E27FC236}">
                <a16:creationId xmlns:a16="http://schemas.microsoft.com/office/drawing/2014/main" id="{71E1EB09-37C7-4A41-8358-880EA1E1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Diagnosis in Brazil</a:t>
            </a:r>
          </a:p>
        </p:txBody>
      </p:sp>
      <p:sp>
        <p:nvSpPr>
          <p:cNvPr id="44" name="Diagnosis in Brazil-card-value">
            <a:extLst xmlns:a="http://schemas.openxmlformats.org/drawingml/2006/main">
              <a:ext uri="{FF2B5EF4-FFF2-40B4-BE49-F238E27FC236}">
                <a16:creationId xmlns:a16="http://schemas.microsoft.com/office/drawing/2014/main" id="{768536A7-A58B-4628-B021-E85B3005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4.41% → 5.40%</a:t>
            </a:r>
          </a:p>
        </p:txBody>
      </p:sp>
      <p:sp>
        <p:nvSpPr>
          <p:cNvPr id="45" name="Diagnosis in Brazil-card-note">
            <a:extLst xmlns:a="http://schemas.openxmlformats.org/drawingml/2006/main">
              <a:ext uri="{FF2B5EF4-FFF2-40B4-BE49-F238E27FC236}">
                <a16:creationId xmlns:a16="http://schemas.microsoft.com/office/drawing/2014/main" id="{2C25C2EF-501E-405C-A16F-E9554D57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Physician-diagnosed asthma prevalence; non-overlapping 95% CIs.</a:t>
            </a:r>
          </a:p>
        </p:txBody>
      </p:sp>
      <p:sp>
        <p:nvSpPr>
          <p:cNvPr id="46" name="Medication in Brazil-card">
            <a:extLst xmlns:a="http://schemas.openxmlformats.org/drawingml/2006/main">
              <a:ext uri="{FF2B5EF4-FFF2-40B4-BE49-F238E27FC236}">
                <a16:creationId xmlns:a16="http://schemas.microsoft.com/office/drawing/2014/main" id="{F58C9237-B9A0-4763-B839-D958EFE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48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47" name="Medication in Brazil-card-title">
            <a:extLst xmlns:a="http://schemas.openxmlformats.org/drawingml/2006/main">
              <a:ext uri="{FF2B5EF4-FFF2-40B4-BE49-F238E27FC236}">
                <a16:creationId xmlns:a16="http://schemas.microsoft.com/office/drawing/2014/main" id="{67F15FAD-AFFE-4C2F-B963-76D4EE85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Medication in Brazil</a:t>
            </a:r>
          </a:p>
        </p:txBody>
      </p:sp>
      <p:sp>
        <p:nvSpPr>
          <p:cNvPr id="48" name="Medication in Brazil-card-value">
            <a:extLst xmlns:a="http://schemas.openxmlformats.org/drawingml/2006/main">
              <a:ext uri="{FF2B5EF4-FFF2-40B4-BE49-F238E27FC236}">
                <a16:creationId xmlns:a16="http://schemas.microsoft.com/office/drawing/2014/main" id="{E1E478DC-F1F4-4D5F-A45D-22E4FC74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81.5% → 64.4%</a:t>
            </a:r>
          </a:p>
        </p:txBody>
      </p:sp>
      <p:sp>
        <p:nvSpPr>
          <p:cNvPr id="49" name="Medication in Brazil-card-note">
            <a:extLst xmlns:a="http://schemas.openxmlformats.org/drawingml/2006/main">
              <a:ext uri="{FF2B5EF4-FFF2-40B4-BE49-F238E27FC236}">
                <a16:creationId xmlns:a16="http://schemas.microsoft.com/office/drawing/2014/main" id="{42056FD4-AEA9-4F55-8BFD-A6A5288C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36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Oral medication or inhaler use among people with asthma; read with denominator and CI.</a:t>
            </a:r>
          </a:p>
        </p:txBody>
      </p:sp>
      <p:sp>
        <p:nvSpPr>
          <p:cNvPr id="50" name="Functional burden-card">
            <a:extLst xmlns:a="http://schemas.openxmlformats.org/drawingml/2006/main">
              <a:ext uri="{FF2B5EF4-FFF2-40B4-BE49-F238E27FC236}">
                <a16:creationId xmlns:a16="http://schemas.microsoft.com/office/drawing/2014/main" id="{E3F626B4-247C-45C6-A0DB-6C0714A9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36000" y="8604000"/>
            <a:ext cx="7632000" cy="23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D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51" name="Functional burden-card-title">
            <a:extLst xmlns:a="http://schemas.openxmlformats.org/drawingml/2006/main">
              <a:ext uri="{FF2B5EF4-FFF2-40B4-BE49-F238E27FC236}">
                <a16:creationId xmlns:a16="http://schemas.microsoft.com/office/drawing/2014/main" id="{95A5CC8C-FFBD-4BEF-A0DC-7BD49F64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8892000"/>
            <a:ext cx="705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4" b="1">
                <a:solidFill>
                  <a:srgbClr val="153F59"/>
                </a:solidFill>
              </a:defRPr>
            </a:pPr>
            <a:r>
              <a:rPr sz="2324" b="1">
                <a:solidFill>
                  <a:srgbClr val="153F59"/>
                </a:solidFill>
              </a:rPr>
              <a:t>Functional burden</a:t>
            </a:r>
          </a:p>
        </p:txBody>
      </p:sp>
      <p:sp>
        <p:nvSpPr>
          <p:cNvPr id="52" name="Functional burden-card-value">
            <a:extLst xmlns:a="http://schemas.openxmlformats.org/drawingml/2006/main">
              <a:ext uri="{FF2B5EF4-FFF2-40B4-BE49-F238E27FC236}">
                <a16:creationId xmlns:a16="http://schemas.microsoft.com/office/drawing/2014/main" id="{8B6E55A9-DF6C-45F9-8FB6-0C4992A4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9432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94" b="1">
                <a:solidFill>
                  <a:srgbClr val="153F59"/>
                </a:solidFill>
              </a:defRPr>
            </a:pPr>
            <a:r>
              <a:rPr sz="4394" b="1">
                <a:solidFill>
                  <a:srgbClr val="153F59"/>
                </a:solidFill>
              </a:rPr>
              <a:t>15.2% and 4.8 days</a:t>
            </a:r>
          </a:p>
        </p:txBody>
      </p:sp>
      <p:sp>
        <p:nvSpPr>
          <p:cNvPr id="53" name="Functional burden-card-note">
            <a:extLst xmlns:a="http://schemas.openxmlformats.org/drawingml/2006/main">
              <a:ext uri="{FF2B5EF4-FFF2-40B4-BE49-F238E27FC236}">
                <a16:creationId xmlns:a16="http://schemas.microsoft.com/office/drawing/2014/main" id="{79C6B8DB-22FA-4A5A-8C35-5DD55E54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4000" y="10224000"/>
            <a:ext cx="705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59" b="0">
                <a:solidFill>
                  <a:srgbClr val="102536"/>
                </a:solidFill>
              </a:defRPr>
            </a:pPr>
            <a:r>
              <a:rPr sz="1559" b="0">
                <a:solidFill>
                  <a:srgbClr val="102536"/>
                </a:solidFill>
              </a:rPr>
              <a:t>Respiratory absenteeism and mean lost days in 2019.</a:t>
            </a:r>
          </a:p>
        </p:txBody>
      </p:sp>
      <p:sp>
        <p:nvSpPr>
          <p:cNvPr id="54" name="Table 1: Physician-diagn">
            <a:extLst xmlns:a="http://schemas.openxmlformats.org/drawingml/2006/main">
              <a:ext uri="{FF2B5EF4-FFF2-40B4-BE49-F238E27FC236}">
                <a16:creationId xmlns:a16="http://schemas.microsoft.com/office/drawing/2014/main" id="{2A2178F9-4A50-433B-A95D-76EAE29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1592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Table 1: Physician-diagnosed asthma prevalence by state, PNS 2013 and 2019.</a:t>
            </a:r>
          </a:p>
        </p:txBody>
      </p:sp>
      <p:sp>
        <p:nvSpPr>
          <p:cNvPr id="55" name="Table 1: Physician-diagnosed asthma prevalence by state, PNS 2013 and 2019.-frame">
            <a:extLst xmlns:a="http://schemas.openxmlformats.org/drawingml/2006/main">
              <a:ext uri="{FF2B5EF4-FFF2-40B4-BE49-F238E27FC236}">
                <a16:creationId xmlns:a16="http://schemas.microsoft.com/office/drawing/2014/main" id="{1261BDF7-2109-4A27-A240-570C30DA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2492000"/>
            <a:ext cx="12672000" cy="83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56" name="Table 1: Physician-diagnosed asthma prevalence by state, PNS 2013 and 2019.-head-bg">
            <a:extLst xmlns:a="http://schemas.openxmlformats.org/drawingml/2006/main">
              <a:ext uri="{FF2B5EF4-FFF2-40B4-BE49-F238E27FC236}">
                <a16:creationId xmlns:a16="http://schemas.microsoft.com/office/drawing/2014/main" id="{1294EFE1-666F-44A8-9D18-592D860A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2672000"/>
            <a:ext cx="12312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57" name="Table 1: Physician-diagnosed asthma prevalence by state, PNS 2013 and 2019.-head-0">
            <a:extLst xmlns:a="http://schemas.openxmlformats.org/drawingml/2006/main">
              <a:ext uri="{FF2B5EF4-FFF2-40B4-BE49-F238E27FC236}">
                <a16:creationId xmlns:a16="http://schemas.microsoft.com/office/drawing/2014/main" id="{9492AFBC-7B22-46C5-9D10-9BF7CEFD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2744000"/>
            <a:ext cx="259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58" name="Table 1: Physician-diagnosed asthma prevalence by state, PNS 2013 and 2019.-head-1">
            <a:extLst xmlns:a="http://schemas.openxmlformats.org/drawingml/2006/main">
              <a:ext uri="{FF2B5EF4-FFF2-40B4-BE49-F238E27FC236}">
                <a16:creationId xmlns:a16="http://schemas.microsoft.com/office/drawing/2014/main" id="{4DB4BCA6-352E-4546-8583-14A261B0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2013</a:t>
            </a:r>
          </a:p>
        </p:txBody>
      </p:sp>
      <p:sp>
        <p:nvSpPr>
          <p:cNvPr id="59" name="Table 1: Physician-diagnosed asthma prevalence by state, PNS 2013 and 2019.-head-2">
            <a:extLst xmlns:a="http://schemas.openxmlformats.org/drawingml/2006/main">
              <a:ext uri="{FF2B5EF4-FFF2-40B4-BE49-F238E27FC236}">
                <a16:creationId xmlns:a16="http://schemas.microsoft.com/office/drawing/2014/main" id="{AA59A67F-E565-45A1-BC6B-C902C2F9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60" name="Table 1: Physician-diagnosed asthma prevalence by state, PNS 2013 and 2019.-stripe-0">
            <a:extLst xmlns:a="http://schemas.openxmlformats.org/drawingml/2006/main">
              <a:ext uri="{FF2B5EF4-FFF2-40B4-BE49-F238E27FC236}">
                <a16:creationId xmlns:a16="http://schemas.microsoft.com/office/drawing/2014/main" id="{1564683A-1649-4872-9868-8D4FC9FB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31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61" name="Table 1: Physician-diagnosed asthma prevalence by state, PNS 2013 and 2019.-cell-0-0">
            <a:extLst xmlns:a="http://schemas.openxmlformats.org/drawingml/2006/main">
              <a:ext uri="{FF2B5EF4-FFF2-40B4-BE49-F238E27FC236}">
                <a16:creationId xmlns:a16="http://schemas.microsoft.com/office/drawing/2014/main" id="{D0B47535-0064-4C55-BF3C-561C9D96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Rondônia</a:t>
            </a:r>
          </a:p>
        </p:txBody>
      </p:sp>
      <p:sp>
        <p:nvSpPr>
          <p:cNvPr id="62" name="Table 1: Physician-diagnosed asthma prevalence by state, PNS 2013 and 2019.-cell-0-1">
            <a:extLst xmlns:a="http://schemas.openxmlformats.org/drawingml/2006/main">
              <a:ext uri="{FF2B5EF4-FFF2-40B4-BE49-F238E27FC236}">
                <a16:creationId xmlns:a16="http://schemas.microsoft.com/office/drawing/2014/main" id="{5D75142C-BC1B-4AE7-B359-66D73030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4.20% [3.02%; 5.67%]</a:t>
            </a:r>
          </a:p>
        </p:txBody>
      </p:sp>
      <p:sp>
        <p:nvSpPr>
          <p:cNvPr id="63" name="Table 1: Physician-diagnosed asthma prevalence by state, PNS 2013 and 2019.-cell-0-2">
            <a:extLst xmlns:a="http://schemas.openxmlformats.org/drawingml/2006/main">
              <a:ext uri="{FF2B5EF4-FFF2-40B4-BE49-F238E27FC236}">
                <a16:creationId xmlns:a16="http://schemas.microsoft.com/office/drawing/2014/main" id="{A4AFB161-0665-4BE9-8817-B98345FB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3.43% [2.70%; 4.30%]</a:t>
            </a:r>
          </a:p>
        </p:txBody>
      </p:sp>
      <p:sp>
        <p:nvSpPr>
          <p:cNvPr id="64" name="Table 1: Physician-diagnosed asthma prevalence by state, PNS 2013 and 2019.-cell-1-0">
            <a:extLst xmlns:a="http://schemas.openxmlformats.org/drawingml/2006/main">
              <a:ext uri="{FF2B5EF4-FFF2-40B4-BE49-F238E27FC236}">
                <a16:creationId xmlns:a16="http://schemas.microsoft.com/office/drawing/2014/main" id="{E88E751D-A4C0-4C32-9037-F07CD86D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Acre</a:t>
            </a:r>
          </a:p>
        </p:txBody>
      </p:sp>
      <p:sp>
        <p:nvSpPr>
          <p:cNvPr id="65" name="Table 1: Physician-diagnosed asthma prevalence by state, PNS 2013 and 2019.-cell-1-1">
            <a:extLst xmlns:a="http://schemas.openxmlformats.org/drawingml/2006/main">
              <a:ext uri="{FF2B5EF4-FFF2-40B4-BE49-F238E27FC236}">
                <a16:creationId xmlns:a16="http://schemas.microsoft.com/office/drawing/2014/main" id="{A67122C1-DEF3-4561-A9A7-B75821C1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4.07% [2.95%; 5.45%]</a:t>
            </a:r>
          </a:p>
        </p:txBody>
      </p:sp>
      <p:sp>
        <p:nvSpPr>
          <p:cNvPr id="66" name="Table 1: Physician-diagnosed asthma prevalence by state, PNS 2013 and 2019.-cell-1-2">
            <a:extLst xmlns:a="http://schemas.openxmlformats.org/drawingml/2006/main">
              <a:ext uri="{FF2B5EF4-FFF2-40B4-BE49-F238E27FC236}">
                <a16:creationId xmlns:a16="http://schemas.microsoft.com/office/drawing/2014/main" id="{8F063BE6-9E31-4C9A-B6E8-D3E318C9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3.87% [2.99%; 4.91%]</a:t>
            </a:r>
          </a:p>
        </p:txBody>
      </p:sp>
      <p:sp>
        <p:nvSpPr>
          <p:cNvPr id="67" name="Table 1: Physician-diagnosed asthma prevalence by state, PNS 2013 and 2019.-stripe-2">
            <a:extLst xmlns:a="http://schemas.openxmlformats.org/drawingml/2006/main">
              <a:ext uri="{FF2B5EF4-FFF2-40B4-BE49-F238E27FC236}">
                <a16:creationId xmlns:a16="http://schemas.microsoft.com/office/drawing/2014/main" id="{5473808B-00C0-411A-AD43-6B76E2D6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37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68" name="Table 1: Physician-diagnosed asthma prevalence by state, PNS 2013 and 2019.-cell-2-0">
            <a:extLst xmlns:a="http://schemas.openxmlformats.org/drawingml/2006/main">
              <a:ext uri="{FF2B5EF4-FFF2-40B4-BE49-F238E27FC236}">
                <a16:creationId xmlns:a16="http://schemas.microsoft.com/office/drawing/2014/main" id="{7A0E1F11-DF09-42DA-A7CA-D6ECE691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3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Amazonas</a:t>
            </a:r>
          </a:p>
        </p:txBody>
      </p:sp>
      <p:sp>
        <p:nvSpPr>
          <p:cNvPr id="69" name="Table 1: Physician-diagnosed asthma prevalence by state, PNS 2013 and 2019.-cell-2-1">
            <a:extLst xmlns:a="http://schemas.openxmlformats.org/drawingml/2006/main">
              <a:ext uri="{FF2B5EF4-FFF2-40B4-BE49-F238E27FC236}">
                <a16:creationId xmlns:a16="http://schemas.microsoft.com/office/drawing/2014/main" id="{9C33DFE1-E16A-469A-9682-840B04C5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5.65% [4.47%; 7.03%]</a:t>
            </a:r>
          </a:p>
        </p:txBody>
      </p:sp>
      <p:sp>
        <p:nvSpPr>
          <p:cNvPr id="70" name="Table 1: Physician-diagnosed asthma prevalence by state, PNS 2013 and 2019.-cell-2-2">
            <a:extLst xmlns:a="http://schemas.openxmlformats.org/drawingml/2006/main">
              <a:ext uri="{FF2B5EF4-FFF2-40B4-BE49-F238E27FC236}">
                <a16:creationId xmlns:a16="http://schemas.microsoft.com/office/drawing/2014/main" id="{554EC22A-082F-4947-BB51-63032DE3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4.86% [3.86%; 6.02%]</a:t>
            </a:r>
          </a:p>
        </p:txBody>
      </p:sp>
      <p:sp>
        <p:nvSpPr>
          <p:cNvPr id="71" name="Table 1: Physician-diagnosed asthma prevalence by state, PNS 2013 and 2019.-cell-3-0">
            <a:extLst xmlns:a="http://schemas.openxmlformats.org/drawingml/2006/main">
              <a:ext uri="{FF2B5EF4-FFF2-40B4-BE49-F238E27FC236}">
                <a16:creationId xmlns:a16="http://schemas.microsoft.com/office/drawing/2014/main" id="{A8BE87B5-CCA2-42DC-B9B9-444DA9F6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Roraima</a:t>
            </a:r>
          </a:p>
        </p:txBody>
      </p:sp>
      <p:sp>
        <p:nvSpPr>
          <p:cNvPr id="72" name="Table 1: Physician-diagnosed asthma prevalence by state, PNS 2013 and 2019.-cell-3-1">
            <a:extLst xmlns:a="http://schemas.openxmlformats.org/drawingml/2006/main">
              <a:ext uri="{FF2B5EF4-FFF2-40B4-BE49-F238E27FC236}">
                <a16:creationId xmlns:a16="http://schemas.microsoft.com/office/drawing/2014/main" id="{166D9E6E-B04C-43F0-AB5B-77FC539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4.57% [3.35%; 6.06%]</a:t>
            </a:r>
          </a:p>
        </p:txBody>
      </p:sp>
      <p:sp>
        <p:nvSpPr>
          <p:cNvPr id="73" name="Table 1: Physician-diagnosed asthma prevalence by state, PNS 2013 and 2019.-cell-3-2">
            <a:extLst xmlns:a="http://schemas.openxmlformats.org/drawingml/2006/main">
              <a:ext uri="{FF2B5EF4-FFF2-40B4-BE49-F238E27FC236}">
                <a16:creationId xmlns:a16="http://schemas.microsoft.com/office/drawing/2014/main" id="{CF23D3B2-8262-40EA-A850-AD72A7D9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5.85% [4.03%; 8.16%]</a:t>
            </a:r>
          </a:p>
        </p:txBody>
      </p:sp>
      <p:sp>
        <p:nvSpPr>
          <p:cNvPr id="74" name="Table 1: Physician-diagnosed asthma prevalence by state, PNS 2013 and 2019.-stripe-4">
            <a:extLst xmlns:a="http://schemas.openxmlformats.org/drawingml/2006/main">
              <a:ext uri="{FF2B5EF4-FFF2-40B4-BE49-F238E27FC236}">
                <a16:creationId xmlns:a16="http://schemas.microsoft.com/office/drawing/2014/main" id="{8BB02BC4-7EC8-4B97-ABAA-EE54649D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42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75" name="Table 1: Physician-diagnosed asthma prevalence by state, PNS 2013 and 2019.-cell-4-0">
            <a:extLst xmlns:a="http://schemas.openxmlformats.org/drawingml/2006/main">
              <a:ext uri="{FF2B5EF4-FFF2-40B4-BE49-F238E27FC236}">
                <a16:creationId xmlns:a16="http://schemas.microsoft.com/office/drawing/2014/main" id="{BFE7C431-B758-4A54-AB35-41E2B01B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Pará</a:t>
            </a:r>
          </a:p>
        </p:txBody>
      </p:sp>
      <p:sp>
        <p:nvSpPr>
          <p:cNvPr id="76" name="Table 1: Physician-diagnosed asthma prevalence by state, PNS 2013 and 2019.-cell-4-1">
            <a:extLst xmlns:a="http://schemas.openxmlformats.org/drawingml/2006/main">
              <a:ext uri="{FF2B5EF4-FFF2-40B4-BE49-F238E27FC236}">
                <a16:creationId xmlns:a16="http://schemas.microsoft.com/office/drawing/2014/main" id="{BFF3A728-C90A-4767-B72F-9E9E5A99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4.29% [3.28%; 5.50%]</a:t>
            </a:r>
          </a:p>
        </p:txBody>
      </p:sp>
      <p:sp>
        <p:nvSpPr>
          <p:cNvPr id="77" name="Table 1: Physician-diagnosed asthma prevalence by state, PNS 2013 and 2019.-cell-4-2">
            <a:extLst xmlns:a="http://schemas.openxmlformats.org/drawingml/2006/main">
              <a:ext uri="{FF2B5EF4-FFF2-40B4-BE49-F238E27FC236}">
                <a16:creationId xmlns:a16="http://schemas.microsoft.com/office/drawing/2014/main" id="{9A563729-81B0-408F-AF25-BA85CEE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4.83% [3.90%; 5.89%]</a:t>
            </a:r>
          </a:p>
        </p:txBody>
      </p:sp>
      <p:sp>
        <p:nvSpPr>
          <p:cNvPr id="78" name="Table 1: Physician-diagnosed asthma prevalence by state, PNS 2013 and 2019.-cell-5-0">
            <a:extLst xmlns:a="http://schemas.openxmlformats.org/drawingml/2006/main">
              <a:ext uri="{FF2B5EF4-FFF2-40B4-BE49-F238E27FC236}">
                <a16:creationId xmlns:a16="http://schemas.microsoft.com/office/drawing/2014/main" id="{D7BC735F-01DC-4A7D-8B79-955A2EA8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Amapá</a:t>
            </a:r>
          </a:p>
        </p:txBody>
      </p:sp>
      <p:sp>
        <p:nvSpPr>
          <p:cNvPr id="79" name="Table 1: Physician-diagnosed asthma prevalence by state, PNS 2013 and 2019.-cell-5-1">
            <a:extLst xmlns:a="http://schemas.openxmlformats.org/drawingml/2006/main">
              <a:ext uri="{FF2B5EF4-FFF2-40B4-BE49-F238E27FC236}">
                <a16:creationId xmlns:a16="http://schemas.microsoft.com/office/drawing/2014/main" id="{29027DEF-2A07-449A-BA9D-ABF36657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4.02% [2.82%; 5.52%]</a:t>
            </a:r>
          </a:p>
        </p:txBody>
      </p:sp>
      <p:sp>
        <p:nvSpPr>
          <p:cNvPr id="80" name="Table 1: Physician-diagnosed asthma prevalence by state, PNS 2013 and 2019.-cell-5-2">
            <a:extLst xmlns:a="http://schemas.openxmlformats.org/drawingml/2006/main">
              <a:ext uri="{FF2B5EF4-FFF2-40B4-BE49-F238E27FC236}">
                <a16:creationId xmlns:a16="http://schemas.microsoft.com/office/drawing/2014/main" id="{E4A8180B-398E-42BC-A610-493BC00A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6.63% [5.27%; 8.21%]</a:t>
            </a:r>
          </a:p>
        </p:txBody>
      </p:sp>
      <p:sp>
        <p:nvSpPr>
          <p:cNvPr id="81" name="Table 1: Physician-diagnosed asthma prevalence by state, PNS 2013 and 2019.-stripe-6">
            <a:extLst xmlns:a="http://schemas.openxmlformats.org/drawingml/2006/main">
              <a:ext uri="{FF2B5EF4-FFF2-40B4-BE49-F238E27FC236}">
                <a16:creationId xmlns:a16="http://schemas.microsoft.com/office/drawing/2014/main" id="{A2314A2D-7671-4408-9592-1E213687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47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82" name="Table 1: Physician-diagnosed asthma prevalence by state, PNS 2013 and 2019.-cell-6-0">
            <a:extLst xmlns:a="http://schemas.openxmlformats.org/drawingml/2006/main">
              <a:ext uri="{FF2B5EF4-FFF2-40B4-BE49-F238E27FC236}">
                <a16:creationId xmlns:a16="http://schemas.microsoft.com/office/drawing/2014/main" id="{E8E0ACC4-AB40-4257-ACCA-5CC13351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4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Tocantins</a:t>
            </a:r>
          </a:p>
        </p:txBody>
      </p:sp>
      <p:sp>
        <p:nvSpPr>
          <p:cNvPr id="83" name="Table 1: Physician-diagnosed asthma prevalence by state, PNS 2013 and 2019.-cell-6-1">
            <a:extLst xmlns:a="http://schemas.openxmlformats.org/drawingml/2006/main">
              <a:ext uri="{FF2B5EF4-FFF2-40B4-BE49-F238E27FC236}">
                <a16:creationId xmlns:a16="http://schemas.microsoft.com/office/drawing/2014/main" id="{2AFA16C2-4AA3-486A-AE88-E2C57E4D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4.96% [3.55%; 6.72%]</a:t>
            </a:r>
          </a:p>
        </p:txBody>
      </p:sp>
      <p:sp>
        <p:nvSpPr>
          <p:cNvPr id="84" name="Table 1: Physician-diagnosed asthma prevalence by state, PNS 2013 and 2019.-cell-6-2">
            <a:extLst xmlns:a="http://schemas.openxmlformats.org/drawingml/2006/main">
              <a:ext uri="{FF2B5EF4-FFF2-40B4-BE49-F238E27FC236}">
                <a16:creationId xmlns:a16="http://schemas.microsoft.com/office/drawing/2014/main" id="{1A74CAFD-8148-4123-8DB9-75D8770F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4.36% [3.27%; 5.70%]</a:t>
            </a:r>
          </a:p>
        </p:txBody>
      </p:sp>
      <p:sp>
        <p:nvSpPr>
          <p:cNvPr id="85" name="Table 1: Physician-diagnosed asthma prevalence by state, PNS 2013 and 2019.-cell-7-0">
            <a:extLst xmlns:a="http://schemas.openxmlformats.org/drawingml/2006/main">
              <a:ext uri="{FF2B5EF4-FFF2-40B4-BE49-F238E27FC236}">
                <a16:creationId xmlns:a16="http://schemas.microsoft.com/office/drawing/2014/main" id="{6C216656-E0DC-4F93-BA36-A7E77142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Maranhão</a:t>
            </a:r>
          </a:p>
        </p:txBody>
      </p:sp>
      <p:sp>
        <p:nvSpPr>
          <p:cNvPr id="86" name="Table 1: Physician-diagnosed asthma prevalence by state, PNS 2013 and 2019.-cell-7-1">
            <a:extLst xmlns:a="http://schemas.openxmlformats.org/drawingml/2006/main">
              <a:ext uri="{FF2B5EF4-FFF2-40B4-BE49-F238E27FC236}">
                <a16:creationId xmlns:a16="http://schemas.microsoft.com/office/drawing/2014/main" id="{8FC2D0A4-905F-4A11-9D59-A90811A3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2.64% [1.59%; 4.12%]</a:t>
            </a:r>
          </a:p>
        </p:txBody>
      </p:sp>
      <p:sp>
        <p:nvSpPr>
          <p:cNvPr id="87" name="Table 1: Physician-diagnosed asthma prevalence by state, PNS 2013 and 2019.-cell-7-2">
            <a:extLst xmlns:a="http://schemas.openxmlformats.org/drawingml/2006/main">
              <a:ext uri="{FF2B5EF4-FFF2-40B4-BE49-F238E27FC236}">
                <a16:creationId xmlns:a16="http://schemas.microsoft.com/office/drawing/2014/main" id="{6BDE05EE-7875-466B-9C43-B240836F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3.84% [3.14%; 4.64%]</a:t>
            </a:r>
          </a:p>
        </p:txBody>
      </p:sp>
      <p:sp>
        <p:nvSpPr>
          <p:cNvPr id="88" name="Table 1: Physician-diagnosed asthma prevalence by state, PNS 2013 and 2019.-stripe-8">
            <a:extLst xmlns:a="http://schemas.openxmlformats.org/drawingml/2006/main">
              <a:ext uri="{FF2B5EF4-FFF2-40B4-BE49-F238E27FC236}">
                <a16:creationId xmlns:a16="http://schemas.microsoft.com/office/drawing/2014/main" id="{C02017F9-28BD-4F7D-8A3A-B0734F3E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53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89" name="Table 1: Physician-diagnosed asthma prevalence by state, PNS 2013 and 2019.-cell-8-0">
            <a:extLst xmlns:a="http://schemas.openxmlformats.org/drawingml/2006/main">
              <a:ext uri="{FF2B5EF4-FFF2-40B4-BE49-F238E27FC236}">
                <a16:creationId xmlns:a16="http://schemas.microsoft.com/office/drawing/2014/main" id="{89640693-8664-41F4-A701-1B254916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Piauí</a:t>
            </a:r>
          </a:p>
        </p:txBody>
      </p:sp>
      <p:sp>
        <p:nvSpPr>
          <p:cNvPr id="90" name="Table 1: Physician-diagnosed asthma prevalence by state, PNS 2013 and 2019.-cell-8-1">
            <a:extLst xmlns:a="http://schemas.openxmlformats.org/drawingml/2006/main">
              <a:ext uri="{FF2B5EF4-FFF2-40B4-BE49-F238E27FC236}">
                <a16:creationId xmlns:a16="http://schemas.microsoft.com/office/drawing/2014/main" id="{B8EC9A9E-2E71-432C-ADB1-4567F073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4.41% [3.07%; 6.12%]</a:t>
            </a:r>
          </a:p>
        </p:txBody>
      </p:sp>
      <p:sp>
        <p:nvSpPr>
          <p:cNvPr id="91" name="Table 1: Physician-diagnosed asthma prevalence by state, PNS 2013 and 2019.-cell-8-2">
            <a:extLst xmlns:a="http://schemas.openxmlformats.org/drawingml/2006/main">
              <a:ext uri="{FF2B5EF4-FFF2-40B4-BE49-F238E27FC236}">
                <a16:creationId xmlns:a16="http://schemas.microsoft.com/office/drawing/2014/main" id="{AF98A828-4FDE-4D0E-9ED6-DDD0516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4.61% [3.66%; 5.72%]</a:t>
            </a:r>
          </a:p>
        </p:txBody>
      </p:sp>
      <p:sp>
        <p:nvSpPr>
          <p:cNvPr id="92" name="Table 1: Physician-diagnosed asthma prevalence by state, PNS 2013 and 2019.-cell-9-0">
            <a:extLst xmlns:a="http://schemas.openxmlformats.org/drawingml/2006/main">
              <a:ext uri="{FF2B5EF4-FFF2-40B4-BE49-F238E27FC236}">
                <a16:creationId xmlns:a16="http://schemas.microsoft.com/office/drawing/2014/main" id="{AD0886DB-3435-4226-95D5-5D32B3AC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Ceará</a:t>
            </a:r>
          </a:p>
        </p:txBody>
      </p:sp>
      <p:sp>
        <p:nvSpPr>
          <p:cNvPr id="93" name="Table 1: Physician-diagnosed asthma prevalence by state, PNS 2013 and 2019.-cell-9-1">
            <a:extLst xmlns:a="http://schemas.openxmlformats.org/drawingml/2006/main">
              <a:ext uri="{FF2B5EF4-FFF2-40B4-BE49-F238E27FC236}">
                <a16:creationId xmlns:a16="http://schemas.microsoft.com/office/drawing/2014/main" id="{944F567F-0447-4EB4-B829-A6AEE642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3.22% [2.53%; 4.03%]</a:t>
            </a:r>
          </a:p>
        </p:txBody>
      </p:sp>
      <p:sp>
        <p:nvSpPr>
          <p:cNvPr id="94" name="Table 1: Physician-diagnosed asthma prevalence by state, PNS 2013 and 2019.-cell-9-2">
            <a:extLst xmlns:a="http://schemas.openxmlformats.org/drawingml/2006/main">
              <a:ext uri="{FF2B5EF4-FFF2-40B4-BE49-F238E27FC236}">
                <a16:creationId xmlns:a16="http://schemas.microsoft.com/office/drawing/2014/main" id="{D1ECEF57-608C-40AB-9EB8-5A0DD9CC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5.01% [4.20%; 5.93%]</a:t>
            </a:r>
          </a:p>
        </p:txBody>
      </p:sp>
      <p:sp>
        <p:nvSpPr>
          <p:cNvPr id="95" name="Table 1: Physician-diagnosed asthma prevalence by state, PNS 2013 and 2019.-stripe-10">
            <a:extLst xmlns:a="http://schemas.openxmlformats.org/drawingml/2006/main">
              <a:ext uri="{FF2B5EF4-FFF2-40B4-BE49-F238E27FC236}">
                <a16:creationId xmlns:a16="http://schemas.microsoft.com/office/drawing/2014/main" id="{39A29352-131C-433D-B77D-0435C520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58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96" name="Table 1: Physician-diagnosed asthma prevalence by state, PNS 2013 and 2019.-cell-10-0">
            <a:extLst xmlns:a="http://schemas.openxmlformats.org/drawingml/2006/main">
              <a:ext uri="{FF2B5EF4-FFF2-40B4-BE49-F238E27FC236}">
                <a16:creationId xmlns:a16="http://schemas.microsoft.com/office/drawing/2014/main" id="{ACF8ABCC-C464-41F8-A52C-0ADAF85E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5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Norte</a:t>
            </a:r>
          </a:p>
        </p:txBody>
      </p:sp>
      <p:sp>
        <p:nvSpPr>
          <p:cNvPr id="97" name="Table 1: Physician-diagnosed asthma prevalence by state, PNS 2013 and 2019.-cell-10-1">
            <a:extLst xmlns:a="http://schemas.openxmlformats.org/drawingml/2006/main">
              <a:ext uri="{FF2B5EF4-FFF2-40B4-BE49-F238E27FC236}">
                <a16:creationId xmlns:a16="http://schemas.microsoft.com/office/drawing/2014/main" id="{5F114B92-6398-4CD7-976B-1A4F74E1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3.65% [2.65%; 4.88%]</a:t>
            </a:r>
          </a:p>
        </p:txBody>
      </p:sp>
      <p:sp>
        <p:nvSpPr>
          <p:cNvPr id="98" name="Table 1: Physician-diagnosed asthma prevalence by state, PNS 2013 and 2019.-cell-10-2">
            <a:extLst xmlns:a="http://schemas.openxmlformats.org/drawingml/2006/main">
              <a:ext uri="{FF2B5EF4-FFF2-40B4-BE49-F238E27FC236}">
                <a16:creationId xmlns:a16="http://schemas.microsoft.com/office/drawing/2014/main" id="{71C6DC7B-1CB7-4212-98A6-E179ECD8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5.02% [4.08%; 6.11%]</a:t>
            </a:r>
          </a:p>
        </p:txBody>
      </p:sp>
      <p:sp>
        <p:nvSpPr>
          <p:cNvPr id="99" name="Table 1: Physician-diagnosed asthma prevalence by state, PNS 2013 and 2019.-cell-11-0">
            <a:extLst xmlns:a="http://schemas.openxmlformats.org/drawingml/2006/main">
              <a:ext uri="{FF2B5EF4-FFF2-40B4-BE49-F238E27FC236}">
                <a16:creationId xmlns:a16="http://schemas.microsoft.com/office/drawing/2014/main" id="{7655BFD6-2260-4B4A-B729-C4A3FE39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Paraíba</a:t>
            </a:r>
          </a:p>
        </p:txBody>
      </p:sp>
      <p:sp>
        <p:nvSpPr>
          <p:cNvPr id="100" name="Table 1: Physician-diagnosed asthma prevalence by state, PNS 2013 and 2019.-cell-11-1">
            <a:extLst xmlns:a="http://schemas.openxmlformats.org/drawingml/2006/main">
              <a:ext uri="{FF2B5EF4-FFF2-40B4-BE49-F238E27FC236}">
                <a16:creationId xmlns:a16="http://schemas.microsoft.com/office/drawing/2014/main" id="{AF5D7901-B92A-4880-9665-754734F7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2.83% [2.05%; 3.82%]</a:t>
            </a:r>
          </a:p>
        </p:txBody>
      </p:sp>
      <p:sp>
        <p:nvSpPr>
          <p:cNvPr id="101" name="Table 1: Physician-diagnosed asthma prevalence by state, PNS 2013 and 2019.-cell-11-2">
            <a:extLst xmlns:a="http://schemas.openxmlformats.org/drawingml/2006/main">
              <a:ext uri="{FF2B5EF4-FFF2-40B4-BE49-F238E27FC236}">
                <a16:creationId xmlns:a16="http://schemas.microsoft.com/office/drawing/2014/main" id="{AA19C111-9845-4CBC-BA60-5094C3D6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3.57% [2.86%; 4.39%]</a:t>
            </a:r>
          </a:p>
        </p:txBody>
      </p:sp>
      <p:sp>
        <p:nvSpPr>
          <p:cNvPr id="102" name="Table 1: Physician-diagnosed asthma prevalence by state, PNS 2013 and 2019.-stripe-12">
            <a:extLst xmlns:a="http://schemas.openxmlformats.org/drawingml/2006/main">
              <a:ext uri="{FF2B5EF4-FFF2-40B4-BE49-F238E27FC236}">
                <a16:creationId xmlns:a16="http://schemas.microsoft.com/office/drawing/2014/main" id="{A885946F-4B7B-4FF7-831F-8904EF3B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63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03" name="Table 1: Physician-diagnosed asthma prevalence by state, PNS 2013 and 2019.-cell-12-0">
            <a:extLst xmlns:a="http://schemas.openxmlformats.org/drawingml/2006/main">
              <a:ext uri="{FF2B5EF4-FFF2-40B4-BE49-F238E27FC236}">
                <a16:creationId xmlns:a16="http://schemas.microsoft.com/office/drawing/2014/main" id="{91BCEB88-A15A-47BA-BD78-639A4608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4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Pernambuco</a:t>
            </a:r>
          </a:p>
        </p:txBody>
      </p:sp>
      <p:sp>
        <p:nvSpPr>
          <p:cNvPr id="104" name="Table 1: Physician-diagnosed asthma prevalence by state, PNS 2013 and 2019.-cell-12-1">
            <a:extLst xmlns:a="http://schemas.openxmlformats.org/drawingml/2006/main">
              <a:ext uri="{FF2B5EF4-FFF2-40B4-BE49-F238E27FC236}">
                <a16:creationId xmlns:a16="http://schemas.microsoft.com/office/drawing/2014/main" id="{3FAA477D-B4EE-4774-865C-E8C148E4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4.93% [4.03%; 5.97%]</a:t>
            </a:r>
          </a:p>
        </p:txBody>
      </p:sp>
      <p:sp>
        <p:nvSpPr>
          <p:cNvPr id="105" name="Table 1: Physician-diagnosed asthma prevalence by state, PNS 2013 and 2019.-cell-12-2">
            <a:extLst xmlns:a="http://schemas.openxmlformats.org/drawingml/2006/main">
              <a:ext uri="{FF2B5EF4-FFF2-40B4-BE49-F238E27FC236}">
                <a16:creationId xmlns:a16="http://schemas.microsoft.com/office/drawing/2014/main" id="{CF6F1631-A37E-4136-A806-29C37A77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4.75% [4.00%; 5.60%]</a:t>
            </a:r>
          </a:p>
        </p:txBody>
      </p:sp>
      <p:sp>
        <p:nvSpPr>
          <p:cNvPr id="106" name="Table 1: Physician-diagnosed asthma prevalence by state, PNS 2013 and 2019.-cell-13-0">
            <a:extLst xmlns:a="http://schemas.openxmlformats.org/drawingml/2006/main">
              <a:ext uri="{FF2B5EF4-FFF2-40B4-BE49-F238E27FC236}">
                <a16:creationId xmlns:a16="http://schemas.microsoft.com/office/drawing/2014/main" id="{8820301A-BBD9-4E67-86C7-6EF01B81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6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Alagoas</a:t>
            </a:r>
          </a:p>
        </p:txBody>
      </p:sp>
      <p:sp>
        <p:nvSpPr>
          <p:cNvPr id="107" name="Table 1: Physician-diagnosed asthma prevalence by state, PNS 2013 and 2019.-cell-13-1">
            <a:extLst xmlns:a="http://schemas.openxmlformats.org/drawingml/2006/main">
              <a:ext uri="{FF2B5EF4-FFF2-40B4-BE49-F238E27FC236}">
                <a16:creationId xmlns:a16="http://schemas.microsoft.com/office/drawing/2014/main" id="{62AFFD66-BF3A-4187-A907-DF3E737C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2.63% [1.75%; 3.79%]</a:t>
            </a:r>
          </a:p>
        </p:txBody>
      </p:sp>
      <p:sp>
        <p:nvSpPr>
          <p:cNvPr id="108" name="Table 1: Physician-diagnosed asthma prevalence by state, PNS 2013 and 2019.-cell-13-2">
            <a:extLst xmlns:a="http://schemas.openxmlformats.org/drawingml/2006/main">
              <a:ext uri="{FF2B5EF4-FFF2-40B4-BE49-F238E27FC236}">
                <a16:creationId xmlns:a16="http://schemas.microsoft.com/office/drawing/2014/main" id="{93BD277C-DD64-4774-AA79-0C4C2A08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3.99% [3.17%; 4.94%]</a:t>
            </a:r>
          </a:p>
        </p:txBody>
      </p:sp>
      <p:sp>
        <p:nvSpPr>
          <p:cNvPr id="109" name="Table 1: Physician-diagnosed asthma prevalence by state, PNS 2013 and 2019.-stripe-14">
            <a:extLst xmlns:a="http://schemas.openxmlformats.org/drawingml/2006/main">
              <a:ext uri="{FF2B5EF4-FFF2-40B4-BE49-F238E27FC236}">
                <a16:creationId xmlns:a16="http://schemas.microsoft.com/office/drawing/2014/main" id="{1CD60381-5F28-40B8-B33C-F5320519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69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10" name="Table 1: Physician-diagnosed asthma prevalence by state, PNS 2013 and 2019.-cell-14-0">
            <a:extLst xmlns:a="http://schemas.openxmlformats.org/drawingml/2006/main">
              <a:ext uri="{FF2B5EF4-FFF2-40B4-BE49-F238E27FC236}">
                <a16:creationId xmlns:a16="http://schemas.microsoft.com/office/drawing/2014/main" id="{76FAEB90-6055-4A87-97BA-9B28657D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69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Sergipe</a:t>
            </a:r>
          </a:p>
        </p:txBody>
      </p:sp>
      <p:sp>
        <p:nvSpPr>
          <p:cNvPr id="111" name="Table 1: Physician-diagnosed asthma prevalence by state, PNS 2013 and 2019.-cell-14-1">
            <a:extLst xmlns:a="http://schemas.openxmlformats.org/drawingml/2006/main">
              <a:ext uri="{FF2B5EF4-FFF2-40B4-BE49-F238E27FC236}">
                <a16:creationId xmlns:a16="http://schemas.microsoft.com/office/drawing/2014/main" id="{94E25D76-EC89-4CA4-B4BC-912E2BCB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2.87% [2.03%; 3.93%]</a:t>
            </a:r>
          </a:p>
        </p:txBody>
      </p:sp>
      <p:sp>
        <p:nvSpPr>
          <p:cNvPr id="112" name="Table 1: Physician-diagnosed asthma prevalence by state, PNS 2013 and 2019.-cell-14-2">
            <a:extLst xmlns:a="http://schemas.openxmlformats.org/drawingml/2006/main">
              <a:ext uri="{FF2B5EF4-FFF2-40B4-BE49-F238E27FC236}">
                <a16:creationId xmlns:a16="http://schemas.microsoft.com/office/drawing/2014/main" id="{D485A641-005C-4C6F-9D40-FDCEA3DA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4.64% [3.62%; 5.84%]</a:t>
            </a:r>
          </a:p>
        </p:txBody>
      </p:sp>
      <p:sp>
        <p:nvSpPr>
          <p:cNvPr id="113" name="Table 1: Physician-diagnosed asthma prevalence by state, PNS 2013 and 2019.-cell-15-0">
            <a:extLst xmlns:a="http://schemas.openxmlformats.org/drawingml/2006/main">
              <a:ext uri="{FF2B5EF4-FFF2-40B4-BE49-F238E27FC236}">
                <a16:creationId xmlns:a16="http://schemas.microsoft.com/office/drawing/2014/main" id="{415DBE9F-8DA4-471F-A8AC-14729AEC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Bahia</a:t>
            </a:r>
          </a:p>
        </p:txBody>
      </p:sp>
      <p:sp>
        <p:nvSpPr>
          <p:cNvPr id="114" name="Table 1: Physician-diagnosed asthma prevalence by state, PNS 2013 and 2019.-cell-15-1">
            <a:extLst xmlns:a="http://schemas.openxmlformats.org/drawingml/2006/main">
              <a:ext uri="{FF2B5EF4-FFF2-40B4-BE49-F238E27FC236}">
                <a16:creationId xmlns:a16="http://schemas.microsoft.com/office/drawing/2014/main" id="{41D0AB7B-C686-41B9-8F19-636FF626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2.35% [1.51%; 3.46%]</a:t>
            </a:r>
          </a:p>
        </p:txBody>
      </p:sp>
      <p:sp>
        <p:nvSpPr>
          <p:cNvPr id="115" name="Table 1: Physician-diagnosed asthma prevalence by state, PNS 2013 and 2019.-cell-15-2">
            <a:extLst xmlns:a="http://schemas.openxmlformats.org/drawingml/2006/main">
              <a:ext uri="{FF2B5EF4-FFF2-40B4-BE49-F238E27FC236}">
                <a16:creationId xmlns:a16="http://schemas.microsoft.com/office/drawing/2014/main" id="{D0106B04-17DF-4A6A-8ECD-29E9324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3.56% [2.62%; 4.71%]</a:t>
            </a:r>
          </a:p>
        </p:txBody>
      </p:sp>
      <p:sp>
        <p:nvSpPr>
          <p:cNvPr id="116" name="Table 1: Physician-diagnosed asthma prevalence by state, PNS 2013 and 2019.-stripe-16">
            <a:extLst xmlns:a="http://schemas.openxmlformats.org/drawingml/2006/main">
              <a:ext uri="{FF2B5EF4-FFF2-40B4-BE49-F238E27FC236}">
                <a16:creationId xmlns:a16="http://schemas.microsoft.com/office/drawing/2014/main" id="{3D42E703-295D-4E6B-AA70-AA4850FC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74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17" name="Table 1: Physician-diagnosed asthma prevalence by state, PNS 2013 and 2019.-cell-16-0">
            <a:extLst xmlns:a="http://schemas.openxmlformats.org/drawingml/2006/main">
              <a:ext uri="{FF2B5EF4-FFF2-40B4-BE49-F238E27FC236}">
                <a16:creationId xmlns:a16="http://schemas.microsoft.com/office/drawing/2014/main" id="{04C823F9-9D86-4BFA-B8E9-4ABEE4F3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Minas Gerais</a:t>
            </a:r>
          </a:p>
        </p:txBody>
      </p:sp>
      <p:sp>
        <p:nvSpPr>
          <p:cNvPr id="118" name="Table 1: Physician-diagnosed asthma prevalence by state, PNS 2013 and 2019.-cell-16-1">
            <a:extLst xmlns:a="http://schemas.openxmlformats.org/drawingml/2006/main">
              <a:ext uri="{FF2B5EF4-FFF2-40B4-BE49-F238E27FC236}">
                <a16:creationId xmlns:a16="http://schemas.microsoft.com/office/drawing/2014/main" id="{8165E408-0A1F-4592-BAAD-A6BFABF0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4.39% [3.28%; 5.75%]</a:t>
            </a:r>
          </a:p>
        </p:txBody>
      </p:sp>
      <p:sp>
        <p:nvSpPr>
          <p:cNvPr id="119" name="Table 1: Physician-diagnosed asthma prevalence by state, PNS 2013 and 2019.-cell-16-2">
            <a:extLst xmlns:a="http://schemas.openxmlformats.org/drawingml/2006/main">
              <a:ext uri="{FF2B5EF4-FFF2-40B4-BE49-F238E27FC236}">
                <a16:creationId xmlns:a16="http://schemas.microsoft.com/office/drawing/2014/main" id="{04CEBBA3-B0ED-4B95-8AC1-639F6958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6.03% [5.11%; 7.05%]</a:t>
            </a:r>
          </a:p>
        </p:txBody>
      </p:sp>
      <p:sp>
        <p:nvSpPr>
          <p:cNvPr id="120" name="Table 1: Physician-diagnosed asthma prevalence by state, PNS 2013 and 2019.-cell-17-0">
            <a:extLst xmlns:a="http://schemas.openxmlformats.org/drawingml/2006/main">
              <a:ext uri="{FF2B5EF4-FFF2-40B4-BE49-F238E27FC236}">
                <a16:creationId xmlns:a16="http://schemas.microsoft.com/office/drawing/2014/main" id="{B1AAF9F5-DD7A-4CAD-8A2E-F528ADA3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7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Espírito Santo</a:t>
            </a:r>
          </a:p>
        </p:txBody>
      </p:sp>
      <p:sp>
        <p:nvSpPr>
          <p:cNvPr id="121" name="Table 1: Physician-diagnosed asthma prevalence by state, PNS 2013 and 2019.-cell-17-1">
            <a:extLst xmlns:a="http://schemas.openxmlformats.org/drawingml/2006/main">
              <a:ext uri="{FF2B5EF4-FFF2-40B4-BE49-F238E27FC236}">
                <a16:creationId xmlns:a16="http://schemas.microsoft.com/office/drawing/2014/main" id="{DCEA0CA6-51D4-4B91-AF31-8B93D45E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4.76% [3.10%; 6.94%]</a:t>
            </a:r>
          </a:p>
        </p:txBody>
      </p:sp>
      <p:sp>
        <p:nvSpPr>
          <p:cNvPr id="122" name="Table 1: Physician-diagnosed asthma prevalence by state, PNS 2013 and 2019.-cell-17-2">
            <a:extLst xmlns:a="http://schemas.openxmlformats.org/drawingml/2006/main">
              <a:ext uri="{FF2B5EF4-FFF2-40B4-BE49-F238E27FC236}">
                <a16:creationId xmlns:a16="http://schemas.microsoft.com/office/drawing/2014/main" id="{DBA07979-84DF-4701-9FFB-7624AE44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6.71% [5.66%; 7.87%]</a:t>
            </a:r>
          </a:p>
        </p:txBody>
      </p:sp>
      <p:sp>
        <p:nvSpPr>
          <p:cNvPr id="123" name="Table 1: Physician-diagnosed asthma prevalence by state, PNS 2013 and 2019.-stripe-18">
            <a:extLst xmlns:a="http://schemas.openxmlformats.org/drawingml/2006/main">
              <a:ext uri="{FF2B5EF4-FFF2-40B4-BE49-F238E27FC236}">
                <a16:creationId xmlns:a16="http://schemas.microsoft.com/office/drawing/2014/main" id="{C4AF7281-AD14-42BA-ABEE-61D36831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79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24" name="Table 1: Physician-diagnosed asthma prevalence by state, PNS 2013 and 2019.-cell-18-0">
            <a:extLst xmlns:a="http://schemas.openxmlformats.org/drawingml/2006/main">
              <a:ext uri="{FF2B5EF4-FFF2-40B4-BE49-F238E27FC236}">
                <a16:creationId xmlns:a16="http://schemas.microsoft.com/office/drawing/2014/main" id="{833FB8DB-E68A-4D9C-ABC8-FD340D28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de Janeiro</a:t>
            </a:r>
          </a:p>
        </p:txBody>
      </p:sp>
      <p:sp>
        <p:nvSpPr>
          <p:cNvPr id="125" name="Table 1: Physician-diagnosed asthma prevalence by state, PNS 2013 and 2019.-cell-18-1">
            <a:extLst xmlns:a="http://schemas.openxmlformats.org/drawingml/2006/main">
              <a:ext uri="{FF2B5EF4-FFF2-40B4-BE49-F238E27FC236}">
                <a16:creationId xmlns:a16="http://schemas.microsoft.com/office/drawing/2014/main" id="{E85524E2-04BD-499F-AAD3-1B34D1A1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5.01% [4.04%; 6.13%]</a:t>
            </a:r>
          </a:p>
        </p:txBody>
      </p:sp>
      <p:sp>
        <p:nvSpPr>
          <p:cNvPr id="126" name="Table 1: Physician-diagnosed asthma prevalence by state, PNS 2013 and 2019.-cell-18-2">
            <a:extLst xmlns:a="http://schemas.openxmlformats.org/drawingml/2006/main">
              <a:ext uri="{FF2B5EF4-FFF2-40B4-BE49-F238E27FC236}">
                <a16:creationId xmlns:a16="http://schemas.microsoft.com/office/drawing/2014/main" id="{9810DB84-BF4E-4F3E-A971-DE84BD96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4.60% [3.77%; 5.56%]</a:t>
            </a:r>
          </a:p>
        </p:txBody>
      </p:sp>
      <p:sp>
        <p:nvSpPr>
          <p:cNvPr id="127" name="Table 1: Physician-diagnosed asthma prevalence by state, PNS 2013 and 2019.-cell-19-0">
            <a:extLst xmlns:a="http://schemas.openxmlformats.org/drawingml/2006/main">
              <a:ext uri="{FF2B5EF4-FFF2-40B4-BE49-F238E27FC236}">
                <a16:creationId xmlns:a16="http://schemas.microsoft.com/office/drawing/2014/main" id="{64C83E9D-4B9B-467F-847F-C925061C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São Paulo</a:t>
            </a:r>
          </a:p>
        </p:txBody>
      </p:sp>
      <p:sp>
        <p:nvSpPr>
          <p:cNvPr id="128" name="Table 1: Physician-diagnosed asthma prevalence by state, PNS 2013 and 2019.-cell-19-1">
            <a:extLst xmlns:a="http://schemas.openxmlformats.org/drawingml/2006/main">
              <a:ext uri="{FF2B5EF4-FFF2-40B4-BE49-F238E27FC236}">
                <a16:creationId xmlns:a16="http://schemas.microsoft.com/office/drawing/2014/main" id="{DD7E5F5C-EB2B-4FC3-9F51-551CC4B7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4.89% [4.12%; 5.75%]</a:t>
            </a:r>
          </a:p>
        </p:txBody>
      </p:sp>
      <p:sp>
        <p:nvSpPr>
          <p:cNvPr id="129" name="Table 1: Physician-diagnosed asthma prevalence by state, PNS 2013 and 2019.-cell-19-2">
            <a:extLst xmlns:a="http://schemas.openxmlformats.org/drawingml/2006/main">
              <a:ext uri="{FF2B5EF4-FFF2-40B4-BE49-F238E27FC236}">
                <a16:creationId xmlns:a16="http://schemas.microsoft.com/office/drawing/2014/main" id="{F257445D-91CD-4732-A5F0-8911B8A4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6.40% [5.54%; 7.35%]</a:t>
            </a:r>
          </a:p>
        </p:txBody>
      </p:sp>
      <p:sp>
        <p:nvSpPr>
          <p:cNvPr id="130" name="Table 1: Physician-diagnosed asthma prevalence by state, PNS 2013 and 2019.-stripe-20">
            <a:extLst xmlns:a="http://schemas.openxmlformats.org/drawingml/2006/main">
              <a:ext uri="{FF2B5EF4-FFF2-40B4-BE49-F238E27FC236}">
                <a16:creationId xmlns:a16="http://schemas.microsoft.com/office/drawing/2014/main" id="{9BE6C886-FD58-4767-B76A-3B81D9DA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85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31" name="Table 1: Physician-diagnosed asthma prevalence by state, PNS 2013 and 2019.-cell-20-0">
            <a:extLst xmlns:a="http://schemas.openxmlformats.org/drawingml/2006/main">
              <a:ext uri="{FF2B5EF4-FFF2-40B4-BE49-F238E27FC236}">
                <a16:creationId xmlns:a16="http://schemas.microsoft.com/office/drawing/2014/main" id="{1B44E8F7-1B41-4751-B4E4-0435BED4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Paraná</a:t>
            </a:r>
          </a:p>
        </p:txBody>
      </p:sp>
      <p:sp>
        <p:nvSpPr>
          <p:cNvPr id="132" name="Table 1: Physician-diagnosed asthma prevalence by state, PNS 2013 and 2019.-cell-20-1">
            <a:extLst xmlns:a="http://schemas.openxmlformats.org/drawingml/2006/main">
              <a:ext uri="{FF2B5EF4-FFF2-40B4-BE49-F238E27FC236}">
                <a16:creationId xmlns:a16="http://schemas.microsoft.com/office/drawing/2014/main" id="{EDFD0142-69DB-4B9C-A88A-D40B315C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4.55% [3.40%; 5.96%]</a:t>
            </a:r>
          </a:p>
        </p:txBody>
      </p:sp>
      <p:sp>
        <p:nvSpPr>
          <p:cNvPr id="133" name="Table 1: Physician-diagnosed asthma prevalence by state, PNS 2013 and 2019.-cell-20-2">
            <a:extLst xmlns:a="http://schemas.openxmlformats.org/drawingml/2006/main">
              <a:ext uri="{FF2B5EF4-FFF2-40B4-BE49-F238E27FC236}">
                <a16:creationId xmlns:a16="http://schemas.microsoft.com/office/drawing/2014/main" id="{27FFF79E-5D3C-4CC3-AD08-0CE602CA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5.18% [4.32%; 6.16%]</a:t>
            </a:r>
          </a:p>
        </p:txBody>
      </p:sp>
      <p:sp>
        <p:nvSpPr>
          <p:cNvPr id="134" name="Table 1: Physician-diagnosed asthma prevalence by state, PNS 2013 and 2019.-cell-21-0">
            <a:extLst xmlns:a="http://schemas.openxmlformats.org/drawingml/2006/main">
              <a:ext uri="{FF2B5EF4-FFF2-40B4-BE49-F238E27FC236}">
                <a16:creationId xmlns:a16="http://schemas.microsoft.com/office/drawing/2014/main" id="{5FD5C0D0-C91B-4B3F-9ACD-9C5D9BDC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8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Santa Catarina</a:t>
            </a:r>
          </a:p>
        </p:txBody>
      </p:sp>
      <p:sp>
        <p:nvSpPr>
          <p:cNvPr id="135" name="Table 1: Physician-diagnosed asthma prevalence by state, PNS 2013 and 2019.-cell-21-1">
            <a:extLst xmlns:a="http://schemas.openxmlformats.org/drawingml/2006/main">
              <a:ext uri="{FF2B5EF4-FFF2-40B4-BE49-F238E27FC236}">
                <a16:creationId xmlns:a16="http://schemas.microsoft.com/office/drawing/2014/main" id="{482B681A-BCD9-4763-8D3B-754A818B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4.33% [3.09%; 5.87%]</a:t>
            </a:r>
          </a:p>
        </p:txBody>
      </p:sp>
      <p:sp>
        <p:nvSpPr>
          <p:cNvPr id="136" name="Table 1: Physician-diagnosed asthma prevalence by state, PNS 2013 and 2019.-cell-21-2">
            <a:extLst xmlns:a="http://schemas.openxmlformats.org/drawingml/2006/main">
              <a:ext uri="{FF2B5EF4-FFF2-40B4-BE49-F238E27FC236}">
                <a16:creationId xmlns:a16="http://schemas.microsoft.com/office/drawing/2014/main" id="{8110C46A-F57C-4A6B-9B7B-2A443963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5.08% [4.18%; 6.12%]</a:t>
            </a:r>
          </a:p>
        </p:txBody>
      </p:sp>
      <p:sp>
        <p:nvSpPr>
          <p:cNvPr id="137" name="Table 1: Physician-diagnosed asthma prevalence by state, PNS 2013 and 2019.-stripe-22">
            <a:extLst xmlns:a="http://schemas.openxmlformats.org/drawingml/2006/main">
              <a:ext uri="{FF2B5EF4-FFF2-40B4-BE49-F238E27FC236}">
                <a16:creationId xmlns:a16="http://schemas.microsoft.com/office/drawing/2014/main" id="{A35243AA-B5B2-4CCA-A8AF-E6B9B30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90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38" name="Table 1: Physician-diagnosed asthma prevalence by state, PNS 2013 and 2019.-cell-22-0">
            <a:extLst xmlns:a="http://schemas.openxmlformats.org/drawingml/2006/main">
              <a:ext uri="{FF2B5EF4-FFF2-40B4-BE49-F238E27FC236}">
                <a16:creationId xmlns:a16="http://schemas.microsoft.com/office/drawing/2014/main" id="{92F28763-C15D-4259-B53C-D8B085A5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Sul</a:t>
            </a:r>
          </a:p>
        </p:txBody>
      </p:sp>
      <p:sp>
        <p:nvSpPr>
          <p:cNvPr id="139" name="Table 1: Physician-diagnosed asthma prevalence by state, PNS 2013 and 2019.-cell-22-1">
            <a:extLst xmlns:a="http://schemas.openxmlformats.org/drawingml/2006/main">
              <a:ext uri="{FF2B5EF4-FFF2-40B4-BE49-F238E27FC236}">
                <a16:creationId xmlns:a16="http://schemas.microsoft.com/office/drawing/2014/main" id="{F6847E74-B960-4282-A881-92925429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6.79% [5.56%; 8.19%]</a:t>
            </a:r>
          </a:p>
        </p:txBody>
      </p:sp>
      <p:sp>
        <p:nvSpPr>
          <p:cNvPr id="140" name="Table 1: Physician-diagnosed asthma prevalence by state, PNS 2013 and 2019.-cell-22-2">
            <a:extLst xmlns:a="http://schemas.openxmlformats.org/drawingml/2006/main">
              <a:ext uri="{FF2B5EF4-FFF2-40B4-BE49-F238E27FC236}">
                <a16:creationId xmlns:a16="http://schemas.microsoft.com/office/drawing/2014/main" id="{10DD1F21-ADCA-414A-B94D-6E92A2B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8.55% [7.24%; 10.01%]</a:t>
            </a:r>
          </a:p>
        </p:txBody>
      </p:sp>
      <p:sp>
        <p:nvSpPr>
          <p:cNvPr id="141" name="Table 1: Physician-diagnosed asthma prevalence by state, PNS 2013 and 2019.-cell-23-0">
            <a:extLst xmlns:a="http://schemas.openxmlformats.org/drawingml/2006/main">
              <a:ext uri="{FF2B5EF4-FFF2-40B4-BE49-F238E27FC236}">
                <a16:creationId xmlns:a16="http://schemas.microsoft.com/office/drawing/2014/main" id="{48FF283A-6DCA-46FC-9DB3-B7A4575E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 do Sul</a:t>
            </a:r>
          </a:p>
        </p:txBody>
      </p:sp>
      <p:sp>
        <p:nvSpPr>
          <p:cNvPr id="142" name="Table 1: Physician-diagnosed asthma prevalence by state, PNS 2013 and 2019.-cell-23-1">
            <a:extLst xmlns:a="http://schemas.openxmlformats.org/drawingml/2006/main">
              <a:ext uri="{FF2B5EF4-FFF2-40B4-BE49-F238E27FC236}">
                <a16:creationId xmlns:a16="http://schemas.microsoft.com/office/drawing/2014/main" id="{F7C011AE-CAA9-4EBC-A009-5A6A6C4B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4.24% [3.28%; 5.40%]</a:t>
            </a:r>
          </a:p>
        </p:txBody>
      </p:sp>
      <p:sp>
        <p:nvSpPr>
          <p:cNvPr id="143" name="Table 1: Physician-diagnosed asthma prevalence by state, PNS 2013 and 2019.-cell-23-2">
            <a:extLst xmlns:a="http://schemas.openxmlformats.org/drawingml/2006/main">
              <a:ext uri="{FF2B5EF4-FFF2-40B4-BE49-F238E27FC236}">
                <a16:creationId xmlns:a16="http://schemas.microsoft.com/office/drawing/2014/main" id="{00380B3F-57E8-43C1-97B7-A5703493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4.96% [4.15%; 5.87%]</a:t>
            </a:r>
          </a:p>
        </p:txBody>
      </p:sp>
      <p:sp>
        <p:nvSpPr>
          <p:cNvPr id="144" name="Table 1: Physician-diagnosed asthma prevalence by state, PNS 2013 and 2019.-stripe-24">
            <a:extLst xmlns:a="http://schemas.openxmlformats.org/drawingml/2006/main">
              <a:ext uri="{FF2B5EF4-FFF2-40B4-BE49-F238E27FC236}">
                <a16:creationId xmlns:a16="http://schemas.microsoft.com/office/drawing/2014/main" id="{67AF918B-D015-484C-99D2-51D0B438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195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45" name="Table 1: Physician-diagnosed asthma prevalence by state, PNS 2013 and 2019.-cell-24-0">
            <a:extLst xmlns:a="http://schemas.openxmlformats.org/drawingml/2006/main">
              <a:ext uri="{FF2B5EF4-FFF2-40B4-BE49-F238E27FC236}">
                <a16:creationId xmlns:a16="http://schemas.microsoft.com/office/drawing/2014/main" id="{D0A2DCA5-5EB8-4328-ACC5-F03399E6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</a:t>
            </a:r>
          </a:p>
        </p:txBody>
      </p:sp>
      <p:sp>
        <p:nvSpPr>
          <p:cNvPr id="146" name="Table 1: Physician-diagnosed asthma prevalence by state, PNS 2013 and 2019.-cell-24-1">
            <a:extLst xmlns:a="http://schemas.openxmlformats.org/drawingml/2006/main">
              <a:ext uri="{FF2B5EF4-FFF2-40B4-BE49-F238E27FC236}">
                <a16:creationId xmlns:a16="http://schemas.microsoft.com/office/drawing/2014/main" id="{FC160337-5228-438B-9026-CDE54046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3.94% [2.76%; 5.44%]</a:t>
            </a:r>
          </a:p>
        </p:txBody>
      </p:sp>
      <p:sp>
        <p:nvSpPr>
          <p:cNvPr id="147" name="Table 1: Physician-diagnosed asthma prevalence by state, PNS 2013 and 2019.-cell-24-2">
            <a:extLst xmlns:a="http://schemas.openxmlformats.org/drawingml/2006/main">
              <a:ext uri="{FF2B5EF4-FFF2-40B4-BE49-F238E27FC236}">
                <a16:creationId xmlns:a16="http://schemas.microsoft.com/office/drawing/2014/main" id="{3D9444FE-53C9-4070-A168-3007A334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2.91% [1.95%; 4.18%]</a:t>
            </a:r>
          </a:p>
        </p:txBody>
      </p:sp>
      <p:sp>
        <p:nvSpPr>
          <p:cNvPr id="148" name="Table 1: Physician-diagnosed asthma prevalence by state, PNS 2013 and 2019.-cell-25-0">
            <a:extLst xmlns:a="http://schemas.openxmlformats.org/drawingml/2006/main">
              <a:ext uri="{FF2B5EF4-FFF2-40B4-BE49-F238E27FC236}">
                <a16:creationId xmlns:a16="http://schemas.microsoft.com/office/drawing/2014/main" id="{E729E63B-238D-44DF-8C64-9B4BB065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19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Goiás</a:t>
            </a:r>
          </a:p>
        </p:txBody>
      </p:sp>
      <p:sp>
        <p:nvSpPr>
          <p:cNvPr id="149" name="Table 1: Physician-diagnosed asthma prevalence by state, PNS 2013 and 2019.-cell-25-1">
            <a:extLst xmlns:a="http://schemas.openxmlformats.org/drawingml/2006/main">
              <a:ext uri="{FF2B5EF4-FFF2-40B4-BE49-F238E27FC236}">
                <a16:creationId xmlns:a16="http://schemas.microsoft.com/office/drawing/2014/main" id="{D10DE851-08CC-406E-97BF-E95D636F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3.61% [2.72%; 4.68%]</a:t>
            </a:r>
          </a:p>
        </p:txBody>
      </p:sp>
      <p:sp>
        <p:nvSpPr>
          <p:cNvPr id="150" name="Table 1: Physician-diagnosed asthma prevalence by state, PNS 2013 and 2019.-cell-25-2">
            <a:extLst xmlns:a="http://schemas.openxmlformats.org/drawingml/2006/main">
              <a:ext uri="{FF2B5EF4-FFF2-40B4-BE49-F238E27FC236}">
                <a16:creationId xmlns:a16="http://schemas.microsoft.com/office/drawing/2014/main" id="{10136F06-E451-45C4-811D-801B092A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5.91% [4.67%; 7.35%]</a:t>
            </a:r>
          </a:p>
        </p:txBody>
      </p:sp>
      <p:sp>
        <p:nvSpPr>
          <p:cNvPr id="151" name="Table 1: Physician-diagnosed asthma prevalence by state, PNS 2013 and 2019.-stripe-26">
            <a:extLst xmlns:a="http://schemas.openxmlformats.org/drawingml/2006/main">
              <a:ext uri="{FF2B5EF4-FFF2-40B4-BE49-F238E27FC236}">
                <a16:creationId xmlns:a16="http://schemas.microsoft.com/office/drawing/2014/main" id="{2744AF09-3C75-462E-B40E-F8FA3A5C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201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52" name="Table 1: Physician-diagnosed asthma prevalence by state, PNS 2013 and 2019.-cell-26-0">
            <a:extLst xmlns:a="http://schemas.openxmlformats.org/drawingml/2006/main">
              <a:ext uri="{FF2B5EF4-FFF2-40B4-BE49-F238E27FC236}">
                <a16:creationId xmlns:a16="http://schemas.microsoft.com/office/drawing/2014/main" id="{88FF8EAD-E1E2-4229-B10F-83D9AB97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000" y="20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Distrito Federal</a:t>
            </a:r>
          </a:p>
        </p:txBody>
      </p:sp>
      <p:sp>
        <p:nvSpPr>
          <p:cNvPr id="153" name="Table 1: Physician-diagnosed asthma prevalence by state, PNS 2013 and 2019.-cell-26-1">
            <a:extLst xmlns:a="http://schemas.openxmlformats.org/drawingml/2006/main">
              <a:ext uri="{FF2B5EF4-FFF2-40B4-BE49-F238E27FC236}">
                <a16:creationId xmlns:a16="http://schemas.microsoft.com/office/drawing/2014/main" id="{ACBC13C1-A295-4FAB-B61D-7B4C982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5.91% [4.62%; 7.44%]</a:t>
            </a:r>
          </a:p>
        </p:txBody>
      </p:sp>
      <p:sp>
        <p:nvSpPr>
          <p:cNvPr id="154" name="Table 1: Physician-diagnosed asthma prevalence by state, PNS 2013 and 2019.-cell-26-2">
            <a:extLst xmlns:a="http://schemas.openxmlformats.org/drawingml/2006/main">
              <a:ext uri="{FF2B5EF4-FFF2-40B4-BE49-F238E27FC236}">
                <a16:creationId xmlns:a16="http://schemas.microsoft.com/office/drawing/2014/main" id="{B05B60E7-A557-42EA-9C4F-09B4C467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8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4.93% [3.78%; 6.30%]</a:t>
            </a:r>
          </a:p>
        </p:txBody>
      </p:sp>
      <p:sp>
        <p:nvSpPr>
          <p:cNvPr id="155" name="Table 1: Physician-diagnosed asthma prevalence by state, PNS 2013 and 2019.-note">
            <a:extLst xmlns:a="http://schemas.openxmlformats.org/drawingml/2006/main">
              <a:ext uri="{FF2B5EF4-FFF2-40B4-BE49-F238E27FC236}">
                <a16:creationId xmlns:a16="http://schemas.microsoft.com/office/drawing/2014/main" id="{4B4AFB6E-697A-4462-97F0-5F6F0D90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2000" y="20412000"/>
            <a:ext cx="1231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47" b="0">
                <a:solidFill>
                  <a:srgbClr val="4F6372"/>
                </a:solidFill>
              </a:defRPr>
            </a:pPr>
            <a:r>
              <a:rPr sz="1247" b="0">
                <a:solidFill>
                  <a:srgbClr val="4F6372"/>
                </a:solidFill>
              </a:rPr>
              <a:t>Weighted estimates; beta 95% CIs in brackets. Brazil summarized in cards.</a:t>
            </a:r>
          </a:p>
        </p:txBody>
      </p:sp>
      <p:sp>
        <p:nvSpPr>
          <p:cNvPr id="156" name="Table 2: Oral medication">
            <a:extLst xmlns:a="http://schemas.openxmlformats.org/drawingml/2006/main">
              <a:ext uri="{FF2B5EF4-FFF2-40B4-BE49-F238E27FC236}">
                <a16:creationId xmlns:a16="http://schemas.microsoft.com/office/drawing/2014/main" id="{449E2B4E-B1E1-4D1E-B3EE-91BDD6FC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1592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Table 2: Oral medication or inhaler use among people with asthma by state.</a:t>
            </a:r>
          </a:p>
        </p:txBody>
      </p:sp>
      <p:sp>
        <p:nvSpPr>
          <p:cNvPr id="157" name="Table 2: Oral medication or inhaler use among people with asthma by state.-frame">
            <a:extLst xmlns:a="http://schemas.openxmlformats.org/drawingml/2006/main">
              <a:ext uri="{FF2B5EF4-FFF2-40B4-BE49-F238E27FC236}">
                <a16:creationId xmlns:a16="http://schemas.microsoft.com/office/drawing/2014/main" id="{93FF11FD-61A4-407F-BC8A-44E6F8F8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2492000"/>
            <a:ext cx="12672000" cy="83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sp>
        <p:nvSpPr>
          <p:cNvPr id="158" name="Table 2: Oral medication or inhaler use among people with asthma by state.-head-bg">
            <a:extLst xmlns:a="http://schemas.openxmlformats.org/drawingml/2006/main">
              <a:ext uri="{FF2B5EF4-FFF2-40B4-BE49-F238E27FC236}">
                <a16:creationId xmlns:a16="http://schemas.microsoft.com/office/drawing/2014/main" id="{30F66F7A-038E-460A-B7C1-4B70679E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2672000"/>
            <a:ext cx="12312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159" name="Table 2: Oral medication or inhaler use among people with asthma by state.-head-0">
            <a:extLst xmlns:a="http://schemas.openxmlformats.org/drawingml/2006/main">
              <a:ext uri="{FF2B5EF4-FFF2-40B4-BE49-F238E27FC236}">
                <a16:creationId xmlns:a16="http://schemas.microsoft.com/office/drawing/2014/main" id="{ADE60CC6-836A-408B-A5F4-E7B2B7A4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2744000"/>
            <a:ext cx="259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160" name="Table 2: Oral medication or inhaler use among people with asthma by state.-head-1">
            <a:extLst xmlns:a="http://schemas.openxmlformats.org/drawingml/2006/main">
              <a:ext uri="{FF2B5EF4-FFF2-40B4-BE49-F238E27FC236}">
                <a16:creationId xmlns:a16="http://schemas.microsoft.com/office/drawing/2014/main" id="{361700F4-037A-4726-892A-A098B1E8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2013</a:t>
            </a:r>
          </a:p>
        </p:txBody>
      </p:sp>
      <p:sp>
        <p:nvSpPr>
          <p:cNvPr id="161" name="Table 2: Oral medication or inhaler use among people with asthma by state.-head-2">
            <a:extLst xmlns:a="http://schemas.openxmlformats.org/drawingml/2006/main">
              <a:ext uri="{FF2B5EF4-FFF2-40B4-BE49-F238E27FC236}">
                <a16:creationId xmlns:a16="http://schemas.microsoft.com/office/drawing/2014/main" id="{5D35DEBA-7C4E-4AA2-B1D0-7A53164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2744000"/>
            <a:ext cx="464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FFFFFF"/>
                </a:solidFill>
              </a:defRPr>
            </a:pPr>
            <a:r>
              <a:rPr sz="1644" b="1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162" name="Table 2: Oral medication or inhaler use among people with asthma by state.-stripe-0">
            <a:extLst xmlns:a="http://schemas.openxmlformats.org/drawingml/2006/main">
              <a:ext uri="{FF2B5EF4-FFF2-40B4-BE49-F238E27FC236}">
                <a16:creationId xmlns:a16="http://schemas.microsoft.com/office/drawing/2014/main" id="{7254DB53-9F9C-460D-A7EC-E7F00B88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31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63" name="Table 2: Oral medication or inhaler use among people with asthma by state.-cell-0-0">
            <a:extLst xmlns:a="http://schemas.openxmlformats.org/drawingml/2006/main">
              <a:ext uri="{FF2B5EF4-FFF2-40B4-BE49-F238E27FC236}">
                <a16:creationId xmlns:a16="http://schemas.microsoft.com/office/drawing/2014/main" id="{77FA87AA-1333-48A9-B169-02019076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Rondônia</a:t>
            </a:r>
          </a:p>
        </p:txBody>
      </p:sp>
      <p:sp>
        <p:nvSpPr>
          <p:cNvPr id="164" name="Table 2: Oral medication or inhaler use among people with asthma by state.-cell-0-1">
            <a:extLst xmlns:a="http://schemas.openxmlformats.org/drawingml/2006/main">
              <a:ext uri="{FF2B5EF4-FFF2-40B4-BE49-F238E27FC236}">
                <a16:creationId xmlns:a16="http://schemas.microsoft.com/office/drawing/2014/main" id="{4AEEC1AE-9EF3-4125-97D1-B12C885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79.94% [58.68%; 93.34%]</a:t>
            </a:r>
          </a:p>
        </p:txBody>
      </p:sp>
      <p:sp>
        <p:nvSpPr>
          <p:cNvPr id="165" name="Table 2: Oral medication or inhaler use among people with asthma by state.-cell-0-2">
            <a:extLst xmlns:a="http://schemas.openxmlformats.org/drawingml/2006/main">
              <a:ext uri="{FF2B5EF4-FFF2-40B4-BE49-F238E27FC236}">
                <a16:creationId xmlns:a16="http://schemas.microsoft.com/office/drawing/2014/main" id="{3CC5776A-6B3B-4ECB-83C4-B9CAEFA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79.76% [56.69%; 93.92%]</a:t>
            </a:r>
          </a:p>
        </p:txBody>
      </p:sp>
      <p:sp>
        <p:nvSpPr>
          <p:cNvPr id="166" name="Table 2: Oral medication or inhaler use among people with asthma by state.-cell-1-0">
            <a:extLst xmlns:a="http://schemas.openxmlformats.org/drawingml/2006/main">
              <a:ext uri="{FF2B5EF4-FFF2-40B4-BE49-F238E27FC236}">
                <a16:creationId xmlns:a16="http://schemas.microsoft.com/office/drawing/2014/main" id="{F7C17D31-2CEF-4077-97AA-A1DC4D52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Acre</a:t>
            </a:r>
          </a:p>
        </p:txBody>
      </p:sp>
      <p:sp>
        <p:nvSpPr>
          <p:cNvPr id="167" name="Table 2: Oral medication or inhaler use among people with asthma by state.-cell-1-1">
            <a:extLst xmlns:a="http://schemas.openxmlformats.org/drawingml/2006/main">
              <a:ext uri="{FF2B5EF4-FFF2-40B4-BE49-F238E27FC236}">
                <a16:creationId xmlns:a16="http://schemas.microsoft.com/office/drawing/2014/main" id="{4205A1D6-26DD-4A67-8219-9CAD3847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74.66% [43.93%; 93.83%]</a:t>
            </a:r>
          </a:p>
        </p:txBody>
      </p:sp>
      <p:sp>
        <p:nvSpPr>
          <p:cNvPr id="168" name="Table 2: Oral medication or inhaler use among people with asthma by state.-cell-1-2">
            <a:extLst xmlns:a="http://schemas.openxmlformats.org/drawingml/2006/main">
              <a:ext uri="{FF2B5EF4-FFF2-40B4-BE49-F238E27FC236}">
                <a16:creationId xmlns:a16="http://schemas.microsoft.com/office/drawing/2014/main" id="{D1011B35-B127-49E4-9597-478B4AF5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54.47% [31.58%; 76.05%]</a:t>
            </a:r>
          </a:p>
        </p:txBody>
      </p:sp>
      <p:sp>
        <p:nvSpPr>
          <p:cNvPr id="169" name="Table 2: Oral medication or inhaler use among people with asthma by state.-stripe-2">
            <a:extLst xmlns:a="http://schemas.openxmlformats.org/drawingml/2006/main">
              <a:ext uri="{FF2B5EF4-FFF2-40B4-BE49-F238E27FC236}">
                <a16:creationId xmlns:a16="http://schemas.microsoft.com/office/drawing/2014/main" id="{D4D722B9-7319-4979-A4E4-146680B8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37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70" name="Table 2: Oral medication or inhaler use among people with asthma by state.-cell-2-0">
            <a:extLst xmlns:a="http://schemas.openxmlformats.org/drawingml/2006/main">
              <a:ext uri="{FF2B5EF4-FFF2-40B4-BE49-F238E27FC236}">
                <a16:creationId xmlns:a16="http://schemas.microsoft.com/office/drawing/2014/main" id="{E131E2C9-257D-4A3A-B708-957187CC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3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Amazonas</a:t>
            </a:r>
          </a:p>
        </p:txBody>
      </p:sp>
      <p:sp>
        <p:nvSpPr>
          <p:cNvPr id="171" name="Table 2: Oral medication or inhaler use among people with asthma by state.-cell-2-1">
            <a:extLst xmlns:a="http://schemas.openxmlformats.org/drawingml/2006/main">
              <a:ext uri="{FF2B5EF4-FFF2-40B4-BE49-F238E27FC236}">
                <a16:creationId xmlns:a16="http://schemas.microsoft.com/office/drawing/2014/main" id="{23EAFCB4-52C1-4D61-8406-9B3BF7D5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86.72% [70.34%; 95.98%]</a:t>
            </a:r>
          </a:p>
        </p:txBody>
      </p:sp>
      <p:sp>
        <p:nvSpPr>
          <p:cNvPr id="172" name="Table 2: Oral medication or inhaler use among people with asthma by state.-cell-2-2">
            <a:extLst xmlns:a="http://schemas.openxmlformats.org/drawingml/2006/main">
              <a:ext uri="{FF2B5EF4-FFF2-40B4-BE49-F238E27FC236}">
                <a16:creationId xmlns:a16="http://schemas.microsoft.com/office/drawing/2014/main" id="{76FBA26B-7DC2-4CF1-AEB9-0E4ABC2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3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46.70% [23.74%; 70.73%]</a:t>
            </a:r>
          </a:p>
        </p:txBody>
      </p:sp>
      <p:sp>
        <p:nvSpPr>
          <p:cNvPr id="173" name="Table 2: Oral medication or inhaler use among people with asthma by state.-cell-3-0">
            <a:extLst xmlns:a="http://schemas.openxmlformats.org/drawingml/2006/main">
              <a:ext uri="{FF2B5EF4-FFF2-40B4-BE49-F238E27FC236}">
                <a16:creationId xmlns:a16="http://schemas.microsoft.com/office/drawing/2014/main" id="{07AF6A97-8E31-4CC8-8643-DF5DE9EF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Roraima</a:t>
            </a:r>
          </a:p>
        </p:txBody>
      </p:sp>
      <p:sp>
        <p:nvSpPr>
          <p:cNvPr id="174" name="Table 2: Oral medication or inhaler use among people with asthma by state.-cell-3-1">
            <a:extLst xmlns:a="http://schemas.openxmlformats.org/drawingml/2006/main">
              <a:ext uri="{FF2B5EF4-FFF2-40B4-BE49-F238E27FC236}">
                <a16:creationId xmlns:a16="http://schemas.microsoft.com/office/drawing/2014/main" id="{8B37A4D3-6192-41E8-9883-8259D154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81.69% [56.61%; 95.67%]</a:t>
            </a:r>
          </a:p>
        </p:txBody>
      </p:sp>
      <p:sp>
        <p:nvSpPr>
          <p:cNvPr id="175" name="Table 2: Oral medication or inhaler use among people with asthma by state.-cell-3-2">
            <a:extLst xmlns:a="http://schemas.openxmlformats.org/drawingml/2006/main">
              <a:ext uri="{FF2B5EF4-FFF2-40B4-BE49-F238E27FC236}">
                <a16:creationId xmlns:a16="http://schemas.microsoft.com/office/drawing/2014/main" id="{2A20B575-36EF-4782-9293-D793642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74.36% [52.38%; 89.91%]</a:t>
            </a:r>
          </a:p>
        </p:txBody>
      </p:sp>
      <p:sp>
        <p:nvSpPr>
          <p:cNvPr id="176" name="Table 2: Oral medication or inhaler use among people with asthma by state.-stripe-4">
            <a:extLst xmlns:a="http://schemas.openxmlformats.org/drawingml/2006/main">
              <a:ext uri="{FF2B5EF4-FFF2-40B4-BE49-F238E27FC236}">
                <a16:creationId xmlns:a16="http://schemas.microsoft.com/office/drawing/2014/main" id="{D249C3F6-06FC-4A6F-A08B-639785B2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42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77" name="Table 2: Oral medication or inhaler use among people with asthma by state.-cell-4-0">
            <a:extLst xmlns:a="http://schemas.openxmlformats.org/drawingml/2006/main">
              <a:ext uri="{FF2B5EF4-FFF2-40B4-BE49-F238E27FC236}">
                <a16:creationId xmlns:a16="http://schemas.microsoft.com/office/drawing/2014/main" id="{7DA23F6C-3EFE-4B54-90B7-7BB32F73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Pará</a:t>
            </a:r>
          </a:p>
        </p:txBody>
      </p:sp>
      <p:sp>
        <p:nvSpPr>
          <p:cNvPr id="178" name="Table 2: Oral medication or inhaler use among people with asthma by state.-cell-4-1">
            <a:extLst xmlns:a="http://schemas.openxmlformats.org/drawingml/2006/main">
              <a:ext uri="{FF2B5EF4-FFF2-40B4-BE49-F238E27FC236}">
                <a16:creationId xmlns:a16="http://schemas.microsoft.com/office/drawing/2014/main" id="{147EEE54-DF65-4D42-A0F7-5439EBDC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82.30% [47.71%; 98.05%]</a:t>
            </a:r>
          </a:p>
        </p:txBody>
      </p:sp>
      <p:sp>
        <p:nvSpPr>
          <p:cNvPr id="179" name="Table 2: Oral medication or inhaler use among people with asthma by state.-cell-4-2">
            <a:extLst xmlns:a="http://schemas.openxmlformats.org/drawingml/2006/main">
              <a:ext uri="{FF2B5EF4-FFF2-40B4-BE49-F238E27FC236}">
                <a16:creationId xmlns:a16="http://schemas.microsoft.com/office/drawing/2014/main" id="{9C4117AA-01DE-428E-8FC7-AA710604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63.73% [41.71%; 82.21%]</a:t>
            </a:r>
          </a:p>
        </p:txBody>
      </p:sp>
      <p:sp>
        <p:nvSpPr>
          <p:cNvPr id="180" name="Table 2: Oral medication or inhaler use among people with asthma by state.-cell-5-0">
            <a:extLst xmlns:a="http://schemas.openxmlformats.org/drawingml/2006/main">
              <a:ext uri="{FF2B5EF4-FFF2-40B4-BE49-F238E27FC236}">
                <a16:creationId xmlns:a16="http://schemas.microsoft.com/office/drawing/2014/main" id="{EA5CFADF-AA6A-4AA7-81CC-5A86BE0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Amapá</a:t>
            </a:r>
          </a:p>
        </p:txBody>
      </p:sp>
      <p:sp>
        <p:nvSpPr>
          <p:cNvPr id="181" name="Table 2: Oral medication or inhaler use among people with asthma by state.-cell-5-1">
            <a:extLst xmlns:a="http://schemas.openxmlformats.org/drawingml/2006/main">
              <a:ext uri="{FF2B5EF4-FFF2-40B4-BE49-F238E27FC236}">
                <a16:creationId xmlns:a16="http://schemas.microsoft.com/office/drawing/2014/main" id="{7B983E3F-8CE9-467F-B362-B5FE92DD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82.76% [56.11%; 96.62%]</a:t>
            </a:r>
          </a:p>
        </p:txBody>
      </p:sp>
      <p:sp>
        <p:nvSpPr>
          <p:cNvPr id="182" name="Table 2: Oral medication or inhaler use among people with asthma by state.-cell-5-2">
            <a:extLst xmlns:a="http://schemas.openxmlformats.org/drawingml/2006/main">
              <a:ext uri="{FF2B5EF4-FFF2-40B4-BE49-F238E27FC236}">
                <a16:creationId xmlns:a16="http://schemas.microsoft.com/office/drawing/2014/main" id="{B50DFFAA-334E-4BA2-B762-2BCB31C8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67.30% [31.93%; 92.16%]</a:t>
            </a:r>
          </a:p>
        </p:txBody>
      </p:sp>
      <p:sp>
        <p:nvSpPr>
          <p:cNvPr id="183" name="Table 2: Oral medication or inhaler use among people with asthma by state.-stripe-6">
            <a:extLst xmlns:a="http://schemas.openxmlformats.org/drawingml/2006/main">
              <a:ext uri="{FF2B5EF4-FFF2-40B4-BE49-F238E27FC236}">
                <a16:creationId xmlns:a16="http://schemas.microsoft.com/office/drawing/2014/main" id="{12A8D9E5-EBF9-4992-8DC2-5C739B3F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47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84" name="Table 2: Oral medication or inhaler use among people with asthma by state.-cell-6-0">
            <a:extLst xmlns:a="http://schemas.openxmlformats.org/drawingml/2006/main">
              <a:ext uri="{FF2B5EF4-FFF2-40B4-BE49-F238E27FC236}">
                <a16:creationId xmlns:a16="http://schemas.microsoft.com/office/drawing/2014/main" id="{896D6513-7EE4-4FBB-82C8-CAFF4DCC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4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Tocantins</a:t>
            </a:r>
          </a:p>
        </p:txBody>
      </p:sp>
      <p:sp>
        <p:nvSpPr>
          <p:cNvPr id="185" name="Table 2: Oral medication or inhaler use among people with asthma by state.-cell-6-1">
            <a:extLst xmlns:a="http://schemas.openxmlformats.org/drawingml/2006/main">
              <a:ext uri="{FF2B5EF4-FFF2-40B4-BE49-F238E27FC236}">
                <a16:creationId xmlns:a16="http://schemas.microsoft.com/office/drawing/2014/main" id="{5A4F4920-84D3-42A6-833C-BB9723AF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66.97% [36.61%; 89.49%]</a:t>
            </a:r>
          </a:p>
        </p:txBody>
      </p:sp>
      <p:sp>
        <p:nvSpPr>
          <p:cNvPr id="186" name="Table 2: Oral medication or inhaler use among people with asthma by state.-cell-6-2">
            <a:extLst xmlns:a="http://schemas.openxmlformats.org/drawingml/2006/main">
              <a:ext uri="{FF2B5EF4-FFF2-40B4-BE49-F238E27FC236}">
                <a16:creationId xmlns:a16="http://schemas.microsoft.com/office/drawing/2014/main" id="{C0F023FA-9E31-4090-83FD-B4C1D450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4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49.52% [25.39%; 73.81%]</a:t>
            </a:r>
          </a:p>
        </p:txBody>
      </p:sp>
      <p:sp>
        <p:nvSpPr>
          <p:cNvPr id="187" name="Table 2: Oral medication or inhaler use among people with asthma by state.-cell-7-0">
            <a:extLst xmlns:a="http://schemas.openxmlformats.org/drawingml/2006/main">
              <a:ext uri="{FF2B5EF4-FFF2-40B4-BE49-F238E27FC236}">
                <a16:creationId xmlns:a16="http://schemas.microsoft.com/office/drawing/2014/main" id="{6103190F-1896-40FB-AE55-146C5A07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Maranhão</a:t>
            </a:r>
          </a:p>
        </p:txBody>
      </p:sp>
      <p:sp>
        <p:nvSpPr>
          <p:cNvPr id="188" name="Table 2: Oral medication or inhaler use among people with asthma by state.-cell-7-1">
            <a:extLst xmlns:a="http://schemas.openxmlformats.org/drawingml/2006/main">
              <a:ext uri="{FF2B5EF4-FFF2-40B4-BE49-F238E27FC236}">
                <a16:creationId xmlns:a16="http://schemas.microsoft.com/office/drawing/2014/main" id="{08772A7D-72B5-44E9-93C4-7157149B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53.24% [22.96%; 81.84%]</a:t>
            </a:r>
          </a:p>
        </p:txBody>
      </p:sp>
      <p:sp>
        <p:nvSpPr>
          <p:cNvPr id="189" name="Table 2: Oral medication or inhaler use among people with asthma by state.-cell-7-2">
            <a:extLst xmlns:a="http://schemas.openxmlformats.org/drawingml/2006/main">
              <a:ext uri="{FF2B5EF4-FFF2-40B4-BE49-F238E27FC236}">
                <a16:creationId xmlns:a16="http://schemas.microsoft.com/office/drawing/2014/main" id="{93BF352E-0813-4E7A-831F-CD531D8A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61.26% [42.46%; 77.89%]</a:t>
            </a:r>
          </a:p>
        </p:txBody>
      </p:sp>
      <p:sp>
        <p:nvSpPr>
          <p:cNvPr id="190" name="Table 2: Oral medication or inhaler use among people with asthma by state.-stripe-8">
            <a:extLst xmlns:a="http://schemas.openxmlformats.org/drawingml/2006/main">
              <a:ext uri="{FF2B5EF4-FFF2-40B4-BE49-F238E27FC236}">
                <a16:creationId xmlns:a16="http://schemas.microsoft.com/office/drawing/2014/main" id="{45F8C5D5-27DD-4AE2-9F6B-19972D14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53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91" name="Table 2: Oral medication or inhaler use among people with asthma by state.-cell-8-0">
            <a:extLst xmlns:a="http://schemas.openxmlformats.org/drawingml/2006/main">
              <a:ext uri="{FF2B5EF4-FFF2-40B4-BE49-F238E27FC236}">
                <a16:creationId xmlns:a16="http://schemas.microsoft.com/office/drawing/2014/main" id="{2CF8D65B-B1BB-4788-A9AA-B9F9EABB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Piauí</a:t>
            </a:r>
          </a:p>
        </p:txBody>
      </p:sp>
      <p:sp>
        <p:nvSpPr>
          <p:cNvPr id="192" name="Table 2: Oral medication or inhaler use among people with asthma by state.-cell-8-1">
            <a:extLst xmlns:a="http://schemas.openxmlformats.org/drawingml/2006/main">
              <a:ext uri="{FF2B5EF4-FFF2-40B4-BE49-F238E27FC236}">
                <a16:creationId xmlns:a16="http://schemas.microsoft.com/office/drawing/2014/main" id="{B4E20683-640A-42AF-839F-E62E0F05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68.25% [37.26%; 90.53%]</a:t>
            </a:r>
          </a:p>
        </p:txBody>
      </p:sp>
      <p:sp>
        <p:nvSpPr>
          <p:cNvPr id="193" name="Table 2: Oral medication or inhaler use among people with asthma by state.-cell-8-2">
            <a:extLst xmlns:a="http://schemas.openxmlformats.org/drawingml/2006/main">
              <a:ext uri="{FF2B5EF4-FFF2-40B4-BE49-F238E27FC236}">
                <a16:creationId xmlns:a16="http://schemas.microsoft.com/office/drawing/2014/main" id="{43756C36-01A1-4DDD-A46E-820A33D1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53.03% [31.04%; 74.19%]</a:t>
            </a:r>
          </a:p>
        </p:txBody>
      </p:sp>
      <p:sp>
        <p:nvSpPr>
          <p:cNvPr id="194" name="Table 2: Oral medication or inhaler use among people with asthma by state.-cell-9-0">
            <a:extLst xmlns:a="http://schemas.openxmlformats.org/drawingml/2006/main">
              <a:ext uri="{FF2B5EF4-FFF2-40B4-BE49-F238E27FC236}">
                <a16:creationId xmlns:a16="http://schemas.microsoft.com/office/drawing/2014/main" id="{A94243FE-3D14-4AC3-B634-504EC828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Ceará</a:t>
            </a:r>
          </a:p>
        </p:txBody>
      </p:sp>
      <p:sp>
        <p:nvSpPr>
          <p:cNvPr id="195" name="Table 2: Oral medication or inhaler use among people with asthma by state.-cell-9-1">
            <a:extLst xmlns:a="http://schemas.openxmlformats.org/drawingml/2006/main">
              <a:ext uri="{FF2B5EF4-FFF2-40B4-BE49-F238E27FC236}">
                <a16:creationId xmlns:a16="http://schemas.microsoft.com/office/drawing/2014/main" id="{586EEF4E-0347-4499-84F1-2B2D9B8A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78.81% [58.75%; 92.11%]</a:t>
            </a:r>
          </a:p>
        </p:txBody>
      </p:sp>
      <p:sp>
        <p:nvSpPr>
          <p:cNvPr id="196" name="Table 2: Oral medication or inhaler use among people with asthma by state.-cell-9-2">
            <a:extLst xmlns:a="http://schemas.openxmlformats.org/drawingml/2006/main">
              <a:ext uri="{FF2B5EF4-FFF2-40B4-BE49-F238E27FC236}">
                <a16:creationId xmlns:a16="http://schemas.microsoft.com/office/drawing/2014/main" id="{2AD26EBA-8C9C-4653-9B49-D7155762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44.49% [30.19%; 59.49%]</a:t>
            </a:r>
          </a:p>
        </p:txBody>
      </p:sp>
      <p:sp>
        <p:nvSpPr>
          <p:cNvPr id="197" name="Table 2: Oral medication or inhaler use among people with asthma by state.-stripe-10">
            <a:extLst xmlns:a="http://schemas.openxmlformats.org/drawingml/2006/main">
              <a:ext uri="{FF2B5EF4-FFF2-40B4-BE49-F238E27FC236}">
                <a16:creationId xmlns:a16="http://schemas.microsoft.com/office/drawing/2014/main" id="{D7FD95AF-6D9F-47ED-956F-B01C4F7E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58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198" name="Table 2: Oral medication or inhaler use among people with asthma by state.-cell-10-0">
            <a:extLst xmlns:a="http://schemas.openxmlformats.org/drawingml/2006/main">
              <a:ext uri="{FF2B5EF4-FFF2-40B4-BE49-F238E27FC236}">
                <a16:creationId xmlns:a16="http://schemas.microsoft.com/office/drawing/2014/main" id="{EAEB5CDB-E4AD-46A1-BB1E-05D263AC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5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Norte</a:t>
            </a:r>
          </a:p>
        </p:txBody>
      </p:sp>
      <p:sp>
        <p:nvSpPr>
          <p:cNvPr id="199" name="Table 2: Oral medication or inhaler use among people with asthma by state.-cell-10-1">
            <a:extLst xmlns:a="http://schemas.openxmlformats.org/drawingml/2006/main">
              <a:ext uri="{FF2B5EF4-FFF2-40B4-BE49-F238E27FC236}">
                <a16:creationId xmlns:a16="http://schemas.microsoft.com/office/drawing/2014/main" id="{2FCE0FF6-7322-4292-B9B0-51C61656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68.53% [38.21%; 90.35%]</a:t>
            </a:r>
          </a:p>
        </p:txBody>
      </p:sp>
      <p:sp>
        <p:nvSpPr>
          <p:cNvPr id="200" name="Table 2: Oral medication or inhaler use among people with asthma by state.-cell-10-2">
            <a:extLst xmlns:a="http://schemas.openxmlformats.org/drawingml/2006/main">
              <a:ext uri="{FF2B5EF4-FFF2-40B4-BE49-F238E27FC236}">
                <a16:creationId xmlns:a16="http://schemas.microsoft.com/office/drawing/2014/main" id="{CFB97307-0740-4386-90F8-445AF4DC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5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61.69% [41.26%; 79.48%]</a:t>
            </a:r>
          </a:p>
        </p:txBody>
      </p:sp>
      <p:sp>
        <p:nvSpPr>
          <p:cNvPr id="201" name="Table 2: Oral medication or inhaler use among people with asthma by state.-cell-11-0">
            <a:extLst xmlns:a="http://schemas.openxmlformats.org/drawingml/2006/main">
              <a:ext uri="{FF2B5EF4-FFF2-40B4-BE49-F238E27FC236}">
                <a16:creationId xmlns:a16="http://schemas.microsoft.com/office/drawing/2014/main" id="{0447CBB0-90F9-4287-8A77-DB8300D8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Paraíba</a:t>
            </a:r>
          </a:p>
        </p:txBody>
      </p:sp>
      <p:sp>
        <p:nvSpPr>
          <p:cNvPr id="202" name="Table 2: Oral medication or inhaler use among people with asthma by state.-cell-11-1">
            <a:extLst xmlns:a="http://schemas.openxmlformats.org/drawingml/2006/main">
              <a:ext uri="{FF2B5EF4-FFF2-40B4-BE49-F238E27FC236}">
                <a16:creationId xmlns:a16="http://schemas.microsoft.com/office/drawing/2014/main" id="{1BE57C0A-0499-46D8-AF41-864374E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77.50% [58.84%; 90.53%]</a:t>
            </a:r>
          </a:p>
        </p:txBody>
      </p:sp>
      <p:sp>
        <p:nvSpPr>
          <p:cNvPr id="203" name="Table 2: Oral medication or inhaler use among people with asthma by state.-cell-11-2">
            <a:extLst xmlns:a="http://schemas.openxmlformats.org/drawingml/2006/main">
              <a:ext uri="{FF2B5EF4-FFF2-40B4-BE49-F238E27FC236}">
                <a16:creationId xmlns:a16="http://schemas.microsoft.com/office/drawing/2014/main" id="{9FA155B7-E2E0-4085-9CA1-CF4BA8CF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56.03% [37.07%; 73.79%]</a:t>
            </a:r>
          </a:p>
        </p:txBody>
      </p:sp>
      <p:sp>
        <p:nvSpPr>
          <p:cNvPr id="204" name="Table 2: Oral medication or inhaler use among people with asthma by state.-stripe-12">
            <a:extLst xmlns:a="http://schemas.openxmlformats.org/drawingml/2006/main">
              <a:ext uri="{FF2B5EF4-FFF2-40B4-BE49-F238E27FC236}">
                <a16:creationId xmlns:a16="http://schemas.microsoft.com/office/drawing/2014/main" id="{A83002E5-8FF5-4A45-8018-0F4B27DE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63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05" name="Table 2: Oral medication or inhaler use among people with asthma by state.-cell-12-0">
            <a:extLst xmlns:a="http://schemas.openxmlformats.org/drawingml/2006/main">
              <a:ext uri="{FF2B5EF4-FFF2-40B4-BE49-F238E27FC236}">
                <a16:creationId xmlns:a16="http://schemas.microsoft.com/office/drawing/2014/main" id="{1060E368-993F-43D1-9CE9-9E4BD388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4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Pernambuco</a:t>
            </a:r>
          </a:p>
        </p:txBody>
      </p:sp>
      <p:sp>
        <p:nvSpPr>
          <p:cNvPr id="206" name="Table 2: Oral medication or inhaler use among people with asthma by state.-cell-12-1">
            <a:extLst xmlns:a="http://schemas.openxmlformats.org/drawingml/2006/main">
              <a:ext uri="{FF2B5EF4-FFF2-40B4-BE49-F238E27FC236}">
                <a16:creationId xmlns:a16="http://schemas.microsoft.com/office/drawing/2014/main" id="{95349975-C18B-4982-8892-072A8A33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68.46% [49.08%; 84.06%]</a:t>
            </a:r>
          </a:p>
        </p:txBody>
      </p:sp>
      <p:sp>
        <p:nvSpPr>
          <p:cNvPr id="207" name="Table 2: Oral medication or inhaler use among people with asthma by state.-cell-12-2">
            <a:extLst xmlns:a="http://schemas.openxmlformats.org/drawingml/2006/main">
              <a:ext uri="{FF2B5EF4-FFF2-40B4-BE49-F238E27FC236}">
                <a16:creationId xmlns:a16="http://schemas.microsoft.com/office/drawing/2014/main" id="{CC51C194-890D-45EA-BC13-E0CDD632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4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60.93% [44.32%; 75.86%]</a:t>
            </a:r>
          </a:p>
        </p:txBody>
      </p:sp>
      <p:sp>
        <p:nvSpPr>
          <p:cNvPr id="208" name="Table 2: Oral medication or inhaler use among people with asthma by state.-cell-13-0">
            <a:extLst xmlns:a="http://schemas.openxmlformats.org/drawingml/2006/main">
              <a:ext uri="{FF2B5EF4-FFF2-40B4-BE49-F238E27FC236}">
                <a16:creationId xmlns:a16="http://schemas.microsoft.com/office/drawing/2014/main" id="{4155F357-B811-4DFB-B7E8-8EC5F136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6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Alagoas</a:t>
            </a:r>
          </a:p>
        </p:txBody>
      </p:sp>
      <p:sp>
        <p:nvSpPr>
          <p:cNvPr id="209" name="Table 2: Oral medication or inhaler use among people with asthma by state.-cell-13-1">
            <a:extLst xmlns:a="http://schemas.openxmlformats.org/drawingml/2006/main">
              <a:ext uri="{FF2B5EF4-FFF2-40B4-BE49-F238E27FC236}">
                <a16:creationId xmlns:a16="http://schemas.microsoft.com/office/drawing/2014/main" id="{16CB76F4-DAE1-4E88-812A-C1D589F1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85.95% [58.87%; 98.07%]</a:t>
            </a:r>
          </a:p>
        </p:txBody>
      </p:sp>
      <p:sp>
        <p:nvSpPr>
          <p:cNvPr id="210" name="Table 2: Oral medication or inhaler use among people with asthma by state.-cell-13-2">
            <a:extLst xmlns:a="http://schemas.openxmlformats.org/drawingml/2006/main">
              <a:ext uri="{FF2B5EF4-FFF2-40B4-BE49-F238E27FC236}">
                <a16:creationId xmlns:a16="http://schemas.microsoft.com/office/drawing/2014/main" id="{691886DE-900D-406F-8702-0B519436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6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62.04% [43.17%; 78.58%]</a:t>
            </a:r>
          </a:p>
        </p:txBody>
      </p:sp>
      <p:sp>
        <p:nvSpPr>
          <p:cNvPr id="211" name="Table 2: Oral medication or inhaler use among people with asthma by state.-stripe-14">
            <a:extLst xmlns:a="http://schemas.openxmlformats.org/drawingml/2006/main">
              <a:ext uri="{FF2B5EF4-FFF2-40B4-BE49-F238E27FC236}">
                <a16:creationId xmlns:a16="http://schemas.microsoft.com/office/drawing/2014/main" id="{F7C6E2DA-4AC5-46EE-B766-7EC7E340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69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12" name="Table 2: Oral medication or inhaler use among people with asthma by state.-cell-14-0">
            <a:extLst xmlns:a="http://schemas.openxmlformats.org/drawingml/2006/main">
              <a:ext uri="{FF2B5EF4-FFF2-40B4-BE49-F238E27FC236}">
                <a16:creationId xmlns:a16="http://schemas.microsoft.com/office/drawing/2014/main" id="{E20482B9-0F29-42A7-B7C5-BABC03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69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Sergipe</a:t>
            </a:r>
          </a:p>
        </p:txBody>
      </p:sp>
      <p:sp>
        <p:nvSpPr>
          <p:cNvPr id="213" name="Table 2: Oral medication or inhaler use among people with asthma by state.-cell-14-1">
            <a:extLst xmlns:a="http://schemas.openxmlformats.org/drawingml/2006/main">
              <a:ext uri="{FF2B5EF4-FFF2-40B4-BE49-F238E27FC236}">
                <a16:creationId xmlns:a16="http://schemas.microsoft.com/office/drawing/2014/main" id="{9342B7C6-C5C4-4DA2-A7C9-A2BF8335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87.58% [59.92%; 98.72%]</a:t>
            </a:r>
          </a:p>
        </p:txBody>
      </p:sp>
      <p:sp>
        <p:nvSpPr>
          <p:cNvPr id="214" name="Table 2: Oral medication or inhaler use among people with asthma by state.-cell-14-2">
            <a:extLst xmlns:a="http://schemas.openxmlformats.org/drawingml/2006/main">
              <a:ext uri="{FF2B5EF4-FFF2-40B4-BE49-F238E27FC236}">
                <a16:creationId xmlns:a16="http://schemas.microsoft.com/office/drawing/2014/main" id="{97AAF48B-FFCC-44B1-949B-76644FC4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69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80.23% [60.76%; 92.82%]</a:t>
            </a:r>
          </a:p>
        </p:txBody>
      </p:sp>
      <p:sp>
        <p:nvSpPr>
          <p:cNvPr id="215" name="Table 2: Oral medication or inhaler use among people with asthma by state.-cell-15-0">
            <a:extLst xmlns:a="http://schemas.openxmlformats.org/drawingml/2006/main">
              <a:ext uri="{FF2B5EF4-FFF2-40B4-BE49-F238E27FC236}">
                <a16:creationId xmlns:a16="http://schemas.microsoft.com/office/drawing/2014/main" id="{A92D689F-8EEF-4117-BC01-B1437332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2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Bahia</a:t>
            </a:r>
          </a:p>
        </p:txBody>
      </p:sp>
      <p:sp>
        <p:nvSpPr>
          <p:cNvPr id="216" name="Table 2: Oral medication or inhaler use among people with asthma by state.-cell-15-1">
            <a:extLst xmlns:a="http://schemas.openxmlformats.org/drawingml/2006/main">
              <a:ext uri="{FF2B5EF4-FFF2-40B4-BE49-F238E27FC236}">
                <a16:creationId xmlns:a16="http://schemas.microsoft.com/office/drawing/2014/main" id="{AC90B38F-9CB0-466E-8A42-EF995F12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84.22% [55.45%; 97.71%]</a:t>
            </a:r>
          </a:p>
        </p:txBody>
      </p:sp>
      <p:sp>
        <p:nvSpPr>
          <p:cNvPr id="217" name="Table 2: Oral medication or inhaler use among people with asthma by state.-cell-15-2">
            <a:extLst xmlns:a="http://schemas.openxmlformats.org/drawingml/2006/main">
              <a:ext uri="{FF2B5EF4-FFF2-40B4-BE49-F238E27FC236}">
                <a16:creationId xmlns:a16="http://schemas.microsoft.com/office/drawing/2014/main" id="{DB807A61-4E9B-4727-942F-66C9B4B7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2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74.04% [42.37%; 93.86%]</a:t>
            </a:r>
          </a:p>
        </p:txBody>
      </p:sp>
      <p:sp>
        <p:nvSpPr>
          <p:cNvPr id="218" name="Table 2: Oral medication or inhaler use among people with asthma by state.-stripe-16">
            <a:extLst xmlns:a="http://schemas.openxmlformats.org/drawingml/2006/main">
              <a:ext uri="{FF2B5EF4-FFF2-40B4-BE49-F238E27FC236}">
                <a16:creationId xmlns:a16="http://schemas.microsoft.com/office/drawing/2014/main" id="{00A55212-B777-45C5-B419-88A23FB8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74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19" name="Table 2: Oral medication or inhaler use among people with asthma by state.-cell-16-0">
            <a:extLst xmlns:a="http://schemas.openxmlformats.org/drawingml/2006/main">
              <a:ext uri="{FF2B5EF4-FFF2-40B4-BE49-F238E27FC236}">
                <a16:creationId xmlns:a16="http://schemas.microsoft.com/office/drawing/2014/main" id="{26155D01-6006-48A8-8DCB-07E060D8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4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Minas Gerais</a:t>
            </a:r>
          </a:p>
        </p:txBody>
      </p:sp>
      <p:sp>
        <p:nvSpPr>
          <p:cNvPr id="220" name="Table 2: Oral medication or inhaler use among people with asthma by state.-cell-16-1">
            <a:extLst xmlns:a="http://schemas.openxmlformats.org/drawingml/2006/main">
              <a:ext uri="{FF2B5EF4-FFF2-40B4-BE49-F238E27FC236}">
                <a16:creationId xmlns:a16="http://schemas.microsoft.com/office/drawing/2014/main" id="{96CAC553-5E98-496A-96E9-482D6210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71.82% [43.99%; 91.07%]</a:t>
            </a:r>
          </a:p>
        </p:txBody>
      </p:sp>
      <p:sp>
        <p:nvSpPr>
          <p:cNvPr id="221" name="Table 2: Oral medication or inhaler use among people with asthma by state.-cell-16-2">
            <a:extLst xmlns:a="http://schemas.openxmlformats.org/drawingml/2006/main">
              <a:ext uri="{FF2B5EF4-FFF2-40B4-BE49-F238E27FC236}">
                <a16:creationId xmlns:a16="http://schemas.microsoft.com/office/drawing/2014/main" id="{01151A62-F997-4A1B-B205-8057015F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4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64.00% [50.05%; 76.42%]</a:t>
            </a:r>
          </a:p>
        </p:txBody>
      </p:sp>
      <p:sp>
        <p:nvSpPr>
          <p:cNvPr id="222" name="Table 2: Oral medication or inhaler use among people with asthma by state.-cell-17-0">
            <a:extLst xmlns:a="http://schemas.openxmlformats.org/drawingml/2006/main">
              <a:ext uri="{FF2B5EF4-FFF2-40B4-BE49-F238E27FC236}">
                <a16:creationId xmlns:a16="http://schemas.microsoft.com/office/drawing/2014/main" id="{4CBF75C9-1998-43EB-A19E-7BE2BDB9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77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Espírito Santo</a:t>
            </a:r>
          </a:p>
        </p:txBody>
      </p:sp>
      <p:sp>
        <p:nvSpPr>
          <p:cNvPr id="223" name="Table 2: Oral medication or inhaler use among people with asthma by state.-cell-17-1">
            <a:extLst xmlns:a="http://schemas.openxmlformats.org/drawingml/2006/main">
              <a:ext uri="{FF2B5EF4-FFF2-40B4-BE49-F238E27FC236}">
                <a16:creationId xmlns:a16="http://schemas.microsoft.com/office/drawing/2014/main" id="{C5AA82E8-8D37-4EBD-A036-8FBB5CE5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64.90% [32.88%; 89.27%]</a:t>
            </a:r>
          </a:p>
        </p:txBody>
      </p:sp>
      <p:sp>
        <p:nvSpPr>
          <p:cNvPr id="224" name="Table 2: Oral medication or inhaler use among people with asthma by state.-cell-17-2">
            <a:extLst xmlns:a="http://schemas.openxmlformats.org/drawingml/2006/main">
              <a:ext uri="{FF2B5EF4-FFF2-40B4-BE49-F238E27FC236}">
                <a16:creationId xmlns:a16="http://schemas.microsoft.com/office/drawing/2014/main" id="{3BAC8D9A-A0BF-4A90-9D28-296DF6EA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77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76.46% [63.42%; 86.65%]</a:t>
            </a:r>
          </a:p>
        </p:txBody>
      </p:sp>
      <p:sp>
        <p:nvSpPr>
          <p:cNvPr id="225" name="Table 2: Oral medication or inhaler use among people with asthma by state.-stripe-18">
            <a:extLst xmlns:a="http://schemas.openxmlformats.org/drawingml/2006/main">
              <a:ext uri="{FF2B5EF4-FFF2-40B4-BE49-F238E27FC236}">
                <a16:creationId xmlns:a16="http://schemas.microsoft.com/office/drawing/2014/main" id="{0EA1A3E0-B295-40B5-A411-AFD26165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79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26" name="Table 2: Oral medication or inhaler use among people with asthma by state.-cell-18-0">
            <a:extLst xmlns:a="http://schemas.openxmlformats.org/drawingml/2006/main">
              <a:ext uri="{FF2B5EF4-FFF2-40B4-BE49-F238E27FC236}">
                <a16:creationId xmlns:a16="http://schemas.microsoft.com/office/drawing/2014/main" id="{613A7DEC-3409-4971-9952-BDE24369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0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de Janeiro</a:t>
            </a:r>
          </a:p>
        </p:txBody>
      </p:sp>
      <p:sp>
        <p:nvSpPr>
          <p:cNvPr id="227" name="Table 2: Oral medication or inhaler use among people with asthma by state.-cell-18-1">
            <a:extLst xmlns:a="http://schemas.openxmlformats.org/drawingml/2006/main">
              <a:ext uri="{FF2B5EF4-FFF2-40B4-BE49-F238E27FC236}">
                <a16:creationId xmlns:a16="http://schemas.microsoft.com/office/drawing/2014/main" id="{EBAD922E-5200-4C14-8BA1-790EAD5C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91.98% [82.45%; 97.29%]</a:t>
            </a:r>
          </a:p>
        </p:txBody>
      </p:sp>
      <p:sp>
        <p:nvSpPr>
          <p:cNvPr id="228" name="Table 2: Oral medication or inhaler use among people with asthma by state.-cell-18-2">
            <a:extLst xmlns:a="http://schemas.openxmlformats.org/drawingml/2006/main">
              <a:ext uri="{FF2B5EF4-FFF2-40B4-BE49-F238E27FC236}">
                <a16:creationId xmlns:a16="http://schemas.microsoft.com/office/drawing/2014/main" id="{50182A31-7696-4996-BDAB-D93DDCE8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0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54.29% [35.89%; 71.87%]</a:t>
            </a:r>
          </a:p>
        </p:txBody>
      </p:sp>
      <p:sp>
        <p:nvSpPr>
          <p:cNvPr id="229" name="Table 2: Oral medication or inhaler use among people with asthma by state.-cell-19-0">
            <a:extLst xmlns:a="http://schemas.openxmlformats.org/drawingml/2006/main">
              <a:ext uri="{FF2B5EF4-FFF2-40B4-BE49-F238E27FC236}">
                <a16:creationId xmlns:a16="http://schemas.microsoft.com/office/drawing/2014/main" id="{A9E30D5B-817A-46B6-A99E-6C28B1FC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2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São Paulo</a:t>
            </a:r>
          </a:p>
        </p:txBody>
      </p:sp>
      <p:sp>
        <p:nvSpPr>
          <p:cNvPr id="230" name="Table 2: Oral medication or inhaler use among people with asthma by state.-cell-19-1">
            <a:extLst xmlns:a="http://schemas.openxmlformats.org/drawingml/2006/main">
              <a:ext uri="{FF2B5EF4-FFF2-40B4-BE49-F238E27FC236}">
                <a16:creationId xmlns:a16="http://schemas.microsoft.com/office/drawing/2014/main" id="{07EB3A32-0E3C-46C1-976A-FCE2989D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88.46% [80.12%; 94.17%]</a:t>
            </a:r>
          </a:p>
        </p:txBody>
      </p:sp>
      <p:sp>
        <p:nvSpPr>
          <p:cNvPr id="231" name="Table 2: Oral medication or inhaler use among people with asthma by state.-cell-19-2">
            <a:extLst xmlns:a="http://schemas.openxmlformats.org/drawingml/2006/main">
              <a:ext uri="{FF2B5EF4-FFF2-40B4-BE49-F238E27FC236}">
                <a16:creationId xmlns:a16="http://schemas.microsoft.com/office/drawing/2014/main" id="{6B6B453E-2C9A-43D2-91F9-40434CC6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2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69.34% [56.38%; 80.39%]</a:t>
            </a:r>
          </a:p>
        </p:txBody>
      </p:sp>
      <p:sp>
        <p:nvSpPr>
          <p:cNvPr id="232" name="Table 2: Oral medication or inhaler use among people with asthma by state.-stripe-20">
            <a:extLst xmlns:a="http://schemas.openxmlformats.org/drawingml/2006/main">
              <a:ext uri="{FF2B5EF4-FFF2-40B4-BE49-F238E27FC236}">
                <a16:creationId xmlns:a16="http://schemas.microsoft.com/office/drawing/2014/main" id="{9209993B-DC7C-4FE8-A532-23C78E8B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85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33" name="Table 2: Oral medication or inhaler use among people with asthma by state.-cell-20-0">
            <a:extLst xmlns:a="http://schemas.openxmlformats.org/drawingml/2006/main">
              <a:ext uri="{FF2B5EF4-FFF2-40B4-BE49-F238E27FC236}">
                <a16:creationId xmlns:a16="http://schemas.microsoft.com/office/drawing/2014/main" id="{58E09BC6-24C5-426C-9A35-79FD9D77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5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Paraná</a:t>
            </a:r>
          </a:p>
        </p:txBody>
      </p:sp>
      <p:sp>
        <p:nvSpPr>
          <p:cNvPr id="234" name="Table 2: Oral medication or inhaler use among people with asthma by state.-cell-20-1">
            <a:extLst xmlns:a="http://schemas.openxmlformats.org/drawingml/2006/main">
              <a:ext uri="{FF2B5EF4-FFF2-40B4-BE49-F238E27FC236}">
                <a16:creationId xmlns:a16="http://schemas.microsoft.com/office/drawing/2014/main" id="{0C7DCEDE-B6D7-4A94-BA42-4337ADDB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85.31% [70.59%; 94.46%]</a:t>
            </a:r>
          </a:p>
        </p:txBody>
      </p:sp>
      <p:sp>
        <p:nvSpPr>
          <p:cNvPr id="235" name="Table 2: Oral medication or inhaler use among people with asthma by state.-cell-20-2">
            <a:extLst xmlns:a="http://schemas.openxmlformats.org/drawingml/2006/main">
              <a:ext uri="{FF2B5EF4-FFF2-40B4-BE49-F238E27FC236}">
                <a16:creationId xmlns:a16="http://schemas.microsoft.com/office/drawing/2014/main" id="{6F35FDB3-C395-4366-89C2-6526980C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5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74.79% [60.28%; 86.14%]</a:t>
            </a:r>
          </a:p>
        </p:txBody>
      </p:sp>
      <p:sp>
        <p:nvSpPr>
          <p:cNvPr id="236" name="Table 2: Oral medication or inhaler use among people with asthma by state.-cell-21-0">
            <a:extLst xmlns:a="http://schemas.openxmlformats.org/drawingml/2006/main">
              <a:ext uri="{FF2B5EF4-FFF2-40B4-BE49-F238E27FC236}">
                <a16:creationId xmlns:a16="http://schemas.microsoft.com/office/drawing/2014/main" id="{D9A135A4-8E2D-435B-A331-C4381E69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88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Santa Catarina</a:t>
            </a:r>
          </a:p>
        </p:txBody>
      </p:sp>
      <p:sp>
        <p:nvSpPr>
          <p:cNvPr id="237" name="Table 2: Oral medication or inhaler use among people with asthma by state.-cell-21-1">
            <a:extLst xmlns:a="http://schemas.openxmlformats.org/drawingml/2006/main">
              <a:ext uri="{FF2B5EF4-FFF2-40B4-BE49-F238E27FC236}">
                <a16:creationId xmlns:a16="http://schemas.microsoft.com/office/drawing/2014/main" id="{55FF23E4-3A92-4C1A-B70A-549AFAC6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67.01% [30.86%; 92.39%]</a:t>
            </a:r>
          </a:p>
        </p:txBody>
      </p:sp>
      <p:sp>
        <p:nvSpPr>
          <p:cNvPr id="238" name="Table 2: Oral medication or inhaler use among people with asthma by state.-cell-21-2">
            <a:extLst xmlns:a="http://schemas.openxmlformats.org/drawingml/2006/main">
              <a:ext uri="{FF2B5EF4-FFF2-40B4-BE49-F238E27FC236}">
                <a16:creationId xmlns:a16="http://schemas.microsoft.com/office/drawing/2014/main" id="{42CE5C76-7509-4E17-8FE3-CA818563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88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65.68% [45.89%; 82.15%]</a:t>
            </a:r>
          </a:p>
        </p:txBody>
      </p:sp>
      <p:sp>
        <p:nvSpPr>
          <p:cNvPr id="239" name="Table 2: Oral medication or inhaler use among people with asthma by state.-stripe-22">
            <a:extLst xmlns:a="http://schemas.openxmlformats.org/drawingml/2006/main">
              <a:ext uri="{FF2B5EF4-FFF2-40B4-BE49-F238E27FC236}">
                <a16:creationId xmlns:a16="http://schemas.microsoft.com/office/drawing/2014/main" id="{8F919BA0-6DF8-4F7F-8022-62DAEF2C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9042667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40" name="Table 2: Oral medication or inhaler use among people with asthma by state.-cell-22-0">
            <a:extLst xmlns:a="http://schemas.openxmlformats.org/drawingml/2006/main">
              <a:ext uri="{FF2B5EF4-FFF2-40B4-BE49-F238E27FC236}">
                <a16:creationId xmlns:a16="http://schemas.microsoft.com/office/drawing/2014/main" id="{836503CC-A5E9-4871-9BEB-118F610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0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Rio Grande do Sul</a:t>
            </a:r>
          </a:p>
        </p:txBody>
      </p:sp>
      <p:sp>
        <p:nvSpPr>
          <p:cNvPr id="241" name="Table 2: Oral medication or inhaler use among people with asthma by state.-cell-22-1">
            <a:extLst xmlns:a="http://schemas.openxmlformats.org/drawingml/2006/main">
              <a:ext uri="{FF2B5EF4-FFF2-40B4-BE49-F238E27FC236}">
                <a16:creationId xmlns:a16="http://schemas.microsoft.com/office/drawing/2014/main" id="{4F0FC204-067C-4B19-B877-CBF89C8C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83.19% [64.65%; 94.43%]</a:t>
            </a:r>
          </a:p>
        </p:txBody>
      </p:sp>
      <p:sp>
        <p:nvSpPr>
          <p:cNvPr id="242" name="Table 2: Oral medication or inhaler use among people with asthma by state.-cell-22-2">
            <a:extLst xmlns:a="http://schemas.openxmlformats.org/drawingml/2006/main">
              <a:ext uri="{FF2B5EF4-FFF2-40B4-BE49-F238E27FC236}">
                <a16:creationId xmlns:a16="http://schemas.microsoft.com/office/drawing/2014/main" id="{E8108B46-CF46-4854-AFF6-AA7AD5E2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0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61.33% [45.42%; 75.65%]</a:t>
            </a:r>
          </a:p>
        </p:txBody>
      </p:sp>
      <p:sp>
        <p:nvSpPr>
          <p:cNvPr id="243" name="Table 2: Oral medication or inhaler use among people with asthma by state.-cell-23-0">
            <a:extLst xmlns:a="http://schemas.openxmlformats.org/drawingml/2006/main">
              <a:ext uri="{FF2B5EF4-FFF2-40B4-BE49-F238E27FC236}">
                <a16:creationId xmlns:a16="http://schemas.microsoft.com/office/drawing/2014/main" id="{D3F2264C-B30A-4D1B-9276-C7589497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3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 do Sul</a:t>
            </a:r>
          </a:p>
        </p:txBody>
      </p:sp>
      <p:sp>
        <p:nvSpPr>
          <p:cNvPr id="244" name="Table 2: Oral medication or inhaler use among people with asthma by state.-cell-23-1">
            <a:extLst xmlns:a="http://schemas.openxmlformats.org/drawingml/2006/main">
              <a:ext uri="{FF2B5EF4-FFF2-40B4-BE49-F238E27FC236}">
                <a16:creationId xmlns:a16="http://schemas.microsoft.com/office/drawing/2014/main" id="{47918FB4-ABEC-4D5C-96CF-FC9B20E9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80.53% [61.07%; 93.02%]</a:t>
            </a:r>
          </a:p>
        </p:txBody>
      </p:sp>
      <p:sp>
        <p:nvSpPr>
          <p:cNvPr id="245" name="Table 2: Oral medication or inhaler use among people with asthma by state.-cell-23-2">
            <a:extLst xmlns:a="http://schemas.openxmlformats.org/drawingml/2006/main">
              <a:ext uri="{FF2B5EF4-FFF2-40B4-BE49-F238E27FC236}">
                <a16:creationId xmlns:a16="http://schemas.microsoft.com/office/drawing/2014/main" id="{EC17F4AB-8408-456C-BB0F-6E48AFBC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3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69.40% [51.51%; 83.83%]</a:t>
            </a:r>
          </a:p>
        </p:txBody>
      </p:sp>
      <p:sp>
        <p:nvSpPr>
          <p:cNvPr id="246" name="Table 2: Oral medication or inhaler use among people with asthma by state.-stripe-24">
            <a:extLst xmlns:a="http://schemas.openxmlformats.org/drawingml/2006/main">
              <a:ext uri="{FF2B5EF4-FFF2-40B4-BE49-F238E27FC236}">
                <a16:creationId xmlns:a16="http://schemas.microsoft.com/office/drawing/2014/main" id="{B9FE4C6B-E866-495B-9970-CF12E993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19576000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47" name="Table 2: Oral medication or inhaler use among people with asthma by state.-cell-24-0">
            <a:extLst xmlns:a="http://schemas.openxmlformats.org/drawingml/2006/main">
              <a:ext uri="{FF2B5EF4-FFF2-40B4-BE49-F238E27FC236}">
                <a16:creationId xmlns:a16="http://schemas.microsoft.com/office/drawing/2014/main" id="{595A56CE-0903-4970-A319-96CB468E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612000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Mato Grosso</a:t>
            </a:r>
          </a:p>
        </p:txBody>
      </p:sp>
      <p:sp>
        <p:nvSpPr>
          <p:cNvPr id="248" name="Table 2: Oral medication or inhaler use among people with asthma by state.-cell-24-1">
            <a:extLst xmlns:a="http://schemas.openxmlformats.org/drawingml/2006/main">
              <a:ext uri="{FF2B5EF4-FFF2-40B4-BE49-F238E27FC236}">
                <a16:creationId xmlns:a16="http://schemas.microsoft.com/office/drawing/2014/main" id="{AD2A43E7-6A8C-4441-8EA9-ADB6FAD4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86.59% [61.99%; 97.89%]</a:t>
            </a:r>
          </a:p>
        </p:txBody>
      </p:sp>
      <p:sp>
        <p:nvSpPr>
          <p:cNvPr id="249" name="Table 2: Oral medication or inhaler use among people with asthma by state.-cell-24-2">
            <a:extLst xmlns:a="http://schemas.openxmlformats.org/drawingml/2006/main">
              <a:ext uri="{FF2B5EF4-FFF2-40B4-BE49-F238E27FC236}">
                <a16:creationId xmlns:a16="http://schemas.microsoft.com/office/drawing/2014/main" id="{31DC2CB7-EC75-48EB-8E78-0539DF2A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612000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71.01% [37.48%; 93.10%]</a:t>
            </a:r>
          </a:p>
        </p:txBody>
      </p:sp>
      <p:sp>
        <p:nvSpPr>
          <p:cNvPr id="250" name="Table 2: Oral medication or inhaler use among people with asthma by state.-cell-25-0">
            <a:extLst xmlns:a="http://schemas.openxmlformats.org/drawingml/2006/main">
              <a:ext uri="{FF2B5EF4-FFF2-40B4-BE49-F238E27FC236}">
                <a16:creationId xmlns:a16="http://schemas.microsoft.com/office/drawing/2014/main" id="{DC853224-408F-4890-A0C8-223BED0D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19878667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Goiás</a:t>
            </a:r>
          </a:p>
        </p:txBody>
      </p:sp>
      <p:sp>
        <p:nvSpPr>
          <p:cNvPr id="251" name="Table 2: Oral medication or inhaler use among people with asthma by state.-cell-25-1">
            <a:extLst xmlns:a="http://schemas.openxmlformats.org/drawingml/2006/main">
              <a:ext uri="{FF2B5EF4-FFF2-40B4-BE49-F238E27FC236}">
                <a16:creationId xmlns:a16="http://schemas.microsoft.com/office/drawing/2014/main" id="{F237D0C0-5EEE-4353-B962-BC2C76A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80.41% [63.61%; 91.80%]</a:t>
            </a:r>
          </a:p>
        </p:txBody>
      </p:sp>
      <p:sp>
        <p:nvSpPr>
          <p:cNvPr id="252" name="Table 2: Oral medication or inhaler use among people with asthma by state.-cell-25-2">
            <a:extLst xmlns:a="http://schemas.openxmlformats.org/drawingml/2006/main">
              <a:ext uri="{FF2B5EF4-FFF2-40B4-BE49-F238E27FC236}">
                <a16:creationId xmlns:a16="http://schemas.microsoft.com/office/drawing/2014/main" id="{8C12A941-D863-401F-93E9-C09B69E3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19878667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60.59% [43.81%; 75.73%]</a:t>
            </a:r>
          </a:p>
        </p:txBody>
      </p:sp>
      <p:sp>
        <p:nvSpPr>
          <p:cNvPr id="253" name="Table 2: Oral medication or inhaler use among people with asthma by state.-stripe-26">
            <a:extLst xmlns:a="http://schemas.openxmlformats.org/drawingml/2006/main">
              <a:ext uri="{FF2B5EF4-FFF2-40B4-BE49-F238E27FC236}">
                <a16:creationId xmlns:a16="http://schemas.microsoft.com/office/drawing/2014/main" id="{FCE9025F-E71E-4AA0-9296-32640634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20109333"/>
            <a:ext cx="12312000" cy="266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solidFill>
              <a:srgbClr val="EAF6FB"/>
            </a:solidFill>
            <a:prstDash val="solid"/>
          </a:ln>
        </p:spPr>
      </p:sp>
      <p:sp>
        <p:nvSpPr>
          <p:cNvPr id="254" name="Table 2: Oral medication or inhaler use among people with asthma by state.-cell-26-0">
            <a:extLst xmlns:a="http://schemas.openxmlformats.org/drawingml/2006/main">
              <a:ext uri="{FF2B5EF4-FFF2-40B4-BE49-F238E27FC236}">
                <a16:creationId xmlns:a16="http://schemas.microsoft.com/office/drawing/2014/main" id="{0BFD6383-E3E0-414D-81E3-E6758684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8000" y="20145333"/>
            <a:ext cx="2592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61" b="1">
                <a:solidFill>
                  <a:srgbClr val="102536"/>
                </a:solidFill>
              </a:defRPr>
            </a:pPr>
            <a:r>
              <a:rPr sz="1361" b="1">
                <a:solidFill>
                  <a:srgbClr val="102536"/>
                </a:solidFill>
              </a:rPr>
              <a:t>Distrito Federal</a:t>
            </a:r>
          </a:p>
        </p:txBody>
      </p:sp>
      <p:sp>
        <p:nvSpPr>
          <p:cNvPr id="255" name="Table 2: Oral medication or inhaler use among people with asthma by state.-cell-26-1">
            <a:extLst xmlns:a="http://schemas.openxmlformats.org/drawingml/2006/main">
              <a:ext uri="{FF2B5EF4-FFF2-40B4-BE49-F238E27FC236}">
                <a16:creationId xmlns:a16="http://schemas.microsoft.com/office/drawing/2014/main" id="{C7B1590D-BF18-47CD-BD1F-6AB5DC4D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4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77.45% [49.84%; 94.19%]</a:t>
            </a:r>
          </a:p>
        </p:txBody>
      </p:sp>
      <p:sp>
        <p:nvSpPr>
          <p:cNvPr id="256" name="Table 2: Oral medication or inhaler use among people with asthma by state.-cell-26-2">
            <a:extLst xmlns:a="http://schemas.openxmlformats.org/drawingml/2006/main">
              <a:ext uri="{FF2B5EF4-FFF2-40B4-BE49-F238E27FC236}">
                <a16:creationId xmlns:a16="http://schemas.microsoft.com/office/drawing/2014/main" id="{9A7D1BF7-2AD7-49E3-894E-CD022441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2000" y="20145333"/>
            <a:ext cx="4644000" cy="266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61" b="0">
                <a:solidFill>
                  <a:srgbClr val="102536"/>
                </a:solidFill>
              </a:defRPr>
            </a:pPr>
            <a:r>
              <a:rPr sz="1361" b="0">
                <a:solidFill>
                  <a:srgbClr val="102536"/>
                </a:solidFill>
              </a:rPr>
              <a:t>52.79% [32.84%; 72.12%]</a:t>
            </a:r>
          </a:p>
        </p:txBody>
      </p:sp>
      <p:sp>
        <p:nvSpPr>
          <p:cNvPr id="257" name="Table 2: Oral medication or inhaler use among people with asthma by state.-note">
            <a:extLst xmlns:a="http://schemas.openxmlformats.org/drawingml/2006/main">
              <a:ext uri="{FF2B5EF4-FFF2-40B4-BE49-F238E27FC236}">
                <a16:creationId xmlns:a16="http://schemas.microsoft.com/office/drawing/2014/main" id="{D60A4EAB-6D9F-46E1-BAE6-D6370CFD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6000" y="20412000"/>
            <a:ext cx="1231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47" b="0">
                <a:solidFill>
                  <a:srgbClr val="4F6372"/>
                </a:solidFill>
              </a:defRPr>
            </a:pPr>
            <a:r>
              <a:rPr sz="1247" b="0">
                <a:solidFill>
                  <a:srgbClr val="4F6372"/>
                </a:solidFill>
              </a:rPr>
              <a:t>Weighted estimates; beta 95% CIs in brackets. Brazil summarized in cards.</a:t>
            </a:r>
          </a:p>
        </p:txBody>
      </p:sp>
      <p:sp>
        <p:nvSpPr>
          <p:cNvPr id="258" name="Figure 1: Health-related">
            <a:extLst xmlns:a="http://schemas.openxmlformats.org/drawingml/2006/main">
              <a:ext uri="{FF2B5EF4-FFF2-40B4-BE49-F238E27FC236}">
                <a16:creationId xmlns:a16="http://schemas.microsoft.com/office/drawing/2014/main" id="{35DFF69E-6386-4334-9975-DF493A4A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1636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Figure 1: Health-related absenteeism in Brazil, highlighting respiratory causes, PNS 2019.</a:t>
            </a:r>
          </a:p>
        </p:txBody>
      </p:sp>
      <p:sp>
        <p:nvSpPr>
          <p:cNvPr id="259" name="Figure 1: Health-related absenteeism in Brazil, highlighting respiratory causes, PNS 2019.-frame">
            <a:extLst xmlns:a="http://schemas.openxmlformats.org/drawingml/2006/main">
              <a:ext uri="{FF2B5EF4-FFF2-40B4-BE49-F238E27FC236}">
                <a16:creationId xmlns:a16="http://schemas.microsoft.com/office/drawing/2014/main" id="{0341DFA9-22BC-47E5-96A4-6E5B32ED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2500000"/>
            <a:ext cx="12672000" cy="57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5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f846461c1401c"/>
          <a:stretch xmlns:a="http://schemas.openxmlformats.org/drawingml/2006/main"/>
        </p:blipFill>
        <p:spPr>
          <a:xfrm xmlns:a="http://schemas.openxmlformats.org/drawingml/2006/main">
            <a:off x="11093538" y="22644000"/>
            <a:ext cx="8628923" cy="5472000"/>
          </a:xfrm>
          <a:prstGeom xmlns:a="http://schemas.openxmlformats.org/drawingml/2006/main" prst="rect">
            <a:avLst/>
          </a:prstGeom>
        </p:spPr>
      </p:pic>
      <p:sp>
        <p:nvSpPr>
          <p:cNvPr id="261" name="Figure 2: Mean lost days">
            <a:extLst xmlns:a="http://schemas.openxmlformats.org/drawingml/2006/main">
              <a:ext uri="{FF2B5EF4-FFF2-40B4-BE49-F238E27FC236}">
                <a16:creationId xmlns:a16="http://schemas.microsoft.com/office/drawing/2014/main" id="{DE37AA25-3100-4575-ABAD-579F251F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1636000"/>
            <a:ext cx="12672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98" b="1">
                <a:solidFill>
                  <a:srgbClr val="153F59"/>
                </a:solidFill>
              </a:defRPr>
            </a:pPr>
            <a:r>
              <a:rPr sz="2098" b="1">
                <a:solidFill>
                  <a:srgbClr val="153F59"/>
                </a:solidFill>
              </a:rPr>
              <a:t>Figure 2: Mean lost days by health cause in Brazil, highlighting respiratory causes, PNS 2019.</a:t>
            </a:r>
          </a:p>
        </p:txBody>
      </p:sp>
      <p:sp>
        <p:nvSpPr>
          <p:cNvPr id="262" name="Figure 2: Mean lost days by health cause in Brazil, highlighting respiratory causes, PNS 2019.-frame">
            <a:extLst xmlns:a="http://schemas.openxmlformats.org/drawingml/2006/main">
              <a:ext uri="{FF2B5EF4-FFF2-40B4-BE49-F238E27FC236}">
                <a16:creationId xmlns:a16="http://schemas.microsoft.com/office/drawing/2014/main" id="{64F3ADB4-8C00-4913-A385-89E1DE3F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2500000"/>
            <a:ext cx="12672000" cy="57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5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1666a8e8d4bac"/>
          <a:stretch xmlns:a="http://schemas.openxmlformats.org/drawingml/2006/main"/>
        </p:blipFill>
        <p:spPr>
          <a:xfrm xmlns:a="http://schemas.openxmlformats.org/drawingml/2006/main">
            <a:off x="24197538" y="22644000"/>
            <a:ext cx="8628923" cy="5472000"/>
          </a:xfrm>
          <a:prstGeom xmlns:a="http://schemas.openxmlformats.org/drawingml/2006/main" prst="rect">
            <a:avLst/>
          </a:prstGeom>
        </p:spPr>
      </p:pic>
      <p:pic>
        <p:nvPicPr>
          <p:cNvPr id="5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d4bcbde72413e"/>
          <a:stretch xmlns:a="http://schemas.openxmlformats.org/drawingml/2006/main"/>
        </p:blipFill>
        <p:spPr>
          <a:xfrm xmlns:a="http://schemas.openxmlformats.org/drawingml/2006/main">
            <a:off x="19260000" y="28656000"/>
            <a:ext cx="2592000" cy="2592000"/>
          </a:xfrm>
          <a:prstGeom xmlns:a="http://schemas.openxmlformats.org/drawingml/2006/main" prst="rect">
            <a:avLst/>
          </a:prstGeom>
        </p:spPr>
      </p:pic>
      <p:sp>
        <p:nvSpPr>
          <p:cNvPr id="265" name="qr-arrow">
            <a:extLst xmlns:a="http://schemas.openxmlformats.org/drawingml/2006/main">
              <a:ext uri="{FF2B5EF4-FFF2-40B4-BE49-F238E27FC236}">
                <a16:creationId xmlns:a16="http://schemas.microsoft.com/office/drawing/2014/main" id="{9EAFBFC9-4C69-4FE3-9576-703CC333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2000" y="29484000"/>
            <a:ext cx="6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19" b="1">
                <a:solidFill>
                  <a:srgbClr val="153F59"/>
                </a:solidFill>
              </a:defRPr>
            </a:pPr>
            <a:r>
              <a:rPr sz="4819" b="1">
                <a:solidFill>
                  <a:srgbClr val="153F59"/>
                </a:solidFill>
              </a:rPr>
              <a:t>←</a:t>
            </a:r>
          </a:p>
        </p:txBody>
      </p:sp>
      <p:sp>
        <p:nvSpPr>
          <p:cNvPr id="266" name="qr-label">
            <a:extLst xmlns:a="http://schemas.openxmlformats.org/drawingml/2006/main">
              <a:ext uri="{FF2B5EF4-FFF2-40B4-BE49-F238E27FC236}">
                <a16:creationId xmlns:a16="http://schemas.microsoft.com/office/drawing/2014/main" id="{FA77CC3A-3DBC-473A-A21E-006D80E5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2000" y="28944000"/>
            <a:ext cx="648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11" b="1">
                <a:solidFill>
                  <a:srgbClr val="153F59"/>
                </a:solidFill>
              </a:defRPr>
            </a:pPr>
            <a:r>
              <a:rPr sz="2211" b="1">
                <a:solidFill>
                  <a:srgbClr val="153F59"/>
                </a:solidFill>
              </a:rPr>
              <a:t>Scan to access the methodological report</a:t>
            </a:r>
          </a:p>
          <a:p xmlns:a="http://schemas.openxmlformats.org/drawingml/2006/main">
            <a:pPr algn="l">
              <a:defRPr sz="2211" b="1">
                <a:solidFill>
                  <a:srgbClr val="153F59"/>
                </a:solidFill>
              </a:defRPr>
            </a:pPr>
            <a:r>
              <a:rPr sz="2211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26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7793D92-9EB5-4F86-B850-2C7113B6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5400000"/>
            <a:ext cx="68400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25" b="1">
                <a:solidFill>
                  <a:srgbClr val="102536"/>
                </a:solidFill>
              </a:defRPr>
            </a:pPr>
            <a:r>
              <a:rPr sz="4025" b="1">
                <a:solidFill>
                  <a:srgbClr val="102536"/>
                </a:solidFill>
              </a:rPr>
              <a:t>Discussion and Implications</a:t>
            </a:r>
          </a:p>
        </p:txBody>
      </p:sp>
      <p:sp>
        <p:nvSpPr>
          <p:cNvPr id="268" name="right-discussion">
            <a:extLst xmlns:a="http://schemas.openxmlformats.org/drawingml/2006/main">
              <a:ext uri="{FF2B5EF4-FFF2-40B4-BE49-F238E27FC236}">
                <a16:creationId xmlns:a16="http://schemas.microsoft.com/office/drawing/2014/main" id="{AD40E239-23AB-4FDB-8365-D0CB8F9C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6840000"/>
            <a:ext cx="7092000" cy="154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APPLIED DISCUSSION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Increased diagnosis may reflect higher occurrence, better diagnostic access, or both.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Stable recent attacks indicate that broader detection does not automatically mean better clinical control.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Lower medication use among diagnosed people requires caution: denominator, case mix and 95% CIs affect interpretation.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Functional burden matters economically: attacks and respiratory symptoms can increase absences, lost workdays, productivity loss and pressure on families and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BETA CI AND INFERENCE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State and subgroup proportions may involve few events and limits near 0 or 1.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Wald intervals can have unstable coverage and impossible limits.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Beta CIs respect the 0-1 scale and were used for proportions estimated with survey::svyciprop(method = "beta").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Year/state comparisons combine magnitude and 95% CI overlap.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ETL, OMOP AND ECONOMY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The workflow documents extraction, indicator treatment, sampling design and reproducible visualization.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PNS is not a longitudinal clinical database, but can serve as a population reference layer for OMOP/OHDSI.</a:t>
            </a:r>
          </a:p>
          <a:p xmlns:a="http://schemas.openxmlformats.org/drawingml/2006/main">
            <a:pPr algn="l">
              <a:defRPr sz="2027" b="0">
                <a:solidFill>
                  <a:srgbClr val="102536"/>
                </a:solidFill>
              </a:defRPr>
            </a:pPr>
            <a:r>
              <a:rPr sz="2027" b="0">
                <a:solidFill>
                  <a:srgbClr val="102536"/>
                </a:solidFill>
              </a:rPr>
              <a:t>• Harmonized indicators support interoperability, comparison with care databases and policy prioritization.</a:t>
            </a:r>
          </a:p>
        </p:txBody>
      </p:sp>
      <p:sp>
        <p:nvSpPr>
          <p:cNvPr id="269" name="refs-heading">
            <a:extLst xmlns:a="http://schemas.openxmlformats.org/drawingml/2006/main">
              <a:ext uri="{FF2B5EF4-FFF2-40B4-BE49-F238E27FC236}">
                <a16:creationId xmlns:a16="http://schemas.microsoft.com/office/drawing/2014/main" id="{45D98CED-3350-4C40-A2C8-70B5AFC0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2788000"/>
            <a:ext cx="72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53" b="1">
                <a:solidFill>
                  <a:srgbClr val="153F59"/>
                </a:solidFill>
              </a:defRPr>
            </a:pPr>
            <a:r>
              <a:rPr sz="2353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270" name="refs-left">
            <a:extLst xmlns:a="http://schemas.openxmlformats.org/drawingml/2006/main">
              <a:ext uri="{FF2B5EF4-FFF2-40B4-BE49-F238E27FC236}">
                <a16:creationId xmlns:a16="http://schemas.microsoft.com/office/drawing/2014/main" id="{B8C37FB5-90AD-423C-9B9A-61ACE6C1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271" name="refs-right">
            <a:extLst xmlns:a="http://schemas.openxmlformats.org/drawingml/2006/main">
              <a:ext uri="{FF2B5EF4-FFF2-40B4-BE49-F238E27FC236}">
                <a16:creationId xmlns:a16="http://schemas.microsoft.com/office/drawing/2014/main" id="{60CC5D65-7F58-4CD2-8DB7-80CA9DC9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272" name="author-footer">
            <a:extLst xmlns:a="http://schemas.openxmlformats.org/drawingml/2006/main">
              <a:ext uri="{FF2B5EF4-FFF2-40B4-BE49-F238E27FC236}">
                <a16:creationId xmlns:a16="http://schemas.microsoft.com/office/drawing/2014/main" id="{99219B44-21F5-4E47-8A59-2581098F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7600" y="28080000"/>
            <a:ext cx="4248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41" b="0">
                <a:solidFill>
                  <a:srgbClr val="102536"/>
                </a:solidFill>
              </a:defRPr>
            </a:pPr>
            <a:r>
              <a:rPr sz="2041" b="0">
                <a:solidFill>
                  <a:srgbClr val="102536"/>
                </a:solidFill>
              </a:rPr>
              <a:t>I. Dube; M. E. L. Silva</a:t>
            </a:r>
          </a:p>
          <a:p xmlns:a="http://schemas.openxmlformats.org/drawingml/2006/main">
            <a:pPr algn="l">
              <a:defRPr sz="2041" b="0">
                <a:solidFill>
                  <a:srgbClr val="102536"/>
                </a:solidFill>
              </a:defRPr>
            </a:pPr>
            <a:r>
              <a:rPr sz="2041" b="0">
                <a:solidFill>
                  <a:srgbClr val="102536"/>
                </a:solidFill>
              </a:rPr>
              <a:t>PNS 2013-2019 | Brazil</a:t>
            </a:r>
          </a:p>
        </p:txBody>
      </p:sp>
    </p:spTree>
    <p:extLst>
      <p:ext uri="{BB962C8B-B14F-4D97-AF65-F5344CB8AC3E}">
        <p14:creationId xmlns:p14="http://schemas.microsoft.com/office/powerpoint/2010/main" val="4198423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2026-07-22T11:01:39.1510000Z</dcterms:created>
  <dcterms:modified xsi:type="dcterms:W3CDTF">2026-07-22T11:01:39.1510000Z</dcterms:modified>
</coreProperties>
</file>