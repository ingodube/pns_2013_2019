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46afcc73c64349" /><Relationship Type="http://schemas.openxmlformats.org/officeDocument/2006/relationships/extended-properties" Target="/docProps/app.xml" Id="Rb618ef732635425c" /><Relationship Type="http://schemas.openxmlformats.org/officeDocument/2006/relationships/officeDocument" Target="/ppt/presentation.xml" Id="Rbe296e9c70aa4f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da595fdf254012"/>
  </p:sldMasterIdLst>
  <p:notesMasterIdLst>
    <p:notesMasterId xmlns:r="http://schemas.openxmlformats.org/officeDocument/2006/relationships" r:id="Ra3820a20b54d49f1"/>
  </p:notesMasterIdLst>
  <p:sldIdLst>
    <p:sldId xmlns:r="http://schemas.openxmlformats.org/officeDocument/2006/relationships" id="256" r:id="Rf14fb708bc264b7f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2edd1b55a74766" /><Relationship Type="http://schemas.openxmlformats.org/officeDocument/2006/relationships/slideMaster" Target="/ppt/slideMasters/slideMaster1.xml" Id="R8ada595fdf254012" /><Relationship Type="http://schemas.openxmlformats.org/officeDocument/2006/relationships/notesMaster" Target="/ppt/notesMasters/notesMaster1.xml" Id="Ra3820a20b54d49f1" /><Relationship Type="http://schemas.openxmlformats.org/officeDocument/2006/relationships/presProps" Target="/ppt/presProps.xml" Id="R48cc6a1e1b1b4432" /><Relationship Type="http://schemas.openxmlformats.org/officeDocument/2006/relationships/tableStyles" Target="/ppt/tableStyles.xml" Id="R055ae23c19cc44fc" /><Relationship Type="http://schemas.openxmlformats.org/officeDocument/2006/relationships/slide" Target="/ppt/slides/slide1.xml" Id="Rf14fb708bc264b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e2024cc8394f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73127124554227" /><Relationship Type="http://schemas.openxmlformats.org/officeDocument/2006/relationships/notesMaster" Target="/ppt/notesMasters/notesMaster1.xml" Id="Rd7e4a8baa5e54a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bdd5fa9f294b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0e121890754558" /><Relationship Type="http://schemas.openxmlformats.org/officeDocument/2006/relationships/slideLayout" Target="/ppt/slideLayouts/slideLayout1.xml" Id="R23e58f06122d43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e58f06122d43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df6c7309a42e0" /><Relationship Type="http://schemas.openxmlformats.org/officeDocument/2006/relationships/image" Target="/ppt/media/image.png" Id="R10fe8035664d4b84" /><Relationship Type="http://schemas.openxmlformats.org/officeDocument/2006/relationships/image" Target="/ppt/media/image2.png" Id="R5596aa549d6b4f72" /><Relationship Type="http://schemas.openxmlformats.org/officeDocument/2006/relationships/image" Target="/ppt/media/image3.png" Id="Rd485346d649048b6" /><Relationship Type="http://schemas.openxmlformats.org/officeDocument/2006/relationships/image" Target="/ppt/media/image4.png" Id="Raf9be7e708f94b94" /><Relationship Type="http://schemas.openxmlformats.org/officeDocument/2006/relationships/image" Target="/ppt/media/image5.png" Id="R828062c8adea47db" /><Relationship Type="http://schemas.openxmlformats.org/officeDocument/2006/relationships/image" Target="/ppt/media/image6.png" Id="R4f738cbadf1d4ac5" /><Relationship Type="http://schemas.openxmlformats.org/officeDocument/2006/relationships/image" Target="/ppt/media/image7.png" Id="Rf0ec58bd9175458b" /><Relationship Type="http://schemas.openxmlformats.org/officeDocument/2006/relationships/image" Target="/ppt/media/image8.png" Id="R75bcb6c6532d4acc" /><Relationship Type="http://schemas.openxmlformats.org/officeDocument/2006/relationships/notesSlide" Target="/ppt/notesSlides/notesSlide1.xml" Id="R5a422480b9f343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e8035664d4b84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6aa549d6b4f72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85346d649048b6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A37EC5BE-B84C-438D-A717-07894D4F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E614DFB2-0F89-4140-927A-1239DE34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19157170-E41D-4E1A-860F-1D59C7C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Asthma diagnosis increased in Brazil; respiratory absenteeism shows potential productivity loss and economic impact.</a:t>
            </a:r>
          </a:p>
        </p:txBody>
      </p:sp>
      <p:sp>
        <p:nvSpPr>
          <p:cNvPr id="7" name="1-Method in one line-box">
            <a:extLst xmlns:a="http://schemas.openxmlformats.org/drawingml/2006/main">
              <a:ext uri="{FF2B5EF4-FFF2-40B4-BE49-F238E27FC236}">
                <a16:creationId xmlns:a16="http://schemas.microsoft.com/office/drawing/2014/main" id="{2B1A9B64-A63D-4298-8B22-12B50404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ethod in one line-head">
            <a:extLst xmlns:a="http://schemas.openxmlformats.org/drawingml/2006/main">
              <a:ext uri="{FF2B5EF4-FFF2-40B4-BE49-F238E27FC236}">
                <a16:creationId xmlns:a16="http://schemas.microsoft.com/office/drawing/2014/main" id="{306A5864-D34D-4F3E-A7AD-843B4903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ethod in one line-title">
            <a:extLst xmlns:a="http://schemas.openxmlformats.org/drawingml/2006/main">
              <a:ext uri="{FF2B5EF4-FFF2-40B4-BE49-F238E27FC236}">
                <a16:creationId xmlns:a16="http://schemas.microsoft.com/office/drawing/2014/main" id="{441699A9-E1BE-4B15-9138-052CA1EA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Method in one line</a:t>
            </a:r>
          </a:p>
        </p:txBody>
      </p:sp>
      <p:sp>
        <p:nvSpPr>
          <p:cNvPr id="10" name="1-Method in one line-body">
            <a:extLst xmlns:a="http://schemas.openxmlformats.org/drawingml/2006/main">
              <a:ext uri="{FF2B5EF4-FFF2-40B4-BE49-F238E27FC236}">
                <a16:creationId xmlns:a16="http://schemas.microsoft.com/office/drawing/2014/main" id="{2A8B129F-7F93-453A-9F21-530F1004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02E84914-16D9-4E09-A16A-5E23E4A1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A32E9AED-7930-41A4-A477-2C4D9200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F84B2327-0749-4A89-A188-CAE32143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14" name="2-Data and denominators-box">
            <a:extLst xmlns:a="http://schemas.openxmlformats.org/drawingml/2006/main">
              <a:ext uri="{FF2B5EF4-FFF2-40B4-BE49-F238E27FC236}">
                <a16:creationId xmlns:a16="http://schemas.microsoft.com/office/drawing/2014/main" id="{579C9E39-964B-4CF5-9E10-30DB00B4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ta and denominators-head">
            <a:extLst xmlns:a="http://schemas.openxmlformats.org/drawingml/2006/main">
              <a:ext uri="{FF2B5EF4-FFF2-40B4-BE49-F238E27FC236}">
                <a16:creationId xmlns:a16="http://schemas.microsoft.com/office/drawing/2014/main" id="{9D1F4150-1981-4679-9F5F-381C925B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ta and denominators-title">
            <a:extLst xmlns:a="http://schemas.openxmlformats.org/drawingml/2006/main">
              <a:ext uri="{FF2B5EF4-FFF2-40B4-BE49-F238E27FC236}">
                <a16:creationId xmlns:a16="http://schemas.microsoft.com/office/drawing/2014/main" id="{CE9A419B-3580-4573-A169-277F0E96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Data and denominators</a:t>
            </a:r>
          </a:p>
        </p:txBody>
      </p:sp>
      <p:sp>
        <p:nvSpPr>
          <p:cNvPr id="17" name="2-Data and denominators-body">
            <a:extLst xmlns:a="http://schemas.openxmlformats.org/drawingml/2006/main">
              <a:ext uri="{FF2B5EF4-FFF2-40B4-BE49-F238E27FC236}">
                <a16:creationId xmlns:a16="http://schemas.microsoft.com/office/drawing/2014/main" id="{4DD2DBBE-4BFA-4B13-A8C0-7B1914EE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3-Why beta CIs?-box">
            <a:extLst xmlns:a="http://schemas.openxmlformats.org/drawingml/2006/main">
              <a:ext uri="{FF2B5EF4-FFF2-40B4-BE49-F238E27FC236}">
                <a16:creationId xmlns:a16="http://schemas.microsoft.com/office/drawing/2014/main" id="{81397162-AB87-42E2-80A5-2C76517A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Why beta CIs?-head">
            <a:extLst xmlns:a="http://schemas.openxmlformats.org/drawingml/2006/main">
              <a:ext uri="{FF2B5EF4-FFF2-40B4-BE49-F238E27FC236}">
                <a16:creationId xmlns:a16="http://schemas.microsoft.com/office/drawing/2014/main" id="{5F079014-5C9E-4CD1-9F57-06B0FFF4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Why beta CIs?-title">
            <a:extLst xmlns:a="http://schemas.openxmlformats.org/drawingml/2006/main">
              <a:ext uri="{FF2B5EF4-FFF2-40B4-BE49-F238E27FC236}">
                <a16:creationId xmlns:a16="http://schemas.microsoft.com/office/drawing/2014/main" id="{EA1F153F-399E-4043-85AB-C7C11502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Why beta CIs?</a:t>
            </a:r>
          </a:p>
        </p:txBody>
      </p:sp>
      <p:sp>
        <p:nvSpPr>
          <p:cNvPr id="21" name="3-Why beta CIs?-body">
            <a:extLst xmlns:a="http://schemas.openxmlformats.org/drawingml/2006/main">
              <a:ext uri="{FF2B5EF4-FFF2-40B4-BE49-F238E27FC236}">
                <a16:creationId xmlns:a16="http://schemas.microsoft.com/office/drawing/2014/main" id="{886F9400-B1A8-4C70-A74E-2CE58923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22" name="4-ETL and interoperability-box">
            <a:extLst xmlns:a="http://schemas.openxmlformats.org/drawingml/2006/main">
              <a:ext uri="{FF2B5EF4-FFF2-40B4-BE49-F238E27FC236}">
                <a16:creationId xmlns:a16="http://schemas.microsoft.com/office/drawing/2014/main" id="{6C15C9A4-0FC0-4F0B-B888-79D9C36E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and interoperability-head">
            <a:extLst xmlns:a="http://schemas.openxmlformats.org/drawingml/2006/main">
              <a:ext uri="{FF2B5EF4-FFF2-40B4-BE49-F238E27FC236}">
                <a16:creationId xmlns:a16="http://schemas.microsoft.com/office/drawing/2014/main" id="{72A0C436-CC38-4927-A1F7-65CA88B6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and interoperability-title">
            <a:extLst xmlns:a="http://schemas.openxmlformats.org/drawingml/2006/main">
              <a:ext uri="{FF2B5EF4-FFF2-40B4-BE49-F238E27FC236}">
                <a16:creationId xmlns:a16="http://schemas.microsoft.com/office/drawing/2014/main" id="{6DB66DD0-731B-47A8-BBCD-63C22D13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and interoperability</a:t>
            </a:r>
          </a:p>
        </p:txBody>
      </p:sp>
      <p:sp>
        <p:nvSpPr>
          <p:cNvPr id="25" name="4-ETL and interoperability-body">
            <a:extLst xmlns:a="http://schemas.openxmlformats.org/drawingml/2006/main">
              <a:ext uri="{FF2B5EF4-FFF2-40B4-BE49-F238E27FC236}">
                <a16:creationId xmlns:a16="http://schemas.microsoft.com/office/drawing/2014/main" id="{19E81CA4-33B8-41BC-B388-DAB8C71C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19418887-6E00-4DC5-AF6D-CECF522B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4C9EB2CD-03EE-4B42-B4D8-33BB952D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diagnosis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3B1A7F83-7848-4E52-B074-1E7F8A6F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39C1162C-EA0D-4D15-BF06-2EBFCAA3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Increase with non-overlapping 95% CIs.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0CAC820D-B22E-42B0-B204-0062F348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DD18DEA2-FC70-4A94-BEC6-9F5B0B8D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work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7B1AC243-C68D-4F79-B487-A16283C3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15.2%; 4.8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42DECB49-3C0E-419D-A07B-5051A287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Respiratory burden affects workdays.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6508A0B7-DD24-4E33-9A60-A99A3217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D875C4CD-7936-48B8-97D2-B4FA79E1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medication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FD066432-AD49-408A-BBDD-45DF5BD2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E0AA9C00-923C-4433-A025-EBDA14948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use among asthmatics; 95% CIs guide caution.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078FAEE1-21F7-4416-BCBE-C3C84F9B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D831F4D4-6189-4F24-8FD6-77E6EBBE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be7e708f94b94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154855AF-2E0A-4633-9AE6-825357B8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1613E63B-AECC-4D56-81DF-D2BC8E0A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062c8adea47db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B670413F-8EBB-40F2-A86A-C6A0855B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Mean lost days by health reason in Brazil, highlighting respiratory causes,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3A6BC5B3-75D3-4D97-A625-1B1429B7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38cbadf1d4ac5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ion-box">
            <a:extLst xmlns:a="http://schemas.openxmlformats.org/drawingml/2006/main">
              <a:ext uri="{FF2B5EF4-FFF2-40B4-BE49-F238E27FC236}">
                <a16:creationId xmlns:a16="http://schemas.microsoft.com/office/drawing/2014/main" id="{279DD782-CC00-42F2-A69A-CCC1DEA9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ion-head">
            <a:extLst xmlns:a="http://schemas.openxmlformats.org/drawingml/2006/main">
              <a:ext uri="{FF2B5EF4-FFF2-40B4-BE49-F238E27FC236}">
                <a16:creationId xmlns:a16="http://schemas.microsoft.com/office/drawing/2014/main" id="{EC62A2EC-8F23-446E-A94D-39C57AEE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ion-title">
            <a:extLst xmlns:a="http://schemas.openxmlformats.org/drawingml/2006/main">
              <a:ext uri="{FF2B5EF4-FFF2-40B4-BE49-F238E27FC236}">
                <a16:creationId xmlns:a16="http://schemas.microsoft.com/office/drawing/2014/main" id="{D3217D52-F1DD-4E9C-8803-08D0F1AE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Discussion</a:t>
            </a:r>
          </a:p>
        </p:txBody>
      </p:sp>
      <p:sp>
        <p:nvSpPr>
          <p:cNvPr id="50" name="5-Discussion-body">
            <a:extLst xmlns:a="http://schemas.openxmlformats.org/drawingml/2006/main">
              <a:ext uri="{FF2B5EF4-FFF2-40B4-BE49-F238E27FC236}">
                <a16:creationId xmlns:a16="http://schemas.microsoft.com/office/drawing/2014/main" id="{40F3F5A8-2246-4BC8-9652-C901BEE8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Brazil: physician-diagnosed asthma increased from 4.41% in 2013 to 5.40% in 2019, with non-overlapping 95% CIs.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Respiratory causes, a category including asthma, bronchitis and pneumonia, accounted for 15.2% of health-related absenteeism.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Mean lost days for respiratory causes reached 4.8 days, indicating potential productivity cost.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Oral/inhaler medication use among people with asthma changed from 81.5% to 64.4%; interpret with 95% CIs and the diagnosed-group profile.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More diagnosed asthma expands the population at risk of attacks, work absence and lower productivity.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The respiratory category suggests asthma can contribute to lost workdays, household income pressure and reduced effective labor supply.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Better asthma control can have economic returns: fewer absences, fewer lost days and lower demand for acute care.</a:t>
            </a:r>
          </a:p>
        </p:txBody>
      </p:sp>
      <p:sp>
        <p:nvSpPr>
          <p:cNvPr id="51" name="6-Central conclusion-box">
            <a:extLst xmlns:a="http://schemas.openxmlformats.org/drawingml/2006/main">
              <a:ext uri="{FF2B5EF4-FFF2-40B4-BE49-F238E27FC236}">
                <a16:creationId xmlns:a16="http://schemas.microsoft.com/office/drawing/2014/main" id="{8064B8CC-D2FD-4F38-8516-22C704A3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entral conclusion-head">
            <a:extLst xmlns:a="http://schemas.openxmlformats.org/drawingml/2006/main">
              <a:ext uri="{FF2B5EF4-FFF2-40B4-BE49-F238E27FC236}">
                <a16:creationId xmlns:a16="http://schemas.microsoft.com/office/drawing/2014/main" id="{C0580B82-5B59-4B7B-B101-7B700AA9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entral conclusion-title">
            <a:extLst xmlns:a="http://schemas.openxmlformats.org/drawingml/2006/main">
              <a:ext uri="{FF2B5EF4-FFF2-40B4-BE49-F238E27FC236}">
                <a16:creationId xmlns:a16="http://schemas.microsoft.com/office/drawing/2014/main" id="{0B09E707-ED2C-4F56-AA2E-2B538022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Central conclusion</a:t>
            </a:r>
          </a:p>
        </p:txBody>
      </p:sp>
      <p:sp>
        <p:nvSpPr>
          <p:cNvPr id="54" name="6-Central conclusion-body">
            <a:extLst xmlns:a="http://schemas.openxmlformats.org/drawingml/2006/main">
              <a:ext uri="{FF2B5EF4-FFF2-40B4-BE49-F238E27FC236}">
                <a16:creationId xmlns:a16="http://schemas.microsoft.com/office/drawing/2014/main" id="{78B59DD8-603A-40A3-82FA-62603D06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Asthma should be treated as both a clinical and economic issue because it can affect productivity, income and the labor force.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Absenteeism results are aggregated respiratory estimates; they should not be read as asthma-only estimates.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48B738B6-120F-4214-B588-E2B39296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Health-related absenteeism in Brazil, highlighting respiratory causes,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4E115667-5D00-43FB-82C7-108BFFDC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c58bd9175458b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BFC05223-5456-4CBD-ACC8-2DEFB825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cb6c6532d4acc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977B54EA-87DB-406A-BE9C-201130A0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5B82C0EB-7D43-4F3A-B51B-6E2E479F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233B0604-2EBB-4DCE-B750-A3D74993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63" name="references-body-left">
            <a:extLst xmlns:a="http://schemas.openxmlformats.org/drawingml/2006/main">
              <a:ext uri="{FF2B5EF4-FFF2-40B4-BE49-F238E27FC236}">
                <a16:creationId xmlns:a16="http://schemas.microsoft.com/office/drawing/2014/main" id="{5B81CCD5-7703-4B69-BFA7-A72F30E9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427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64" name="references-body-right">
            <a:extLst xmlns:a="http://schemas.openxmlformats.org/drawingml/2006/main">
              <a:ext uri="{FF2B5EF4-FFF2-40B4-BE49-F238E27FC236}">
                <a16:creationId xmlns:a16="http://schemas.microsoft.com/office/drawing/2014/main" id="{617868D5-6225-4B73-A46D-60CABF87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2649200"/>
            <a:ext cx="42767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68" b="0">
                <a:solidFill>
                  <a:srgbClr val="102536"/>
                </a:solidFill>
              </a:defRPr>
            </a:pPr>
            <a:r>
              <a:rPr sz="36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9485771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2026-07-21T22:30:39.9750000Z</dcterms:created>
  <dcterms:modified xsi:type="dcterms:W3CDTF">2026-07-21T22:30:39.9750000Z</dcterms:modified>
</coreProperties>
</file>