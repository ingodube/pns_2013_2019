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8866f119ae646ec" /><Relationship Type="http://schemas.openxmlformats.org/officeDocument/2006/relationships/extended-properties" Target="/docProps/app.xml" Id="Rb7d3404576504f69" /><Relationship Type="http://schemas.openxmlformats.org/officeDocument/2006/relationships/officeDocument" Target="/ppt/presentation.xml" Id="Refae37fa0c494fd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45e389003e8405d"/>
  </p:sldMasterIdLst>
  <p:notesMasterIdLst>
    <p:notesMasterId xmlns:r="http://schemas.openxmlformats.org/officeDocument/2006/relationships" r:id="Re89ef93af4f0452c"/>
  </p:notesMasterIdLst>
  <p:sldIdLst>
    <p:sldId xmlns:r="http://schemas.openxmlformats.org/officeDocument/2006/relationships" id="256" r:id="R8c49f3595e414926"/>
  </p:sldIdLst>
  <p:sldSz cx="9525000" cy="1346835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d1a493baf374954" /><Relationship Type="http://schemas.openxmlformats.org/officeDocument/2006/relationships/slideMaster" Target="/ppt/slideMasters/slideMaster1.xml" Id="R045e389003e8405d" /><Relationship Type="http://schemas.openxmlformats.org/officeDocument/2006/relationships/notesMaster" Target="/ppt/notesMasters/notesMaster1.xml" Id="Re89ef93af4f0452c" /><Relationship Type="http://schemas.openxmlformats.org/officeDocument/2006/relationships/presProps" Target="/ppt/presProps.xml" Id="Rb9c6ea23b8984f10" /><Relationship Type="http://schemas.openxmlformats.org/officeDocument/2006/relationships/tableStyles" Target="/ppt/tableStyles.xml" Id="Rb526af6142fa4983" /><Relationship Type="http://schemas.openxmlformats.org/officeDocument/2006/relationships/slide" Target="/ppt/slides/slide1.xml" Id="R8c49f3595e41492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ffe3d99b4174b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3340899f4db4bd9" /><Relationship Type="http://schemas.openxmlformats.org/officeDocument/2006/relationships/notesMaster" Target="/ppt/notesMasters/notesMaster1.xml" Id="R0d4e9ada4e744a1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9aae0ec94c46e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c97979a7f92408e" /><Relationship Type="http://schemas.openxmlformats.org/officeDocument/2006/relationships/slideLayout" Target="/ppt/slideLayouts/slideLayout1.xml" Id="Ra72a272a019d43e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2a272a019d43e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af3c67549f4f85" /><Relationship Type="http://schemas.openxmlformats.org/officeDocument/2006/relationships/image" Target="/ppt/media/image.png" Id="Rf26e89fc9e714572" /><Relationship Type="http://schemas.openxmlformats.org/officeDocument/2006/relationships/image" Target="/ppt/media/image2.png" Id="R676009da35564af1" /><Relationship Type="http://schemas.openxmlformats.org/officeDocument/2006/relationships/image" Target="/ppt/media/image3.png" Id="R4667d15553164d26" /><Relationship Type="http://schemas.openxmlformats.org/officeDocument/2006/relationships/image" Target="/ppt/media/image4.png" Id="R702e602df57c4000" /><Relationship Type="http://schemas.openxmlformats.org/officeDocument/2006/relationships/image" Target="/ppt/media/image5.png" Id="R889414437750401b" /><Relationship Type="http://schemas.openxmlformats.org/officeDocument/2006/relationships/image" Target="/ppt/media/image6.png" Id="Raa8e2554f71c462b" /><Relationship Type="http://schemas.openxmlformats.org/officeDocument/2006/relationships/image" Target="/ppt/media/image7.png" Id="Ra07102501ccb4e30" /><Relationship Type="http://schemas.openxmlformats.org/officeDocument/2006/relationships/image" Target="/ppt/media/image8.png" Id="R25f414fb4eb246fc" /><Relationship Type="http://schemas.openxmlformats.org/officeDocument/2006/relationships/notesSlide" Target="/ppt/notesSlides/notesSlide1.xml" Id="R952dd74232874ef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6e89fc9e714572"/>
          <a:srcRect xmlns:a="http://schemas.openxmlformats.org/drawingml/2006/main" l="0" t="38622" r="0" b="38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000" cy="1219200"/>
          </a:xfrm>
          <a:prstGeom xmlns:a="http://schemas.openxmlformats.org/drawingml/2006/main" prst="rect">
            <a:avLst/>
          </a:prstGeom>
        </p:spPr>
      </p:pic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6009da35564af1"/>
          <a:stretch xmlns:a="http://schemas.openxmlformats.org/drawingml/2006/main"/>
        </p:blipFill>
        <p:spPr>
          <a:xfrm xmlns:a="http://schemas.openxmlformats.org/drawingml/2006/main">
            <a:off x="323850" y="265374"/>
            <a:ext cx="2952750" cy="612252"/>
          </a:xfrm>
          <a:prstGeom xmlns:a="http://schemas.openxmlformats.org/drawingml/2006/main" prst="rect">
            <a:avLst/>
          </a:prstGeom>
        </p:spPr>
      </p:pic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67d15553164d26"/>
          <a:stretch xmlns:a="http://schemas.openxmlformats.org/drawingml/2006/main"/>
        </p:blipFill>
        <p:spPr>
          <a:xfrm xmlns:a="http://schemas.openxmlformats.org/drawingml/2006/main">
            <a:off x="3905250" y="425056"/>
            <a:ext cx="4953000" cy="311937"/>
          </a:xfrm>
          <a:prstGeom xmlns:a="http://schemas.openxmlformats.org/drawingml/2006/main" prst="rect">
            <a:avLst/>
          </a:prstGeom>
        </p:spPr>
      </p:pic>
      <p:sp>
        <p:nvSpPr>
          <p:cNvPr id="4" name="morrison-title">
            <a:extLst xmlns:a="http://schemas.openxmlformats.org/drawingml/2006/main">
              <a:ext uri="{FF2B5EF4-FFF2-40B4-BE49-F238E27FC236}">
                <a16:creationId xmlns:a16="http://schemas.microsoft.com/office/drawing/2014/main" id="{DCE4295E-A249-4990-9429-B58190A2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52550"/>
            <a:ext cx="8839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3F59"/>
                </a:solidFill>
              </a:defRPr>
            </a:pPr>
            <a:r>
              <a:rPr sz="1875" b="1">
                <a:solidFill>
                  <a:srgbClr val="153F59"/>
                </a:solidFill>
              </a:rPr>
              <a:t>Implementing the National Health Survey Sampling Design in R: a case study on asthma in Brazil</a:t>
            </a:r>
          </a:p>
        </p:txBody>
      </p:sp>
      <p:sp>
        <p:nvSpPr>
          <p:cNvPr id="5" name="morrison-authors">
            <a:extLst xmlns:a="http://schemas.openxmlformats.org/drawingml/2006/main">
              <a:ext uri="{FF2B5EF4-FFF2-40B4-BE49-F238E27FC236}">
                <a16:creationId xmlns:a16="http://schemas.microsoft.com/office/drawing/2014/main" id="{63D644ED-C4EC-4734-B0EE-05D5CC89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962150"/>
            <a:ext cx="883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6372"/>
                </a:solidFill>
              </a:defRPr>
            </a:pPr>
            <a:r>
              <a:rPr sz="825" b="0">
                <a:solidFill>
                  <a:srgbClr val="4F6372"/>
                </a:solidFill>
              </a:rPr>
              <a:t>I. Dube; M. E. L. Silva | Observational data management</a:t>
            </a:r>
          </a:p>
        </p:txBody>
      </p:sp>
      <p:sp>
        <p:nvSpPr>
          <p:cNvPr id="6" name="central-message">
            <a:extLst xmlns:a="http://schemas.openxmlformats.org/drawingml/2006/main">
              <a:ext uri="{FF2B5EF4-FFF2-40B4-BE49-F238E27FC236}">
                <a16:creationId xmlns:a16="http://schemas.microsoft.com/office/drawing/2014/main" id="{4D7C6FEC-E0E5-42D6-B272-7079DA65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8153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Physician-diagnosed asthma increased in Brazil; attacks and medication-use indicators did not show proportional improvement in disease control.</a:t>
            </a:r>
          </a:p>
        </p:txBody>
      </p:sp>
      <p:sp>
        <p:nvSpPr>
          <p:cNvPr id="7" name="1-Method in one line-box">
            <a:extLst xmlns:a="http://schemas.openxmlformats.org/drawingml/2006/main">
              <a:ext uri="{FF2B5EF4-FFF2-40B4-BE49-F238E27FC236}">
                <a16:creationId xmlns:a16="http://schemas.microsoft.com/office/drawing/2014/main" id="{0237A171-62E3-4953-9241-2A206AAA5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8" name="1-Method in one line-head">
            <a:extLst xmlns:a="http://schemas.openxmlformats.org/drawingml/2006/main">
              <a:ext uri="{FF2B5EF4-FFF2-40B4-BE49-F238E27FC236}">
                <a16:creationId xmlns:a16="http://schemas.microsoft.com/office/drawing/2014/main" id="{E4EB831B-65AC-4A64-ABCB-0D1F60B73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9" name="1-Method in one line-title">
            <a:extLst xmlns:a="http://schemas.openxmlformats.org/drawingml/2006/main">
              <a:ext uri="{FF2B5EF4-FFF2-40B4-BE49-F238E27FC236}">
                <a16:creationId xmlns:a16="http://schemas.microsoft.com/office/drawing/2014/main" id="{BD0CA31E-CCCA-4986-B635-6788C131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5277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1. Method in one line</a:t>
            </a:r>
          </a:p>
        </p:txBody>
      </p:sp>
      <p:sp>
        <p:nvSpPr>
          <p:cNvPr id="10" name="1-Method in one line-body">
            <a:extLst xmlns:a="http://schemas.openxmlformats.org/drawingml/2006/main">
              <a:ext uri="{FF2B5EF4-FFF2-40B4-BE49-F238E27FC236}">
                <a16:creationId xmlns:a16="http://schemas.microsoft.com/office/drawing/2014/main" id="{2F3D4FB6-6752-446A-849F-8C6D661F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48050"/>
            <a:ext cx="24955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The design was built with PNSIBGE::pns_design(), preserving PSU, strata and calibrated selected-resident weights.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Estimation uses the survey package for proportions, means, totals and rates.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Rates per 100,000 rescale weighted proportions while preserving uncertainty from the complex design.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Lonely PSUs and small domains require explicit inferential choices.</a:t>
            </a:r>
          </a:p>
        </p:txBody>
      </p:sp>
      <p:sp>
        <p:nvSpPr>
          <p:cNvPr id="11" name="morrison-formula-box">
            <a:extLst xmlns:a="http://schemas.openxmlformats.org/drawingml/2006/main">
              <a:ext uri="{FF2B5EF4-FFF2-40B4-BE49-F238E27FC236}">
                <a16:creationId xmlns:a16="http://schemas.microsoft.com/office/drawing/2014/main" id="{F9C17C9F-6DC7-47E4-84D6-96A5F3D0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10150"/>
            <a:ext cx="26860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2" name="morrison-formula-title">
            <a:extLst xmlns:a="http://schemas.openxmlformats.org/drawingml/2006/main">
              <a:ext uri="{FF2B5EF4-FFF2-40B4-BE49-F238E27FC236}">
                <a16:creationId xmlns:a16="http://schemas.microsoft.com/office/drawing/2014/main" id="{DD853855-C9B0-4937-AA36-9E65C251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67300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3F59"/>
                </a:solidFill>
              </a:defRPr>
            </a:pPr>
            <a:r>
              <a:rPr sz="900" b="1">
                <a:solidFill>
                  <a:srgbClr val="153F59"/>
                </a:solidFill>
              </a:rPr>
              <a:t>Estimators and formulas</a:t>
            </a:r>
          </a:p>
        </p:txBody>
      </p:sp>
      <p:sp>
        <p:nvSpPr>
          <p:cNvPr id="13" name="morrison-formula">
            <a:extLst xmlns:a="http://schemas.openxmlformats.org/drawingml/2006/main">
              <a:ext uri="{FF2B5EF4-FFF2-40B4-BE49-F238E27FC236}">
                <a16:creationId xmlns:a16="http://schemas.microsoft.com/office/drawing/2014/main" id="{BC8D8BAA-C015-49A0-B783-0B972226C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76850"/>
            <a:ext cx="24955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p̂ = Σᵢ wᵢyᵢ / Σᵢ wᵢ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wᵢ = sampling weight; yᵢ = binary indicator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% = 100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rate₁₀₀k = 100000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CI₉₅%(p̂) = survey::svyciprop(method = "beta")</a:t>
            </a:r>
          </a:p>
        </p:txBody>
      </p:sp>
      <p:sp>
        <p:nvSpPr>
          <p:cNvPr id="14" name="2-Data and denominators-box">
            <a:extLst xmlns:a="http://schemas.openxmlformats.org/drawingml/2006/main">
              <a:ext uri="{FF2B5EF4-FFF2-40B4-BE49-F238E27FC236}">
                <a16:creationId xmlns:a16="http://schemas.microsoft.com/office/drawing/2014/main" id="{073ED0F5-C112-419E-8907-F24A4A851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5" name="2-Data and denominators-head">
            <a:extLst xmlns:a="http://schemas.openxmlformats.org/drawingml/2006/main">
              <a:ext uri="{FF2B5EF4-FFF2-40B4-BE49-F238E27FC236}">
                <a16:creationId xmlns:a16="http://schemas.microsoft.com/office/drawing/2014/main" id="{A1BBF2DF-2884-4256-B8E5-36C448578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6" name="2-Data and denominators-title">
            <a:extLst xmlns:a="http://schemas.openxmlformats.org/drawingml/2006/main">
              <a:ext uri="{FF2B5EF4-FFF2-40B4-BE49-F238E27FC236}">
                <a16:creationId xmlns:a16="http://schemas.microsoft.com/office/drawing/2014/main" id="{37E69782-D12D-4291-865E-C9B0E86D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008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2. Data and denominators</a:t>
            </a:r>
          </a:p>
        </p:txBody>
      </p:sp>
      <p:sp>
        <p:nvSpPr>
          <p:cNvPr id="17" name="2-Data and denominators-body">
            <a:extLst xmlns:a="http://schemas.openxmlformats.org/drawingml/2006/main">
              <a:ext uri="{FF2B5EF4-FFF2-40B4-BE49-F238E27FC236}">
                <a16:creationId xmlns:a16="http://schemas.microsoft.com/office/drawing/2014/main" id="{40553B3A-9279-4A35-A76A-41D97F396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896100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Analytical unit: selected resident from PNS.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Core variables: Q074 physician-diagnosed asthma; Q076 recent attack; Q07701/Q07704/Q07708 medication use; P050 smoking.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Denominators vary by indicator: general population, people with asthma, people with asthma and attack, or valid responses.</a:t>
            </a:r>
          </a:p>
        </p:txBody>
      </p:sp>
      <p:sp>
        <p:nvSpPr>
          <p:cNvPr id="18" name="3-Why beta CIs?-box">
            <a:extLst xmlns:a="http://schemas.openxmlformats.org/drawingml/2006/main">
              <a:ext uri="{FF2B5EF4-FFF2-40B4-BE49-F238E27FC236}">
                <a16:creationId xmlns:a16="http://schemas.microsoft.com/office/drawing/2014/main" id="{06166DAE-8DA7-46A5-9A6F-03322F59E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9" name="3-Why beta CIs?-head">
            <a:extLst xmlns:a="http://schemas.openxmlformats.org/drawingml/2006/main">
              <a:ext uri="{FF2B5EF4-FFF2-40B4-BE49-F238E27FC236}">
                <a16:creationId xmlns:a16="http://schemas.microsoft.com/office/drawing/2014/main" id="{B1AD9B95-8AEF-4FB3-AA52-829075E57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0" name="3-Why beta CIs?-title">
            <a:extLst xmlns:a="http://schemas.openxmlformats.org/drawingml/2006/main">
              <a:ext uri="{FF2B5EF4-FFF2-40B4-BE49-F238E27FC236}">
                <a16:creationId xmlns:a16="http://schemas.microsoft.com/office/drawing/2014/main" id="{DE37D351-9CAC-4D55-BD01-CCB6C0FC9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48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3. Why beta CIs?</a:t>
            </a:r>
          </a:p>
        </p:txBody>
      </p:sp>
      <p:sp>
        <p:nvSpPr>
          <p:cNvPr id="21" name="3-Why beta CIs?-body">
            <a:extLst xmlns:a="http://schemas.openxmlformats.org/drawingml/2006/main">
              <a:ext uri="{FF2B5EF4-FFF2-40B4-BE49-F238E27FC236}">
                <a16:creationId xmlns:a16="http://schemas.microsoft.com/office/drawing/2014/main" id="{880F927C-B6F5-4E4D-9B92-B219DAAD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34390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Wald intervals can have unstable coverage for low/high proportions or domains with few events.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The beta CI from survey::svyciprop(method = "beta") respects the 0-1 scale and reduces impossible limits.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Year/state comparisons were interpreted through magnitude and 95% CI overlap, not bar height alone.</a:t>
            </a:r>
          </a:p>
        </p:txBody>
      </p:sp>
      <p:sp>
        <p:nvSpPr>
          <p:cNvPr id="22" name="4-ETL and interoperability-box">
            <a:extLst xmlns:a="http://schemas.openxmlformats.org/drawingml/2006/main">
              <a:ext uri="{FF2B5EF4-FFF2-40B4-BE49-F238E27FC236}">
                <a16:creationId xmlns:a16="http://schemas.microsoft.com/office/drawing/2014/main" id="{AAB92290-49A6-439C-9555-4A68E1C53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3" name="4-ETL and interoperability-head">
            <a:extLst xmlns:a="http://schemas.openxmlformats.org/drawingml/2006/main">
              <a:ext uri="{FF2B5EF4-FFF2-40B4-BE49-F238E27FC236}">
                <a16:creationId xmlns:a16="http://schemas.microsoft.com/office/drawing/2014/main" id="{E9CED5D8-5EC3-4D53-9379-7FA1477DA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4" name="4-ETL and interoperability-title">
            <a:extLst xmlns:a="http://schemas.openxmlformats.org/drawingml/2006/main">
              <a:ext uri="{FF2B5EF4-FFF2-40B4-BE49-F238E27FC236}">
                <a16:creationId xmlns:a16="http://schemas.microsoft.com/office/drawing/2014/main" id="{D6DA139E-4EEA-444B-8D74-FB6A09A30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572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4. ETL and interoperability</a:t>
            </a:r>
          </a:p>
        </p:txBody>
      </p:sp>
      <p:sp>
        <p:nvSpPr>
          <p:cNvPr id="25" name="4-ETL and interoperability-body">
            <a:extLst xmlns:a="http://schemas.openxmlformats.org/drawingml/2006/main">
              <a:ext uri="{FF2B5EF4-FFF2-40B4-BE49-F238E27FC236}">
                <a16:creationId xmlns:a16="http://schemas.microsoft.com/office/drawing/2014/main" id="{7E226686-2519-46B9-A6F8-606390D50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8679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The analytical workflow follows ETL logic: extract microdata, transform variables and load reproducible analytical tables.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PNS is not a longitudinal clinical database, but it can act as a population reference layer.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OMOP/OHDSI offers principles for standardization, vocabularies and reproducibility for future comparison with health-care databases.</a:t>
            </a:r>
          </a:p>
        </p:txBody>
      </p:sp>
      <p:sp>
        <p:nvSpPr>
          <p:cNvPr id="26" name="m-prev-metric">
            <a:extLst xmlns:a="http://schemas.openxmlformats.org/drawingml/2006/main">
              <a:ext uri="{FF2B5EF4-FFF2-40B4-BE49-F238E27FC236}">
                <a16:creationId xmlns:a16="http://schemas.microsoft.com/office/drawing/2014/main" id="{D72B7883-25BF-4E06-80FE-538E0EE7E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7" name="m-prev-metric-title">
            <a:extLst xmlns:a="http://schemas.openxmlformats.org/drawingml/2006/main">
              <a:ext uri="{FF2B5EF4-FFF2-40B4-BE49-F238E27FC236}">
                <a16:creationId xmlns:a16="http://schemas.microsoft.com/office/drawing/2014/main" id="{D0DD8C6F-A70C-4AF9-8F92-5BB841F5C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Diagnosis</a:t>
            </a:r>
          </a:p>
        </p:txBody>
      </p:sp>
      <p:sp>
        <p:nvSpPr>
          <p:cNvPr id="28" name="m-prev-metric-value">
            <a:extLst xmlns:a="http://schemas.openxmlformats.org/drawingml/2006/main">
              <a:ext uri="{FF2B5EF4-FFF2-40B4-BE49-F238E27FC236}">
                <a16:creationId xmlns:a16="http://schemas.microsoft.com/office/drawing/2014/main" id="{304945B9-0D14-4B7F-8901-6ED464C2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4.41%→5.40%</a:t>
            </a:r>
          </a:p>
        </p:txBody>
      </p:sp>
      <p:sp>
        <p:nvSpPr>
          <p:cNvPr id="29" name="m-prev-metric-note">
            <a:extLst xmlns:a="http://schemas.openxmlformats.org/drawingml/2006/main">
              <a:ext uri="{FF2B5EF4-FFF2-40B4-BE49-F238E27FC236}">
                <a16:creationId xmlns:a16="http://schemas.microsoft.com/office/drawing/2014/main" id="{FA581E86-4658-440A-B00B-A00EAE02E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National increase with non-overlapping 95% CIs.</a:t>
            </a:r>
          </a:p>
        </p:txBody>
      </p:sp>
      <p:sp>
        <p:nvSpPr>
          <p:cNvPr id="30" name="m-crisis-metric">
            <a:extLst xmlns:a="http://schemas.openxmlformats.org/drawingml/2006/main">
              <a:ext uri="{FF2B5EF4-FFF2-40B4-BE49-F238E27FC236}">
                <a16:creationId xmlns:a16="http://schemas.microsoft.com/office/drawing/2014/main" id="{D9CA2E19-DE1B-46DC-820A-ABFB94E51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1" name="m-crisis-metric-title">
            <a:extLst xmlns:a="http://schemas.openxmlformats.org/drawingml/2006/main">
              <a:ext uri="{FF2B5EF4-FFF2-40B4-BE49-F238E27FC236}">
                <a16:creationId xmlns:a16="http://schemas.microsoft.com/office/drawing/2014/main" id="{CBFD7B0B-C8E9-47AD-BC9F-6DB38359F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Attacks</a:t>
            </a:r>
          </a:p>
        </p:txBody>
      </p:sp>
      <p:sp>
        <p:nvSpPr>
          <p:cNvPr id="32" name="m-crisis-metric-value">
            <a:extLst xmlns:a="http://schemas.openxmlformats.org/drawingml/2006/main">
              <a:ext uri="{FF2B5EF4-FFF2-40B4-BE49-F238E27FC236}">
                <a16:creationId xmlns:a16="http://schemas.microsoft.com/office/drawing/2014/main" id="{15A4F5BE-4E71-4551-B390-4D117E331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38.3%→37.7%</a:t>
            </a:r>
          </a:p>
        </p:txBody>
      </p:sp>
      <p:sp>
        <p:nvSpPr>
          <p:cNvPr id="33" name="m-crisis-metric-note">
            <a:extLst xmlns:a="http://schemas.openxmlformats.org/drawingml/2006/main">
              <a:ext uri="{FF2B5EF4-FFF2-40B4-BE49-F238E27FC236}">
                <a16:creationId xmlns:a16="http://schemas.microsoft.com/office/drawing/2014/main" id="{F674BD3D-FB89-4CF2-B74B-02B37C214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No proportional improvement in control.</a:t>
            </a:r>
          </a:p>
        </p:txBody>
      </p:sp>
      <p:sp>
        <p:nvSpPr>
          <p:cNvPr id="34" name="m-meds-metric">
            <a:extLst xmlns:a="http://schemas.openxmlformats.org/drawingml/2006/main">
              <a:ext uri="{FF2B5EF4-FFF2-40B4-BE49-F238E27FC236}">
                <a16:creationId xmlns:a16="http://schemas.microsoft.com/office/drawing/2014/main" id="{1ABCAFF5-5AB6-4C62-B5B3-43B310A57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5" name="m-meds-metric-title">
            <a:extLst xmlns:a="http://schemas.openxmlformats.org/drawingml/2006/main">
              <a:ext uri="{FF2B5EF4-FFF2-40B4-BE49-F238E27FC236}">
                <a16:creationId xmlns:a16="http://schemas.microsoft.com/office/drawing/2014/main" id="{0FC3B339-9C29-42E6-8D63-C6E62AB6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Medication</a:t>
            </a:r>
          </a:p>
        </p:txBody>
      </p:sp>
      <p:sp>
        <p:nvSpPr>
          <p:cNvPr id="36" name="m-meds-metric-value">
            <a:extLst xmlns:a="http://schemas.openxmlformats.org/drawingml/2006/main">
              <a:ext uri="{FF2B5EF4-FFF2-40B4-BE49-F238E27FC236}">
                <a16:creationId xmlns:a16="http://schemas.microsoft.com/office/drawing/2014/main" id="{E82A9061-C1E1-4E2C-A621-06B3BCCB6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81.5%→64.4%</a:t>
            </a:r>
          </a:p>
        </p:txBody>
      </p:sp>
      <p:sp>
        <p:nvSpPr>
          <p:cNvPr id="37" name="m-meds-metric-note">
            <a:extLst xmlns:a="http://schemas.openxmlformats.org/drawingml/2006/main">
              <a:ext uri="{FF2B5EF4-FFF2-40B4-BE49-F238E27FC236}">
                <a16:creationId xmlns:a16="http://schemas.microsoft.com/office/drawing/2014/main" id="{5CE2A137-E8EA-4498-B4FC-33F221618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Read by denominator and CI.</a:t>
            </a:r>
          </a:p>
        </p:txBody>
      </p:sp>
      <p:sp>
        <p:nvSpPr>
          <p:cNvPr id="38" name="m-chart-prev-caption">
            <a:extLst xmlns:a="http://schemas.openxmlformats.org/drawingml/2006/main">
              <a:ext uri="{FF2B5EF4-FFF2-40B4-BE49-F238E27FC236}">
                <a16:creationId xmlns:a16="http://schemas.microsoft.com/office/drawing/2014/main" id="{8A342652-8961-4680-933B-A204B3D53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171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1: Physician-diagnosed asthma prevalence (%) by state and Brazil, PNS 2013 and 2019.</a:t>
            </a:r>
          </a:p>
        </p:txBody>
      </p:sp>
      <p:sp>
        <p:nvSpPr>
          <p:cNvPr id="39" name="m-chart-prev-frame">
            <a:extLst xmlns:a="http://schemas.openxmlformats.org/drawingml/2006/main">
              <a:ext uri="{FF2B5EF4-FFF2-40B4-BE49-F238E27FC236}">
                <a16:creationId xmlns:a16="http://schemas.microsoft.com/office/drawing/2014/main" id="{1B591323-2F10-4D36-91DC-0EFAD3130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2e602df57c4000"/>
          <a:stretch xmlns:a="http://schemas.openxmlformats.org/drawingml/2006/main"/>
        </p:blipFill>
        <p:spPr>
          <a:xfrm xmlns:a="http://schemas.openxmlformats.org/drawingml/2006/main">
            <a:off x="3219450" y="5052616"/>
            <a:ext cx="3562350" cy="1039019"/>
          </a:xfrm>
          <a:prstGeom xmlns:a="http://schemas.openxmlformats.org/drawingml/2006/main" prst="rect">
            <a:avLst/>
          </a:prstGeom>
        </p:spPr>
      </p:pic>
      <p:sp>
        <p:nvSpPr>
          <p:cNvPr id="41" name="m-chart-meds-caption">
            <a:extLst xmlns:a="http://schemas.openxmlformats.org/drawingml/2006/main">
              <a:ext uri="{FF2B5EF4-FFF2-40B4-BE49-F238E27FC236}">
                <a16:creationId xmlns:a16="http://schemas.microsoft.com/office/drawing/2014/main" id="{95C549A3-B75F-451D-BD6B-6F5F937A6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838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3: Oral medication or inhaler use among people with physician-diagnosed asthma by state and Brazil.</a:t>
            </a:r>
          </a:p>
        </p:txBody>
      </p:sp>
      <p:sp>
        <p:nvSpPr>
          <p:cNvPr id="42" name="m-chart-meds-frame">
            <a:extLst xmlns:a="http://schemas.openxmlformats.org/drawingml/2006/main">
              <a:ext uri="{FF2B5EF4-FFF2-40B4-BE49-F238E27FC236}">
                <a16:creationId xmlns:a16="http://schemas.microsoft.com/office/drawing/2014/main" id="{C5735FEA-866C-4000-A9C6-D324AFCA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7086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9414437750401b"/>
          <a:stretch xmlns:a="http://schemas.openxmlformats.org/drawingml/2006/main"/>
        </p:blipFill>
        <p:spPr>
          <a:xfrm xmlns:a="http://schemas.openxmlformats.org/drawingml/2006/main">
            <a:off x="3219450" y="7719616"/>
            <a:ext cx="3562350" cy="1039019"/>
          </a:xfrm>
          <a:prstGeom xmlns:a="http://schemas.openxmlformats.org/drawingml/2006/main" prst="rect">
            <a:avLst/>
          </a:prstGeom>
        </p:spPr>
      </p:pic>
      <p:sp>
        <p:nvSpPr>
          <p:cNvPr id="44" name="m-chart-smoke-caption">
            <a:extLst xmlns:a="http://schemas.openxmlformats.org/drawingml/2006/main">
              <a:ext uri="{FF2B5EF4-FFF2-40B4-BE49-F238E27FC236}">
                <a16:creationId xmlns:a16="http://schemas.microsoft.com/office/drawing/2014/main" id="{2713095F-0330-481E-89EE-BEC1B191B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505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4: Current smokers per 100,000 inhabitants by state, PNS 2013 and 2019.</a:t>
            </a:r>
          </a:p>
        </p:txBody>
      </p:sp>
      <p:sp>
        <p:nvSpPr>
          <p:cNvPr id="45" name="m-chart-smoke-frame">
            <a:extLst xmlns:a="http://schemas.openxmlformats.org/drawingml/2006/main">
              <a:ext uri="{FF2B5EF4-FFF2-40B4-BE49-F238E27FC236}">
                <a16:creationId xmlns:a16="http://schemas.microsoft.com/office/drawing/2014/main" id="{7580ED13-BBBA-43A5-AF7F-C601503F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753600"/>
            <a:ext cx="367665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8e2554f71c462b"/>
          <a:stretch xmlns:a="http://schemas.openxmlformats.org/drawingml/2006/main"/>
        </p:blipFill>
        <p:spPr>
          <a:xfrm xmlns:a="http://schemas.openxmlformats.org/drawingml/2006/main">
            <a:off x="3219450" y="10291366"/>
            <a:ext cx="3562350" cy="1039019"/>
          </a:xfrm>
          <a:prstGeom xmlns:a="http://schemas.openxmlformats.org/drawingml/2006/main" prst="rect">
            <a:avLst/>
          </a:prstGeom>
        </p:spPr>
      </p:pic>
      <p:sp>
        <p:nvSpPr>
          <p:cNvPr id="47" name="5-Key findings-box">
            <a:extLst xmlns:a="http://schemas.openxmlformats.org/drawingml/2006/main">
              <a:ext uri="{FF2B5EF4-FFF2-40B4-BE49-F238E27FC236}">
                <a16:creationId xmlns:a16="http://schemas.microsoft.com/office/drawing/2014/main" id="{6A7F160C-7F50-49E0-983A-4B4F2B230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8" name="5-Key findings-head">
            <a:extLst xmlns:a="http://schemas.openxmlformats.org/drawingml/2006/main">
              <a:ext uri="{FF2B5EF4-FFF2-40B4-BE49-F238E27FC236}">
                <a16:creationId xmlns:a16="http://schemas.microsoft.com/office/drawing/2014/main" id="{00AA9587-2119-4809-926F-384264EC5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49" name="5-Key findings-title">
            <a:extLst xmlns:a="http://schemas.openxmlformats.org/drawingml/2006/main">
              <a:ext uri="{FF2B5EF4-FFF2-40B4-BE49-F238E27FC236}">
                <a16:creationId xmlns:a16="http://schemas.microsoft.com/office/drawing/2014/main" id="{39A4C896-032C-4495-8CB6-89C1BE618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527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5. Key findings</a:t>
            </a:r>
          </a:p>
        </p:txBody>
      </p:sp>
      <p:sp>
        <p:nvSpPr>
          <p:cNvPr id="50" name="5-Key findings-body">
            <a:extLst xmlns:a="http://schemas.openxmlformats.org/drawingml/2006/main">
              <a:ext uri="{FF2B5EF4-FFF2-40B4-BE49-F238E27FC236}">
                <a16:creationId xmlns:a16="http://schemas.microsoft.com/office/drawing/2014/main" id="{39B9DDAE-67EB-41A6-BFBF-19ADE90D0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48050"/>
            <a:ext cx="217170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18" b="0">
                <a:solidFill>
                  <a:srgbClr val="102536"/>
                </a:solidFill>
              </a:defRPr>
            </a:pPr>
            <a:r>
              <a:rPr sz="518" b="0">
                <a:solidFill>
                  <a:srgbClr val="102536"/>
                </a:solidFill>
              </a:rPr>
              <a:t>• Physician-diagnosed asthma: 4.41% in 2013 to 5.40% in 2019, with non-overlapping CIs.</a:t>
            </a:r>
          </a:p>
          <a:p xmlns:a="http://schemas.openxmlformats.org/drawingml/2006/main">
            <a:pPr algn="l">
              <a:defRPr sz="518" b="0">
                <a:solidFill>
                  <a:srgbClr val="102536"/>
                </a:solidFill>
              </a:defRPr>
            </a:pPr>
            <a:r>
              <a:rPr sz="518" b="0">
                <a:solidFill>
                  <a:srgbClr val="102536"/>
                </a:solidFill>
              </a:rPr>
              <a:t>• Attacks in the previous 12 months: 38.3% to 37.7%, indicating approximate stability.</a:t>
            </a:r>
          </a:p>
          <a:p xmlns:a="http://schemas.openxmlformats.org/drawingml/2006/main">
            <a:pPr algn="l">
              <a:defRPr sz="518" b="0">
                <a:solidFill>
                  <a:srgbClr val="102536"/>
                </a:solidFill>
              </a:defRPr>
            </a:pPr>
            <a:r>
              <a:rPr sz="518" b="0">
                <a:solidFill>
                  <a:srgbClr val="102536"/>
                </a:solidFill>
              </a:rPr>
              <a:t>• Oral/inhaler medication use among people with asthma: 81.5% to 64.4%; reading requires denominator and CI caution.</a:t>
            </a:r>
          </a:p>
          <a:p xmlns:a="http://schemas.openxmlformats.org/drawingml/2006/main">
            <a:pPr algn="l">
              <a:defRPr sz="518" b="0">
                <a:solidFill>
                  <a:srgbClr val="102536"/>
                </a:solidFill>
              </a:defRPr>
            </a:pPr>
            <a:r>
              <a:rPr sz="518" b="0">
                <a:solidFill>
                  <a:srgbClr val="102536"/>
                </a:solidFill>
              </a:rPr>
              <a:t>• Smoking declined in several states; the national rate cited changed from 14,650 to 12,151 per 100,000.</a:t>
            </a:r>
          </a:p>
        </p:txBody>
      </p:sp>
      <p:sp>
        <p:nvSpPr>
          <p:cNvPr id="51" name="6-Applied discussion-box">
            <a:extLst xmlns:a="http://schemas.openxmlformats.org/drawingml/2006/main">
              <a:ext uri="{FF2B5EF4-FFF2-40B4-BE49-F238E27FC236}">
                <a16:creationId xmlns:a16="http://schemas.microsoft.com/office/drawing/2014/main" id="{30BAEB72-7845-4020-A892-B4F49826E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410200"/>
            <a:ext cx="236220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2" name="6-Applied discussion-head">
            <a:extLst xmlns:a="http://schemas.openxmlformats.org/drawingml/2006/main">
              <a:ext uri="{FF2B5EF4-FFF2-40B4-BE49-F238E27FC236}">
                <a16:creationId xmlns:a16="http://schemas.microsoft.com/office/drawing/2014/main" id="{C8AA8487-1619-45B4-813A-A78E59101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41020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53" name="6-Applied discussion-title">
            <a:extLst xmlns:a="http://schemas.openxmlformats.org/drawingml/2006/main">
              <a:ext uri="{FF2B5EF4-FFF2-40B4-BE49-F238E27FC236}">
                <a16:creationId xmlns:a16="http://schemas.microsoft.com/office/drawing/2014/main" id="{E808D019-97C1-418F-B777-6FDA25986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45782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6. Applied discussion</a:t>
            </a:r>
          </a:p>
        </p:txBody>
      </p:sp>
      <p:sp>
        <p:nvSpPr>
          <p:cNvPr id="54" name="6-Applied discussion-body">
            <a:extLst xmlns:a="http://schemas.openxmlformats.org/drawingml/2006/main">
              <a:ext uri="{FF2B5EF4-FFF2-40B4-BE49-F238E27FC236}">
                <a16:creationId xmlns:a16="http://schemas.microsoft.com/office/drawing/2014/main" id="{F6A66F12-05E6-4333-89EF-A2AF8C496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753100"/>
            <a:ext cx="21717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The diagnosis increase may reflect higher occurrence, better diagnostic access or both.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Stable attacks suggest clinical management did not improve proportionally.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Asthma control depends on medication access, clinical follow-up, education, exposure control and non-pharmacological interventions.</a:t>
            </a:r>
          </a:p>
        </p:txBody>
      </p:sp>
      <p:sp>
        <p:nvSpPr>
          <p:cNvPr id="55" name="7-Central conclusion-box">
            <a:extLst xmlns:a="http://schemas.openxmlformats.org/drawingml/2006/main">
              <a:ext uri="{FF2B5EF4-FFF2-40B4-BE49-F238E27FC236}">
                <a16:creationId xmlns:a16="http://schemas.microsoft.com/office/drawing/2014/main" id="{70099076-FF11-487D-B76C-BD7692BC7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6" name="7-Central conclusion-head">
            <a:extLst xmlns:a="http://schemas.openxmlformats.org/drawingml/2006/main">
              <a:ext uri="{FF2B5EF4-FFF2-40B4-BE49-F238E27FC236}">
                <a16:creationId xmlns:a16="http://schemas.microsoft.com/office/drawing/2014/main" id="{33F7FA7B-0366-4F42-B3FA-A5F7C74D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57" name="7-Central conclusion-title">
            <a:extLst xmlns:a="http://schemas.openxmlformats.org/drawingml/2006/main">
              <a:ext uri="{FF2B5EF4-FFF2-40B4-BE49-F238E27FC236}">
                <a16:creationId xmlns:a16="http://schemas.microsoft.com/office/drawing/2014/main" id="{668B2B9C-0ADD-4B73-8C6D-B42860C42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70389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7. Central conclusion</a:t>
            </a:r>
          </a:p>
        </p:txBody>
      </p:sp>
      <p:sp>
        <p:nvSpPr>
          <p:cNvPr id="58" name="7-Central conclusion-body">
            <a:extLst xmlns:a="http://schemas.openxmlformats.org/drawingml/2006/main">
              <a:ext uri="{FF2B5EF4-FFF2-40B4-BE49-F238E27FC236}">
                <a16:creationId xmlns:a16="http://schemas.microsoft.com/office/drawing/2014/main" id="{36D74233-920A-4D79-BA0F-A0DEE9E9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7334250"/>
            <a:ext cx="2171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Correct implementation of the sampling design is required for valid estimates.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Brazil showed increased diagnosis, but not equivalent evidence of improved control.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State-level charts must be read with 95% CIs because many comparisons have overlapping intervals.</a:t>
            </a:r>
          </a:p>
        </p:txBody>
      </p:sp>
      <p:sp>
        <p:nvSpPr>
          <p:cNvPr id="59" name="m-chart-crisis-caption">
            <a:extLst xmlns:a="http://schemas.openxmlformats.org/drawingml/2006/main">
              <a:ext uri="{FF2B5EF4-FFF2-40B4-BE49-F238E27FC236}">
                <a16:creationId xmlns:a16="http://schemas.microsoft.com/office/drawing/2014/main" id="{67F834CA-75E3-40E8-BC6D-96117B6E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362950"/>
            <a:ext cx="2362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Figure 2: Asthma attacks in the previous 12 months (%) by state and Brazil, PNS 2013 and 2019.</a:t>
            </a:r>
          </a:p>
        </p:txBody>
      </p:sp>
      <p:sp>
        <p:nvSpPr>
          <p:cNvPr id="60" name="m-chart-crisis-frame">
            <a:extLst xmlns:a="http://schemas.openxmlformats.org/drawingml/2006/main">
              <a:ext uri="{FF2B5EF4-FFF2-40B4-BE49-F238E27FC236}">
                <a16:creationId xmlns:a16="http://schemas.microsoft.com/office/drawing/2014/main" id="{7EBE670A-9700-4F88-A595-00FF78EC4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6106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7102501ccb4e30"/>
          <a:stretch xmlns:a="http://schemas.openxmlformats.org/drawingml/2006/main"/>
        </p:blipFill>
        <p:spPr>
          <a:xfrm xmlns:a="http://schemas.openxmlformats.org/drawingml/2006/main">
            <a:off x="7048500" y="9130506"/>
            <a:ext cx="2247900" cy="655638"/>
          </a:xfrm>
          <a:prstGeom xmlns:a="http://schemas.openxmlformats.org/drawingml/2006/main" prst="rect">
            <a:avLst/>
          </a:prstGeom>
        </p:spPr>
      </p:pic>
      <p:sp>
        <p:nvSpPr>
          <p:cNvPr id="62" name="qr-box">
            <a:extLst xmlns:a="http://schemas.openxmlformats.org/drawingml/2006/main">
              <a:ext uri="{FF2B5EF4-FFF2-40B4-BE49-F238E27FC236}">
                <a16:creationId xmlns:a16="http://schemas.microsoft.com/office/drawing/2014/main" id="{98E6395D-30A3-4000-BE4F-BA0303CF9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0591800"/>
            <a:ext cx="11811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f414fb4eb246fc"/>
          <a:stretch xmlns:a="http://schemas.openxmlformats.org/drawingml/2006/main"/>
        </p:blipFill>
        <p:spPr>
          <a:xfrm xmlns:a="http://schemas.openxmlformats.org/drawingml/2006/main">
            <a:off x="7715250" y="1070610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64" name="qr-label">
            <a:extLst xmlns:a="http://schemas.openxmlformats.org/drawingml/2006/main">
              <a:ext uri="{FF2B5EF4-FFF2-40B4-BE49-F238E27FC236}">
                <a16:creationId xmlns:a16="http://schemas.microsoft.com/office/drawing/2014/main" id="{9F30DC81-1F02-4182-9704-13228CB6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1696700"/>
            <a:ext cx="1028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Methodological report, reproducible code and figures</a:t>
            </a:r>
          </a:p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  <p:sp>
        <p:nvSpPr>
          <p:cNvPr id="65" name="references-box">
            <a:extLst xmlns:a="http://schemas.openxmlformats.org/drawingml/2006/main">
              <a:ext uri="{FF2B5EF4-FFF2-40B4-BE49-F238E27FC236}">
                <a16:creationId xmlns:a16="http://schemas.microsoft.com/office/drawing/2014/main" id="{A3AF3E82-E060-4E8E-9E8A-07D0E86B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382500"/>
            <a:ext cx="88773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6" name="references-title">
            <a:extLst xmlns:a="http://schemas.openxmlformats.org/drawingml/2006/main">
              <a:ext uri="{FF2B5EF4-FFF2-40B4-BE49-F238E27FC236}">
                <a16:creationId xmlns:a16="http://schemas.microsoft.com/office/drawing/2014/main" id="{181A49CC-0559-4B78-9094-3116E931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449175"/>
            <a:ext cx="872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3F59"/>
                </a:solidFill>
              </a:defRPr>
            </a:pPr>
            <a:r>
              <a:rPr sz="825" b="1">
                <a:solidFill>
                  <a:srgbClr val="153F59"/>
                </a:solidFill>
              </a:rPr>
              <a:t>References</a:t>
            </a:r>
          </a:p>
        </p:txBody>
      </p:sp>
      <p:sp>
        <p:nvSpPr>
          <p:cNvPr id="67" name="references-body">
            <a:extLst xmlns:a="http://schemas.openxmlformats.org/drawingml/2006/main">
              <a:ext uri="{FF2B5EF4-FFF2-40B4-BE49-F238E27FC236}">
                <a16:creationId xmlns:a16="http://schemas.microsoft.com/office/drawing/2014/main" id="{EB224C8C-9C10-44F0-878B-FF6A6330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49200"/>
            <a:ext cx="8724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</p:spTree>
    <p:extLst>
      <p:ext uri="{BB962C8B-B14F-4D97-AF65-F5344CB8AC3E}">
        <p14:creationId xmlns:p14="http://schemas.microsoft.com/office/powerpoint/2010/main" val="10012071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2026-07-21T21:28:42.8350000Z</dcterms:created>
  <dcterms:modified xsi:type="dcterms:W3CDTF">2026-07-21T21:28:42.8350000Z</dcterms:modified>
</coreProperties>
</file>