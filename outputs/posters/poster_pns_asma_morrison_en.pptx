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1c60cb796a4415" /><Relationship Type="http://schemas.openxmlformats.org/officeDocument/2006/relationships/extended-properties" Target="/docProps/app.xml" Id="Ra872ffc8ab6b4b37" /><Relationship Type="http://schemas.openxmlformats.org/officeDocument/2006/relationships/officeDocument" Target="/ppt/presentation.xml" Id="R6207f77b63a94f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96f47f85a94d52"/>
  </p:sldMasterIdLst>
  <p:notesMasterIdLst>
    <p:notesMasterId xmlns:r="http://schemas.openxmlformats.org/officeDocument/2006/relationships" r:id="R779ecc9d6f95419a"/>
  </p:notesMasterIdLst>
  <p:sldIdLst>
    <p:sldId xmlns:r="http://schemas.openxmlformats.org/officeDocument/2006/relationships" id="256" r:id="Ree48ac6190a542c7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0dd6552f48424d" /><Relationship Type="http://schemas.openxmlformats.org/officeDocument/2006/relationships/slideMaster" Target="/ppt/slideMasters/slideMaster1.xml" Id="Rb796f47f85a94d52" /><Relationship Type="http://schemas.openxmlformats.org/officeDocument/2006/relationships/notesMaster" Target="/ppt/notesMasters/notesMaster1.xml" Id="R779ecc9d6f95419a" /><Relationship Type="http://schemas.openxmlformats.org/officeDocument/2006/relationships/presProps" Target="/ppt/presProps.xml" Id="Rffa77f653a954936" /><Relationship Type="http://schemas.openxmlformats.org/officeDocument/2006/relationships/tableStyles" Target="/ppt/tableStyles.xml" Id="R5aa34d1ffe284de3" /><Relationship Type="http://schemas.openxmlformats.org/officeDocument/2006/relationships/slide" Target="/ppt/slides/slide1.xml" Id="Ree48ac6190a542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b6181fec6d49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854fc7edc24c99" /><Relationship Type="http://schemas.openxmlformats.org/officeDocument/2006/relationships/notesMaster" Target="/ppt/notesMasters/notesMaster1.xml" Id="Ra98996c132c043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9917308ac2402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4d0c27ec354c7b" /><Relationship Type="http://schemas.openxmlformats.org/officeDocument/2006/relationships/slideLayout" Target="/ppt/slideLayouts/slideLayout1.xml" Id="Rc551c62876b34c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51c62876b34c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6b89e399ee41e0" /><Relationship Type="http://schemas.openxmlformats.org/officeDocument/2006/relationships/image" Target="/ppt/media/image.png" Id="R6511fded18434444" /><Relationship Type="http://schemas.openxmlformats.org/officeDocument/2006/relationships/image" Target="/ppt/media/image2.png" Id="Reff777fb585845d3" /><Relationship Type="http://schemas.openxmlformats.org/officeDocument/2006/relationships/image" Target="/ppt/media/image3.png" Id="Ra154fb04bec84f03" /><Relationship Type="http://schemas.openxmlformats.org/officeDocument/2006/relationships/image" Target="/ppt/media/image4.png" Id="Rbd78dc13921b45ff" /><Relationship Type="http://schemas.openxmlformats.org/officeDocument/2006/relationships/image" Target="/ppt/media/image5.png" Id="R08da982c6c93425c" /><Relationship Type="http://schemas.openxmlformats.org/officeDocument/2006/relationships/image" Target="/ppt/media/image6.png" Id="R4ff1207bcae14798" /><Relationship Type="http://schemas.openxmlformats.org/officeDocument/2006/relationships/image" Target="/ppt/media/image7.png" Id="R55e353833170445d" /><Relationship Type="http://schemas.openxmlformats.org/officeDocument/2006/relationships/image" Target="/ppt/media/image8.png" Id="R40b246558cb54e59" /><Relationship Type="http://schemas.openxmlformats.org/officeDocument/2006/relationships/notesSlide" Target="/ppt/notesSlides/notesSlide1.xml" Id="R1021d4b1c0f9407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11fded18434444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f777fb585845d3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54fb04bec84f03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morrison-title">
            <a:extLst xmlns:a="http://schemas.openxmlformats.org/drawingml/2006/main">
              <a:ext uri="{FF2B5EF4-FFF2-40B4-BE49-F238E27FC236}">
                <a16:creationId xmlns:a16="http://schemas.microsoft.com/office/drawing/2014/main" id="{D5514971-68DA-40B8-8E73-2BE5ED6D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Implementing the National Health Survey Sampling Design in R: a case study on asthma in Brazil</a:t>
            </a:r>
          </a:p>
        </p:txBody>
      </p:sp>
      <p:sp>
        <p:nvSpPr>
          <p:cNvPr id="5" name="morrison-authors">
            <a:extLst xmlns:a="http://schemas.openxmlformats.org/drawingml/2006/main">
              <a:ext uri="{FF2B5EF4-FFF2-40B4-BE49-F238E27FC236}">
                <a16:creationId xmlns:a16="http://schemas.microsoft.com/office/drawing/2014/main" id="{55262E77-5F08-48AE-981E-A557DBC92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Observational data management</a:t>
            </a:r>
          </a:p>
        </p:txBody>
      </p:sp>
      <p:sp>
        <p:nvSpPr>
          <p:cNvPr id="6" name="central-message">
            <a:extLst xmlns:a="http://schemas.openxmlformats.org/drawingml/2006/main">
              <a:ext uri="{FF2B5EF4-FFF2-40B4-BE49-F238E27FC236}">
                <a16:creationId xmlns:a16="http://schemas.microsoft.com/office/drawing/2014/main" id="{E93989B3-CDBF-45D9-A390-061EC124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8153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Asthma diagnosis increased in Brazil; respiratory absenteeism shows potential productivity loss and economic impact.</a:t>
            </a:r>
          </a:p>
        </p:txBody>
      </p:sp>
      <p:sp>
        <p:nvSpPr>
          <p:cNvPr id="7" name="1-Method in one line-box">
            <a:extLst xmlns:a="http://schemas.openxmlformats.org/drawingml/2006/main">
              <a:ext uri="{FF2B5EF4-FFF2-40B4-BE49-F238E27FC236}">
                <a16:creationId xmlns:a16="http://schemas.microsoft.com/office/drawing/2014/main" id="{FDC6CA63-1B02-41F4-9C79-2E9A5AC3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8" name="1-Method in one line-head">
            <a:extLst xmlns:a="http://schemas.openxmlformats.org/drawingml/2006/main">
              <a:ext uri="{FF2B5EF4-FFF2-40B4-BE49-F238E27FC236}">
                <a16:creationId xmlns:a16="http://schemas.microsoft.com/office/drawing/2014/main" id="{9709E071-D115-4255-9A0E-F7B3378A8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9" name="1-Method in one line-title">
            <a:extLst xmlns:a="http://schemas.openxmlformats.org/drawingml/2006/main">
              <a:ext uri="{FF2B5EF4-FFF2-40B4-BE49-F238E27FC236}">
                <a16:creationId xmlns:a16="http://schemas.microsoft.com/office/drawing/2014/main" id="{DB42F00D-00E2-4837-B876-A2A18CC72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52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Method in one line</a:t>
            </a:r>
          </a:p>
        </p:txBody>
      </p:sp>
      <p:sp>
        <p:nvSpPr>
          <p:cNvPr id="10" name="1-Method in one line-body">
            <a:extLst xmlns:a="http://schemas.openxmlformats.org/drawingml/2006/main">
              <a:ext uri="{FF2B5EF4-FFF2-40B4-BE49-F238E27FC236}">
                <a16:creationId xmlns:a16="http://schemas.microsoft.com/office/drawing/2014/main" id="{6CDBA738-096E-4210-92A6-F92568936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48050"/>
            <a:ext cx="24955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The design was built with PNSIBGE::pns_design(), preserving PSU, strata and calibrated selected-resident weights.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Estimation uses the survey package for proportions, means, totals and rates.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Rates per 100,000 rescale weighted proportions while preserving uncertainty from the complex design.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Lonely PSUs and small domains require explicit inferential choices.</a:t>
            </a:r>
          </a:p>
        </p:txBody>
      </p:sp>
      <p:sp>
        <p:nvSpPr>
          <p:cNvPr id="11" name="morrison-formula-box">
            <a:extLst xmlns:a="http://schemas.openxmlformats.org/drawingml/2006/main">
              <a:ext uri="{FF2B5EF4-FFF2-40B4-BE49-F238E27FC236}">
                <a16:creationId xmlns:a16="http://schemas.microsoft.com/office/drawing/2014/main" id="{3462C64B-05A0-4064-81CD-DFE17BA5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10150"/>
            <a:ext cx="26860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2" name="morrison-formula-title">
            <a:extLst xmlns:a="http://schemas.openxmlformats.org/drawingml/2006/main">
              <a:ext uri="{FF2B5EF4-FFF2-40B4-BE49-F238E27FC236}">
                <a16:creationId xmlns:a16="http://schemas.microsoft.com/office/drawing/2014/main" id="{D8B918EC-02C2-498A-B82E-EDC14FFA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673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Estimators and formulas</a:t>
            </a:r>
          </a:p>
        </p:txBody>
      </p:sp>
      <p:sp>
        <p:nvSpPr>
          <p:cNvPr id="13" name="morrison-formula">
            <a:extLst xmlns:a="http://schemas.openxmlformats.org/drawingml/2006/main">
              <a:ext uri="{FF2B5EF4-FFF2-40B4-BE49-F238E27FC236}">
                <a16:creationId xmlns:a16="http://schemas.microsoft.com/office/drawing/2014/main" id="{02C7B5BA-F6DC-469A-BFD5-C2286358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76850"/>
            <a:ext cx="24955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sampling weight; yᵢ = binary indicator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rate₁₀₀k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CI₉₅%(p̂) = survey::svyciprop(method = "beta")</a:t>
            </a:r>
          </a:p>
        </p:txBody>
      </p:sp>
      <p:sp>
        <p:nvSpPr>
          <p:cNvPr id="14" name="2-Data and denominators-box">
            <a:extLst xmlns:a="http://schemas.openxmlformats.org/drawingml/2006/main">
              <a:ext uri="{FF2B5EF4-FFF2-40B4-BE49-F238E27FC236}">
                <a16:creationId xmlns:a16="http://schemas.microsoft.com/office/drawing/2014/main" id="{483D3862-E2B7-4013-A75A-7F8E9ED6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2-Data and denominators-head">
            <a:extLst xmlns:a="http://schemas.openxmlformats.org/drawingml/2006/main">
              <a:ext uri="{FF2B5EF4-FFF2-40B4-BE49-F238E27FC236}">
                <a16:creationId xmlns:a16="http://schemas.microsoft.com/office/drawing/2014/main" id="{30228466-4B64-4CD1-A465-68A8488C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6" name="2-Data and denominators-title">
            <a:extLst xmlns:a="http://schemas.openxmlformats.org/drawingml/2006/main">
              <a:ext uri="{FF2B5EF4-FFF2-40B4-BE49-F238E27FC236}">
                <a16:creationId xmlns:a16="http://schemas.microsoft.com/office/drawing/2014/main" id="{F1EAB744-9E32-4E00-BDAE-15CB2CE6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008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Data and denominators</a:t>
            </a:r>
          </a:p>
        </p:txBody>
      </p:sp>
      <p:sp>
        <p:nvSpPr>
          <p:cNvPr id="17" name="2-Data and denominators-body">
            <a:extLst xmlns:a="http://schemas.openxmlformats.org/drawingml/2006/main">
              <a:ext uri="{FF2B5EF4-FFF2-40B4-BE49-F238E27FC236}">
                <a16:creationId xmlns:a16="http://schemas.microsoft.com/office/drawing/2014/main" id="{7F6C8A0A-362C-46A4-BD1B-DB0D26D1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96100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Analytical unit: selected resident from PNS.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Core variables: Q074 physician-diagnosed asthma; Q076 recent attack; Q07701/Q07704/Q07708 medication use; P050 smoking.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Denominators vary by indicator: general population, people with asthma, people with asthma and attack, or valid responses.</a:t>
            </a:r>
          </a:p>
        </p:txBody>
      </p:sp>
      <p:sp>
        <p:nvSpPr>
          <p:cNvPr id="18" name="3-Why beta CIs?-box">
            <a:extLst xmlns:a="http://schemas.openxmlformats.org/drawingml/2006/main">
              <a:ext uri="{FF2B5EF4-FFF2-40B4-BE49-F238E27FC236}">
                <a16:creationId xmlns:a16="http://schemas.microsoft.com/office/drawing/2014/main" id="{5C5CE4BE-56FA-43AB-AD32-F67A8C47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3-Why beta CIs?-head">
            <a:extLst xmlns:a="http://schemas.openxmlformats.org/drawingml/2006/main">
              <a:ext uri="{FF2B5EF4-FFF2-40B4-BE49-F238E27FC236}">
                <a16:creationId xmlns:a16="http://schemas.microsoft.com/office/drawing/2014/main" id="{083D677C-83C7-4B08-90E2-25DB0503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0" name="3-Why beta CIs?-title">
            <a:extLst xmlns:a="http://schemas.openxmlformats.org/drawingml/2006/main">
              <a:ext uri="{FF2B5EF4-FFF2-40B4-BE49-F238E27FC236}">
                <a16:creationId xmlns:a16="http://schemas.microsoft.com/office/drawing/2014/main" id="{FF5CBAFC-45F1-40F5-B72E-6E04A35C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48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Why beta CIs?</a:t>
            </a:r>
          </a:p>
        </p:txBody>
      </p:sp>
      <p:sp>
        <p:nvSpPr>
          <p:cNvPr id="21" name="3-Why beta CIs?-body">
            <a:extLst xmlns:a="http://schemas.openxmlformats.org/drawingml/2006/main">
              <a:ext uri="{FF2B5EF4-FFF2-40B4-BE49-F238E27FC236}">
                <a16:creationId xmlns:a16="http://schemas.microsoft.com/office/drawing/2014/main" id="{2AEE2BD1-93C7-4AB7-A6B4-0E9AC23D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34390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Wald intervals can have unstable coverage for low/high proportions or domains with few events.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The beta CI from survey::svyciprop(method = "beta") respects the 0-1 scale and reduces impossible limits.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Year/state comparisons were interpreted through magnitude and 95% CI overlap, not bar height alone.</a:t>
            </a:r>
          </a:p>
        </p:txBody>
      </p:sp>
      <p:sp>
        <p:nvSpPr>
          <p:cNvPr id="22" name="4-ETL and interoperability-box">
            <a:extLst xmlns:a="http://schemas.openxmlformats.org/drawingml/2006/main">
              <a:ext uri="{FF2B5EF4-FFF2-40B4-BE49-F238E27FC236}">
                <a16:creationId xmlns:a16="http://schemas.microsoft.com/office/drawing/2014/main" id="{E5A74190-FF12-40FE-9A53-A273C64E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3" name="4-ETL and interoperability-head">
            <a:extLst xmlns:a="http://schemas.openxmlformats.org/drawingml/2006/main">
              <a:ext uri="{FF2B5EF4-FFF2-40B4-BE49-F238E27FC236}">
                <a16:creationId xmlns:a16="http://schemas.microsoft.com/office/drawing/2014/main" id="{01B0D6E7-69DC-430F-90BE-CA00726B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4" name="4-ETL and interoperability-title">
            <a:extLst xmlns:a="http://schemas.openxmlformats.org/drawingml/2006/main">
              <a:ext uri="{FF2B5EF4-FFF2-40B4-BE49-F238E27FC236}">
                <a16:creationId xmlns:a16="http://schemas.microsoft.com/office/drawing/2014/main" id="{4CA2634C-7B1F-4C30-A306-A60DB8FE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572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ETL and interoperability</a:t>
            </a:r>
          </a:p>
        </p:txBody>
      </p:sp>
      <p:sp>
        <p:nvSpPr>
          <p:cNvPr id="25" name="4-ETL and interoperability-body">
            <a:extLst xmlns:a="http://schemas.openxmlformats.org/drawingml/2006/main">
              <a:ext uri="{FF2B5EF4-FFF2-40B4-BE49-F238E27FC236}">
                <a16:creationId xmlns:a16="http://schemas.microsoft.com/office/drawing/2014/main" id="{5724804C-FCA1-49CB-B1E8-DB514159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8679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The analytical workflow follows ETL logic: extract microdata, transform variables and load reproducible analytical tables.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PNS is not a longitudinal clinical database, but it can act as a population reference layer.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OMOP/OHDSI offers principles for standardization, vocabularies and reproducibility for future comparison with health-care databases.</a:t>
            </a:r>
          </a:p>
        </p:txBody>
      </p:sp>
      <p:sp>
        <p:nvSpPr>
          <p:cNvPr id="26" name="m-prev-metric">
            <a:extLst xmlns:a="http://schemas.openxmlformats.org/drawingml/2006/main">
              <a:ext uri="{FF2B5EF4-FFF2-40B4-BE49-F238E27FC236}">
                <a16:creationId xmlns:a16="http://schemas.microsoft.com/office/drawing/2014/main" id="{156AF691-ADC5-42E5-B614-E74B9A83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7" name="m-prev-metric-title">
            <a:extLst xmlns:a="http://schemas.openxmlformats.org/drawingml/2006/main">
              <a:ext uri="{FF2B5EF4-FFF2-40B4-BE49-F238E27FC236}">
                <a16:creationId xmlns:a16="http://schemas.microsoft.com/office/drawing/2014/main" id="{38EA17E6-C82F-438F-A230-E3E8EFEE0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diagnosis</a:t>
            </a:r>
          </a:p>
        </p:txBody>
      </p:sp>
      <p:sp>
        <p:nvSpPr>
          <p:cNvPr id="28" name="m-prev-metric-value">
            <a:extLst xmlns:a="http://schemas.openxmlformats.org/drawingml/2006/main">
              <a:ext uri="{FF2B5EF4-FFF2-40B4-BE49-F238E27FC236}">
                <a16:creationId xmlns:a16="http://schemas.microsoft.com/office/drawing/2014/main" id="{5F288295-A5F2-4898-A86D-00FAA034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4.41%→5.40%</a:t>
            </a:r>
          </a:p>
        </p:txBody>
      </p:sp>
      <p:sp>
        <p:nvSpPr>
          <p:cNvPr id="29" name="m-prev-metric-note">
            <a:extLst xmlns:a="http://schemas.openxmlformats.org/drawingml/2006/main">
              <a:ext uri="{FF2B5EF4-FFF2-40B4-BE49-F238E27FC236}">
                <a16:creationId xmlns:a16="http://schemas.microsoft.com/office/drawing/2014/main" id="{CC2F7066-DB8E-4C85-A375-FBFB2B18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Increase with non-overlapping 95% CIs.</a:t>
            </a:r>
          </a:p>
        </p:txBody>
      </p:sp>
      <p:sp>
        <p:nvSpPr>
          <p:cNvPr id="30" name="m-crisis-metric">
            <a:extLst xmlns:a="http://schemas.openxmlformats.org/drawingml/2006/main">
              <a:ext uri="{FF2B5EF4-FFF2-40B4-BE49-F238E27FC236}">
                <a16:creationId xmlns:a16="http://schemas.microsoft.com/office/drawing/2014/main" id="{539CBC50-29D8-4498-A82F-77998A4B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1" name="m-crisis-metric-title">
            <a:extLst xmlns:a="http://schemas.openxmlformats.org/drawingml/2006/main">
              <a:ext uri="{FF2B5EF4-FFF2-40B4-BE49-F238E27FC236}">
                <a16:creationId xmlns:a16="http://schemas.microsoft.com/office/drawing/2014/main" id="{9AA98652-439A-440E-8365-B40AED96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work</a:t>
            </a:r>
          </a:p>
        </p:txBody>
      </p:sp>
      <p:sp>
        <p:nvSpPr>
          <p:cNvPr id="32" name="m-crisis-metric-value">
            <a:extLst xmlns:a="http://schemas.openxmlformats.org/drawingml/2006/main">
              <a:ext uri="{FF2B5EF4-FFF2-40B4-BE49-F238E27FC236}">
                <a16:creationId xmlns:a16="http://schemas.microsoft.com/office/drawing/2014/main" id="{F7479AE7-520B-4A49-B80A-2B30F612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15.2%; 4.8 d</a:t>
            </a:r>
          </a:p>
        </p:txBody>
      </p:sp>
      <p:sp>
        <p:nvSpPr>
          <p:cNvPr id="33" name="m-crisis-metric-note">
            <a:extLst xmlns:a="http://schemas.openxmlformats.org/drawingml/2006/main">
              <a:ext uri="{FF2B5EF4-FFF2-40B4-BE49-F238E27FC236}">
                <a16:creationId xmlns:a16="http://schemas.microsoft.com/office/drawing/2014/main" id="{CF049EC0-B815-42EB-A61B-A106C50F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Respiratory burden affects workdays.</a:t>
            </a:r>
          </a:p>
        </p:txBody>
      </p:sp>
      <p:sp>
        <p:nvSpPr>
          <p:cNvPr id="34" name="m-meds-metric">
            <a:extLst xmlns:a="http://schemas.openxmlformats.org/drawingml/2006/main">
              <a:ext uri="{FF2B5EF4-FFF2-40B4-BE49-F238E27FC236}">
                <a16:creationId xmlns:a16="http://schemas.microsoft.com/office/drawing/2014/main" id="{6989049D-E071-49D5-978C-C39DDE40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5" name="m-meds-metric-title">
            <a:extLst xmlns:a="http://schemas.openxmlformats.org/drawingml/2006/main">
              <a:ext uri="{FF2B5EF4-FFF2-40B4-BE49-F238E27FC236}">
                <a16:creationId xmlns:a16="http://schemas.microsoft.com/office/drawing/2014/main" id="{B1D7F53D-91CE-44B3-B3E1-FDCD2E40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medication</a:t>
            </a:r>
          </a:p>
        </p:txBody>
      </p:sp>
      <p:sp>
        <p:nvSpPr>
          <p:cNvPr id="36" name="m-meds-metric-value">
            <a:extLst xmlns:a="http://schemas.openxmlformats.org/drawingml/2006/main">
              <a:ext uri="{FF2B5EF4-FFF2-40B4-BE49-F238E27FC236}">
                <a16:creationId xmlns:a16="http://schemas.microsoft.com/office/drawing/2014/main" id="{2B602034-55A1-4FDE-8495-24C7B655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81.5%→64.4%</a:t>
            </a:r>
          </a:p>
        </p:txBody>
      </p:sp>
      <p:sp>
        <p:nvSpPr>
          <p:cNvPr id="37" name="m-meds-metric-note">
            <a:extLst xmlns:a="http://schemas.openxmlformats.org/drawingml/2006/main">
              <a:ext uri="{FF2B5EF4-FFF2-40B4-BE49-F238E27FC236}">
                <a16:creationId xmlns:a16="http://schemas.microsoft.com/office/drawing/2014/main" id="{20EEB764-B36C-49C7-8783-51516CC5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Lower use among asthmatics; 95% CIs guide caution.</a:t>
            </a:r>
          </a:p>
        </p:txBody>
      </p:sp>
      <p:sp>
        <p:nvSpPr>
          <p:cNvPr id="38" name="m-chart-prev-caption">
            <a:extLst xmlns:a="http://schemas.openxmlformats.org/drawingml/2006/main">
              <a:ext uri="{FF2B5EF4-FFF2-40B4-BE49-F238E27FC236}">
                <a16:creationId xmlns:a16="http://schemas.microsoft.com/office/drawing/2014/main" id="{DCB583D3-9BB1-463B-B346-65994E94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71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1: Physician-diagnosed asthma prevalence (%) by state and Brazil, PNS 2013 and 2019.</a:t>
            </a:r>
          </a:p>
        </p:txBody>
      </p:sp>
      <p:sp>
        <p:nvSpPr>
          <p:cNvPr id="39" name="m-chart-prev-frame">
            <a:extLst xmlns:a="http://schemas.openxmlformats.org/drawingml/2006/main">
              <a:ext uri="{FF2B5EF4-FFF2-40B4-BE49-F238E27FC236}">
                <a16:creationId xmlns:a16="http://schemas.microsoft.com/office/drawing/2014/main" id="{97E8D029-15CD-41E5-9DE4-8F1016DA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78dc13921b45ff"/>
          <a:stretch xmlns:a="http://schemas.openxmlformats.org/drawingml/2006/main"/>
        </p:blipFill>
        <p:spPr>
          <a:xfrm xmlns:a="http://schemas.openxmlformats.org/drawingml/2006/main">
            <a:off x="3480513" y="4476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1" name="m-chart-meds-caption">
            <a:extLst xmlns:a="http://schemas.openxmlformats.org/drawingml/2006/main">
              <a:ext uri="{FF2B5EF4-FFF2-40B4-BE49-F238E27FC236}">
                <a16:creationId xmlns:a16="http://schemas.microsoft.com/office/drawing/2014/main" id="{EA7896E7-F231-4D3E-8835-EC475FAE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838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3: Oral medication or inhaler use among people with physician-diagnosed asthma by state and Brazil.</a:t>
            </a:r>
          </a:p>
        </p:txBody>
      </p:sp>
      <p:sp>
        <p:nvSpPr>
          <p:cNvPr id="42" name="m-chart-meds-frame">
            <a:extLst xmlns:a="http://schemas.openxmlformats.org/drawingml/2006/main">
              <a:ext uri="{FF2B5EF4-FFF2-40B4-BE49-F238E27FC236}">
                <a16:creationId xmlns:a16="http://schemas.microsoft.com/office/drawing/2014/main" id="{D6CD4B8D-3EDD-4548-B379-801376B59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7086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da982c6c93425c"/>
          <a:stretch xmlns:a="http://schemas.openxmlformats.org/drawingml/2006/main"/>
        </p:blipFill>
        <p:spPr>
          <a:xfrm xmlns:a="http://schemas.openxmlformats.org/drawingml/2006/main">
            <a:off x="3480513" y="7143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4" name="m-chart-smoke-caption">
            <a:extLst xmlns:a="http://schemas.openxmlformats.org/drawingml/2006/main">
              <a:ext uri="{FF2B5EF4-FFF2-40B4-BE49-F238E27FC236}">
                <a16:creationId xmlns:a16="http://schemas.microsoft.com/office/drawing/2014/main" id="{3392650B-1626-4AD3-83C2-9BCAF6A7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505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4: Mean lost days by health reason in Brazil, highlighting respiratory causes, PNS 2019.</a:t>
            </a:r>
          </a:p>
        </p:txBody>
      </p:sp>
      <p:sp>
        <p:nvSpPr>
          <p:cNvPr id="45" name="m-chart-smoke-frame">
            <a:extLst xmlns:a="http://schemas.openxmlformats.org/drawingml/2006/main">
              <a:ext uri="{FF2B5EF4-FFF2-40B4-BE49-F238E27FC236}">
                <a16:creationId xmlns:a16="http://schemas.microsoft.com/office/drawing/2014/main" id="{9FE1B11F-8C87-4229-B6FE-26A20C5F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753600"/>
            <a:ext cx="36766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1207bcae14798"/>
          <a:stretch xmlns:a="http://schemas.openxmlformats.org/drawingml/2006/main"/>
        </p:blipFill>
        <p:spPr>
          <a:xfrm xmlns:a="http://schemas.openxmlformats.org/drawingml/2006/main">
            <a:off x="3612696" y="9810750"/>
            <a:ext cx="2775857" cy="2000250"/>
          </a:xfrm>
          <a:prstGeom xmlns:a="http://schemas.openxmlformats.org/drawingml/2006/main" prst="rect">
            <a:avLst/>
          </a:prstGeom>
        </p:spPr>
      </p:pic>
      <p:sp>
        <p:nvSpPr>
          <p:cNvPr id="47" name="5-Discussion-box">
            <a:extLst xmlns:a="http://schemas.openxmlformats.org/drawingml/2006/main">
              <a:ext uri="{FF2B5EF4-FFF2-40B4-BE49-F238E27FC236}">
                <a16:creationId xmlns:a16="http://schemas.microsoft.com/office/drawing/2014/main" id="{16DEE12B-26FB-4E90-9F53-35715C7B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3752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8" name="5-Discussion-head">
            <a:extLst xmlns:a="http://schemas.openxmlformats.org/drawingml/2006/main">
              <a:ext uri="{FF2B5EF4-FFF2-40B4-BE49-F238E27FC236}">
                <a16:creationId xmlns:a16="http://schemas.microsoft.com/office/drawing/2014/main" id="{C0BA6549-03B3-4C1C-A6FA-1AC2A262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49" name="5-Discussion-title">
            <a:extLst xmlns:a="http://schemas.openxmlformats.org/drawingml/2006/main">
              <a:ext uri="{FF2B5EF4-FFF2-40B4-BE49-F238E27FC236}">
                <a16:creationId xmlns:a16="http://schemas.microsoft.com/office/drawing/2014/main" id="{C24D4A0E-B236-4B90-84A4-F9F602728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527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Discussion</a:t>
            </a:r>
          </a:p>
        </p:txBody>
      </p:sp>
      <p:sp>
        <p:nvSpPr>
          <p:cNvPr id="50" name="5-Discussion-body">
            <a:extLst xmlns:a="http://schemas.openxmlformats.org/drawingml/2006/main">
              <a:ext uri="{FF2B5EF4-FFF2-40B4-BE49-F238E27FC236}">
                <a16:creationId xmlns:a16="http://schemas.microsoft.com/office/drawing/2014/main" id="{DEA1BB08-5D20-40CA-8A2D-BF377F9D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2171700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Brazil: physician-diagnosed asthma increased from 4.41% in 2013 to 5.40% in 2019, with non-overlapping 95% CIs.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Respiratory causes, a category including asthma, bronchitis and pneumonia, accounted for 15.2% of health-related absenteeism.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Mean lost days for respiratory causes reached 4.8 days, indicating potential productivity cost.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Oral/inhaler medication use among people with asthma changed from 81.5% to 64.4%; interpret with 95% CIs and the diagnosed-group profile.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More diagnosed asthma expands the population at risk of attacks, work absence and lower productivity.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The respiratory category suggests asthma can contribute to lost workdays, household income pressure and reduced effective labor supply.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Better asthma control can have economic returns: fewer absences, fewer lost days and lower demand for acute care.</a:t>
            </a:r>
          </a:p>
        </p:txBody>
      </p:sp>
      <p:sp>
        <p:nvSpPr>
          <p:cNvPr id="51" name="6-Central conclusion-box">
            <a:extLst xmlns:a="http://schemas.openxmlformats.org/drawingml/2006/main">
              <a:ext uri="{FF2B5EF4-FFF2-40B4-BE49-F238E27FC236}">
                <a16:creationId xmlns:a16="http://schemas.microsoft.com/office/drawing/2014/main" id="{6FF2F46E-BF10-4457-843F-F3D8C9F7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2" name="6-Central conclusion-head">
            <a:extLst xmlns:a="http://schemas.openxmlformats.org/drawingml/2006/main">
              <a:ext uri="{FF2B5EF4-FFF2-40B4-BE49-F238E27FC236}">
                <a16:creationId xmlns:a16="http://schemas.microsoft.com/office/drawing/2014/main" id="{1569AD37-994C-4DF2-926B-762772E6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3" name="6-Central conclusion-title">
            <a:extLst xmlns:a="http://schemas.openxmlformats.org/drawingml/2006/main">
              <a:ext uri="{FF2B5EF4-FFF2-40B4-BE49-F238E27FC236}">
                <a16:creationId xmlns:a16="http://schemas.microsoft.com/office/drawing/2014/main" id="{6A04E2C4-3120-4DFD-A05D-B898F166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70389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Central conclusion</a:t>
            </a:r>
          </a:p>
        </p:txBody>
      </p:sp>
      <p:sp>
        <p:nvSpPr>
          <p:cNvPr id="54" name="6-Central conclusion-body">
            <a:extLst xmlns:a="http://schemas.openxmlformats.org/drawingml/2006/main">
              <a:ext uri="{FF2B5EF4-FFF2-40B4-BE49-F238E27FC236}">
                <a16:creationId xmlns:a16="http://schemas.microsoft.com/office/drawing/2014/main" id="{CEF92151-244C-40ED-8C83-1306B631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334250"/>
            <a:ext cx="217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Correct implementation of the sampling design is required for valid estimates.</a:t>
            </a:r>
          </a:p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Asthma should be treated as both a clinical and economic issue because it can affect productivity, income and the labor force.</a:t>
            </a:r>
          </a:p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Absenteeism results are aggregated respiratory estimates; they should not be read as asthma-only estimates.</a:t>
            </a:r>
          </a:p>
        </p:txBody>
      </p:sp>
      <p:sp>
        <p:nvSpPr>
          <p:cNvPr id="55" name="m-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8D88A9D7-7B90-4ED2-ACA5-D679EB4B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3629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2: Health-related absenteeism in Brazil, highlighting respiratory causes, PNS 2019.</a:t>
            </a:r>
          </a:p>
        </p:txBody>
      </p:sp>
      <p:sp>
        <p:nvSpPr>
          <p:cNvPr id="56" name="m-chart-crisis-frame">
            <a:extLst xmlns:a="http://schemas.openxmlformats.org/drawingml/2006/main">
              <a:ext uri="{FF2B5EF4-FFF2-40B4-BE49-F238E27FC236}">
                <a16:creationId xmlns:a16="http://schemas.microsoft.com/office/drawing/2014/main" id="{45B61A25-18C8-424A-9997-40570D76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6106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e353833170445d"/>
          <a:stretch xmlns:a="http://schemas.openxmlformats.org/drawingml/2006/main"/>
        </p:blipFill>
        <p:spPr>
          <a:xfrm xmlns:a="http://schemas.openxmlformats.org/drawingml/2006/main">
            <a:off x="7075326" y="8667750"/>
            <a:ext cx="2194249" cy="1581150"/>
          </a:xfrm>
          <a:prstGeom xmlns:a="http://schemas.openxmlformats.org/drawingml/2006/main" prst="rect">
            <a:avLst/>
          </a:prstGeom>
        </p:spPr>
      </p:pic>
      <p:sp>
        <p:nvSpPr>
          <p:cNvPr id="58" name="qr-box">
            <a:extLst xmlns:a="http://schemas.openxmlformats.org/drawingml/2006/main">
              <a:ext uri="{FF2B5EF4-FFF2-40B4-BE49-F238E27FC236}">
                <a16:creationId xmlns:a16="http://schemas.microsoft.com/office/drawing/2014/main" id="{CACE5E85-F793-473D-A342-F244D09C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591800"/>
            <a:ext cx="1181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b246558cb54e59"/>
          <a:stretch xmlns:a="http://schemas.openxmlformats.org/drawingml/2006/main"/>
        </p:blipFill>
        <p:spPr>
          <a:xfrm xmlns:a="http://schemas.openxmlformats.org/drawingml/2006/main">
            <a:off x="7715250" y="1070610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60" name="qr-label">
            <a:extLst xmlns:a="http://schemas.openxmlformats.org/drawingml/2006/main">
              <a:ext uri="{FF2B5EF4-FFF2-40B4-BE49-F238E27FC236}">
                <a16:creationId xmlns:a16="http://schemas.microsoft.com/office/drawing/2014/main" id="{9131A340-FFCF-40BD-880E-AB509AAB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696700"/>
            <a:ext cx="1028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Methodological report, reproducible code and figures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61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6085C1B3-CFAA-4876-812E-3C6510C7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268200"/>
            <a:ext cx="8877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2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E0B45362-7403-4534-9F15-98FBB85F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34875"/>
            <a:ext cx="872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References</a:t>
            </a:r>
          </a:p>
        </p:txBody>
      </p:sp>
      <p:sp>
        <p:nvSpPr>
          <p:cNvPr id="63" name="references-column-divider">
            <a:extLst xmlns:a="http://schemas.openxmlformats.org/drawingml/2006/main">
              <a:ext uri="{FF2B5EF4-FFF2-40B4-BE49-F238E27FC236}">
                <a16:creationId xmlns:a16="http://schemas.microsoft.com/office/drawing/2014/main" id="{BE4F3F38-9D33-4F81-AA95-5CF08AC35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2515850"/>
            <a:ext cx="95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D0D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4" name="references-body-left">
            <a:extLst xmlns:a="http://schemas.openxmlformats.org/drawingml/2006/main">
              <a:ext uri="{FF2B5EF4-FFF2-40B4-BE49-F238E27FC236}">
                <a16:creationId xmlns:a16="http://schemas.microsoft.com/office/drawing/2014/main" id="{EAF73F07-07CD-467D-ACE5-62E29DA1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34900"/>
            <a:ext cx="4276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</p:txBody>
      </p:sp>
      <p:sp>
        <p:nvSpPr>
          <p:cNvPr id="65" name="references-body-right">
            <a:extLst xmlns:a="http://schemas.openxmlformats.org/drawingml/2006/main">
              <a:ext uri="{FF2B5EF4-FFF2-40B4-BE49-F238E27FC236}">
                <a16:creationId xmlns:a16="http://schemas.microsoft.com/office/drawing/2014/main" id="{B1CBB9CC-5454-432D-9FB5-60B904822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12534900"/>
            <a:ext cx="4276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</p:spTree>
    <p:extLst>
      <p:ext uri="{BB962C8B-B14F-4D97-AF65-F5344CB8AC3E}">
        <p14:creationId xmlns:p14="http://schemas.microsoft.com/office/powerpoint/2010/main" val="17478843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2026-07-21T22:34:55.6180000Z</dcterms:created>
  <dcterms:modified xsi:type="dcterms:W3CDTF">2026-07-21T22:34:55.6180000Z</dcterms:modified>
</coreProperties>
</file>