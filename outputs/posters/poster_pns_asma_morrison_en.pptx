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cc8f62b2464a48" /><Relationship Type="http://schemas.openxmlformats.org/officeDocument/2006/relationships/extended-properties" Target="/docProps/app.xml" Id="R50f8441089914d0c" /><Relationship Type="http://schemas.openxmlformats.org/officeDocument/2006/relationships/officeDocument" Target="/ppt/presentation.xml" Id="Rdc7eca5b2fd44c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de232873bd4099"/>
  </p:sldMasterIdLst>
  <p:notesMasterIdLst>
    <p:notesMasterId xmlns:r="http://schemas.openxmlformats.org/officeDocument/2006/relationships" r:id="Rc2225289d15348ba"/>
  </p:notesMasterIdLst>
  <p:sldIdLst>
    <p:sldId xmlns:r="http://schemas.openxmlformats.org/officeDocument/2006/relationships" id="256" r:id="Rc4285e3c584f43a7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6eb49732504d58" /><Relationship Type="http://schemas.openxmlformats.org/officeDocument/2006/relationships/slideMaster" Target="/ppt/slideMasters/slideMaster1.xml" Id="R26de232873bd4099" /><Relationship Type="http://schemas.openxmlformats.org/officeDocument/2006/relationships/notesMaster" Target="/ppt/notesMasters/notesMaster1.xml" Id="Rc2225289d15348ba" /><Relationship Type="http://schemas.openxmlformats.org/officeDocument/2006/relationships/presProps" Target="/ppt/presProps.xml" Id="R5fe5eae1bf784354" /><Relationship Type="http://schemas.openxmlformats.org/officeDocument/2006/relationships/viewProps" Target="/ppt/viewProps.xml" Id="Rcaa180abffca40aa" /><Relationship Type="http://schemas.openxmlformats.org/officeDocument/2006/relationships/tableStyles" Target="/ppt/tableStyles.xml" Id="R1fadcb8ceea94167" /><Relationship Type="http://schemas.openxmlformats.org/officeDocument/2006/relationships/slide" Target="/ppt/slides/slide1.xml" Id="Rc4285e3c584f43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09127eb24c4b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38cb85618e456d" /><Relationship Type="http://schemas.openxmlformats.org/officeDocument/2006/relationships/notesMaster" Target="/ppt/notesMasters/notesMaster1.xml" Id="R4ec0ad8e10434d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8d9c574d8e4f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95441dabf4d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23a659867246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ba6660c1243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ef537fc6d45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10685c5eb404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bd96963f3e427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5ad826ae445d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9792fa8724d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d48ba8ac8b455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16e97102a4c8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71BF41-BC6D-4537-A7E2-09AF779B867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88616" y="10228016"/>
            <a:ext cx="37313968" cy="70539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05FBD39-38A4-42B6-8635-B7166E1144B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7985" y="18653228"/>
            <a:ext cx="30715242" cy="8413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 algn="ctr">
              <a:buNone/>
              <a:defRPr/>
            </a:lvl1pPr>
            <a:lvl2pPr marL="1290584" indent="0" algn="ctr">
              <a:buNone/>
              <a:defRPr/>
            </a:lvl2pPr>
            <a:lvl3pPr marL="2581168" indent="0" algn="ctr">
              <a:buNone/>
              <a:defRPr/>
            </a:lvl3pPr>
            <a:lvl4pPr marL="3871752" indent="0" algn="ctr">
              <a:buNone/>
              <a:defRPr/>
            </a:lvl4pPr>
            <a:lvl5pPr marL="5162337" indent="0" algn="ctr">
              <a:buNone/>
              <a:defRPr/>
            </a:lvl5pPr>
            <a:lvl6pPr marL="6452921" indent="0" algn="ctr">
              <a:buNone/>
              <a:defRPr/>
            </a:lvl6pPr>
            <a:lvl7pPr marL="7743505" indent="0" algn="ctr">
              <a:buNone/>
              <a:defRPr/>
            </a:lvl7pPr>
            <a:lvl8pPr marL="9034089" indent="0" algn="ctr">
              <a:buNone/>
              <a:defRPr/>
            </a:lvl8pPr>
            <a:lvl9pPr marL="10324673" indent="0" algn="ctr">
              <a:buNone/>
              <a:defRPr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97CD4-B1D3-4544-A976-F2F0AD4555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4DC72B1-F071-40B7-9994-1159B5245F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A88373-1A5C-4340-9B93-B45D645845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71321" y="21153765"/>
            <a:ext cx="37303218" cy="6537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t"/>
          <a:lstStyle xmlns:a="http://schemas.openxmlformats.org/drawingml/2006/main">
            <a:lvl1pPr algn="l">
              <a:buNone/>
              <a:defRPr sz="11291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B2C3089-3552-461F-9866-C2803023BE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71321" y="13950599"/>
            <a:ext cx="37303218" cy="72031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5646"/>
            </a:lvl1pPr>
            <a:lvl2pPr marL="1290584" indent="0">
              <a:buNone/>
              <a:defRPr sz="5081"/>
            </a:lvl2pPr>
            <a:lvl3pPr marL="2581168" indent="0">
              <a:buNone/>
              <a:defRPr sz="4516"/>
            </a:lvl3pPr>
            <a:lvl4pPr marL="3871752" indent="0">
              <a:buNone/>
              <a:defRPr sz="3952"/>
            </a:lvl4pPr>
            <a:lvl5pPr marL="5162337" indent="0">
              <a:buNone/>
              <a:defRPr sz="3952"/>
            </a:lvl5pPr>
            <a:lvl6pPr marL="6452921" indent="0">
              <a:buNone/>
              <a:defRPr sz="3952"/>
            </a:lvl6pPr>
            <a:lvl7pPr marL="7743505" indent="0">
              <a:buNone/>
              <a:defRPr sz="3952"/>
            </a:lvl7pPr>
            <a:lvl8pPr marL="9034089" indent="0">
              <a:buNone/>
              <a:defRPr sz="3952"/>
            </a:lvl8pPr>
            <a:lvl9pPr marL="10324673" indent="0">
              <a:buNone/>
              <a:defRPr sz="3952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63ED06-89E4-4ADC-8838-AB1EDB2DEC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3F9EE11-08D5-40A7-8683-D1F7FBF3E8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21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D2CB86-2602-4FF1-B9E3-FF8262F6191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461464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84280F-F49E-4150-99FB-D0A4D54384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19FEAD5-E610-4A69-B619-69E01CCE82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1" y="7368533"/>
            <a:ext cx="19398538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9F6E4AF-4BFF-4D7C-9BC5-9330FA2A6F2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92411" y="10437739"/>
            <a:ext cx="19398538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67E44F9-9875-46CC-8D4F-72A38B7420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300261" y="7368533"/>
            <a:ext cx="19398531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FDE1692-5E03-4E07-9B53-DE78B57C9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2300261" y="10437739"/>
            <a:ext cx="19398531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3B483F-5781-48DE-BC3C-41169CAD87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45DEBF-D363-41ED-9291-06627EDAD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0768"/>
            <a:ext cx="14444117" cy="55778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CB05962-AEF3-4646-AF49-2EC387EA43A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7163140" y="1310769"/>
            <a:ext cx="24535650" cy="280947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9033"/>
            </a:lvl1pPr>
            <a:lvl2pPr>
              <a:buNone/>
              <a:defRPr sz="7904"/>
            </a:lvl2pPr>
            <a:lvl3pPr>
              <a:buNone/>
              <a:defRPr sz="6775"/>
            </a:lvl3pPr>
            <a:lvl4pPr>
              <a:buNone/>
              <a:defRPr sz="5646"/>
            </a:lvl4pPr>
            <a:lvl5pPr>
              <a:buNone/>
              <a:defRPr sz="5646"/>
            </a:lvl5pPr>
            <a:lvl6pPr>
              <a:buNone/>
              <a:defRPr sz="5646"/>
            </a:lvl6pPr>
            <a:lvl7pPr>
              <a:buNone/>
              <a:defRPr sz="5646"/>
            </a:lvl7pPr>
            <a:lvl8pPr>
              <a:buNone/>
              <a:defRPr sz="5646"/>
            </a:lvl8pPr>
            <a:lvl9pPr>
              <a:buNone/>
              <a:defRPr sz="564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2EB9BD7-A65F-4B5E-9EB4-D2AC08D805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192412" y="6888586"/>
            <a:ext cx="14444117" cy="225169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4673F5-421A-4F32-BDF7-510B871D6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97699" y="23041268"/>
            <a:ext cx="26341171" cy="27223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DACD568-3509-480A-B390-A9A558B730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8597699" y="2940156"/>
            <a:ext cx="26341171" cy="197502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9033"/>
            </a:lvl1pPr>
            <a:lvl2pPr marL="1290584" indent="0">
              <a:buNone/>
              <a:defRPr sz="7904"/>
            </a:lvl2pPr>
            <a:lvl3pPr marL="2581168" indent="0">
              <a:buNone/>
              <a:defRPr sz="6775"/>
            </a:lvl3pPr>
            <a:lvl4pPr marL="3871752" indent="0">
              <a:buNone/>
              <a:defRPr sz="5646"/>
            </a:lvl4pPr>
            <a:lvl5pPr marL="5162337" indent="0">
              <a:buNone/>
              <a:defRPr sz="5646"/>
            </a:lvl5pPr>
            <a:lvl6pPr marL="6452921" indent="0">
              <a:buNone/>
              <a:defRPr sz="5646"/>
            </a:lvl6pPr>
            <a:lvl7pPr marL="7743505" indent="0">
              <a:buNone/>
              <a:defRPr sz="5646"/>
            </a:lvl7pPr>
            <a:lvl8pPr marL="9034089" indent="0">
              <a:buNone/>
              <a:defRPr sz="5646"/>
            </a:lvl8pPr>
            <a:lvl9pPr marL="10324673" indent="0">
              <a:buNone/>
              <a:defRPr sz="5646"/>
            </a:lvl9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AEF4487-7BAE-452F-85AD-9CF762AADF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597699" y="25763633"/>
            <a:ext cx="26341171" cy="38637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C0B4C8-85CA-4C9B-BB92-1C7F346095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EC2F8-AC2F-47D2-B918-0267B0BC2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B4D1652-370D-4E7A-9C4E-0010FEED9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822198" y="1318835"/>
            <a:ext cx="9876592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495163-C7CF-4DFB-8120-FF21507B0B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0" y="1318835"/>
            <a:ext cx="28598066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1dfb7ab03d4d2e" /><Relationship Type="http://schemas.openxmlformats.org/officeDocument/2006/relationships/slideLayout" Target="/ppt/slideLayouts/slideLayout1.xml" Id="R6a5f26cf49234d2c" /><Relationship Type="http://schemas.openxmlformats.org/officeDocument/2006/relationships/slideLayout" Target="/ppt/slideLayouts/slideLayout2.xml" Id="Ra833135de66f4d77" /><Relationship Type="http://schemas.openxmlformats.org/officeDocument/2006/relationships/slideLayout" Target="/ppt/slideLayouts/slideLayout3.xml" Id="R584addf6ec1a4105" /><Relationship Type="http://schemas.openxmlformats.org/officeDocument/2006/relationships/slideLayout" Target="/ppt/slideLayouts/slideLayout4.xml" Id="R53ddbf481c054844" /><Relationship Type="http://schemas.openxmlformats.org/officeDocument/2006/relationships/slideLayout" Target="/ppt/slideLayouts/slideLayout5.xml" Id="Rc92806348ef248cc" /><Relationship Type="http://schemas.openxmlformats.org/officeDocument/2006/relationships/slideLayout" Target="/ppt/slideLayouts/slideLayout6.xml" Id="Re9807ca4e37749c1" /><Relationship Type="http://schemas.openxmlformats.org/officeDocument/2006/relationships/slideLayout" Target="/ppt/slideLayouts/slideLayout7.xml" Id="R6dd32dd7afb24f26" /><Relationship Type="http://schemas.openxmlformats.org/officeDocument/2006/relationships/slideLayout" Target="/ppt/slideLayouts/slideLayout8.xml" Id="R18995a51580d488e" /><Relationship Type="http://schemas.openxmlformats.org/officeDocument/2006/relationships/slideLayout" Target="/ppt/slideLayouts/slideLayout9.xml" Id="Rfc294316f2c04c28" /><Relationship Type="http://schemas.openxmlformats.org/officeDocument/2006/relationships/slideLayout" Target="/ppt/slideLayouts/slideLayout10.xml" Id="Rdd4405e2cfcc4ac8" /><Relationship Type="http://schemas.openxmlformats.org/officeDocument/2006/relationships/slideLayout" Target="/ppt/slideLayouts/slideLayout11.xml" Id="R36f9c88930d5485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f26cf49234d2c"/>
    <p:sldLayoutId xmlns:r="http://schemas.openxmlformats.org/officeDocument/2006/relationships" id="2147483650" r:id="Ra833135de66f4d77"/>
    <p:sldLayoutId xmlns:r="http://schemas.openxmlformats.org/officeDocument/2006/relationships" id="2147483651" r:id="R584addf6ec1a4105"/>
    <p:sldLayoutId xmlns:r="http://schemas.openxmlformats.org/officeDocument/2006/relationships" id="2147483652" r:id="R53ddbf481c054844"/>
    <p:sldLayoutId xmlns:r="http://schemas.openxmlformats.org/officeDocument/2006/relationships" id="2147483653" r:id="Rc92806348ef248cc"/>
    <p:sldLayoutId xmlns:r="http://schemas.openxmlformats.org/officeDocument/2006/relationships" id="2147483654" r:id="Re9807ca4e37749c1"/>
    <p:sldLayoutId xmlns:r="http://schemas.openxmlformats.org/officeDocument/2006/relationships" id="2147483655" r:id="R6dd32dd7afb24f26"/>
    <p:sldLayoutId xmlns:r="http://schemas.openxmlformats.org/officeDocument/2006/relationships" id="2147483656" r:id="R18995a51580d488e"/>
    <p:sldLayoutId xmlns:r="http://schemas.openxmlformats.org/officeDocument/2006/relationships" id="2147483657" r:id="Rfc294316f2c04c28"/>
    <p:sldLayoutId xmlns:r="http://schemas.openxmlformats.org/officeDocument/2006/relationships" id="2147483658" r:id="Rdd4405e2cfcc4ac8"/>
    <p:sldLayoutId xmlns:r="http://schemas.openxmlformats.org/officeDocument/2006/relationships" id="2147483659" r:id="R36f9c88930d54857"/>
  </p:sldLayoutIdLst>
  <p:txStyles>
    <p:titleStyle>
      <a:lvl1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1290584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2581168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3871752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5162337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1222375" indent="-1222375" algn="l" defTabSz="3260725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652713" indent="-1020763" algn="l" defTabSz="3260725">
        <a:spcBef>
          <a:spcPct val="20000"/>
        </a:spcBef>
        <a:spcAft>
          <a:spcPct val="0"/>
        </a:spcAft>
        <a:buChar char="–"/>
        <a:defRPr sz="101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76700" indent="-814388" algn="l" defTabSz="3260725">
        <a:spcBef>
          <a:spcPct val="20000"/>
        </a:spcBef>
        <a:spcAft>
          <a:spcPct val="0"/>
        </a:spcAft>
        <a:buChar char="•"/>
        <a:defRPr sz="8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713413" indent="-819150" algn="l" defTabSz="3260725">
        <a:spcBef>
          <a:spcPct val="20000"/>
        </a:spcBef>
        <a:spcAft>
          <a:spcPct val="0"/>
        </a:spcAft>
        <a:buChar char="–"/>
        <a:defRPr sz="7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339013" indent="-814388" algn="l" defTabSz="3260725">
        <a:spcBef>
          <a:spcPct val="20000"/>
        </a:spcBef>
        <a:spcAft>
          <a:spcPct val="0"/>
        </a:spcAft>
        <a:buChar char="»"/>
        <a:defRPr sz="7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630782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921366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211950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502534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290584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581168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71752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162337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452921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743505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9034089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0324673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f4f0331bf54ff0" /><Relationship Type="http://schemas.openxmlformats.org/officeDocument/2006/relationships/image" Target="/ppt/media/image.png" Id="R25f50d1c3e5c4dee" /><Relationship Type="http://schemas.openxmlformats.org/officeDocument/2006/relationships/image" Target="/ppt/media/image2.png" Id="R9a03a2d3afeb441c" /><Relationship Type="http://schemas.openxmlformats.org/officeDocument/2006/relationships/image" Target="/ppt/media/image3.png" Id="R47bd4cdb33eb49cf" /><Relationship Type="http://schemas.openxmlformats.org/officeDocument/2006/relationships/image" Target="/ppt/media/image4.png" Id="R837c7528521d42f5" /><Relationship Type="http://schemas.openxmlformats.org/officeDocument/2006/relationships/image" Target="/ppt/media/image5.png" Id="R161f7d53ecff4105" /><Relationship Type="http://schemas.openxmlformats.org/officeDocument/2006/relationships/image" Target="/ppt/media/image6.png" Id="R59a633428939412e" /><Relationship Type="http://schemas.openxmlformats.org/officeDocument/2006/relationships/image" Target="/ppt/media/image7.png" Id="R0f2383c324ff4946" /><Relationship Type="http://schemas.openxmlformats.org/officeDocument/2006/relationships/image" Target="/ppt/media/image8.png" Id="R5b50d2b0086c487b" /><Relationship Type="http://schemas.openxmlformats.org/officeDocument/2006/relationships/image" Target="/ppt/media/image9.png" Id="Rfd3d3e68d53740fb" /><Relationship Type="http://schemas.openxmlformats.org/officeDocument/2006/relationships/image" Target="/ppt/media/image10.png" Id="R1e47abb8afa14a86" /><Relationship Type="http://schemas.openxmlformats.org/officeDocument/2006/relationships/image" Target="/ppt/media/image11.png" Id="R876f2124fa524b5b" /><Relationship Type="http://schemas.openxmlformats.org/officeDocument/2006/relationships/image" Target="/ppt/media/image12.png" Id="R69942654c14048d3" /><Relationship Type="http://schemas.openxmlformats.org/officeDocument/2006/relationships/notesSlide" Target="/ppt/notesSlides/notesSlide1.xml" Id="R7227d348b448451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3F0A63-7DBA-4862-8ADB-634BE208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29" y="0"/>
            <a:ext cx="26974800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25A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E2B6D61B-B0C1-41B4-91D3-8A4338C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29" y="6443810"/>
            <a:ext cx="26974800" cy="1109774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0" rIns="914400" anchor="t">
            <a:noAutofit/>
          </a:bodyPr>
          <a:lstStyle xmlns:a="http://schemas.openxmlformats.org/drawingml/2006/main">
            <a:lvl1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+mj-lt"/>
                <a:ea typeface="+mj-lt"/>
                <a:cs typeface="+mj-lt"/>
              </a:defRPr>
            </a:lvl1pPr>
            <a:lvl2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2pPr>
            <a:lvl3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3pPr>
            <a:lvl4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4pPr>
            <a:lvl5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5pPr>
            <a:lvl6pPr marL="1290584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6pPr>
            <a:lvl7pPr marL="2581168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7pPr>
            <a:lvl8pPr marL="3871752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8pPr>
            <a:lvl9pPr marL="5162337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9600" b="1" i="0">
                <a:solidFill>
                  <a:srgbClr val="FFFFFF"/>
                </a:solidFill>
              </a:defRPr>
            </a:pPr>
            <a:r>
              <a:rPr sz="9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Asthma diagnosis rose, but attacks did not clearly decline</a:t>
            </a:r>
          </a:p>
        </p:txBody>
      </p:sp>
      <p:sp>
        <p:nvSpPr>
          <p:cNvPr id="11" name="Graphic 7">
            <a:extLst xmlns:a="http://schemas.openxmlformats.org/drawingml/2006/main">
              <a:ext uri="{FF2B5EF4-FFF2-40B4-BE49-F238E27FC236}">
                <a16:creationId xmlns:a16="http://schemas.microsoft.com/office/drawing/2014/main" id="{6A914F07-9B81-4F27-AA77-A20809DD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2662" y="25909266"/>
            <a:ext cx="1117158" cy="1932381"/>
          </a:xfrm>
          <a:custGeom xmlns:a="http://schemas.openxmlformats.org/drawingml/2006/main"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 xmlns:a="http://schemas.openxmlformats.org/drawingml/2006/main">
            <a:srgbClr val="B9D9EB"/>
          </a:solidFill>
          <a:ln xmlns:a="http://schemas.openxmlformats.org/drawingml/2006/main" w="56406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6E3CCB-B3D7-4851-9F10-196B92FE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6853" y="25997207"/>
            <a:ext cx="7179897" cy="14056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 i="0">
                <a:solidFill>
                  <a:srgbClr val="B9D9EB"/>
                </a:solidFill>
              </a:defRPr>
            </a:pPr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Scan to open</a:t>
            </a:r>
          </a:p>
          <a:p xmlns:a="http://schemas.openxmlformats.org/drawingml/2006/main">
            <a:pPr algn="l">
              <a:buNone/>
              <a:defRPr sz="2325" b="0" i="0">
                <a:solidFill>
                  <a:srgbClr val="B9D9EB"/>
                </a:solidFill>
              </a:defRPr>
            </a:pPr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the repository</a:t>
            </a:r>
          </a:p>
        </p:txBody>
      </p:sp>
      <p:cxnSp>
        <p:nvCxnSpPr>
          <p:cNvPr id="124" name="Straight Arrow Connector 12"/>
          <p:cNvCxnSpPr/>
          <p:nvPr/>
        </p:nvCxnSpPr>
        <p:spPr>
          <a:xfrm xmlns:a="http://schemas.openxmlformats.org/drawingml/2006/main" flipH="1">
            <a:off x="16574285" y="26803752"/>
            <a:ext cx="1153301" cy="0"/>
          </a:xfrm>
          <a:prstGeom xmlns:a="http://schemas.openxmlformats.org/drawingml/2006/main" prst="straightConnector1">
            <a:avLst/>
          </a:prstGeom>
          <a:ln xmlns:a="http://schemas.openxmlformats.org/drawingml/2006/main" w="66675">
            <a:solidFill>
              <a:srgbClr val="B9D9EB"/>
            </a:solidFill>
            <a:prstDash val="sysDot"/>
            <a:tailEnd type="triangle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13982A0-69CB-45AD-A5F2-E7F4BB7E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" y="0"/>
            <a:ext cx="8436429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E20FE60-407F-4C94-8E81-E6399E6D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11229" y="0"/>
            <a:ext cx="8436429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pic>
        <p:nvPicPr>
          <p:cNvPr id="127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50d1c3e5c4d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419038" y="29678799"/>
            <a:ext cx="2810933" cy="2294467"/>
          </a:xfrm>
          <a:prstGeom xmlns:a="http://schemas.openxmlformats.org/drawingml/2006/main" prst="rect">
            <a:avLst/>
          </a:prstGeom>
        </p:spPr>
      </p:pic>
      <p:sp>
        <p:nvSpPr>
          <p:cNvPr id="21" name="Graphic 18">
            <a:extLst xmlns:a="http://schemas.openxmlformats.org/drawingml/2006/main">
              <a:ext uri="{FF2B5EF4-FFF2-40B4-BE49-F238E27FC236}">
                <a16:creationId xmlns:a16="http://schemas.microsoft.com/office/drawing/2014/main" id="{DF6CD646-5E36-42FB-96E3-FEB08C25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1452" y="7489285"/>
            <a:ext cx="320382" cy="297952"/>
          </a:xfrm>
          <a:custGeom xmlns:a="http://schemas.openxmlformats.org/drawingml/2006/main"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663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sp>
        <p:nvSpPr>
          <p:cNvPr id="24" name="Graphic 18">
            <a:extLst xmlns:a="http://schemas.openxmlformats.org/drawingml/2006/main">
              <a:ext uri="{FF2B5EF4-FFF2-40B4-BE49-F238E27FC236}">
                <a16:creationId xmlns:a16="http://schemas.microsoft.com/office/drawing/2014/main" id="{1726A8DA-9186-4C79-926E-2D1215AE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9038" y="26632748"/>
            <a:ext cx="320382" cy="297952"/>
          </a:xfrm>
          <a:custGeom xmlns:a="http://schemas.openxmlformats.org/drawingml/2006/main"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</a:schemeClr>
          </a:solidFill>
          <a:ln xmlns:a="http://schemas.openxmlformats.org/drawingml/2006/main" w="3663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/>
        </p:txBody>
      </p:sp>
      <p:pic>
        <p:nvPicPr>
          <p:cNvPr id="130" name="Imagem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3a2d3afeb441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237780" y="28882425"/>
            <a:ext cx="3330899" cy="3731175"/>
          </a:xfrm>
          <a:prstGeom xmlns:a="http://schemas.openxmlformats.org/drawingml/2006/main" prst="rect">
            <a:avLst/>
          </a:prstGeom>
        </p:spPr>
      </p:pic>
      <p:pic>
        <p:nvPicPr>
          <p:cNvPr id="131" name="Imagem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d4cdb33eb49cf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0" flipH="1" flipV="0">
            <a:off x="17720847" y="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2" name="Imagem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d4cdb33eb49c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5372905" y="1"/>
            <a:ext cx="8518294" cy="4696690"/>
          </a:xfrm>
          <a:prstGeom xmlns:a="http://schemas.openxmlformats.org/drawingml/2006/main" prst="rect">
            <a:avLst/>
          </a:prstGeom>
        </p:spPr>
      </p:pic>
      <p:pic>
        <p:nvPicPr>
          <p:cNvPr id="133" name="Imagem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d4cdb33eb49cf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10800000" flipH="1" flipV="0">
            <a:off x="0" y="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4" name="Imagem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c7528521d42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104807" y="998069"/>
            <a:ext cx="12847803" cy="2658990"/>
          </a:xfrm>
          <a:prstGeom xmlns:a="http://schemas.openxmlformats.org/drawingml/2006/main" prst="rect">
            <a:avLst/>
          </a:prstGeom>
        </p:spPr>
      </p:pic>
      <p:pic>
        <p:nvPicPr>
          <p:cNvPr id="135" name="Imagem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f7d53ecff4105"/>
          <a:srcRect xmlns:a="http://schemas.openxmlformats.org/drawingml/2006/main" l="0" t="2119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6751300" y="1901593"/>
            <a:ext cx="23686714" cy="1755466"/>
          </a:xfrm>
          <a:prstGeom xmlns:a="http://schemas.openxmlformats.org/drawingml/2006/main" prst="rect">
            <a:avLst/>
          </a:prstGeom>
        </p:spPr>
      </p:pic>
      <p:pic>
        <p:nvPicPr>
          <p:cNvPr id="136" name="Imagem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d4cdb33eb49cf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0" flipH="1" flipV="0">
            <a:off x="17873247" y="15240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7" name="Imagem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d4cdb33eb49c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5525305" y="152401"/>
            <a:ext cx="8518294" cy="4696690"/>
          </a:xfrm>
          <a:prstGeom xmlns:a="http://schemas.openxmlformats.org/drawingml/2006/main" prst="rect">
            <a:avLst/>
          </a:prstGeom>
        </p:spPr>
      </p:pic>
      <p:pic>
        <p:nvPicPr>
          <p:cNvPr id="138" name="Imagem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d4cdb33eb49cf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10800000" flipH="1" flipV="0">
            <a:off x="152400" y="152401"/>
            <a:ext cx="17829495" cy="4696690"/>
          </a:xfrm>
          <a:prstGeom xmlns:a="http://schemas.openxmlformats.org/drawingml/2006/main" prst="rect">
            <a:avLst/>
          </a:prstGeom>
        </p:spPr>
      </p:pic>
      <p:pic>
        <p:nvPicPr>
          <p:cNvPr id="139" name="Imagem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c7528521d42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257207" y="1150469"/>
            <a:ext cx="12847803" cy="2658990"/>
          </a:xfrm>
          <a:prstGeom xmlns:a="http://schemas.openxmlformats.org/drawingml/2006/main" prst="rect">
            <a:avLst/>
          </a:prstGeom>
        </p:spPr>
      </p:pic>
      <p:pic>
        <p:nvPicPr>
          <p:cNvPr id="140" name="Imagem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63342893941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751301" y="1892510"/>
            <a:ext cx="24396700" cy="1536490"/>
          </a:xfrm>
          <a:prstGeom xmlns:a="http://schemas.openxmlformats.org/drawingml/2006/main" prst="rect">
            <a:avLst/>
          </a:prstGeom>
        </p:spPr>
      </p:pic>
      <p:sp>
        <p:nvSpPr>
          <p:cNvPr id="39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DD16D0E4-4F60-4FC0-B876-21F32411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7067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1">
                <a:solidFill>
                  <a:srgbClr val="111111"/>
                </a:solidFill>
              </a:defRPr>
            </a:pPr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Asthma in Brazil, 2013-2019</a:t>
            </a:r>
          </a:p>
          <a:p xmlns:a="http://schemas.openxmlformats.org/drawingml/2006/main">
            <a:pPr algn="l">
              <a:buNone/>
              <a:defRPr sz="2700" b="1" i="1">
                <a:solidFill>
                  <a:srgbClr val="111111"/>
                </a:solidFill>
              </a:defRPr>
            </a:pPr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Reproducible estimates from PNS microdata</a:t>
            </a:r>
          </a:p>
        </p:txBody>
      </p:sp>
      <p:sp>
        <p:nvSpPr>
          <p:cNvPr id="40" name="poster-presenter">
            <a:extLst xmlns:a="http://schemas.openxmlformats.org/drawingml/2006/main">
              <a:ext uri="{FF2B5EF4-FFF2-40B4-BE49-F238E27FC236}">
                <a16:creationId xmlns:a16="http://schemas.microsoft.com/office/drawing/2014/main" id="{0F5D8B28-13B9-47D5-9A43-2E279A4B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7334250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5A5A5A"/>
                </a:solidFill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PRESENTER: I. Dube; M. E. L. Silva</a:t>
            </a:r>
          </a:p>
        </p:txBody>
      </p:sp>
      <p:sp>
        <p:nvSpPr>
          <p:cNvPr id="43" name="poster-authors">
            <a:extLst xmlns:a="http://schemas.openxmlformats.org/drawingml/2006/main">
              <a:ext uri="{FF2B5EF4-FFF2-40B4-BE49-F238E27FC236}">
                <a16:creationId xmlns:a16="http://schemas.microsoft.com/office/drawing/2014/main" id="{7CE64CB1-A695-414D-A5AE-FD95A447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2225" y="26450925"/>
            <a:ext cx="666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I. Dube; M. E. L. Silva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2013-2019 | Brazil</a:t>
            </a:r>
          </a:p>
        </p:txBody>
      </p:sp>
      <p:sp>
        <p:nvSpPr>
          <p:cNvPr id="44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3C2FDF1F-3204-4C2D-8B6F-9BC5448D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9125" y="24574500"/>
            <a:ext cx="45720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0">
            <a:solidFill>
              <a:srgbClr val="B9D9EB"/>
            </a:solidFill>
            <a:prstDash val="solid"/>
          </a:ln>
        </p:spPr>
      </p:sp>
      <p:sp>
        <p:nvSpPr>
          <p:cNvPr id="45" name="github-qr-placeholder-label">
            <a:extLst xmlns:a="http://schemas.openxmlformats.org/drawingml/2006/main">
              <a:ext uri="{FF2B5EF4-FFF2-40B4-BE49-F238E27FC236}">
                <a16:creationId xmlns:a16="http://schemas.microsoft.com/office/drawing/2014/main" id="{FAE6DF9F-2CFD-4F30-AC54-DF414291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260985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 i="0">
                <a:solidFill>
                  <a:srgbClr val="20425A"/>
                </a:solidFill>
              </a:defRPr>
            </a:pPr>
            <a:r>
              <a:rPr sz="2325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Insert GitHub QR code here</a:t>
            </a:r>
          </a:p>
        </p:txBody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383c324ff4946"/>
          <a:stretch xmlns:a="http://schemas.openxmlformats.org/drawingml/2006/main"/>
        </p:blipFill>
        <p:spPr>
          <a:xfrm xmlns:a="http://schemas.openxmlformats.org/drawingml/2006/main">
            <a:off x="99060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0d2b0086c487b"/>
          <a:stretch xmlns:a="http://schemas.openxmlformats.org/drawingml/2006/main"/>
        </p:blipFill>
        <p:spPr>
          <a:xfrm xmlns:a="http://schemas.openxmlformats.org/drawingml/2006/main">
            <a:off x="230505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d3e68d53740fb"/>
          <a:stretch xmlns:a="http://schemas.openxmlformats.org/drawingml/2006/main"/>
        </p:blipFill>
        <p:spPr>
          <a:xfrm xmlns:a="http://schemas.openxmlformats.org/drawingml/2006/main">
            <a:off x="99060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47abb8afa14a86"/>
          <a:stretch xmlns:a="http://schemas.openxmlformats.org/drawingml/2006/main"/>
        </p:blipFill>
        <p:spPr>
          <a:xfrm xmlns:a="http://schemas.openxmlformats.org/drawingml/2006/main">
            <a:off x="23050500" y="13716000"/>
            <a:ext cx="10477500" cy="8096250"/>
          </a:xfrm>
          <a:prstGeom xmlns:a="http://schemas.openxmlformats.org/drawingml/2006/main" prst="rect">
            <a:avLst/>
          </a:prstGeom>
        </p:spPr>
      </p:pic>
      <p:sp>
        <p:nvSpPr>
          <p:cNvPr id="115" name="morrison-method-detail">
            <a:extLst xmlns:a="http://schemas.openxmlformats.org/drawingml/2006/main">
              <a:ext uri="{FF2B5EF4-FFF2-40B4-BE49-F238E27FC236}">
                <a16:creationId xmlns:a16="http://schemas.microsoft.com/office/drawing/2014/main" id="{92A54272-6325-4923-B0AB-8F8B5311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667750"/>
            <a:ext cx="7239000" cy="1504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INTRO: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Asthma combines chronic burden, recurrent attacks and sustained management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METHODS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1. PNS 2013/2019 microdata.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Design: PSU, strata and weights via `pns_design()`.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p_hat = sum(w_i y_i) / sum(w_i).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% = 100*p_hat; rate_100k = 100000*p_hat.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95% CI: `svyciprop(method = "beta")`.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RESULTS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Asthma: 4.41% -&gt; 5.40%.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Attacks: 38.3% -&gt; 37.7%.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Medication: 81.5% -&gt; 64.4%.</a:t>
            </a:r>
          </a:p>
        </p:txBody>
      </p:sp>
      <p:sp>
        <p:nvSpPr>
          <p:cNvPr id="116" name="morrison-resource-detail">
            <a:extLst xmlns:a="http://schemas.openxmlformats.org/drawingml/2006/main">
              <a:ext uri="{FF2B5EF4-FFF2-40B4-BE49-F238E27FC236}">
                <a16:creationId xmlns:a16="http://schemas.microsoft.com/office/drawing/2014/main" id="{775396DD-3FB2-4986-88F5-BBE24386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3575" y="5686425"/>
            <a:ext cx="6905625" cy="1466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RESOURCES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Reserved space for GitHub QR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Reproducible code: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https://github.com/ingodube/PNS_2013_2019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Interpretation: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Non-overlapping CIs support the national asthma increase.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Overlapping CIs limit state-level claims.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Stable attacks suggest management gaps.</a:t>
            </a:r>
          </a:p>
          <a:p xmlns:a="http://schemas.openxmlformats.org/drawingml/2006/main">
            <a:pPr algn="l">
              <a:defRPr sz="1875" b="0" i="0">
                <a:solidFill>
                  <a:srgbClr val="111111"/>
                </a:solidFill>
              </a:defRPr>
            </a:pPr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Lower medication percentage should be read with the population rate.</a:t>
            </a:r>
          </a:p>
        </p:txBody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f2124fa524b5b"/>
          <a:stretch xmlns:a="http://schemas.openxmlformats.org/drawingml/2006/main"/>
        </p:blipFill>
        <p:spPr>
          <a:xfrm xmlns:a="http://schemas.openxmlformats.org/drawingml/2006/main">
            <a:off x="9906000" y="13716000"/>
            <a:ext cx="10477500" cy="8096250"/>
          </a:xfrm>
          <a:prstGeom xmlns:a="http://schemas.openxmlformats.org/drawingml/2006/main" prst="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42654c14048d3"/>
          <a:stretch xmlns:a="http://schemas.openxmlformats.org/drawingml/2006/main"/>
        </p:blipFill>
        <p:spPr>
          <a:xfrm xmlns:a="http://schemas.openxmlformats.org/drawingml/2006/main">
            <a:off x="23050500" y="13716000"/>
            <a:ext cx="10477500" cy="8096250"/>
          </a:xfrm>
          <a:prstGeom xmlns:a="http://schemas.openxmlformats.org/drawingml/2006/main" prst="rect">
            <a:avLst/>
          </a:prstGeom>
        </p:spPr>
      </p:pic>
      <p:sp>
        <p:nvSpPr>
          <p:cNvPr id="119" name="morrison-chart-note">
            <a:extLst xmlns:a="http://schemas.openxmlformats.org/drawingml/2006/main">
              <a:ext uri="{FF2B5EF4-FFF2-40B4-BE49-F238E27FC236}">
                <a16:creationId xmlns:a16="http://schemas.microsoft.com/office/drawing/2014/main" id="{E22CCC04-AB6E-4084-9CED-68338E5E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145625"/>
            <a:ext cx="24765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0" i="0">
                <a:solidFill>
                  <a:srgbClr val="B9D9EB"/>
                </a:solidFill>
              </a:defRPr>
            </a:pPr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Plots exported from the R scripts: `geom_col`, `geom_errorbar`, `coord_flip`, 95% CIs and original palette.</a:t>
            </a:r>
          </a:p>
        </p:txBody>
      </p:sp>
    </p:spTree>
    <p:extLst>
      <p:ext uri="{BB962C8B-B14F-4D97-AF65-F5344CB8AC3E}">
        <p14:creationId xmlns:p14="http://schemas.microsoft.com/office/powerpoint/2010/main" val="2440222578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2026-07-21T12:19:15.9390000Z</dcterms:created>
  <dcterms:modified xsi:type="dcterms:W3CDTF">2026-07-21T12:19:15.9390000Z</dcterms:modified>
</coreProperties>
</file>