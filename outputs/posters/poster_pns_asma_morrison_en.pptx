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0a42591b9a450e" /><Relationship Type="http://schemas.openxmlformats.org/officeDocument/2006/relationships/extended-properties" Target="/docProps/app.xml" Id="Rec83ecbf45594710" /><Relationship Type="http://schemas.openxmlformats.org/officeDocument/2006/relationships/officeDocument" Target="/ppt/presentation.xml" Id="R76940ea821a148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ec65c0206f4760"/>
  </p:sldMasterIdLst>
  <p:notesMasterIdLst>
    <p:notesMasterId xmlns:r="http://schemas.openxmlformats.org/officeDocument/2006/relationships" r:id="Rcad50becf0914b2c"/>
  </p:notesMasterIdLst>
  <p:sldIdLst>
    <p:sldId xmlns:r="http://schemas.openxmlformats.org/officeDocument/2006/relationships" id="256" r:id="R5ce6d1a2170f425e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bd7b170d654834" /><Relationship Type="http://schemas.openxmlformats.org/officeDocument/2006/relationships/slideMaster" Target="/ppt/slideMasters/slideMaster1.xml" Id="R9cec65c0206f4760" /><Relationship Type="http://schemas.openxmlformats.org/officeDocument/2006/relationships/notesMaster" Target="/ppt/notesMasters/notesMaster1.xml" Id="Rcad50becf0914b2c" /><Relationship Type="http://schemas.openxmlformats.org/officeDocument/2006/relationships/presProps" Target="/ppt/presProps.xml" Id="R0c1af819552e415e" /><Relationship Type="http://schemas.openxmlformats.org/officeDocument/2006/relationships/tableStyles" Target="/ppt/tableStyles.xml" Id="R12475a26be4146a4" /><Relationship Type="http://schemas.openxmlformats.org/officeDocument/2006/relationships/slide" Target="/ppt/slides/slide1.xml" Id="R5ce6d1a2170f42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c646a522044f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469c534c2e45b5" /><Relationship Type="http://schemas.openxmlformats.org/officeDocument/2006/relationships/notesMaster" Target="/ppt/notesMasters/notesMaster1.xml" Id="R63b9743fc0ab41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5396cc871145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39a4e4ce954236" /><Relationship Type="http://schemas.openxmlformats.org/officeDocument/2006/relationships/slideLayout" Target="/ppt/slideLayouts/slideLayout1.xml" Id="Rb379ca1a9a9643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79ca1a9a9643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a774a552b45c5" /><Relationship Type="http://schemas.openxmlformats.org/officeDocument/2006/relationships/image" Target="/ppt/media/image.png" Id="R380cd81144134b78" /><Relationship Type="http://schemas.openxmlformats.org/officeDocument/2006/relationships/image" Target="/ppt/media/image2.png" Id="R391e49d391cf4729" /><Relationship Type="http://schemas.openxmlformats.org/officeDocument/2006/relationships/image" Target="/ppt/media/image3.png" Id="R62ba382a75f74f95" /><Relationship Type="http://schemas.openxmlformats.org/officeDocument/2006/relationships/image" Target="/ppt/media/image4.png" Id="Rf89a8baa8c464cc3" /><Relationship Type="http://schemas.openxmlformats.org/officeDocument/2006/relationships/image" Target="/ppt/media/image5.png" Id="Rd4ffe81246324642" /><Relationship Type="http://schemas.openxmlformats.org/officeDocument/2006/relationships/image" Target="/ppt/media/image6.png" Id="Rd64d1aa4aaca4683" /><Relationship Type="http://schemas.openxmlformats.org/officeDocument/2006/relationships/image" Target="/ppt/media/image7.png" Id="Ree6655d8718e48cb" /><Relationship Type="http://schemas.openxmlformats.org/officeDocument/2006/relationships/image" Target="/ppt/media/image8.png" Id="R9326a2788d8143dc" /><Relationship Type="http://schemas.openxmlformats.org/officeDocument/2006/relationships/notesSlide" Target="/ppt/notesSlides/notesSlide1.xml" Id="R362b3fcbc10a44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cd81144134b78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1e49d391cf4729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a382a75f74f95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A6FDA2E4-6434-4CA9-AED2-053D6FBA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1C31DED5-B208-4E9D-B4CF-8D350E70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747E8E90-CF8E-4440-A0DB-E0D7C14E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Physician-diagnosed asthma increased in Brazil; attacks and medication-use indicators did not show proportional improvement in disease control.</a:t>
            </a:r>
          </a:p>
        </p:txBody>
      </p:sp>
      <p:sp>
        <p:nvSpPr>
          <p:cNvPr id="7" name="1-Method in one line-box">
            <a:extLst xmlns:a="http://schemas.openxmlformats.org/drawingml/2006/main">
              <a:ext uri="{FF2B5EF4-FFF2-40B4-BE49-F238E27FC236}">
                <a16:creationId xmlns:a16="http://schemas.microsoft.com/office/drawing/2014/main" id="{3AEEAECC-EF80-47F6-B008-84078C4B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ethod in one line-head">
            <a:extLst xmlns:a="http://schemas.openxmlformats.org/drawingml/2006/main">
              <a:ext uri="{FF2B5EF4-FFF2-40B4-BE49-F238E27FC236}">
                <a16:creationId xmlns:a16="http://schemas.microsoft.com/office/drawing/2014/main" id="{D944320B-A0CA-44D1-97C0-A93934DA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ethod in one line-title">
            <a:extLst xmlns:a="http://schemas.openxmlformats.org/drawingml/2006/main">
              <a:ext uri="{FF2B5EF4-FFF2-40B4-BE49-F238E27FC236}">
                <a16:creationId xmlns:a16="http://schemas.microsoft.com/office/drawing/2014/main" id="{E9AB9A87-C544-4169-A590-C6670CA6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Method in one line</a:t>
            </a:r>
          </a:p>
        </p:txBody>
      </p:sp>
      <p:sp>
        <p:nvSpPr>
          <p:cNvPr id="10" name="1-Method in one line-body">
            <a:extLst xmlns:a="http://schemas.openxmlformats.org/drawingml/2006/main">
              <a:ext uri="{FF2B5EF4-FFF2-40B4-BE49-F238E27FC236}">
                <a16:creationId xmlns:a16="http://schemas.microsoft.com/office/drawing/2014/main" id="{50F98766-E508-4F20-99F5-6EA52F69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B042266B-EB44-4EEF-9A3E-154610D1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470AEA45-6F33-4B35-BD2E-7B8A7DF5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6048815D-3779-4834-923B-01EDC0DD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14" name="2-Data and denominators-box">
            <a:extLst xmlns:a="http://schemas.openxmlformats.org/drawingml/2006/main">
              <a:ext uri="{FF2B5EF4-FFF2-40B4-BE49-F238E27FC236}">
                <a16:creationId xmlns:a16="http://schemas.microsoft.com/office/drawing/2014/main" id="{67B3AE95-ABE6-417A-A023-265A7640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ta and denominators-head">
            <a:extLst xmlns:a="http://schemas.openxmlformats.org/drawingml/2006/main">
              <a:ext uri="{FF2B5EF4-FFF2-40B4-BE49-F238E27FC236}">
                <a16:creationId xmlns:a16="http://schemas.microsoft.com/office/drawing/2014/main" id="{4011568D-B1BF-4A26-A76E-069A1671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ta and denominators-title">
            <a:extLst xmlns:a="http://schemas.openxmlformats.org/drawingml/2006/main">
              <a:ext uri="{FF2B5EF4-FFF2-40B4-BE49-F238E27FC236}">
                <a16:creationId xmlns:a16="http://schemas.microsoft.com/office/drawing/2014/main" id="{A95C10D8-1A05-4E47-B8EA-1EF92256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Data and denominators</a:t>
            </a:r>
          </a:p>
        </p:txBody>
      </p:sp>
      <p:sp>
        <p:nvSpPr>
          <p:cNvPr id="17" name="2-Data and denominators-body">
            <a:extLst xmlns:a="http://schemas.openxmlformats.org/drawingml/2006/main">
              <a:ext uri="{FF2B5EF4-FFF2-40B4-BE49-F238E27FC236}">
                <a16:creationId xmlns:a16="http://schemas.microsoft.com/office/drawing/2014/main" id="{BAB3777A-EBEA-4866-AA40-DB1F7A55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3-Why beta CIs?-box">
            <a:extLst xmlns:a="http://schemas.openxmlformats.org/drawingml/2006/main">
              <a:ext uri="{FF2B5EF4-FFF2-40B4-BE49-F238E27FC236}">
                <a16:creationId xmlns:a16="http://schemas.microsoft.com/office/drawing/2014/main" id="{8482F732-0A86-468C-8641-3DAB47B2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Why beta CIs?-head">
            <a:extLst xmlns:a="http://schemas.openxmlformats.org/drawingml/2006/main">
              <a:ext uri="{FF2B5EF4-FFF2-40B4-BE49-F238E27FC236}">
                <a16:creationId xmlns:a16="http://schemas.microsoft.com/office/drawing/2014/main" id="{F60962D2-62E0-4737-9EEE-E217F658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Why beta CIs?-title">
            <a:extLst xmlns:a="http://schemas.openxmlformats.org/drawingml/2006/main">
              <a:ext uri="{FF2B5EF4-FFF2-40B4-BE49-F238E27FC236}">
                <a16:creationId xmlns:a16="http://schemas.microsoft.com/office/drawing/2014/main" id="{3B6E50FD-1FB2-4DF7-B4D9-E52D8A86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Why beta CIs?</a:t>
            </a:r>
          </a:p>
        </p:txBody>
      </p:sp>
      <p:sp>
        <p:nvSpPr>
          <p:cNvPr id="21" name="3-Why beta CIs?-body">
            <a:extLst xmlns:a="http://schemas.openxmlformats.org/drawingml/2006/main">
              <a:ext uri="{FF2B5EF4-FFF2-40B4-BE49-F238E27FC236}">
                <a16:creationId xmlns:a16="http://schemas.microsoft.com/office/drawing/2014/main" id="{6256C430-152B-474E-8A43-981E1744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22" name="4-ETL and interoperability-box">
            <a:extLst xmlns:a="http://schemas.openxmlformats.org/drawingml/2006/main">
              <a:ext uri="{FF2B5EF4-FFF2-40B4-BE49-F238E27FC236}">
                <a16:creationId xmlns:a16="http://schemas.microsoft.com/office/drawing/2014/main" id="{5F30F372-BA08-4B98-94AC-CBA12D99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and interoperability-head">
            <a:extLst xmlns:a="http://schemas.openxmlformats.org/drawingml/2006/main">
              <a:ext uri="{FF2B5EF4-FFF2-40B4-BE49-F238E27FC236}">
                <a16:creationId xmlns:a16="http://schemas.microsoft.com/office/drawing/2014/main" id="{1803CDC7-A769-400F-91EC-EB4B70E7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and interoperability-title">
            <a:extLst xmlns:a="http://schemas.openxmlformats.org/drawingml/2006/main">
              <a:ext uri="{FF2B5EF4-FFF2-40B4-BE49-F238E27FC236}">
                <a16:creationId xmlns:a16="http://schemas.microsoft.com/office/drawing/2014/main" id="{464022D1-F4B2-4E94-9D3B-A8B981AC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and interoperability</a:t>
            </a:r>
          </a:p>
        </p:txBody>
      </p:sp>
      <p:sp>
        <p:nvSpPr>
          <p:cNvPr id="25" name="4-ETL and interoperability-body">
            <a:extLst xmlns:a="http://schemas.openxmlformats.org/drawingml/2006/main">
              <a:ext uri="{FF2B5EF4-FFF2-40B4-BE49-F238E27FC236}">
                <a16:creationId xmlns:a16="http://schemas.microsoft.com/office/drawing/2014/main" id="{A8AF85DF-4D72-42BB-BFAA-459B3841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68AD6E7F-83DD-4622-AA30-89325387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4DF3C22D-6294-485C-9C22-D3B9B740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diagnosis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03E0F43C-A5D7-402F-B218-2C327CD9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94D15DC4-AE2E-4A8C-A6C9-AA05CF94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Increase with non-overlapping 95% CIs.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9ACA2D21-D979-4681-A445-FD656A66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B7A849FD-6DE1-4972-939C-81F1C430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attacks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401916B9-5C1D-4F79-AA0D-96F5B6C4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38.3%→37.7%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B94F1382-3083-4394-B0C6-949AFBA2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Stability suggests insufficient control.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3FBA131A-483D-4499-AD47-4CD12EC8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8E2C0D0A-A7B5-4384-9C75-FE7AC503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medication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BB001C17-345F-474F-B556-5F507B37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4A6B5D4B-7B87-47F5-9F6D-70D8FBF1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use among asthmatics; 95% CIs guide caution.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F72C5D3D-FFC0-4768-9CF2-2B2D1980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D729912F-93B5-493B-BBDA-8B1F63E0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a8baa8c464cc3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C2C25F64-51D1-4789-9D49-E17C62EA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B4AF39D9-771C-46E0-B308-DB46A23D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fe81246324642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FEFE85BA-A08D-4D2C-BB9D-82158545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Current smokers per 100,000 inhabitants by state, PNS 2013 and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7ADDF11A-0808-414F-846C-5467B6E9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d1aa4aaca4683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Key findings-box">
            <a:extLst xmlns:a="http://schemas.openxmlformats.org/drawingml/2006/main">
              <a:ext uri="{FF2B5EF4-FFF2-40B4-BE49-F238E27FC236}">
                <a16:creationId xmlns:a16="http://schemas.microsoft.com/office/drawing/2014/main" id="{5BA8BE57-FCA1-4CA7-AF40-A75443A3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Key findings-head">
            <a:extLst xmlns:a="http://schemas.openxmlformats.org/drawingml/2006/main">
              <a:ext uri="{FF2B5EF4-FFF2-40B4-BE49-F238E27FC236}">
                <a16:creationId xmlns:a16="http://schemas.microsoft.com/office/drawing/2014/main" id="{750AD8D1-AA15-49CC-8411-D6BCA001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Key findings-title">
            <a:extLst xmlns:a="http://schemas.openxmlformats.org/drawingml/2006/main">
              <a:ext uri="{FF2B5EF4-FFF2-40B4-BE49-F238E27FC236}">
                <a16:creationId xmlns:a16="http://schemas.microsoft.com/office/drawing/2014/main" id="{6FB4EFB2-04C1-49A7-9459-F4639E54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Key findings</a:t>
            </a:r>
          </a:p>
        </p:txBody>
      </p:sp>
      <p:sp>
        <p:nvSpPr>
          <p:cNvPr id="50" name="5-Key findings-body">
            <a:extLst xmlns:a="http://schemas.openxmlformats.org/drawingml/2006/main">
              <a:ext uri="{FF2B5EF4-FFF2-40B4-BE49-F238E27FC236}">
                <a16:creationId xmlns:a16="http://schemas.microsoft.com/office/drawing/2014/main" id="{E67360EE-C5D3-46E1-8815-478EB0EA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Brazil: physician-diagnosed asthma increased from 4.41% in 2013 to 5.40% in 2019, with non-overlapping 95% CIs.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Brazil: attacks in the previous 12 months were stable, from 38.3% to 37.7%.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Brazil: oral/inhaler medication use among people with asthma changed from 81.5% to 64.4%; interpretation should consider 95% CIs, the diagnosed group and the population rate.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Smoking declined in several states; the national rate cited changed from 14,650 to 12,151 per 100,000.</a:t>
            </a:r>
          </a:p>
        </p:txBody>
      </p:sp>
      <p:sp>
        <p:nvSpPr>
          <p:cNvPr id="51" name="6-Applied discussion-box">
            <a:extLst xmlns:a="http://schemas.openxmlformats.org/drawingml/2006/main">
              <a:ext uri="{FF2B5EF4-FFF2-40B4-BE49-F238E27FC236}">
                <a16:creationId xmlns:a16="http://schemas.microsoft.com/office/drawing/2014/main" id="{C4A845A2-9299-4960-9407-DD2BD89E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Applied discussion-head">
            <a:extLst xmlns:a="http://schemas.openxmlformats.org/drawingml/2006/main">
              <a:ext uri="{FF2B5EF4-FFF2-40B4-BE49-F238E27FC236}">
                <a16:creationId xmlns:a16="http://schemas.microsoft.com/office/drawing/2014/main" id="{8D8BCC2C-B5A9-4A2B-A277-6D30ACF5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Applied discussion-title">
            <a:extLst xmlns:a="http://schemas.openxmlformats.org/drawingml/2006/main">
              <a:ext uri="{FF2B5EF4-FFF2-40B4-BE49-F238E27FC236}">
                <a16:creationId xmlns:a16="http://schemas.microsoft.com/office/drawing/2014/main" id="{55D30B12-05D4-4C44-A279-27080E51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45782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Applied discussion</a:t>
            </a:r>
          </a:p>
        </p:txBody>
      </p:sp>
      <p:sp>
        <p:nvSpPr>
          <p:cNvPr id="54" name="6-Applied discussion-body">
            <a:extLst xmlns:a="http://schemas.openxmlformats.org/drawingml/2006/main">
              <a:ext uri="{FF2B5EF4-FFF2-40B4-BE49-F238E27FC236}">
                <a16:creationId xmlns:a16="http://schemas.microsoft.com/office/drawing/2014/main" id="{9D38AFAF-04A6-4B06-8DBC-DE3A5042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5310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The pattern diagnosis↑, attacks≈ and medication use↓ suggests broader asthma recognition without proportional improvement in control.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The diagnosis increase may reflect higher occurrence, better diagnostic access or both.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Asthma control depends on medication access, clinical follow-up, education, exposure control and non-pharmacological interventions.</a:t>
            </a:r>
          </a:p>
        </p:txBody>
      </p:sp>
      <p:sp>
        <p:nvSpPr>
          <p:cNvPr id="55" name="7-Central conclusion-box">
            <a:extLst xmlns:a="http://schemas.openxmlformats.org/drawingml/2006/main">
              <a:ext uri="{FF2B5EF4-FFF2-40B4-BE49-F238E27FC236}">
                <a16:creationId xmlns:a16="http://schemas.microsoft.com/office/drawing/2014/main" id="{8E5A80FC-72A4-4E30-A620-45877EF9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6" name="7-Central conclusion-head">
            <a:extLst xmlns:a="http://schemas.openxmlformats.org/drawingml/2006/main">
              <a:ext uri="{FF2B5EF4-FFF2-40B4-BE49-F238E27FC236}">
                <a16:creationId xmlns:a16="http://schemas.microsoft.com/office/drawing/2014/main" id="{6820CA92-336D-4A8E-8DE7-4A76893C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7" name="7-Central conclusion-title">
            <a:extLst xmlns:a="http://schemas.openxmlformats.org/drawingml/2006/main">
              <a:ext uri="{FF2B5EF4-FFF2-40B4-BE49-F238E27FC236}">
                <a16:creationId xmlns:a16="http://schemas.microsoft.com/office/drawing/2014/main" id="{3D1EE876-7A28-4C1E-B5EA-6BCC06B2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Central conclusion</a:t>
            </a:r>
          </a:p>
        </p:txBody>
      </p:sp>
      <p:sp>
        <p:nvSpPr>
          <p:cNvPr id="58" name="7-Central conclusion-body">
            <a:extLst xmlns:a="http://schemas.openxmlformats.org/drawingml/2006/main">
              <a:ext uri="{FF2B5EF4-FFF2-40B4-BE49-F238E27FC236}">
                <a16:creationId xmlns:a16="http://schemas.microsoft.com/office/drawing/2014/main" id="{8DBA6F29-57B7-4219-8450-463AAF68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Brazil showed increased diagnosis, but not equivalent evidence of improved control.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State-level charts must be read with 95% CIs because many comparisons have overlapping intervals.</a:t>
            </a:r>
          </a:p>
        </p:txBody>
      </p:sp>
      <p:sp>
        <p:nvSpPr>
          <p:cNvPr id="59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A3060C47-F68B-4A96-AFBE-BB7A17F7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Asthma attacks in the previous 12 months (%) by state and Brazil, PNS 2013 and 2019.</a:t>
            </a:r>
          </a:p>
        </p:txBody>
      </p:sp>
      <p:sp>
        <p:nvSpPr>
          <p:cNvPr id="60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FB22D81E-4048-42D6-BF3A-930C8DB8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6655d8718e48cb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62" name="qr-box">
            <a:extLst xmlns:a="http://schemas.openxmlformats.org/drawingml/2006/main">
              <a:ext uri="{FF2B5EF4-FFF2-40B4-BE49-F238E27FC236}">
                <a16:creationId xmlns:a16="http://schemas.microsoft.com/office/drawing/2014/main" id="{DF652B81-CE7F-4927-B6BE-326612E1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6a2788d8143dc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4" name="qr-label">
            <a:extLst xmlns:a="http://schemas.openxmlformats.org/drawingml/2006/main">
              <a:ext uri="{FF2B5EF4-FFF2-40B4-BE49-F238E27FC236}">
                <a16:creationId xmlns:a16="http://schemas.microsoft.com/office/drawing/2014/main" id="{DF26ED3C-42D4-4AAB-A537-A114AA7F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5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3CAB8BFE-8322-4B0F-98F5-8D054493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21838430-1C23-42AD-B42D-492838EA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67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E6E0F459-63B3-4F1A-9113-9C57A550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872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7149089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2026-07-21T21:53:29.6940000Z</dcterms:created>
  <dcterms:modified xsi:type="dcterms:W3CDTF">2026-07-21T21:53:29.6950000Z</dcterms:modified>
</coreProperties>
</file>