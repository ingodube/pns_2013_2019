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d774c49e41b4b3c" /><Relationship Type="http://schemas.openxmlformats.org/officeDocument/2006/relationships/extended-properties" Target="/docProps/app.xml" Id="R7b67197fb72e46d3" /><Relationship Type="http://schemas.openxmlformats.org/officeDocument/2006/relationships/officeDocument" Target="/ppt/presentation.xml" Id="Rcfe14b5336234e4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a0bf8daffc64ad4"/>
  </p:sldMasterIdLst>
  <p:notesMasterIdLst>
    <p:notesMasterId xmlns:r="http://schemas.openxmlformats.org/officeDocument/2006/relationships" r:id="Rcc304cbcd7634097"/>
  </p:notesMasterIdLst>
  <p:sldIdLst>
    <p:sldId xmlns:r="http://schemas.openxmlformats.org/officeDocument/2006/relationships" id="256" r:id="Rf265b78196e94682"/>
  </p:sldIdLst>
  <p:sldSz cx="43891200" cy="329184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26a885cbef946ca" /><Relationship Type="http://schemas.openxmlformats.org/officeDocument/2006/relationships/slideMaster" Target="/ppt/slideMasters/slideMaster1.xml" Id="R6a0bf8daffc64ad4" /><Relationship Type="http://schemas.openxmlformats.org/officeDocument/2006/relationships/notesMaster" Target="/ppt/notesMasters/notesMaster1.xml" Id="Rcc304cbcd7634097" /><Relationship Type="http://schemas.openxmlformats.org/officeDocument/2006/relationships/presProps" Target="/ppt/presProps.xml" Id="R94b909d7384f42f1" /><Relationship Type="http://schemas.openxmlformats.org/officeDocument/2006/relationships/tableStyles" Target="/ppt/tableStyles.xml" Id="Rc8bfd7faa589402f" /><Relationship Type="http://schemas.openxmlformats.org/officeDocument/2006/relationships/slide" Target="/ppt/slides/slide1.xml" Id="Rf265b78196e9468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4626a866f01436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b43a306b51f45e7" /><Relationship Type="http://schemas.openxmlformats.org/officeDocument/2006/relationships/notesMaster" Target="/ppt/notesMasters/notesMaster1.xml" Id="R6949e61f600041f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ee4e2e986c423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3cf7bd0af674485" /><Relationship Type="http://schemas.openxmlformats.org/officeDocument/2006/relationships/slideLayout" Target="/ppt/slideLayouts/slideLayout1.xml" Id="R9d58d9c0ef1146d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d58d9c0ef1146d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9029029e5e47ca" /><Relationship Type="http://schemas.openxmlformats.org/officeDocument/2006/relationships/image" Target="/ppt/media/image.png" Id="R9248233a5e7d447a" /><Relationship Type="http://schemas.openxmlformats.org/officeDocument/2006/relationships/image" Target="/ppt/media/image2.png" Id="Rbe9b8c64e4bd4be6" /><Relationship Type="http://schemas.openxmlformats.org/officeDocument/2006/relationships/image" Target="/ppt/media/image3.png" Id="R90d2d2918c9d4dc1" /><Relationship Type="http://schemas.openxmlformats.org/officeDocument/2006/relationships/image" Target="/ppt/media/image4.png" Id="R60059ea557fc45f5" /><Relationship Type="http://schemas.openxmlformats.org/officeDocument/2006/relationships/image" Target="/ppt/media/image5.png" Id="R546ff72d0b00437b" /><Relationship Type="http://schemas.openxmlformats.org/officeDocument/2006/relationships/image" Target="/ppt/media/image6.png" Id="R64b857d727cb4348" /><Relationship Type="http://schemas.openxmlformats.org/officeDocument/2006/relationships/image" Target="/ppt/media/image7.png" Id="Rca3dd233090a46ea" /><Relationship Type="http://schemas.openxmlformats.org/officeDocument/2006/relationships/image" Target="/ppt/media/image8.png" Id="R6b35d4d7e0b746ff" /><Relationship Type="http://schemas.openxmlformats.org/officeDocument/2006/relationships/notesSlide" Target="/ppt/notesSlides/notesSlide1.xml" Id="R0e37bca9917642a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page-bg">
            <a:extLst xmlns:a="http://schemas.openxmlformats.org/drawingml/2006/main">
              <a:ext uri="{FF2B5EF4-FFF2-40B4-BE49-F238E27FC236}">
                <a16:creationId xmlns:a16="http://schemas.microsoft.com/office/drawing/2014/main" id="{F8AF48AB-0F88-4587-9263-F2EBD4F36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3891200" cy="3291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entral-blue-panel">
            <a:extLst xmlns:a="http://schemas.openxmlformats.org/drawingml/2006/main">
              <a:ext uri="{FF2B5EF4-FFF2-40B4-BE49-F238E27FC236}">
                <a16:creationId xmlns:a16="http://schemas.microsoft.com/office/drawing/2014/main" id="{E5757D63-124A-46BD-8850-4576BD27B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4800" y="4698000"/>
            <a:ext cx="26974800" cy="2822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FE2F1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48233a5e7d447a"/>
          <a:stretch xmlns:a="http://schemas.openxmlformats.org/drawingml/2006/main"/>
        </p:blipFill>
        <p:spPr>
          <a:xfrm xmlns:a="http://schemas.openxmlformats.org/drawingml/2006/main">
            <a:off x="0" y="1088"/>
            <a:ext cx="43891200" cy="4695825"/>
          </a:xfrm>
          <a:prstGeom xmlns:a="http://schemas.openxmlformats.org/drawingml/2006/main" prst="rect">
            <a:avLst/>
          </a:prstGeom>
        </p:spPr>
      </p:pic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9b8c64e4bd4be6"/>
          <a:stretch xmlns:a="http://schemas.openxmlformats.org/drawingml/2006/main"/>
        </p:blipFill>
        <p:spPr>
          <a:xfrm xmlns:a="http://schemas.openxmlformats.org/drawingml/2006/main">
            <a:off x="37728000" y="29300889"/>
            <a:ext cx="5976000" cy="3246222"/>
          </a:xfrm>
          <a:prstGeom xmlns:a="http://schemas.openxmlformats.org/drawingml/2006/main" prst="rect">
            <a:avLst/>
          </a:prstGeom>
        </p:spPr>
      </p:pic>
      <p:sp>
        <p:nvSpPr>
          <p:cNvPr id="5" name="left-title">
            <a:extLst xmlns:a="http://schemas.openxmlformats.org/drawingml/2006/main">
              <a:ext uri="{FF2B5EF4-FFF2-40B4-BE49-F238E27FC236}">
                <a16:creationId xmlns:a16="http://schemas.microsoft.com/office/drawing/2014/main" id="{59B3ABF4-7387-41B5-87F6-3F351CE07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5220000"/>
            <a:ext cx="7704000" cy="151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54" b="1">
                <a:solidFill>
                  <a:srgbClr val="153F59"/>
                </a:solidFill>
              </a:defRPr>
            </a:pPr>
            <a:r>
              <a:rPr sz="2154" b="1">
                <a:solidFill>
                  <a:srgbClr val="153F59"/>
                </a:solidFill>
              </a:rPr>
              <a:t>Asthma in Brazil, 2013-2019</a:t>
            </a:r>
          </a:p>
          <a:p xmlns:a="http://schemas.openxmlformats.org/drawingml/2006/main">
            <a:pPr algn="l">
              <a:defRPr sz="2154" b="1">
                <a:solidFill>
                  <a:srgbClr val="153F59"/>
                </a:solidFill>
              </a:defRPr>
            </a:pPr>
            <a:r>
              <a:rPr sz="2154" b="1">
                <a:solidFill>
                  <a:srgbClr val="153F59"/>
                </a:solidFill>
              </a:rPr>
              <a:t>Implementing the PNS sampling design in R</a:t>
            </a:r>
          </a:p>
        </p:txBody>
      </p:sp>
      <p:sp>
        <p:nvSpPr>
          <p:cNvPr id="6" name="presenter">
            <a:extLst xmlns:a="http://schemas.openxmlformats.org/drawingml/2006/main">
              <a:ext uri="{FF2B5EF4-FFF2-40B4-BE49-F238E27FC236}">
                <a16:creationId xmlns:a16="http://schemas.microsoft.com/office/drawing/2014/main" id="{05209D48-2CAE-4E91-AE72-8D92218CB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000" y="7272000"/>
            <a:ext cx="7092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28" b="0">
                <a:solidFill>
                  <a:srgbClr val="4F6372"/>
                </a:solidFill>
              </a:defRPr>
            </a:pPr>
            <a:r>
              <a:rPr sz="1928" b="0">
                <a:solidFill>
                  <a:srgbClr val="4F6372"/>
                </a:solidFill>
              </a:rPr>
              <a:t>PRESENTED BY: I. Dube; M. E. L. Silva</a:t>
            </a:r>
          </a:p>
        </p:txBody>
      </p:sp>
      <p:sp>
        <p:nvSpPr>
          <p:cNvPr id="7" name="INTRO-heading">
            <a:extLst xmlns:a="http://schemas.openxmlformats.org/drawingml/2006/main">
              <a:ext uri="{FF2B5EF4-FFF2-40B4-BE49-F238E27FC236}">
                <a16:creationId xmlns:a16="http://schemas.microsoft.com/office/drawing/2014/main" id="{39AE0AAE-46EE-4578-84EC-EAEDCE830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8460000"/>
            <a:ext cx="7704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81" b="1">
                <a:solidFill>
                  <a:srgbClr val="153F59"/>
                </a:solidFill>
              </a:defRPr>
            </a:pPr>
            <a:r>
              <a:rPr sz="2381" b="1">
                <a:solidFill>
                  <a:srgbClr val="153F59"/>
                </a:solidFill>
              </a:rPr>
              <a:t>INTRO</a:t>
            </a:r>
          </a:p>
        </p:txBody>
      </p:sp>
      <p:sp>
        <p:nvSpPr>
          <p:cNvPr id="8" name="INTRO-body">
            <a:extLst xmlns:a="http://schemas.openxmlformats.org/drawingml/2006/main">
              <a:ext uri="{FF2B5EF4-FFF2-40B4-BE49-F238E27FC236}">
                <a16:creationId xmlns:a16="http://schemas.microsoft.com/office/drawing/2014/main" id="{6D647A34-B480-49B7-B886-0192D7E6E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9108000"/>
            <a:ext cx="7704000" cy="38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6" b="0">
                <a:solidFill>
                  <a:srgbClr val="102536"/>
                </a:solidFill>
              </a:defRPr>
            </a:pPr>
            <a:r>
              <a:rPr sz="1956" b="0">
                <a:solidFill>
                  <a:srgbClr val="102536"/>
                </a:solidFill>
              </a:rPr>
              <a:t>• Epidemiological indicators convert individual survey answers into evidence for surveillance, planning and public policy.</a:t>
            </a:r>
          </a:p>
          <a:p xmlns:a="http://schemas.openxmlformats.org/drawingml/2006/main">
            <a:pPr algn="l">
              <a:defRPr sz="1956" b="0">
                <a:solidFill>
                  <a:srgbClr val="102536"/>
                </a:solidFill>
              </a:defRPr>
            </a:pPr>
            <a:r>
              <a:rPr sz="1956" b="0">
                <a:solidFill>
                  <a:srgbClr val="102536"/>
                </a:solidFill>
              </a:rPr>
              <a:t>• Asthma combines diagnosis, attacks, medication use, risk factors and functional limitation.</a:t>
            </a:r>
          </a:p>
          <a:p xmlns:a="http://schemas.openxmlformats.org/drawingml/2006/main">
            <a:pPr algn="l">
              <a:defRPr sz="1956" b="0">
                <a:solidFill>
                  <a:srgbClr val="102536"/>
                </a:solidFill>
              </a:defRPr>
            </a:pPr>
            <a:r>
              <a:rPr sz="1956" b="0">
                <a:solidFill>
                  <a:srgbClr val="102536"/>
                </a:solidFill>
              </a:rPr>
              <a:t>• PNS supports comparisons across Brazil and states, but valid estimates require weights, strata and clusters.</a:t>
            </a:r>
          </a:p>
        </p:txBody>
      </p:sp>
      <p:sp>
        <p:nvSpPr>
          <p:cNvPr id="9" name="METHODS-heading">
            <a:extLst xmlns:a="http://schemas.openxmlformats.org/drawingml/2006/main">
              <a:ext uri="{FF2B5EF4-FFF2-40B4-BE49-F238E27FC236}">
                <a16:creationId xmlns:a16="http://schemas.microsoft.com/office/drawing/2014/main" id="{0DA85083-813A-4308-8D1D-54119E6BA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13392000"/>
            <a:ext cx="7704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81" b="1">
                <a:solidFill>
                  <a:srgbClr val="7A3B73"/>
                </a:solidFill>
              </a:defRPr>
            </a:pPr>
            <a:r>
              <a:rPr sz="2381" b="1">
                <a:solidFill>
                  <a:srgbClr val="7A3B73"/>
                </a:solidFill>
              </a:rPr>
              <a:t>METHODS</a:t>
            </a:r>
          </a:p>
        </p:txBody>
      </p:sp>
      <p:sp>
        <p:nvSpPr>
          <p:cNvPr id="10" name="METHODS-body">
            <a:extLst xmlns:a="http://schemas.openxmlformats.org/drawingml/2006/main">
              <a:ext uri="{FF2B5EF4-FFF2-40B4-BE49-F238E27FC236}">
                <a16:creationId xmlns:a16="http://schemas.microsoft.com/office/drawing/2014/main" id="{A5C062E5-7392-43B8-8C37-8C5AC3723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14040000"/>
            <a:ext cx="7704000" cy="38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6" b="0">
                <a:solidFill>
                  <a:srgbClr val="102536"/>
                </a:solidFill>
              </a:defRPr>
            </a:pPr>
            <a:r>
              <a:rPr sz="1956" b="0">
                <a:solidFill>
                  <a:srgbClr val="102536"/>
                </a:solidFill>
              </a:rPr>
              <a:t>• 2013/2019 PNS microdata from the selected resident.</a:t>
            </a:r>
          </a:p>
          <a:p xmlns:a="http://schemas.openxmlformats.org/drawingml/2006/main">
            <a:pPr algn="l">
              <a:defRPr sz="1956" b="0">
                <a:solidFill>
                  <a:srgbClr val="102536"/>
                </a:solidFill>
              </a:defRPr>
            </a:pPr>
            <a:r>
              <a:rPr sz="1956" b="0">
                <a:solidFill>
                  <a:srgbClr val="102536"/>
                </a:solidFill>
              </a:rPr>
              <a:t>• Core variables: Q074 asthma diagnosis; Q076 recent attack; Q07701/Q07704/Q07708 medication; P050 smoking; J002/J003/J00402 absenteeism and lost days.</a:t>
            </a:r>
          </a:p>
          <a:p xmlns:a="http://schemas.openxmlformats.org/drawingml/2006/main">
            <a:pPr algn="l">
              <a:defRPr sz="1956" b="0">
                <a:solidFill>
                  <a:srgbClr val="102536"/>
                </a:solidFill>
              </a:defRPr>
            </a:pPr>
            <a:r>
              <a:rPr sz="1956" b="0">
                <a:solidFill>
                  <a:srgbClr val="102536"/>
                </a:solidFill>
              </a:rPr>
              <a:t>• Complex design implemented with PNSIBGE::pns_design() and estimated with the survey package.</a:t>
            </a:r>
          </a:p>
        </p:txBody>
      </p:sp>
      <p:sp>
        <p:nvSpPr>
          <p:cNvPr id="11" name="ETL FLOW-heading">
            <a:extLst xmlns:a="http://schemas.openxmlformats.org/drawingml/2006/main">
              <a:ext uri="{FF2B5EF4-FFF2-40B4-BE49-F238E27FC236}">
                <a16:creationId xmlns:a16="http://schemas.microsoft.com/office/drawing/2014/main" id="{FAACF63A-CE27-4A03-97B4-0B492E065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18432000"/>
            <a:ext cx="770400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81" b="1">
                <a:solidFill>
                  <a:srgbClr val="153F59"/>
                </a:solidFill>
              </a:defRPr>
            </a:pPr>
            <a:r>
              <a:rPr sz="2381" b="1">
                <a:solidFill>
                  <a:srgbClr val="153F59"/>
                </a:solidFill>
              </a:rPr>
              <a:t>ETL FLOW</a:t>
            </a:r>
          </a:p>
        </p:txBody>
      </p:sp>
      <p:sp>
        <p:nvSpPr>
          <p:cNvPr id="12" name="etl-node-0">
            <a:extLst xmlns:a="http://schemas.openxmlformats.org/drawingml/2006/main">
              <a:ext uri="{FF2B5EF4-FFF2-40B4-BE49-F238E27FC236}">
                <a16:creationId xmlns:a16="http://schemas.microsoft.com/office/drawing/2014/main" id="{806BA831-86E6-41BE-B2A1-ACB0DDEC3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19152000"/>
            <a:ext cx="1368000" cy="10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28800">
            <a:solidFill>
              <a:srgbClr val="9BC5D8"/>
            </a:solidFill>
            <a:prstDash val="solid"/>
          </a:ln>
        </p:spPr>
      </p:sp>
      <p:sp>
        <p:nvSpPr>
          <p:cNvPr id="13" name="etl-node-text-0">
            <a:extLst xmlns:a="http://schemas.openxmlformats.org/drawingml/2006/main">
              <a:ext uri="{FF2B5EF4-FFF2-40B4-BE49-F238E27FC236}">
                <a16:creationId xmlns:a16="http://schemas.microsoft.com/office/drawing/2014/main" id="{22966431-9675-4717-96FA-869A41759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000" y="19332000"/>
            <a:ext cx="1224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04" b="1">
                <a:solidFill>
                  <a:srgbClr val="153F59"/>
                </a:solidFill>
              </a:defRPr>
            </a:pPr>
            <a:r>
              <a:rPr sz="1304" b="1">
                <a:solidFill>
                  <a:srgbClr val="153F59"/>
                </a:solidFill>
              </a:rPr>
              <a:t>PNSIBGE/get_pns</a:t>
            </a:r>
          </a:p>
        </p:txBody>
      </p:sp>
      <p:sp>
        <p:nvSpPr>
          <p:cNvPr id="14" name="etl-arrow-0">
            <a:extLst xmlns:a="http://schemas.openxmlformats.org/drawingml/2006/main">
              <a:ext uri="{FF2B5EF4-FFF2-40B4-BE49-F238E27FC236}">
                <a16:creationId xmlns:a16="http://schemas.microsoft.com/office/drawing/2014/main" id="{F12783C8-0C1F-4339-8528-DB045C1CD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000" y="19368000"/>
            <a:ext cx="162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9" b="1">
                <a:solidFill>
                  <a:srgbClr val="153F59"/>
                </a:solidFill>
              </a:defRPr>
            </a:pPr>
            <a:r>
              <a:rPr sz="2409" b="1">
                <a:solidFill>
                  <a:srgbClr val="153F59"/>
                </a:solidFill>
              </a:rPr>
              <a:t>→</a:t>
            </a:r>
          </a:p>
        </p:txBody>
      </p:sp>
      <p:sp>
        <p:nvSpPr>
          <p:cNvPr id="15" name="etl-node-1">
            <a:extLst xmlns:a="http://schemas.openxmlformats.org/drawingml/2006/main">
              <a:ext uri="{FF2B5EF4-FFF2-40B4-BE49-F238E27FC236}">
                <a16:creationId xmlns:a16="http://schemas.microsoft.com/office/drawing/2014/main" id="{3D2BBD31-C1ED-42A1-97BF-B699C17C2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2000" y="19152000"/>
            <a:ext cx="1368000" cy="10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28800">
            <a:solidFill>
              <a:srgbClr val="9BC5D8"/>
            </a:solidFill>
            <a:prstDash val="solid"/>
          </a:ln>
        </p:spPr>
      </p:sp>
      <p:sp>
        <p:nvSpPr>
          <p:cNvPr id="16" name="etl-node-text-1">
            <a:extLst xmlns:a="http://schemas.openxmlformats.org/drawingml/2006/main">
              <a:ext uri="{FF2B5EF4-FFF2-40B4-BE49-F238E27FC236}">
                <a16:creationId xmlns:a16="http://schemas.microsoft.com/office/drawing/2014/main" id="{FCDBF5EB-1706-41E2-97B4-A5799EB07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4000" y="19332000"/>
            <a:ext cx="1224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04" b="1">
                <a:solidFill>
                  <a:srgbClr val="153F59"/>
                </a:solidFill>
              </a:defRPr>
            </a:pPr>
            <a:r>
              <a:rPr sz="1304" b="1">
                <a:solidFill>
                  <a:srgbClr val="153F59"/>
                </a:solidFill>
              </a:rPr>
              <a:t>Recodificação</a:t>
            </a:r>
          </a:p>
          <a:p xmlns:a="http://schemas.openxmlformats.org/drawingml/2006/main">
            <a:pPr algn="ctr">
              <a:defRPr sz="1304" b="1">
                <a:solidFill>
                  <a:srgbClr val="153F59"/>
                </a:solidFill>
              </a:defRPr>
            </a:pPr>
            <a:r>
              <a:rPr sz="1304" b="1">
                <a:solidFill>
                  <a:srgbClr val="153F59"/>
                </a:solidFill>
              </a:rPr>
              <a:t>de indicadores</a:t>
            </a:r>
          </a:p>
        </p:txBody>
      </p:sp>
      <p:sp>
        <p:nvSpPr>
          <p:cNvPr id="17" name="etl-arrow-1">
            <a:extLst xmlns:a="http://schemas.openxmlformats.org/drawingml/2006/main">
              <a:ext uri="{FF2B5EF4-FFF2-40B4-BE49-F238E27FC236}">
                <a16:creationId xmlns:a16="http://schemas.microsoft.com/office/drawing/2014/main" id="{7321415D-F25B-484E-B208-5188EFEE5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8000" y="19368000"/>
            <a:ext cx="162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9" b="1">
                <a:solidFill>
                  <a:srgbClr val="153F59"/>
                </a:solidFill>
              </a:defRPr>
            </a:pPr>
            <a:r>
              <a:rPr sz="2409" b="1">
                <a:solidFill>
                  <a:srgbClr val="153F59"/>
                </a:solidFill>
              </a:rPr>
              <a:t>→</a:t>
            </a:r>
          </a:p>
        </p:txBody>
      </p:sp>
      <p:sp>
        <p:nvSpPr>
          <p:cNvPr id="18" name="etl-node-2">
            <a:extLst xmlns:a="http://schemas.openxmlformats.org/drawingml/2006/main">
              <a:ext uri="{FF2B5EF4-FFF2-40B4-BE49-F238E27FC236}">
                <a16:creationId xmlns:a16="http://schemas.microsoft.com/office/drawing/2014/main" id="{F6204C34-B73A-4D76-97C9-4B9DD6DE4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2000" y="19152000"/>
            <a:ext cx="1368000" cy="10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28800">
            <a:solidFill>
              <a:srgbClr val="9BC5D8"/>
            </a:solidFill>
            <a:prstDash val="solid"/>
          </a:ln>
        </p:spPr>
      </p:sp>
      <p:sp>
        <p:nvSpPr>
          <p:cNvPr id="19" name="etl-node-text-2">
            <a:extLst xmlns:a="http://schemas.openxmlformats.org/drawingml/2006/main">
              <a:ext uri="{FF2B5EF4-FFF2-40B4-BE49-F238E27FC236}">
                <a16:creationId xmlns:a16="http://schemas.microsoft.com/office/drawing/2014/main" id="{75533D39-ED9D-4044-999A-3725BA577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4000" y="19332000"/>
            <a:ext cx="1224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04" b="1">
                <a:solidFill>
                  <a:srgbClr val="153F59"/>
                </a:solidFill>
              </a:defRPr>
            </a:pPr>
            <a:r>
              <a:rPr sz="1304" b="1">
                <a:solidFill>
                  <a:srgbClr val="153F59"/>
                </a:solidFill>
              </a:rPr>
              <a:t>pns_design()</a:t>
            </a:r>
          </a:p>
          <a:p xmlns:a="http://schemas.openxmlformats.org/drawingml/2006/main">
            <a:pPr algn="ctr">
              <a:defRPr sz="1304" b="1">
                <a:solidFill>
                  <a:srgbClr val="153F59"/>
                </a:solidFill>
              </a:defRPr>
            </a:pPr>
            <a:r>
              <a:rPr sz="1304" b="1">
                <a:solidFill>
                  <a:srgbClr val="153F59"/>
                </a:solidFill>
              </a:rPr>
              <a:t>PSU/estratos/pesos</a:t>
            </a:r>
          </a:p>
        </p:txBody>
      </p:sp>
      <p:sp>
        <p:nvSpPr>
          <p:cNvPr id="20" name="etl-arrow-2">
            <a:extLst xmlns:a="http://schemas.openxmlformats.org/drawingml/2006/main">
              <a:ext uri="{FF2B5EF4-FFF2-40B4-BE49-F238E27FC236}">
                <a16:creationId xmlns:a16="http://schemas.microsoft.com/office/drawing/2014/main" id="{71F2AE93-AE1F-4B58-826C-EE35B161D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8000" y="19368000"/>
            <a:ext cx="162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9" b="1">
                <a:solidFill>
                  <a:srgbClr val="153F59"/>
                </a:solidFill>
              </a:defRPr>
            </a:pPr>
            <a:r>
              <a:rPr sz="2409" b="1">
                <a:solidFill>
                  <a:srgbClr val="153F59"/>
                </a:solidFill>
              </a:rPr>
              <a:t>→</a:t>
            </a:r>
          </a:p>
        </p:txBody>
      </p:sp>
      <p:sp>
        <p:nvSpPr>
          <p:cNvPr id="21" name="etl-node-3">
            <a:extLst xmlns:a="http://schemas.openxmlformats.org/drawingml/2006/main">
              <a:ext uri="{FF2B5EF4-FFF2-40B4-BE49-F238E27FC236}">
                <a16:creationId xmlns:a16="http://schemas.microsoft.com/office/drawing/2014/main" id="{70D6CAA4-1492-4CCD-A59A-65AA5A1DF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2000" y="19152000"/>
            <a:ext cx="1368000" cy="10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28800">
            <a:solidFill>
              <a:srgbClr val="9BC5D8"/>
            </a:solidFill>
            <a:prstDash val="solid"/>
          </a:ln>
        </p:spPr>
      </p:sp>
      <p:sp>
        <p:nvSpPr>
          <p:cNvPr id="22" name="etl-node-text-3">
            <a:extLst xmlns:a="http://schemas.openxmlformats.org/drawingml/2006/main">
              <a:ext uri="{FF2B5EF4-FFF2-40B4-BE49-F238E27FC236}">
                <a16:creationId xmlns:a16="http://schemas.microsoft.com/office/drawing/2014/main" id="{9FAB08CC-D9F0-4750-BE5E-FFDF12891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000" y="19332000"/>
            <a:ext cx="1224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04" b="1">
                <a:solidFill>
                  <a:srgbClr val="153F59"/>
                </a:solidFill>
              </a:defRPr>
            </a:pPr>
            <a:r>
              <a:rPr sz="1304" b="1">
                <a:solidFill>
                  <a:srgbClr val="153F59"/>
                </a:solidFill>
              </a:rPr>
              <a:t>survey</a:t>
            </a:r>
          </a:p>
          <a:p xmlns:a="http://schemas.openxmlformats.org/drawingml/2006/main">
            <a:pPr algn="ctr">
              <a:defRPr sz="1304" b="1">
                <a:solidFill>
                  <a:srgbClr val="153F59"/>
                </a:solidFill>
              </a:defRPr>
            </a:pPr>
            <a:r>
              <a:rPr sz="1304" b="1">
                <a:solidFill>
                  <a:srgbClr val="153F59"/>
                </a:solidFill>
              </a:rPr>
              <a:t>estimadores + IC</a:t>
            </a:r>
          </a:p>
        </p:txBody>
      </p:sp>
      <p:sp>
        <p:nvSpPr>
          <p:cNvPr id="23" name="etl-arrow-3">
            <a:extLst xmlns:a="http://schemas.openxmlformats.org/drawingml/2006/main">
              <a:ext uri="{FF2B5EF4-FFF2-40B4-BE49-F238E27FC236}">
                <a16:creationId xmlns:a16="http://schemas.microsoft.com/office/drawing/2014/main" id="{C8D4BF3F-08D8-44DD-9B59-2E1FB3E86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8000" y="19368000"/>
            <a:ext cx="162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9" b="1">
                <a:solidFill>
                  <a:srgbClr val="153F59"/>
                </a:solidFill>
              </a:defRPr>
            </a:pPr>
            <a:r>
              <a:rPr sz="2409" b="1">
                <a:solidFill>
                  <a:srgbClr val="153F59"/>
                </a:solidFill>
              </a:rPr>
              <a:t>→</a:t>
            </a:r>
          </a:p>
        </p:txBody>
      </p:sp>
      <p:sp>
        <p:nvSpPr>
          <p:cNvPr id="24" name="etl-node-4">
            <a:extLst xmlns:a="http://schemas.openxmlformats.org/drawingml/2006/main">
              <a:ext uri="{FF2B5EF4-FFF2-40B4-BE49-F238E27FC236}">
                <a16:creationId xmlns:a16="http://schemas.microsoft.com/office/drawing/2014/main" id="{FBBE9456-8CD5-46B6-B098-5122F2CC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000" y="19152000"/>
            <a:ext cx="1368000" cy="10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B"/>
          </a:solidFill>
          <a:ln xmlns:a="http://schemas.openxmlformats.org/drawingml/2006/main" w="28800">
            <a:solidFill>
              <a:srgbClr val="9BC5D8"/>
            </a:solidFill>
            <a:prstDash val="solid"/>
          </a:ln>
        </p:spPr>
      </p:sp>
      <p:sp>
        <p:nvSpPr>
          <p:cNvPr id="25" name="etl-node-text-4">
            <a:extLst xmlns:a="http://schemas.openxmlformats.org/drawingml/2006/main">
              <a:ext uri="{FF2B5EF4-FFF2-40B4-BE49-F238E27FC236}">
                <a16:creationId xmlns:a16="http://schemas.microsoft.com/office/drawing/2014/main" id="{C38B31E9-C0DF-41B7-8E5D-A086C8799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4000" y="19332000"/>
            <a:ext cx="1224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04" b="1">
                <a:solidFill>
                  <a:srgbClr val="153F59"/>
                </a:solidFill>
              </a:defRPr>
            </a:pPr>
            <a:r>
              <a:rPr sz="1304" b="1">
                <a:solidFill>
                  <a:srgbClr val="153F59"/>
                </a:solidFill>
              </a:rPr>
              <a:t>Tabelas,</a:t>
            </a:r>
          </a:p>
          <a:p xmlns:a="http://schemas.openxmlformats.org/drawingml/2006/main">
            <a:pPr algn="ctr">
              <a:defRPr sz="1304" b="1">
                <a:solidFill>
                  <a:srgbClr val="153F59"/>
                </a:solidFill>
              </a:defRPr>
            </a:pPr>
            <a:r>
              <a:rPr sz="1304" b="1">
                <a:solidFill>
                  <a:srgbClr val="153F59"/>
                </a:solidFill>
              </a:rPr>
              <a:t>gráficos e relatório</a:t>
            </a:r>
          </a:p>
        </p:txBody>
      </p:sp>
      <p:sp>
        <p:nvSpPr>
          <p:cNvPr id="26" name="formula-heading">
            <a:extLst xmlns:a="http://schemas.openxmlformats.org/drawingml/2006/main">
              <a:ext uri="{FF2B5EF4-FFF2-40B4-BE49-F238E27FC236}">
                <a16:creationId xmlns:a16="http://schemas.microsoft.com/office/drawing/2014/main" id="{0F8EDC07-9E8D-4A11-A85A-33BC54C95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21168000"/>
            <a:ext cx="7704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81" b="1">
                <a:solidFill>
                  <a:srgbClr val="153F59"/>
                </a:solidFill>
              </a:defRPr>
            </a:pPr>
            <a:r>
              <a:rPr sz="2381" b="1">
                <a:solidFill>
                  <a:srgbClr val="153F59"/>
                </a:solidFill>
              </a:rPr>
              <a:t>ESTIMATORS</a:t>
            </a:r>
          </a:p>
        </p:txBody>
      </p:sp>
      <p:sp>
        <p:nvSpPr>
          <p:cNvPr id="27" name="formula-box">
            <a:extLst xmlns:a="http://schemas.openxmlformats.org/drawingml/2006/main">
              <a:ext uri="{FF2B5EF4-FFF2-40B4-BE49-F238E27FC236}">
                <a16:creationId xmlns:a16="http://schemas.microsoft.com/office/drawing/2014/main" id="{9C6F6056-AFF6-49B4-8E36-673C27B48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000" y="21852000"/>
            <a:ext cx="7560000" cy="49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6000">
            <a:solidFill>
              <a:srgbClr val="9BC5D8"/>
            </a:solidFill>
            <a:prstDash val="solid"/>
          </a:ln>
        </p:spPr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d2d2918c9d4dc1"/>
          <a:stretch xmlns:a="http://schemas.openxmlformats.org/drawingml/2006/main"/>
        </p:blipFill>
        <p:spPr>
          <a:xfrm xmlns:a="http://schemas.openxmlformats.org/drawingml/2006/main">
            <a:off x="1510915" y="22032000"/>
            <a:ext cx="5402171" cy="3888000"/>
          </a:xfrm>
          <a:prstGeom xmlns:a="http://schemas.openxmlformats.org/drawingml/2006/main" prst="rect">
            <a:avLst/>
          </a:prstGeom>
        </p:spPr>
      </p:pic>
      <p:sp>
        <p:nvSpPr>
          <p:cNvPr id="29" name="formula-legend">
            <a:extLst xmlns:a="http://schemas.openxmlformats.org/drawingml/2006/main">
              <a:ext uri="{FF2B5EF4-FFF2-40B4-BE49-F238E27FC236}">
                <a16:creationId xmlns:a16="http://schemas.microsoft.com/office/drawing/2014/main" id="{35FD0F5C-342F-4D64-A84F-B2684113C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00" y="25992000"/>
            <a:ext cx="6984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74" b="0">
                <a:solidFill>
                  <a:srgbClr val="102536"/>
                </a:solidFill>
              </a:defRPr>
            </a:pPr>
            <a:r>
              <a:rPr sz="1474" b="0">
                <a:solidFill>
                  <a:srgbClr val="102536"/>
                </a:solidFill>
              </a:rPr>
              <a:t>wᵢ = sampling weight; yᵢ = binary indicator; xᵢ = continuous variable.</a:t>
            </a:r>
          </a:p>
        </p:txBody>
      </p:sp>
      <p:sp>
        <p:nvSpPr>
          <p:cNvPr id="30" name="FAST READ-heading">
            <a:extLst xmlns:a="http://schemas.openxmlformats.org/drawingml/2006/main">
              <a:ext uri="{FF2B5EF4-FFF2-40B4-BE49-F238E27FC236}">
                <a16:creationId xmlns:a16="http://schemas.microsoft.com/office/drawing/2014/main" id="{5DB52D05-0F3B-4E33-B555-45F1BDE3C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27360000"/>
            <a:ext cx="7704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81" b="1">
                <a:solidFill>
                  <a:srgbClr val="153F59"/>
                </a:solidFill>
              </a:defRPr>
            </a:pPr>
            <a:r>
              <a:rPr sz="2381" b="1">
                <a:solidFill>
                  <a:srgbClr val="153F59"/>
                </a:solidFill>
              </a:rPr>
              <a:t>FAST READ</a:t>
            </a:r>
          </a:p>
        </p:txBody>
      </p:sp>
      <p:sp>
        <p:nvSpPr>
          <p:cNvPr id="31" name="FAST READ-body">
            <a:extLst xmlns:a="http://schemas.openxmlformats.org/drawingml/2006/main">
              <a:ext uri="{FF2B5EF4-FFF2-40B4-BE49-F238E27FC236}">
                <a16:creationId xmlns:a16="http://schemas.microsoft.com/office/drawing/2014/main" id="{FBE04F78-7CB4-4D0B-A0D9-1701EEA33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00" y="28008000"/>
            <a:ext cx="7704000" cy="21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6" b="0">
                <a:solidFill>
                  <a:srgbClr val="102536"/>
                </a:solidFill>
              </a:defRPr>
            </a:pPr>
            <a:r>
              <a:rPr sz="1956" b="0">
                <a:solidFill>
                  <a:srgbClr val="102536"/>
                </a:solidFill>
              </a:rPr>
              <a:t>• Estimates are weighted.</a:t>
            </a:r>
          </a:p>
          <a:p xmlns:a="http://schemas.openxmlformats.org/drawingml/2006/main">
            <a:pPr algn="l">
              <a:defRPr sz="1956" b="0">
                <a:solidFill>
                  <a:srgbClr val="102536"/>
                </a:solidFill>
              </a:defRPr>
            </a:pPr>
            <a:r>
              <a:rPr sz="1956" b="0">
                <a:solidFill>
                  <a:srgbClr val="102536"/>
                </a:solidFill>
              </a:rPr>
              <a:t>• Beta 95% CIs are part of the message, not a technical footnote.</a:t>
            </a:r>
          </a:p>
          <a:p xmlns:a="http://schemas.openxmlformats.org/drawingml/2006/main">
            <a:pPr algn="l">
              <a:defRPr sz="1956" b="0">
                <a:solidFill>
                  <a:srgbClr val="102536"/>
                </a:solidFill>
              </a:defRPr>
            </a:pPr>
            <a:r>
              <a:rPr sz="1956" b="0">
                <a:solidFill>
                  <a:srgbClr val="102536"/>
                </a:solidFill>
              </a:rPr>
              <a:t>• State differences require uncertainty-aware reading.</a:t>
            </a:r>
          </a:p>
        </p:txBody>
      </p:sp>
      <p:sp>
        <p:nvSpPr>
          <p:cNvPr id="32" name="main-finding">
            <a:extLst xmlns:a="http://schemas.openxmlformats.org/drawingml/2006/main">
              <a:ext uri="{FF2B5EF4-FFF2-40B4-BE49-F238E27FC236}">
                <a16:creationId xmlns:a16="http://schemas.microsoft.com/office/drawing/2014/main" id="{B68A8A2E-7588-4AB9-9666-16C1D1D6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0000" y="5760000"/>
            <a:ext cx="25380000" cy="33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803" b="1">
                <a:solidFill>
                  <a:srgbClr val="153F59"/>
                </a:solidFill>
              </a:defRPr>
            </a:pPr>
            <a:r>
              <a:rPr sz="6803" b="1">
                <a:solidFill>
                  <a:srgbClr val="153F59"/>
                </a:solidFill>
              </a:rPr>
              <a:t>Asthma diagnosis increased; control, medication access and functional burden must be interpreted through the PNS sampling design.</a:t>
            </a:r>
          </a:p>
        </p:txBody>
      </p:sp>
      <p:sp>
        <p:nvSpPr>
          <p:cNvPr id="33" name="finding-underline">
            <a:extLst xmlns:a="http://schemas.openxmlformats.org/drawingml/2006/main">
              <a:ext uri="{FF2B5EF4-FFF2-40B4-BE49-F238E27FC236}">
                <a16:creationId xmlns:a16="http://schemas.microsoft.com/office/drawing/2014/main" id="{E4D9C9C5-F6FA-4C3E-B23A-1F56A1ED9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0000" y="9036000"/>
            <a:ext cx="20700000" cy="10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0">
            <a:solidFill>
              <a:srgbClr val="153F59"/>
            </a:solidFill>
            <a:prstDash val="solid"/>
          </a:ln>
        </p:spPr>
      </p:sp>
      <p:sp>
        <p:nvSpPr>
          <p:cNvPr id="34" name="Table 1: Physician-d">
            <a:extLst xmlns:a="http://schemas.openxmlformats.org/drawingml/2006/main">
              <a:ext uri="{FF2B5EF4-FFF2-40B4-BE49-F238E27FC236}">
                <a16:creationId xmlns:a16="http://schemas.microsoft.com/office/drawing/2014/main" id="{9394C618-48CE-444B-8FE6-4DF3C9BA8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000" y="10296000"/>
            <a:ext cx="12672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44" b="1">
                <a:solidFill>
                  <a:srgbClr val="153F59"/>
                </a:solidFill>
              </a:defRPr>
            </a:pPr>
            <a:r>
              <a:rPr sz="1644" b="1">
                <a:solidFill>
                  <a:srgbClr val="153F59"/>
                </a:solidFill>
              </a:rPr>
              <a:t>Table 1: Physician-diagnosed asthma prevalence by state and Brazil, PNS 2013 and 2019.</a:t>
            </a:r>
          </a:p>
        </p:txBody>
      </p:sp>
      <p:sp>
        <p:nvSpPr>
          <p:cNvPr id="35" name="Table 1: Physician-diagnosed asthma prevalence by state and Brazil, PNS 2013 and 2019.-frame">
            <a:extLst xmlns:a="http://schemas.openxmlformats.org/drawingml/2006/main">
              <a:ext uri="{FF2B5EF4-FFF2-40B4-BE49-F238E27FC236}">
                <a16:creationId xmlns:a16="http://schemas.microsoft.com/office/drawing/2014/main" id="{08D5CBD2-B93A-43BB-94FD-B159BCBB6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000" y="10944000"/>
            <a:ext cx="12672000" cy="96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6000">
            <a:solidFill>
              <a:srgbClr val="9BC5D8"/>
            </a:solidFill>
            <a:prstDash val="solid"/>
          </a:ln>
        </p:spPr>
      </p:sp>
      <p:pic>
        <p:nvPicPr>
          <p:cNvPr id="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059ea557fc45f5"/>
          <a:stretch xmlns:a="http://schemas.openxmlformats.org/drawingml/2006/main"/>
        </p:blipFill>
        <p:spPr>
          <a:xfrm xmlns:a="http://schemas.openxmlformats.org/drawingml/2006/main">
            <a:off x="9216000" y="11306118"/>
            <a:ext cx="12384000" cy="8923765"/>
          </a:xfrm>
          <a:prstGeom xmlns:a="http://schemas.openxmlformats.org/drawingml/2006/main" prst="rect">
            <a:avLst/>
          </a:prstGeom>
        </p:spPr>
      </p:pic>
      <p:sp>
        <p:nvSpPr>
          <p:cNvPr id="37" name="Table 2: Oral medica">
            <a:extLst xmlns:a="http://schemas.openxmlformats.org/drawingml/2006/main">
              <a:ext uri="{FF2B5EF4-FFF2-40B4-BE49-F238E27FC236}">
                <a16:creationId xmlns:a16="http://schemas.microsoft.com/office/drawing/2014/main" id="{CB72175E-F179-4397-A3B1-5B376786A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76000" y="10296000"/>
            <a:ext cx="12672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44" b="1">
                <a:solidFill>
                  <a:srgbClr val="153F59"/>
                </a:solidFill>
              </a:defRPr>
            </a:pPr>
            <a:r>
              <a:rPr sz="1644" b="1">
                <a:solidFill>
                  <a:srgbClr val="153F59"/>
                </a:solidFill>
              </a:rPr>
              <a:t>Table 2: Oral medication or inhaler use among people with physician-diagnosed asthma by state and Brazil.</a:t>
            </a:r>
          </a:p>
        </p:txBody>
      </p:sp>
      <p:sp>
        <p:nvSpPr>
          <p:cNvPr id="38" name="Table 2: Oral medication or inhaler use among people with physician-diagnosed asthma by state and Brazil.-frame">
            <a:extLst xmlns:a="http://schemas.openxmlformats.org/drawingml/2006/main">
              <a:ext uri="{FF2B5EF4-FFF2-40B4-BE49-F238E27FC236}">
                <a16:creationId xmlns:a16="http://schemas.microsoft.com/office/drawing/2014/main" id="{395116E2-2B65-4DC8-A4AA-1F59E4E8C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76000" y="10944000"/>
            <a:ext cx="12672000" cy="96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6000">
            <a:solidFill>
              <a:srgbClr val="9BC5D8"/>
            </a:solidFill>
            <a:prstDash val="solid"/>
          </a:ln>
        </p:spPr>
      </p:sp>
      <p:pic>
        <p:nvPicPr>
          <p:cNvPr id="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6ff72d0b00437b"/>
          <a:stretch xmlns:a="http://schemas.openxmlformats.org/drawingml/2006/main"/>
        </p:blipFill>
        <p:spPr>
          <a:xfrm xmlns:a="http://schemas.openxmlformats.org/drawingml/2006/main">
            <a:off x="22320000" y="11306118"/>
            <a:ext cx="12384000" cy="8923765"/>
          </a:xfrm>
          <a:prstGeom xmlns:a="http://schemas.openxmlformats.org/drawingml/2006/main" prst="rect">
            <a:avLst/>
          </a:prstGeom>
        </p:spPr>
      </p:pic>
      <p:sp>
        <p:nvSpPr>
          <p:cNvPr id="40" name="Figure 1: Health-rel">
            <a:extLst xmlns:a="http://schemas.openxmlformats.org/drawingml/2006/main">
              <a:ext uri="{FF2B5EF4-FFF2-40B4-BE49-F238E27FC236}">
                <a16:creationId xmlns:a16="http://schemas.microsoft.com/office/drawing/2014/main" id="{38CC9A02-9F77-4346-8890-2912C0642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000" y="21384000"/>
            <a:ext cx="12672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44" b="1">
                <a:solidFill>
                  <a:srgbClr val="153F59"/>
                </a:solidFill>
              </a:defRPr>
            </a:pPr>
            <a:r>
              <a:rPr sz="1644" b="1">
                <a:solidFill>
                  <a:srgbClr val="153F59"/>
                </a:solidFill>
              </a:rPr>
              <a:t>Figure 1: Health-related absenteeism in Brazil, highlighting respiratory causes, PNS 2019.</a:t>
            </a:r>
          </a:p>
        </p:txBody>
      </p:sp>
      <p:sp>
        <p:nvSpPr>
          <p:cNvPr id="41" name="Figure 1: Health-related absenteeism in Brazil, highlighting respiratory causes, PNS 2019.-frame">
            <a:extLst xmlns:a="http://schemas.openxmlformats.org/drawingml/2006/main">
              <a:ext uri="{FF2B5EF4-FFF2-40B4-BE49-F238E27FC236}">
                <a16:creationId xmlns:a16="http://schemas.microsoft.com/office/drawing/2014/main" id="{0F503AB7-5E9A-44D1-857D-80F30118C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2000" y="22032000"/>
            <a:ext cx="12672000" cy="619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6000">
            <a:solidFill>
              <a:srgbClr val="9BC5D8"/>
            </a:solidFill>
            <a:prstDash val="solid"/>
          </a:ln>
        </p:spPr>
      </p:sp>
      <p:pic>
        <p:nvPicPr>
          <p:cNvPr id="9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b857d727cb4348"/>
          <a:stretch xmlns:a="http://schemas.openxmlformats.org/drawingml/2006/main"/>
        </p:blipFill>
        <p:spPr>
          <a:xfrm xmlns:a="http://schemas.openxmlformats.org/drawingml/2006/main">
            <a:off x="10752923" y="22176000"/>
            <a:ext cx="9310154" cy="5904000"/>
          </a:xfrm>
          <a:prstGeom xmlns:a="http://schemas.openxmlformats.org/drawingml/2006/main" prst="rect">
            <a:avLst/>
          </a:prstGeom>
        </p:spPr>
      </p:pic>
      <p:sp>
        <p:nvSpPr>
          <p:cNvPr id="43" name="Figure 2: Mean lost ">
            <a:extLst xmlns:a="http://schemas.openxmlformats.org/drawingml/2006/main">
              <a:ext uri="{FF2B5EF4-FFF2-40B4-BE49-F238E27FC236}">
                <a16:creationId xmlns:a16="http://schemas.microsoft.com/office/drawing/2014/main" id="{C9ECE3AC-0B69-438C-A31C-1634730EF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76000" y="21384000"/>
            <a:ext cx="12672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44" b="1">
                <a:solidFill>
                  <a:srgbClr val="153F59"/>
                </a:solidFill>
              </a:defRPr>
            </a:pPr>
            <a:r>
              <a:rPr sz="1644" b="1">
                <a:solidFill>
                  <a:srgbClr val="153F59"/>
                </a:solidFill>
              </a:rPr>
              <a:t>Figure 2: Mean lost days by health cause in Brazil, highlighting respiratory causes, PNS 2019.</a:t>
            </a:r>
          </a:p>
        </p:txBody>
      </p:sp>
      <p:sp>
        <p:nvSpPr>
          <p:cNvPr id="44" name="Figure 2: Mean lost days by health cause in Brazil, highlighting respiratory causes, PNS 2019.-frame">
            <a:extLst xmlns:a="http://schemas.openxmlformats.org/drawingml/2006/main">
              <a:ext uri="{FF2B5EF4-FFF2-40B4-BE49-F238E27FC236}">
                <a16:creationId xmlns:a16="http://schemas.microsoft.com/office/drawing/2014/main" id="{D340EC9E-4CCC-4B80-A694-29DB4E176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76000" y="22032000"/>
            <a:ext cx="12672000" cy="619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6000">
            <a:solidFill>
              <a:srgbClr val="9BC5D8"/>
            </a:solidFill>
            <a:prstDash val="solid"/>
          </a:ln>
        </p:spPr>
      </p:sp>
      <p:pic>
        <p:nvPicPr>
          <p:cNvPr id="9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3dd233090a46ea"/>
          <a:stretch xmlns:a="http://schemas.openxmlformats.org/drawingml/2006/main"/>
        </p:blipFill>
        <p:spPr>
          <a:xfrm xmlns:a="http://schemas.openxmlformats.org/drawingml/2006/main">
            <a:off x="23856923" y="22176000"/>
            <a:ext cx="9310154" cy="5904000"/>
          </a:xfrm>
          <a:prstGeom xmlns:a="http://schemas.openxmlformats.org/drawingml/2006/main" prst="rect">
            <a:avLst/>
          </a:prstGeom>
        </p:spPr>
      </p:pic>
      <p:pic>
        <p:nvPicPr>
          <p:cNvPr id="10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35d4d7e0b746ff"/>
          <a:stretch xmlns:a="http://schemas.openxmlformats.org/drawingml/2006/main"/>
        </p:blipFill>
        <p:spPr>
          <a:xfrm xmlns:a="http://schemas.openxmlformats.org/drawingml/2006/main">
            <a:off x="19260000" y="28980000"/>
            <a:ext cx="2808000" cy="2808000"/>
          </a:xfrm>
          <a:prstGeom xmlns:a="http://schemas.openxmlformats.org/drawingml/2006/main" prst="rect">
            <a:avLst/>
          </a:prstGeom>
        </p:spPr>
      </p:pic>
      <p:sp>
        <p:nvSpPr>
          <p:cNvPr id="47" name="qr-arrow">
            <a:extLst xmlns:a="http://schemas.openxmlformats.org/drawingml/2006/main">
              <a:ext uri="{FF2B5EF4-FFF2-40B4-BE49-F238E27FC236}">
                <a16:creationId xmlns:a16="http://schemas.microsoft.com/office/drawing/2014/main" id="{01B080A7-0C67-44AB-B67F-681171BB9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32000" y="29880000"/>
            <a:ext cx="648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535" b="1">
                <a:solidFill>
                  <a:srgbClr val="153F59"/>
                </a:solidFill>
              </a:defRPr>
            </a:pPr>
            <a:r>
              <a:rPr sz="4535" b="1">
                <a:solidFill>
                  <a:srgbClr val="153F59"/>
                </a:solidFill>
              </a:rPr>
              <a:t>←</a:t>
            </a:r>
          </a:p>
        </p:txBody>
      </p:sp>
      <p:sp>
        <p:nvSpPr>
          <p:cNvPr id="48" name="qr-label">
            <a:extLst xmlns:a="http://schemas.openxmlformats.org/drawingml/2006/main">
              <a:ext uri="{FF2B5EF4-FFF2-40B4-BE49-F238E27FC236}">
                <a16:creationId xmlns:a16="http://schemas.microsoft.com/office/drawing/2014/main" id="{A77AC6BC-7D27-4BF3-AC3C-5CE78D46D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92000" y="29412000"/>
            <a:ext cx="6120000" cy="16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41" b="1">
                <a:solidFill>
                  <a:srgbClr val="153F59"/>
                </a:solidFill>
              </a:defRPr>
            </a:pPr>
            <a:r>
              <a:rPr sz="2041" b="1">
                <a:solidFill>
                  <a:srgbClr val="153F59"/>
                </a:solidFill>
              </a:rPr>
              <a:t>Scan to access the methodological report</a:t>
            </a:r>
          </a:p>
          <a:p xmlns:a="http://schemas.openxmlformats.org/drawingml/2006/main">
            <a:pPr algn="l">
              <a:defRPr sz="2041" b="1">
                <a:solidFill>
                  <a:srgbClr val="153F59"/>
                </a:solidFill>
              </a:defRPr>
            </a:pPr>
            <a:r>
              <a:rPr sz="2041" b="1">
                <a:solidFill>
                  <a:srgbClr val="153F59"/>
                </a:solidFill>
              </a:rPr>
              <a:t>https://ingodube.github.io/PNS_2013_2019/metodologia.html</a:t>
            </a:r>
          </a:p>
        </p:txBody>
      </p:sp>
      <p:sp>
        <p:nvSpPr>
          <p:cNvPr id="49" name="right-title">
            <a:extLst xmlns:a="http://schemas.openxmlformats.org/drawingml/2006/main">
              <a:ext uri="{FF2B5EF4-FFF2-40B4-BE49-F238E27FC236}">
                <a16:creationId xmlns:a16="http://schemas.microsoft.com/office/drawing/2014/main" id="{E36F4E58-21B0-4218-A814-B00DF247D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7600" y="5400000"/>
            <a:ext cx="64800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85" b="1">
                <a:solidFill>
                  <a:srgbClr val="102536"/>
                </a:solidFill>
              </a:defRPr>
            </a:pPr>
            <a:r>
              <a:rPr sz="3685" b="1">
                <a:solidFill>
                  <a:srgbClr val="102536"/>
                </a:solidFill>
              </a:rPr>
              <a:t>AMMO BAR</a:t>
            </a:r>
          </a:p>
        </p:txBody>
      </p:sp>
      <p:sp>
        <p:nvSpPr>
          <p:cNvPr id="50" name="right-discussion">
            <a:extLst xmlns:a="http://schemas.openxmlformats.org/drawingml/2006/main">
              <a:ext uri="{FF2B5EF4-FFF2-40B4-BE49-F238E27FC236}">
                <a16:creationId xmlns:a16="http://schemas.microsoft.com/office/drawing/2014/main" id="{09019C74-C728-4AC3-9C22-450587C8A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7600" y="6552000"/>
            <a:ext cx="7092000" cy="157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1" b="0">
                <a:solidFill>
                  <a:srgbClr val="102536"/>
                </a:solidFill>
              </a:defRPr>
            </a:pPr>
            <a:r>
              <a:rPr sz="1871" b="0">
                <a:solidFill>
                  <a:srgbClr val="102536"/>
                </a:solidFill>
              </a:rPr>
              <a:t>APPLIED DISCUSSION</a:t>
            </a:r>
          </a:p>
          <a:p xmlns:a="http://schemas.openxmlformats.org/drawingml/2006/main">
            <a:pPr algn="l">
              <a:defRPr sz="1871" b="0">
                <a:solidFill>
                  <a:srgbClr val="102536"/>
                </a:solidFill>
              </a:defRPr>
            </a:pPr>
            <a:r>
              <a:rPr sz="1871" b="0">
                <a:solidFill>
                  <a:srgbClr val="102536"/>
                </a:solidFill>
              </a:rPr>
              <a:t>• National physician-diagnosed asthma prevalence increased from 4.41% to 5.40%, with non-overlapping 95% CIs.</a:t>
            </a:r>
          </a:p>
          <a:p xmlns:a="http://schemas.openxmlformats.org/drawingml/2006/main">
            <a:pPr algn="l">
              <a:defRPr sz="1871" b="0">
                <a:solidFill>
                  <a:srgbClr val="102536"/>
                </a:solidFill>
              </a:defRPr>
            </a:pPr>
            <a:r>
              <a:rPr sz="1871" b="0">
                <a:solidFill>
                  <a:srgbClr val="102536"/>
                </a:solidFill>
              </a:rPr>
              <a:t>• Recent attacks do not indicate proportional improvement in clinical control.</a:t>
            </a:r>
          </a:p>
          <a:p xmlns:a="http://schemas.openxmlformats.org/drawingml/2006/main">
            <a:pPr algn="l">
              <a:defRPr sz="1871" b="0">
                <a:solidFill>
                  <a:srgbClr val="102536"/>
                </a:solidFill>
              </a:defRPr>
            </a:pPr>
            <a:r>
              <a:rPr sz="1871" b="0">
                <a:solidFill>
                  <a:srgbClr val="102536"/>
                </a:solidFill>
              </a:rPr>
              <a:t>• Medication use among people with asthma decreased from 81.5% to 64.4%; interpretation depends on denominator, diagnosed population profile and 95% CIs.</a:t>
            </a:r>
          </a:p>
          <a:p xmlns:a="http://schemas.openxmlformats.org/drawingml/2006/main">
            <a:pPr algn="l">
              <a:defRPr sz="1871" b="0">
                <a:solidFill>
                  <a:srgbClr val="102536"/>
                </a:solidFill>
              </a:defRPr>
            </a:pPr>
            <a:r>
              <a:rPr sz="1871" b="0">
                <a:solidFill>
                  <a:srgbClr val="102536"/>
                </a:solidFill>
              </a:rPr>
              <a:t>• Respiratory causes accounted for about 15.2% of health-related absenteeism and a mean 4.8 lost days.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1" b="0">
                <a:solidFill>
                  <a:srgbClr val="102536"/>
                </a:solidFill>
              </a:defRPr>
            </a:pPr>
            <a:r>
              <a:rPr sz="1871" b="0">
                <a:solidFill>
                  <a:srgbClr val="102536"/>
                </a:solidFill>
              </a:rPr>
              <a:t>BETA CI AND INFERENCE</a:t>
            </a:r>
          </a:p>
          <a:p xmlns:a="http://schemas.openxmlformats.org/drawingml/2006/main">
            <a:pPr algn="l">
              <a:defRPr sz="1871" b="0">
                <a:solidFill>
                  <a:srgbClr val="102536"/>
                </a:solidFill>
              </a:defRPr>
            </a:pPr>
            <a:r>
              <a:rPr sz="1871" b="0">
                <a:solidFill>
                  <a:srgbClr val="102536"/>
                </a:solidFill>
              </a:rPr>
              <a:t>• Wald intervals may have unstable coverage for extreme proportions and small domains.</a:t>
            </a:r>
          </a:p>
          <a:p xmlns:a="http://schemas.openxmlformats.org/drawingml/2006/main">
            <a:pPr algn="l">
              <a:defRPr sz="1871" b="0">
                <a:solidFill>
                  <a:srgbClr val="102536"/>
                </a:solidFill>
              </a:defRPr>
            </a:pPr>
            <a:r>
              <a:rPr sz="1871" b="0">
                <a:solidFill>
                  <a:srgbClr val="102536"/>
                </a:solidFill>
              </a:rPr>
              <a:t>• Beta CIs respect the natural 0-1 scale and reduce impossible limits.</a:t>
            </a:r>
          </a:p>
          <a:p xmlns:a="http://schemas.openxmlformats.org/drawingml/2006/main">
            <a:pPr algn="l">
              <a:defRPr sz="1871" b="0">
                <a:solidFill>
                  <a:srgbClr val="102536"/>
                </a:solidFill>
              </a:defRPr>
            </a:pPr>
            <a:r>
              <a:rPr sz="1871" b="0">
                <a:solidFill>
                  <a:srgbClr val="102536"/>
                </a:solidFill>
              </a:rPr>
              <a:t>• Year/state comparisons must combine magnitude and 95% CI overlap.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1" b="0">
                <a:solidFill>
                  <a:srgbClr val="102536"/>
                </a:solidFill>
              </a:defRPr>
            </a:pPr>
            <a:r>
              <a:rPr sz="1871" b="0">
                <a:solidFill>
                  <a:srgbClr val="102536"/>
                </a:solidFill>
              </a:rPr>
              <a:t>ETL, OMOP AND ECONOMY</a:t>
            </a:r>
          </a:p>
          <a:p xmlns:a="http://schemas.openxmlformats.org/drawingml/2006/main">
            <a:pPr algn="l">
              <a:defRPr sz="1871" b="0">
                <a:solidFill>
                  <a:srgbClr val="102536"/>
                </a:solidFill>
              </a:defRPr>
            </a:pPr>
            <a:r>
              <a:rPr sz="1871" b="0">
                <a:solidFill>
                  <a:srgbClr val="102536"/>
                </a:solidFill>
              </a:rPr>
              <a:t>• The workflow documents extraction, transformation and loading of reproducible analytical tables.</a:t>
            </a:r>
          </a:p>
          <a:p xmlns:a="http://schemas.openxmlformats.org/drawingml/2006/main">
            <a:pPr algn="l">
              <a:defRPr sz="1871" b="0">
                <a:solidFill>
                  <a:srgbClr val="102536"/>
                </a:solidFill>
              </a:defRPr>
            </a:pPr>
            <a:r>
              <a:rPr sz="1871" b="0">
                <a:solidFill>
                  <a:srgbClr val="102536"/>
                </a:solidFill>
              </a:rPr>
              <a:t>• PNS is not a longitudinal clinical database, but can serve as a population reference layer for OMOP/OHDSI.</a:t>
            </a:r>
          </a:p>
          <a:p xmlns:a="http://schemas.openxmlformats.org/drawingml/2006/main">
            <a:pPr algn="l">
              <a:defRPr sz="1871" b="0">
                <a:solidFill>
                  <a:srgbClr val="102536"/>
                </a:solidFill>
              </a:defRPr>
            </a:pPr>
            <a:r>
              <a:rPr sz="1871" b="0">
                <a:solidFill>
                  <a:srgbClr val="102536"/>
                </a:solidFill>
              </a:rPr>
              <a:t>• Better asthma control may reduce absences, lost workdays, productivity loss and economic pressure on families and health services.</a:t>
            </a:r>
          </a:p>
        </p:txBody>
      </p:sp>
      <p:sp>
        <p:nvSpPr>
          <p:cNvPr id="51" name="refs-heading">
            <a:extLst xmlns:a="http://schemas.openxmlformats.org/drawingml/2006/main">
              <a:ext uri="{FF2B5EF4-FFF2-40B4-BE49-F238E27FC236}">
                <a16:creationId xmlns:a16="http://schemas.microsoft.com/office/drawing/2014/main" id="{D3E6C8AD-D514-4A7E-ABCF-57E502F8F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7600" y="22788000"/>
            <a:ext cx="727200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53" b="1">
                <a:solidFill>
                  <a:srgbClr val="153F59"/>
                </a:solidFill>
              </a:defRPr>
            </a:pPr>
            <a:r>
              <a:rPr sz="2353" b="1">
                <a:solidFill>
                  <a:srgbClr val="153F59"/>
                </a:solidFill>
              </a:rPr>
              <a:t>REFERENCES</a:t>
            </a:r>
          </a:p>
        </p:txBody>
      </p:sp>
      <p:sp>
        <p:nvSpPr>
          <p:cNvPr id="52" name="refs-left">
            <a:extLst xmlns:a="http://schemas.openxmlformats.org/drawingml/2006/main">
              <a:ext uri="{FF2B5EF4-FFF2-40B4-BE49-F238E27FC236}">
                <a16:creationId xmlns:a16="http://schemas.microsoft.com/office/drawing/2014/main" id="{001AB236-DD67-459C-91E8-E729E8D7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7600" y="23364000"/>
            <a:ext cx="3546000" cy="464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[1] GLOBAL ASTHMA NETWORK. Global Asthma Report 2022. Auckland, New Zealand: Global Asthma Network, 2022. Disponível em: https://globalasthmareport.org/resources/Global_Asthma_Report_2022.pdf. Acesso em: 19 set. 2025.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[2] SOUZA-JÚNIOR, Paulo Roberto Borges de et al. Desenho da amostra da Pesquisa Nacional de Saúde 2013. Epidemiologia e Serviços de Saúde, v. 24, p. 207-216, 2015.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[3] DUBE, I.; SILVA, M. E. L. PNS_2013_2019. GitHub, 2026. Disponível em: https://github.com/ingodube/PNS_2013_2019. Acesso em: 28 mai. 2026.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[4] MENEZES, A. M. B. et al. Prevalência de diagnóstico médico de asma em adultos brasileiros: Pesquisa Nacional de Saúde, 2013. Revista Brasileira de Epidemiologia, São Paulo, v. 18, supl. 2, p. 204-213, 2015.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[5] SEVERE ASTHMA. Non-Pharmacological Interventions for Asthma. Disponível em: https://www.severeasthma.org.au/non-pharmacological-interventions-asthma/. Acesso em: 19 set. 2025.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[6] SANTOS, Felipe Moraes dos et al. Tendência da prevalência de asma autorreferida no Brasil de 2003 a 2013 em adultos e fatores associados à prevalência. Jornal Brasileiro de Pneumologia, v. 44, n. 6, p. 491-497, 2018. doi:10.1590/S1806-37562017000000328.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[7] TO, T. et al. Global asthma prevalence in adults: findings from the cross-sectional world health survey. BMC Public Health, v. 12, art. 204, 2012. doi:10.1186/1471-2458-12-204.</a:t>
            </a:r>
          </a:p>
        </p:txBody>
      </p:sp>
      <p:sp>
        <p:nvSpPr>
          <p:cNvPr id="53" name="refs-right">
            <a:extLst xmlns:a="http://schemas.openxmlformats.org/drawingml/2006/main">
              <a:ext uri="{FF2B5EF4-FFF2-40B4-BE49-F238E27FC236}">
                <a16:creationId xmlns:a16="http://schemas.microsoft.com/office/drawing/2014/main" id="{44134567-D29E-42E9-B14F-6A2B97725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83600" y="23364000"/>
            <a:ext cx="3546000" cy="464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[8] OHDSI. Standardized Data: The OMOP Common Data Model. Disponível em: https://www.ohdsi.org/data-standardization/.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[9] OHDSI. OMOP Common Data Model. Disponível em: https://ohdsi.github.io/CommonDataModel/.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[10] OHDSI. ETL Creation Best Practices. Disponível em: https://www.ohdsi.org/web/wiki/doku.php?id=documentation:etl_best_practices.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[11] LUMLEY, Thomas. Complex Surveys: A Guide to Analysis Using R. Hoboken: Wiley, 2010.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[12] BROWN, Lawrence D.; CAI, T. Tony; DASGUPTA, Anirban. Interval estimation for a binomial proportion. Statistical Science, v. 16, n. 2, p. 101-133, 2001. doi:10.1214/ss/1009213286.</a:t>
            </a:r>
          </a:p>
          <a:p xmlns:a="http://schemas.openxmlformats.org/drawingml/2006/main">
            <a:pPr algn="l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[13] KORN, Edward L.; GRAUBARD, Barry I. Confidence intervals for proportions with small expected number of positive counts estimated from survey data. Survey Methodology, v. 24, n. 2, p. 193-201, 1998.</a:t>
            </a:r>
          </a:p>
        </p:txBody>
      </p:sp>
      <p:sp>
        <p:nvSpPr>
          <p:cNvPr id="54" name="author-footer">
            <a:extLst xmlns:a="http://schemas.openxmlformats.org/drawingml/2006/main">
              <a:ext uri="{FF2B5EF4-FFF2-40B4-BE49-F238E27FC236}">
                <a16:creationId xmlns:a16="http://schemas.microsoft.com/office/drawing/2014/main" id="{B09E3623-5827-489C-89DB-5C1FB67F8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77600" y="28080000"/>
            <a:ext cx="4248000" cy="12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28" b="0">
                <a:solidFill>
                  <a:srgbClr val="102536"/>
                </a:solidFill>
              </a:defRPr>
            </a:pPr>
            <a:r>
              <a:rPr sz="1928" b="0">
                <a:solidFill>
                  <a:srgbClr val="102536"/>
                </a:solidFill>
              </a:rPr>
              <a:t>I. Dube; M. E. L. Silva</a:t>
            </a:r>
          </a:p>
          <a:p xmlns:a="http://schemas.openxmlformats.org/drawingml/2006/main">
            <a:pPr algn="l">
              <a:defRPr sz="1928" b="0">
                <a:solidFill>
                  <a:srgbClr val="102536"/>
                </a:solidFill>
              </a:defRPr>
            </a:pPr>
            <a:r>
              <a:rPr sz="1928" b="0">
                <a:solidFill>
                  <a:srgbClr val="102536"/>
                </a:solidFill>
              </a:rPr>
              <a:t>PNS 2013-2019 | Brazil</a:t>
            </a:r>
          </a:p>
        </p:txBody>
      </p:sp>
    </p:spTree>
    <p:extLst>
      <p:ext uri="{BB962C8B-B14F-4D97-AF65-F5344CB8AC3E}">
        <p14:creationId xmlns:p14="http://schemas.microsoft.com/office/powerpoint/2010/main" val="19361941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2026-07-22T10:09:59.5290000Z</dcterms:created>
  <dcterms:modified xsi:type="dcterms:W3CDTF">2026-07-22T10:09:59.5290000Z</dcterms:modified>
</coreProperties>
</file>