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7373063964669" /><Relationship Type="http://schemas.openxmlformats.org/officeDocument/2006/relationships/extended-properties" Target="/docProps/app.xml" Id="Rafd596feda2c41ef" /><Relationship Type="http://schemas.openxmlformats.org/officeDocument/2006/relationships/officeDocument" Target="/ppt/presentation.xml" Id="Rd33283b985e7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65684480974f5c"/>
  </p:sldMasterIdLst>
  <p:notesMasterIdLst>
    <p:notesMasterId xmlns:r="http://schemas.openxmlformats.org/officeDocument/2006/relationships" r:id="Rb775663553cf4dd9"/>
  </p:notesMasterIdLst>
  <p:sldIdLst>
    <p:sldId xmlns:r="http://schemas.openxmlformats.org/officeDocument/2006/relationships" id="256" r:id="Rc5ef0b0aea7c468a"/>
  </p:sldIdLst>
  <p:sldSz cx="43891200" cy="3291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cc9dd93aca4b1c" /><Relationship Type="http://schemas.openxmlformats.org/officeDocument/2006/relationships/slideMaster" Target="/ppt/slideMasters/slideMaster1.xml" Id="R3f65684480974f5c" /><Relationship Type="http://schemas.openxmlformats.org/officeDocument/2006/relationships/notesMaster" Target="/ppt/notesMasters/notesMaster1.xml" Id="Rb775663553cf4dd9" /><Relationship Type="http://schemas.openxmlformats.org/officeDocument/2006/relationships/presProps" Target="/ppt/presProps.xml" Id="R8a3d6d84d3004f36" /><Relationship Type="http://schemas.openxmlformats.org/officeDocument/2006/relationships/tableStyles" Target="/ppt/tableStyles.xml" Id="R16aba17aa8014636" /><Relationship Type="http://schemas.openxmlformats.org/officeDocument/2006/relationships/slide" Target="/ppt/slides/slide1.xml" Id="Rc5ef0b0aea7c46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611332d79f43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6db48e34c1436e" /><Relationship Type="http://schemas.openxmlformats.org/officeDocument/2006/relationships/notesMaster" Target="/ppt/notesMasters/notesMaster1.xml" Id="Rf42cd506c15c49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b6e1abaa448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e3a012329451f" /><Relationship Type="http://schemas.openxmlformats.org/officeDocument/2006/relationships/slideLayout" Target="/ppt/slideLayouts/slideLayout1.xml" Id="R220fe0788a3b4b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fe0788a3b4b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942c7d4894ded" /><Relationship Type="http://schemas.openxmlformats.org/officeDocument/2006/relationships/image" Target="/ppt/media/image.png" Id="R7fdcfa60673543ea" /><Relationship Type="http://schemas.openxmlformats.org/officeDocument/2006/relationships/image" Target="/ppt/media/image2.png" Id="R8f10521b0712427c" /><Relationship Type="http://schemas.openxmlformats.org/officeDocument/2006/relationships/image" Target="/ppt/media/image3.png" Id="Re9f2d2cd91a840e3" /><Relationship Type="http://schemas.openxmlformats.org/officeDocument/2006/relationships/image" Target="/ppt/media/image4.png" Id="R7ec108bc5a8f4b61" /><Relationship Type="http://schemas.openxmlformats.org/officeDocument/2006/relationships/image" Target="/ppt/media/image5.png" Id="R14e4f53ee6de4733" /><Relationship Type="http://schemas.openxmlformats.org/officeDocument/2006/relationships/image" Target="/ppt/media/image6.png" Id="Rdb0946e57a0b4e8a" /><Relationship Type="http://schemas.openxmlformats.org/officeDocument/2006/relationships/notesSlide" Target="/ppt/notesSlides/notesSlide1.xml" Id="R096da7a2c83645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3" name="page-bg">
            <a:extLst xmlns:a="http://schemas.openxmlformats.org/drawingml/2006/main">
              <a:ext uri="{FF2B5EF4-FFF2-40B4-BE49-F238E27FC236}">
                <a16:creationId xmlns:a16="http://schemas.microsoft.com/office/drawing/2014/main" id="{3D8033E6-336A-497D-9025-B8A6D940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entral-blue-panel">
            <a:extLst xmlns:a="http://schemas.openxmlformats.org/drawingml/2006/main">
              <a:ext uri="{FF2B5EF4-FFF2-40B4-BE49-F238E27FC236}">
                <a16:creationId xmlns:a16="http://schemas.microsoft.com/office/drawing/2014/main" id="{C58C63E0-7325-4AAC-BE61-CB849620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800" y="4698000"/>
            <a:ext cx="26974800" cy="2822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2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cfa60673543ea"/>
          <a:stretch xmlns:a="http://schemas.openxmlformats.org/drawingml/2006/main"/>
        </p:blipFill>
        <p:spPr>
          <a:xfrm xmlns:a="http://schemas.openxmlformats.org/drawingml/2006/main">
            <a:off x="0" y="1088"/>
            <a:ext cx="43891200" cy="4695825"/>
          </a:xfrm>
          <a:prstGeom xmlns:a="http://schemas.openxmlformats.org/drawingml/2006/main" prst="rect">
            <a:avLst/>
          </a:prstGeom>
        </p:spPr>
      </p:pic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0521b0712427c"/>
          <a:stretch xmlns:a="http://schemas.openxmlformats.org/drawingml/2006/main"/>
        </p:blipFill>
        <p:spPr>
          <a:xfrm xmlns:a="http://schemas.openxmlformats.org/drawingml/2006/main">
            <a:off x="37728000" y="29300889"/>
            <a:ext cx="5976000" cy="3246222"/>
          </a:xfrm>
          <a:prstGeom xmlns:a="http://schemas.openxmlformats.org/drawingml/2006/main" prst="rect">
            <a:avLst/>
          </a:prstGeom>
        </p:spPr>
      </p:pic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E422534C-1A69-46DE-8641-E4E10AA5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5220000"/>
            <a:ext cx="7704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4" b="1">
                <a:solidFill>
                  <a:srgbClr val="153F59"/>
                </a:solidFill>
              </a:defRPr>
            </a:pPr>
            <a:r>
              <a:rPr sz="2324" b="1">
                <a:solidFill>
                  <a:srgbClr val="153F59"/>
                </a:solidFill>
              </a:rPr>
              <a:t>Implementing the Brazilian National Health Survey sampling design in R: a case study on asthma in Brazil.</a:t>
            </a:r>
          </a:p>
        </p:txBody>
      </p:sp>
      <p:sp>
        <p:nvSpPr>
          <p:cNvPr id="6" name="presenter">
            <a:extLst xmlns:a="http://schemas.openxmlformats.org/drawingml/2006/main">
              <a:ext uri="{FF2B5EF4-FFF2-40B4-BE49-F238E27FC236}">
                <a16:creationId xmlns:a16="http://schemas.microsoft.com/office/drawing/2014/main" id="{12828E3F-704D-4190-A93B-281047C7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" y="7560000"/>
            <a:ext cx="709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98" b="0">
                <a:solidFill>
                  <a:srgbClr val="4F6372"/>
                </a:solidFill>
              </a:defRPr>
            </a:pPr>
            <a:r>
              <a:rPr sz="2098" b="0">
                <a:solidFill>
                  <a:srgbClr val="4F6372"/>
                </a:solidFill>
              </a:rPr>
              <a:t>PRESENTED BY: I. Dube; M. E. L. Silva</a:t>
            </a:r>
          </a:p>
        </p:txBody>
      </p:sp>
      <p:sp>
        <p:nvSpPr>
          <p:cNvPr id="7" name="INTRO-heading">
            <a:extLst xmlns:a="http://schemas.openxmlformats.org/drawingml/2006/main">
              <a:ext uri="{FF2B5EF4-FFF2-40B4-BE49-F238E27FC236}">
                <a16:creationId xmlns:a16="http://schemas.microsoft.com/office/drawing/2014/main" id="{3E71E85C-3AE3-4EF4-8A41-6D29F680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8640000"/>
            <a:ext cx="770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91" b="1">
                <a:solidFill>
                  <a:srgbClr val="153F59"/>
                </a:solidFill>
              </a:defRPr>
            </a:pPr>
            <a:r>
              <a:rPr sz="2891" b="1">
                <a:solidFill>
                  <a:srgbClr val="153F59"/>
                </a:solidFill>
              </a:rPr>
              <a:t>INTRO</a:t>
            </a:r>
          </a:p>
        </p:txBody>
      </p:sp>
      <p:sp>
        <p:nvSpPr>
          <p:cNvPr id="8" name="INTRO-body">
            <a:extLst xmlns:a="http://schemas.openxmlformats.org/drawingml/2006/main">
              <a:ext uri="{FF2B5EF4-FFF2-40B4-BE49-F238E27FC236}">
                <a16:creationId xmlns:a16="http://schemas.microsoft.com/office/drawing/2014/main" id="{742CC874-FB20-446E-B98A-068449BA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9360000"/>
            <a:ext cx="7704000" cy="35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Epidemiological indicators convert individual survey answers into evidence for surveillance, planning and public policy.</a:t>
            </a:r>
          </a:p>
          <a:p xmlns:a="http://schemas.openxmlformats.org/drawingml/2006/main"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Asthma combines diagnosis, attacks, medication use, risk factors and functional limitation.</a:t>
            </a:r>
          </a:p>
          <a:p xmlns:a="http://schemas.openxmlformats.org/drawingml/2006/main"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PNS supports Brazil/state comparisons when weights, strata and clusters are incorporated.</a:t>
            </a:r>
          </a:p>
        </p:txBody>
      </p:sp>
      <p:sp>
        <p:nvSpPr>
          <p:cNvPr id="9" name="METHODS-heading">
            <a:extLst xmlns:a="http://schemas.openxmlformats.org/drawingml/2006/main">
              <a:ext uri="{FF2B5EF4-FFF2-40B4-BE49-F238E27FC236}">
                <a16:creationId xmlns:a16="http://schemas.microsoft.com/office/drawing/2014/main" id="{05DFCA4B-0AA6-40E7-A3CB-6CEC1B29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13212000"/>
            <a:ext cx="770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91" b="1">
                <a:solidFill>
                  <a:srgbClr val="7A3B73"/>
                </a:solidFill>
              </a:defRPr>
            </a:pPr>
            <a:r>
              <a:rPr sz="2891" b="1">
                <a:solidFill>
                  <a:srgbClr val="7A3B73"/>
                </a:solidFill>
              </a:rPr>
              <a:t>METHODS</a:t>
            </a:r>
          </a:p>
        </p:txBody>
      </p:sp>
      <p:sp>
        <p:nvSpPr>
          <p:cNvPr id="10" name="METHODS-body">
            <a:extLst xmlns:a="http://schemas.openxmlformats.org/drawingml/2006/main">
              <a:ext uri="{FF2B5EF4-FFF2-40B4-BE49-F238E27FC236}">
                <a16:creationId xmlns:a16="http://schemas.microsoft.com/office/drawing/2014/main" id="{24D4B124-1248-4672-BA81-BA4C047D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13932000"/>
            <a:ext cx="7704000" cy="35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2013/2019 PNS microdata from the selected resident.</a:t>
            </a:r>
          </a:p>
          <a:p xmlns:a="http://schemas.openxmlformats.org/drawingml/2006/main"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Variables: Q074 asthma; Q076 recent attack; Q07701/Q07704/Q07708 medication; P050 smoking; J002/J003/J00402 absenteeism and lost days.</a:t>
            </a:r>
          </a:p>
          <a:p xmlns:a="http://schemas.openxmlformats.org/drawingml/2006/main"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Complex design via PNSIBGE::pns_design(), with PSU, strata and calibrated weights; estimation with survey.</a:t>
            </a:r>
          </a:p>
        </p:txBody>
      </p:sp>
      <p:sp>
        <p:nvSpPr>
          <p:cNvPr id="11" name="ETL FLOW-heading">
            <a:extLst xmlns:a="http://schemas.openxmlformats.org/drawingml/2006/main">
              <a:ext uri="{FF2B5EF4-FFF2-40B4-BE49-F238E27FC236}">
                <a16:creationId xmlns:a16="http://schemas.microsoft.com/office/drawing/2014/main" id="{A977B38B-6C93-4986-B92E-62EF4309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17928000"/>
            <a:ext cx="770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21" b="1">
                <a:solidFill>
                  <a:srgbClr val="153F59"/>
                </a:solidFill>
              </a:defRPr>
            </a:pPr>
            <a:r>
              <a:rPr sz="2721" b="1">
                <a:solidFill>
                  <a:srgbClr val="153F59"/>
                </a:solidFill>
              </a:rPr>
              <a:t>ETL FLOW</a:t>
            </a:r>
          </a:p>
        </p:txBody>
      </p:sp>
      <p:sp>
        <p:nvSpPr>
          <p:cNvPr id="12" name="etl-main-0">
            <a:extLst xmlns:a="http://schemas.openxmlformats.org/drawingml/2006/main">
              <a:ext uri="{FF2B5EF4-FFF2-40B4-BE49-F238E27FC236}">
                <a16:creationId xmlns:a16="http://schemas.microsoft.com/office/drawing/2014/main" id="{2A0688B0-42E4-4447-85DB-AB54351F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00" y="18756000"/>
            <a:ext cx="5112000" cy="10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13" name="etl-main-text-0">
            <a:extLst xmlns:a="http://schemas.openxmlformats.org/drawingml/2006/main">
              <a:ext uri="{FF2B5EF4-FFF2-40B4-BE49-F238E27FC236}">
                <a16:creationId xmlns:a16="http://schemas.microsoft.com/office/drawing/2014/main" id="{E182E02E-E00B-40FB-88BA-D85E89CE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00" y="18936000"/>
            <a:ext cx="468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Extract PNS</a:t>
            </a:r>
          </a:p>
          <a:p xmlns:a="http://schemas.openxmlformats.org/drawingml/2006/main"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2013/2019 data</a:t>
            </a:r>
          </a:p>
        </p:txBody>
      </p:sp>
      <p:sp>
        <p:nvSpPr>
          <p:cNvPr id="14" name="etl-down-0">
            <a:extLst xmlns:a="http://schemas.openxmlformats.org/drawingml/2006/main">
              <a:ext uri="{FF2B5EF4-FFF2-40B4-BE49-F238E27FC236}">
                <a16:creationId xmlns:a16="http://schemas.microsoft.com/office/drawing/2014/main" id="{3F5463C1-7BD5-4FE5-8051-CB10C55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000" y="19872000"/>
            <a:ext cx="432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21" b="1">
                <a:solidFill>
                  <a:srgbClr val="153F59"/>
                </a:solidFill>
              </a:defRPr>
            </a:pPr>
            <a:r>
              <a:rPr sz="2721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15" name="etl-main-1">
            <a:extLst xmlns:a="http://schemas.openxmlformats.org/drawingml/2006/main">
              <a:ext uri="{FF2B5EF4-FFF2-40B4-BE49-F238E27FC236}">
                <a16:creationId xmlns:a16="http://schemas.microsoft.com/office/drawing/2014/main" id="{9C869C13-E9B1-43DE-8B31-F5E1186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00" y="20268000"/>
            <a:ext cx="5112000" cy="10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16" name="etl-main-text-1">
            <a:extLst xmlns:a="http://schemas.openxmlformats.org/drawingml/2006/main">
              <a:ext uri="{FF2B5EF4-FFF2-40B4-BE49-F238E27FC236}">
                <a16:creationId xmlns:a16="http://schemas.microsoft.com/office/drawing/2014/main" id="{9A6D83CB-66B1-462D-9562-47480997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00" y="20448000"/>
            <a:ext cx="468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Treat indicator</a:t>
            </a:r>
          </a:p>
          <a:p xmlns:a="http://schemas.openxmlformats.org/drawingml/2006/main"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17" name="etl-down-1">
            <a:extLst xmlns:a="http://schemas.openxmlformats.org/drawingml/2006/main">
              <a:ext uri="{FF2B5EF4-FFF2-40B4-BE49-F238E27FC236}">
                <a16:creationId xmlns:a16="http://schemas.microsoft.com/office/drawing/2014/main" id="{CE3B1BBD-EB68-4A31-A00B-DE2A0F6D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000" y="21384000"/>
            <a:ext cx="432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21" b="1">
                <a:solidFill>
                  <a:srgbClr val="153F59"/>
                </a:solidFill>
              </a:defRPr>
            </a:pPr>
            <a:r>
              <a:rPr sz="2721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18" name="etl-main-2">
            <a:extLst xmlns:a="http://schemas.openxmlformats.org/drawingml/2006/main">
              <a:ext uri="{FF2B5EF4-FFF2-40B4-BE49-F238E27FC236}">
                <a16:creationId xmlns:a16="http://schemas.microsoft.com/office/drawing/2014/main" id="{A52E87C7-0259-46D3-9D3C-81B2532E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00" y="21780000"/>
            <a:ext cx="5112000" cy="10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19" name="etl-main-text-2">
            <a:extLst xmlns:a="http://schemas.openxmlformats.org/drawingml/2006/main">
              <a:ext uri="{FF2B5EF4-FFF2-40B4-BE49-F238E27FC236}">
                <a16:creationId xmlns:a16="http://schemas.microsoft.com/office/drawing/2014/main" id="{2FB1A213-03D2-4740-A9A4-CAF94801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00" y="21960000"/>
            <a:ext cx="468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Implement the</a:t>
            </a:r>
          </a:p>
          <a:p xmlns:a="http://schemas.openxmlformats.org/drawingml/2006/main"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sampling design</a:t>
            </a:r>
          </a:p>
        </p:txBody>
      </p:sp>
      <p:sp>
        <p:nvSpPr>
          <p:cNvPr id="20" name="etl-branch-symbol">
            <a:extLst xmlns:a="http://schemas.openxmlformats.org/drawingml/2006/main">
              <a:ext uri="{FF2B5EF4-FFF2-40B4-BE49-F238E27FC236}">
                <a16:creationId xmlns:a16="http://schemas.microsoft.com/office/drawing/2014/main" id="{B0CE7502-C82A-49D9-860C-29C68EFE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000" y="23292000"/>
            <a:ext cx="568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35" b="1">
                <a:solidFill>
                  <a:srgbClr val="153F59"/>
                </a:solidFill>
              </a:defRPr>
            </a:pPr>
            <a:r>
              <a:rPr sz="2835" b="1">
                <a:solidFill>
                  <a:srgbClr val="153F59"/>
                </a:solidFill>
              </a:rPr>
              <a:t>↙       ↓       ↘</a:t>
            </a:r>
          </a:p>
        </p:txBody>
      </p:sp>
      <p:sp>
        <p:nvSpPr>
          <p:cNvPr id="21" name="etl-branch-0">
            <a:extLst xmlns:a="http://schemas.openxmlformats.org/drawingml/2006/main">
              <a:ext uri="{FF2B5EF4-FFF2-40B4-BE49-F238E27FC236}">
                <a16:creationId xmlns:a16="http://schemas.microsoft.com/office/drawing/2014/main" id="{24CFFF66-9EC2-416F-9B5F-4858108F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23940000"/>
            <a:ext cx="230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22" name="etl-branch-text-0">
            <a:extLst xmlns:a="http://schemas.openxmlformats.org/drawingml/2006/main">
              <a:ext uri="{FF2B5EF4-FFF2-40B4-BE49-F238E27FC236}">
                <a16:creationId xmlns:a16="http://schemas.microsoft.com/office/drawing/2014/main" id="{6173F268-0E51-467B-8E9A-E8ACDA7A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24156000"/>
            <a:ext cx="2088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84" b="1">
                <a:solidFill>
                  <a:srgbClr val="FFFFFF"/>
                </a:solidFill>
              </a:defRPr>
            </a:pPr>
            <a:r>
              <a:rPr sz="1984" b="1">
                <a:solidFill>
                  <a:srgbClr val="FFFFFF"/>
                </a:solidFill>
              </a:rPr>
              <a:t>Means</a:t>
            </a:r>
          </a:p>
        </p:txBody>
      </p:sp>
      <p:sp>
        <p:nvSpPr>
          <p:cNvPr id="23" name="etl-branch-down-0">
            <a:extLst xmlns:a="http://schemas.openxmlformats.org/drawingml/2006/main">
              <a:ext uri="{FF2B5EF4-FFF2-40B4-BE49-F238E27FC236}">
                <a16:creationId xmlns:a16="http://schemas.microsoft.com/office/drawing/2014/main" id="{C9B2F198-AFC3-4E28-94E8-4611805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2484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68" b="1">
                <a:solidFill>
                  <a:srgbClr val="153F59"/>
                </a:solidFill>
              </a:defRPr>
            </a:pPr>
            <a:r>
              <a:rPr sz="2268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24" name="etl-ci-0">
            <a:extLst xmlns:a="http://schemas.openxmlformats.org/drawingml/2006/main">
              <a:ext uri="{FF2B5EF4-FFF2-40B4-BE49-F238E27FC236}">
                <a16:creationId xmlns:a16="http://schemas.microsoft.com/office/drawing/2014/main" id="{D6678856-2CB3-4FE1-8DC6-37ECD39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25308000"/>
            <a:ext cx="201600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25" name="etl-ci-text-0">
            <a:extLst xmlns:a="http://schemas.openxmlformats.org/drawingml/2006/main">
              <a:ext uri="{FF2B5EF4-FFF2-40B4-BE49-F238E27FC236}">
                <a16:creationId xmlns:a16="http://schemas.microsoft.com/office/drawing/2014/main" id="{0717263D-8467-4307-8283-27EDFDE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5524000"/>
            <a:ext cx="180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6" b="1">
                <a:solidFill>
                  <a:srgbClr val="FFFFFF"/>
                </a:solidFill>
              </a:defRPr>
            </a:pPr>
            <a:r>
              <a:rPr sz="1956" b="1">
                <a:solidFill>
                  <a:srgbClr val="FFFFFF"/>
                </a:solidFill>
              </a:rPr>
              <a:t>Normal</a:t>
            </a:r>
          </a:p>
          <a:p xmlns:a="http://schemas.openxmlformats.org/drawingml/2006/main">
            <a:pPr algn="ctr">
              <a:defRPr sz="1956" b="1">
                <a:solidFill>
                  <a:srgbClr val="FFFFFF"/>
                </a:solidFill>
              </a:defRPr>
            </a:pPr>
            <a:r>
              <a:rPr sz="1956" b="1">
                <a:solidFill>
                  <a:srgbClr val="FFFFFF"/>
                </a:solidFill>
              </a:rPr>
              <a:t>95% CI</a:t>
            </a:r>
          </a:p>
        </p:txBody>
      </p:sp>
      <p:sp>
        <p:nvSpPr>
          <p:cNvPr id="26" name="etl-branch-1">
            <a:extLst xmlns:a="http://schemas.openxmlformats.org/drawingml/2006/main">
              <a:ext uri="{FF2B5EF4-FFF2-40B4-BE49-F238E27FC236}">
                <a16:creationId xmlns:a16="http://schemas.microsoft.com/office/drawing/2014/main" id="{702F2EC0-265C-48AD-8A5C-0CCD3EE7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000" y="23940000"/>
            <a:ext cx="230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27" name="etl-branch-text-1">
            <a:extLst xmlns:a="http://schemas.openxmlformats.org/drawingml/2006/main">
              <a:ext uri="{FF2B5EF4-FFF2-40B4-BE49-F238E27FC236}">
                <a16:creationId xmlns:a16="http://schemas.microsoft.com/office/drawing/2014/main" id="{46050EC3-5CF3-4F9D-A0CF-FE2422F6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000" y="24156000"/>
            <a:ext cx="2088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84" b="1">
                <a:solidFill>
                  <a:srgbClr val="FFFFFF"/>
                </a:solidFill>
              </a:defRPr>
            </a:pPr>
            <a:r>
              <a:rPr sz="1984" b="1">
                <a:solidFill>
                  <a:srgbClr val="FFFFFF"/>
                </a:solidFill>
              </a:rPr>
              <a:t>Proportions</a:t>
            </a:r>
          </a:p>
        </p:txBody>
      </p:sp>
      <p:sp>
        <p:nvSpPr>
          <p:cNvPr id="28" name="etl-branch-down-1">
            <a:extLst xmlns:a="http://schemas.openxmlformats.org/drawingml/2006/main">
              <a:ext uri="{FF2B5EF4-FFF2-40B4-BE49-F238E27FC236}">
                <a16:creationId xmlns:a16="http://schemas.microsoft.com/office/drawing/2014/main" id="{2F67B98E-3F7A-4048-B5A3-CD9E094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000" y="2484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68" b="1">
                <a:solidFill>
                  <a:srgbClr val="153F59"/>
                </a:solidFill>
              </a:defRPr>
            </a:pPr>
            <a:r>
              <a:rPr sz="2268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29" name="etl-ci-1">
            <a:extLst xmlns:a="http://schemas.openxmlformats.org/drawingml/2006/main">
              <a:ext uri="{FF2B5EF4-FFF2-40B4-BE49-F238E27FC236}">
                <a16:creationId xmlns:a16="http://schemas.microsoft.com/office/drawing/2014/main" id="{338D65C1-7B34-42AE-943D-53AB4B0F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000" y="25308000"/>
            <a:ext cx="201600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30" name="etl-ci-text-1">
            <a:extLst xmlns:a="http://schemas.openxmlformats.org/drawingml/2006/main">
              <a:ext uri="{FF2B5EF4-FFF2-40B4-BE49-F238E27FC236}">
                <a16:creationId xmlns:a16="http://schemas.microsoft.com/office/drawing/2014/main" id="{15270959-91B4-4802-832F-D779DAC9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000" y="25524000"/>
            <a:ext cx="180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6" b="1">
                <a:solidFill>
                  <a:srgbClr val="FFFFFF"/>
                </a:solidFill>
              </a:defRPr>
            </a:pPr>
            <a:r>
              <a:rPr sz="1956" b="1">
                <a:solidFill>
                  <a:srgbClr val="FFFFFF"/>
                </a:solidFill>
              </a:rPr>
              <a:t>Beta</a:t>
            </a:r>
          </a:p>
          <a:p xmlns:a="http://schemas.openxmlformats.org/drawingml/2006/main">
            <a:pPr algn="ctr">
              <a:defRPr sz="1956" b="1">
                <a:solidFill>
                  <a:srgbClr val="FFFFFF"/>
                </a:solidFill>
              </a:defRPr>
            </a:pPr>
            <a:r>
              <a:rPr sz="1956" b="1">
                <a:solidFill>
                  <a:srgbClr val="FFFFFF"/>
                </a:solidFill>
              </a:rPr>
              <a:t>95% CI</a:t>
            </a:r>
          </a:p>
        </p:txBody>
      </p:sp>
      <p:sp>
        <p:nvSpPr>
          <p:cNvPr id="31" name="etl-branch-2">
            <a:extLst xmlns:a="http://schemas.openxmlformats.org/drawingml/2006/main">
              <a:ext uri="{FF2B5EF4-FFF2-40B4-BE49-F238E27FC236}">
                <a16:creationId xmlns:a16="http://schemas.microsoft.com/office/drawing/2014/main" id="{CF268FBB-B39C-4C80-85B3-E41C668C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0" y="23940000"/>
            <a:ext cx="230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32" name="etl-branch-text-2">
            <a:extLst xmlns:a="http://schemas.openxmlformats.org/drawingml/2006/main">
              <a:ext uri="{FF2B5EF4-FFF2-40B4-BE49-F238E27FC236}">
                <a16:creationId xmlns:a16="http://schemas.microsoft.com/office/drawing/2014/main" id="{B8320629-9A10-4C17-902B-B7CC1DC6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0" y="24156000"/>
            <a:ext cx="2088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84" b="1">
                <a:solidFill>
                  <a:srgbClr val="FFFFFF"/>
                </a:solidFill>
              </a:defRPr>
            </a:pPr>
            <a:r>
              <a:rPr sz="1984" b="1">
                <a:solidFill>
                  <a:srgbClr val="FFFFFF"/>
                </a:solidFill>
              </a:rPr>
              <a:t>Totals/rates</a:t>
            </a:r>
          </a:p>
        </p:txBody>
      </p:sp>
      <p:sp>
        <p:nvSpPr>
          <p:cNvPr id="33" name="etl-branch-down-2">
            <a:extLst xmlns:a="http://schemas.openxmlformats.org/drawingml/2006/main">
              <a:ext uri="{FF2B5EF4-FFF2-40B4-BE49-F238E27FC236}">
                <a16:creationId xmlns:a16="http://schemas.microsoft.com/office/drawing/2014/main" id="{7E74A6C2-31B2-450D-86CB-2D5C0DD1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000" y="2484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68" b="1">
                <a:solidFill>
                  <a:srgbClr val="153F59"/>
                </a:solidFill>
              </a:defRPr>
            </a:pPr>
            <a:r>
              <a:rPr sz="2268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34" name="etl-ci-2">
            <a:extLst xmlns:a="http://schemas.openxmlformats.org/drawingml/2006/main">
              <a:ext uri="{FF2B5EF4-FFF2-40B4-BE49-F238E27FC236}">
                <a16:creationId xmlns:a16="http://schemas.microsoft.com/office/drawing/2014/main" id="{157E8D5E-2D67-4FC7-A83F-00ABDAC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000" y="25308000"/>
            <a:ext cx="201600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673"/>
          </a:solidFill>
          <a:ln xmlns:a="http://schemas.openxmlformats.org/drawingml/2006/main" w="36000">
            <a:solidFill>
              <a:srgbClr val="153F59"/>
            </a:solidFill>
            <a:prstDash val="solid"/>
          </a:ln>
        </p:spPr>
      </p:sp>
      <p:sp>
        <p:nvSpPr>
          <p:cNvPr id="35" name="etl-ci-text-2">
            <a:extLst xmlns:a="http://schemas.openxmlformats.org/drawingml/2006/main">
              <a:ext uri="{FF2B5EF4-FFF2-40B4-BE49-F238E27FC236}">
                <a16:creationId xmlns:a16="http://schemas.microsoft.com/office/drawing/2014/main" id="{B339982F-25E0-4D69-B744-DCE9EB8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000" y="25524000"/>
            <a:ext cx="180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59" b="1">
                <a:solidFill>
                  <a:srgbClr val="FFFFFF"/>
                </a:solidFill>
              </a:defRPr>
            </a:pPr>
            <a:r>
              <a:rPr sz="1559" b="1">
                <a:solidFill>
                  <a:srgbClr val="FFFFFF"/>
                </a:solidFill>
              </a:rPr>
              <a:t>95% CI by</a:t>
            </a:r>
          </a:p>
          <a:p xmlns:a="http://schemas.openxmlformats.org/drawingml/2006/main">
            <a:pPr algn="ctr">
              <a:defRPr sz="1559" b="1">
                <a:solidFill>
                  <a:srgbClr val="FFFFFF"/>
                </a:solidFill>
              </a:defRPr>
            </a:pPr>
            <a:r>
              <a:rPr sz="1559" b="1">
                <a:solidFill>
                  <a:srgbClr val="FFFFFF"/>
                </a:solidFill>
              </a:rPr>
              <a:t>estimator</a:t>
            </a:r>
          </a:p>
        </p:txBody>
      </p:sp>
      <p:sp>
        <p:nvSpPr>
          <p:cNvPr id="36" name="formula-heading">
            <a:extLst xmlns:a="http://schemas.openxmlformats.org/drawingml/2006/main">
              <a:ext uri="{FF2B5EF4-FFF2-40B4-BE49-F238E27FC236}">
                <a16:creationId xmlns:a16="http://schemas.microsoft.com/office/drawing/2014/main" id="{AB4FB275-B35B-40FE-8F52-1C6283E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26856000"/>
            <a:ext cx="770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21" b="1">
                <a:solidFill>
                  <a:srgbClr val="153F59"/>
                </a:solidFill>
              </a:defRPr>
            </a:pPr>
            <a:r>
              <a:rPr sz="2721" b="1">
                <a:solidFill>
                  <a:srgbClr val="153F59"/>
                </a:solidFill>
              </a:rPr>
              <a:t>ESTIMATORS</a:t>
            </a:r>
          </a:p>
        </p:txBody>
      </p:sp>
      <p:sp>
        <p:nvSpPr>
          <p:cNvPr id="37" name="formula-box">
            <a:extLst xmlns:a="http://schemas.openxmlformats.org/drawingml/2006/main">
              <a:ext uri="{FF2B5EF4-FFF2-40B4-BE49-F238E27FC236}">
                <a16:creationId xmlns:a16="http://schemas.microsoft.com/office/drawing/2014/main" id="{09497DB1-528B-4B3C-8A71-5D76331A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7576000"/>
            <a:ext cx="756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6000">
            <a:solidFill>
              <a:srgbClr val="9BC5D8"/>
            </a:solidFill>
            <a:prstDash val="solid"/>
          </a:ln>
        </p:spPr>
      </p:sp>
      <p:pic>
        <p:nvPicPr>
          <p:cNvPr id="3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2d2cd91a840e3"/>
          <a:stretch xmlns:a="http://schemas.openxmlformats.org/drawingml/2006/main"/>
        </p:blipFill>
        <p:spPr>
          <a:xfrm xmlns:a="http://schemas.openxmlformats.org/drawingml/2006/main">
            <a:off x="684000" y="27852360"/>
            <a:ext cx="7056000" cy="2867279"/>
          </a:xfrm>
          <a:prstGeom xmlns:a="http://schemas.openxmlformats.org/drawingml/2006/main" prst="rect">
            <a:avLst/>
          </a:prstGeom>
        </p:spPr>
      </p:pic>
      <p:sp>
        <p:nvSpPr>
          <p:cNvPr id="39" name="normal-ci-code">
            <a:extLst xmlns:a="http://schemas.openxmlformats.org/drawingml/2006/main">
              <a:ext uri="{FF2B5EF4-FFF2-40B4-BE49-F238E27FC236}">
                <a16:creationId xmlns:a16="http://schemas.microsoft.com/office/drawing/2014/main" id="{9D9AC440-79BD-426E-B114-8457E057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0888000"/>
            <a:ext cx="6984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01" b="1">
                <a:solidFill>
                  <a:srgbClr val="153F59"/>
                </a:solidFill>
              </a:defRPr>
            </a:pPr>
            <a:r>
              <a:rPr sz="1701" b="1">
                <a:solidFill>
                  <a:srgbClr val="153F59"/>
                </a:solidFill>
              </a:rPr>
              <a:t>Normal 95% CI: survey::svymean(~x, design) + confint()</a:t>
            </a:r>
          </a:p>
        </p:txBody>
      </p:sp>
      <p:sp>
        <p:nvSpPr>
          <p:cNvPr id="40" name="formula-legend">
            <a:extLst xmlns:a="http://schemas.openxmlformats.org/drawingml/2006/main">
              <a:ext uri="{FF2B5EF4-FFF2-40B4-BE49-F238E27FC236}">
                <a16:creationId xmlns:a16="http://schemas.microsoft.com/office/drawing/2014/main" id="{EBFF05C9-1E00-4B7A-9BBD-F1ADF4B6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1428000"/>
            <a:ext cx="698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2" b="0">
                <a:solidFill>
                  <a:srgbClr val="102536"/>
                </a:solidFill>
              </a:defRPr>
            </a:pPr>
            <a:r>
              <a:rPr sz="1502" b="0">
                <a:solidFill>
                  <a:srgbClr val="102536"/>
                </a:solidFill>
              </a:rPr>
              <a:t>wᵢ = sampling weight; yᵢ = binary indicator; xᵢ = continuous variable.</a:t>
            </a:r>
          </a:p>
        </p:txBody>
      </p:sp>
      <p:sp>
        <p:nvSpPr>
          <p:cNvPr id="41" name="main-finding">
            <a:extLst xmlns:a="http://schemas.openxmlformats.org/drawingml/2006/main">
              <a:ext uri="{FF2B5EF4-FFF2-40B4-BE49-F238E27FC236}">
                <a16:creationId xmlns:a16="http://schemas.microsoft.com/office/drawing/2014/main" id="{D724591F-3E01-49DE-8065-711713E6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000" y="5220000"/>
            <a:ext cx="25380000" cy="25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80" b="1">
                <a:solidFill>
                  <a:srgbClr val="153F59"/>
                </a:solidFill>
              </a:defRPr>
            </a:pPr>
            <a:r>
              <a:rPr sz="6180" b="1">
                <a:solidFill>
                  <a:srgbClr val="153F59"/>
                </a:solidFill>
              </a:rPr>
              <a:t>Asthma diagnosis increased; control, medication access and functional burden must be interpreted through the PNS sampling design.</a:t>
            </a:r>
          </a:p>
        </p:txBody>
      </p:sp>
      <p:sp>
        <p:nvSpPr>
          <p:cNvPr id="42" name="finding-underline">
            <a:extLst xmlns:a="http://schemas.openxmlformats.org/drawingml/2006/main">
              <a:ext uri="{FF2B5EF4-FFF2-40B4-BE49-F238E27FC236}">
                <a16:creationId xmlns:a16="http://schemas.microsoft.com/office/drawing/2014/main" id="{6BE59BFF-0A26-411A-95F1-DD1DAF9F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000" y="7848000"/>
            <a:ext cx="203400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0">
            <a:solidFill>
              <a:srgbClr val="153F59"/>
            </a:solidFill>
            <a:prstDash val="solid"/>
          </a:ln>
        </p:spPr>
      </p:sp>
      <p:sp>
        <p:nvSpPr>
          <p:cNvPr id="43" name="Diagnosis in Brazil-card">
            <a:extLst xmlns:a="http://schemas.openxmlformats.org/drawingml/2006/main">
              <a:ext uri="{FF2B5EF4-FFF2-40B4-BE49-F238E27FC236}">
                <a16:creationId xmlns:a16="http://schemas.microsoft.com/office/drawing/2014/main" id="{16C04ED7-94A0-4F09-98A1-78A2447A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000" y="8316000"/>
            <a:ext cx="76320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36000">
            <a:solidFill>
              <a:srgbClr val="9BC5D8"/>
            </a:solidFill>
            <a:prstDash val="solid"/>
          </a:ln>
        </p:spPr>
      </p:sp>
      <p:sp>
        <p:nvSpPr>
          <p:cNvPr id="44" name="Diagnosis in Brazil-card-title">
            <a:extLst xmlns:a="http://schemas.openxmlformats.org/drawingml/2006/main">
              <a:ext uri="{FF2B5EF4-FFF2-40B4-BE49-F238E27FC236}">
                <a16:creationId xmlns:a16="http://schemas.microsoft.com/office/drawing/2014/main" id="{22A79070-B8A5-4384-9751-8E30741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000" y="8604000"/>
            <a:ext cx="705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1" b="1">
                <a:solidFill>
                  <a:srgbClr val="153F59"/>
                </a:solidFill>
              </a:defRPr>
            </a:pPr>
            <a:r>
              <a:rPr sz="2551" b="1">
                <a:solidFill>
                  <a:srgbClr val="153F59"/>
                </a:solidFill>
              </a:rPr>
              <a:t>Diagnosis in Brazil</a:t>
            </a:r>
          </a:p>
        </p:txBody>
      </p:sp>
      <p:sp>
        <p:nvSpPr>
          <p:cNvPr id="45" name="Diagnosis in Brazil-card-value">
            <a:extLst xmlns:a="http://schemas.openxmlformats.org/drawingml/2006/main">
              <a:ext uri="{FF2B5EF4-FFF2-40B4-BE49-F238E27FC236}">
                <a16:creationId xmlns:a16="http://schemas.microsoft.com/office/drawing/2014/main" id="{F371A738-81D9-47BC-9C70-7A641A7E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000" y="9144000"/>
            <a:ext cx="7056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706" b="1">
                <a:solidFill>
                  <a:srgbClr val="153F59"/>
                </a:solidFill>
              </a:defRPr>
            </a:pPr>
            <a:r>
              <a:rPr sz="4706" b="1">
                <a:solidFill>
                  <a:srgbClr val="153F59"/>
                </a:solidFill>
              </a:rPr>
              <a:t>4.41% → 5.40%</a:t>
            </a:r>
          </a:p>
        </p:txBody>
      </p:sp>
      <p:sp>
        <p:nvSpPr>
          <p:cNvPr id="46" name="Diagnosis in Brazil-card-note">
            <a:extLst xmlns:a="http://schemas.openxmlformats.org/drawingml/2006/main">
              <a:ext uri="{FF2B5EF4-FFF2-40B4-BE49-F238E27FC236}">
                <a16:creationId xmlns:a16="http://schemas.microsoft.com/office/drawing/2014/main" id="{4C2DE213-D1A5-4A68-9605-0C84AD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000" y="9936000"/>
            <a:ext cx="70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72" b="0">
                <a:solidFill>
                  <a:srgbClr val="102536"/>
                </a:solidFill>
              </a:defRPr>
            </a:pPr>
            <a:r>
              <a:rPr sz="1672" b="0">
                <a:solidFill>
                  <a:srgbClr val="102536"/>
                </a:solidFill>
              </a:rPr>
              <a:t>Physician-diagnosed asthma prevalence; non-overlapping 95% CIs.</a:t>
            </a:r>
          </a:p>
        </p:txBody>
      </p:sp>
      <p:sp>
        <p:nvSpPr>
          <p:cNvPr id="47" name="Medication in Brazil-card">
            <a:extLst xmlns:a="http://schemas.openxmlformats.org/drawingml/2006/main">
              <a:ext uri="{FF2B5EF4-FFF2-40B4-BE49-F238E27FC236}">
                <a16:creationId xmlns:a16="http://schemas.microsoft.com/office/drawing/2014/main" id="{86D18C5E-F8C9-459A-A636-8F6EE57C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000" y="8316000"/>
            <a:ext cx="76320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36000">
            <a:solidFill>
              <a:srgbClr val="9BC5D8"/>
            </a:solidFill>
            <a:prstDash val="solid"/>
          </a:ln>
        </p:spPr>
      </p:sp>
      <p:sp>
        <p:nvSpPr>
          <p:cNvPr id="48" name="Medication in Brazil-card-title">
            <a:extLst xmlns:a="http://schemas.openxmlformats.org/drawingml/2006/main">
              <a:ext uri="{FF2B5EF4-FFF2-40B4-BE49-F238E27FC236}">
                <a16:creationId xmlns:a16="http://schemas.microsoft.com/office/drawing/2014/main" id="{35228E83-D536-4A09-A057-3AD01184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6000" y="8604000"/>
            <a:ext cx="705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1" b="1">
                <a:solidFill>
                  <a:srgbClr val="153F59"/>
                </a:solidFill>
              </a:defRPr>
            </a:pPr>
            <a:r>
              <a:rPr sz="2551" b="1">
                <a:solidFill>
                  <a:srgbClr val="153F59"/>
                </a:solidFill>
              </a:rPr>
              <a:t>Medication in Brazil</a:t>
            </a:r>
          </a:p>
        </p:txBody>
      </p:sp>
      <p:sp>
        <p:nvSpPr>
          <p:cNvPr id="49" name="Medication in Brazil-card-value">
            <a:extLst xmlns:a="http://schemas.openxmlformats.org/drawingml/2006/main">
              <a:ext uri="{FF2B5EF4-FFF2-40B4-BE49-F238E27FC236}">
                <a16:creationId xmlns:a16="http://schemas.microsoft.com/office/drawing/2014/main" id="{8EBAB4FE-E151-4630-ACC7-1C5A1897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6000" y="9144000"/>
            <a:ext cx="7056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706" b="1">
                <a:solidFill>
                  <a:srgbClr val="153F59"/>
                </a:solidFill>
              </a:defRPr>
            </a:pPr>
            <a:r>
              <a:rPr sz="4706" b="1">
                <a:solidFill>
                  <a:srgbClr val="153F59"/>
                </a:solidFill>
              </a:rPr>
              <a:t>81.5% → 64.4%</a:t>
            </a:r>
          </a:p>
        </p:txBody>
      </p:sp>
      <p:sp>
        <p:nvSpPr>
          <p:cNvPr id="50" name="Medication in Brazil-card-note">
            <a:extLst xmlns:a="http://schemas.openxmlformats.org/drawingml/2006/main">
              <a:ext uri="{FF2B5EF4-FFF2-40B4-BE49-F238E27FC236}">
                <a16:creationId xmlns:a16="http://schemas.microsoft.com/office/drawing/2014/main" id="{82D6A243-C4FB-46C9-B683-7564C3FD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6000" y="9936000"/>
            <a:ext cx="70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72" b="0">
                <a:solidFill>
                  <a:srgbClr val="102536"/>
                </a:solidFill>
              </a:defRPr>
            </a:pPr>
            <a:r>
              <a:rPr sz="1672" b="0">
                <a:solidFill>
                  <a:srgbClr val="102536"/>
                </a:solidFill>
              </a:rPr>
              <a:t>Oral medication or inhaler use among people with asthma; read with denominator and CI.</a:t>
            </a:r>
          </a:p>
        </p:txBody>
      </p:sp>
      <p:sp>
        <p:nvSpPr>
          <p:cNvPr id="51" name="Functional burden-card">
            <a:extLst xmlns:a="http://schemas.openxmlformats.org/drawingml/2006/main">
              <a:ext uri="{FF2B5EF4-FFF2-40B4-BE49-F238E27FC236}">
                <a16:creationId xmlns:a16="http://schemas.microsoft.com/office/drawing/2014/main" id="{86AB60F9-2EAC-4253-ABDE-9D623BAA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000" y="8316000"/>
            <a:ext cx="76320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36000">
            <a:solidFill>
              <a:srgbClr val="9BC5D8"/>
            </a:solidFill>
            <a:prstDash val="solid"/>
          </a:ln>
        </p:spPr>
      </p:sp>
      <p:sp>
        <p:nvSpPr>
          <p:cNvPr id="52" name="Functional burden-card-title">
            <a:extLst xmlns:a="http://schemas.openxmlformats.org/drawingml/2006/main">
              <a:ext uri="{FF2B5EF4-FFF2-40B4-BE49-F238E27FC236}">
                <a16:creationId xmlns:a16="http://schemas.microsoft.com/office/drawing/2014/main" id="{C5D96CB4-4A09-4014-A6C1-DA9772FB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4000" y="8604000"/>
            <a:ext cx="705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1" b="1">
                <a:solidFill>
                  <a:srgbClr val="153F59"/>
                </a:solidFill>
              </a:defRPr>
            </a:pPr>
            <a:r>
              <a:rPr sz="2551" b="1">
                <a:solidFill>
                  <a:srgbClr val="153F59"/>
                </a:solidFill>
              </a:rPr>
              <a:t>Functional burden</a:t>
            </a:r>
          </a:p>
        </p:txBody>
      </p:sp>
      <p:sp>
        <p:nvSpPr>
          <p:cNvPr id="53" name="Functional burden-card-value">
            <a:extLst xmlns:a="http://schemas.openxmlformats.org/drawingml/2006/main">
              <a:ext uri="{FF2B5EF4-FFF2-40B4-BE49-F238E27FC236}">
                <a16:creationId xmlns:a16="http://schemas.microsoft.com/office/drawing/2014/main" id="{37E4F1D6-2688-4289-B753-75CAC2C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4000" y="9144000"/>
            <a:ext cx="7056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706" b="1">
                <a:solidFill>
                  <a:srgbClr val="153F59"/>
                </a:solidFill>
              </a:defRPr>
            </a:pPr>
            <a:r>
              <a:rPr sz="4706" b="1">
                <a:solidFill>
                  <a:srgbClr val="153F59"/>
                </a:solidFill>
              </a:rPr>
              <a:t>15.2% and 4.8 days</a:t>
            </a:r>
          </a:p>
        </p:txBody>
      </p:sp>
      <p:sp>
        <p:nvSpPr>
          <p:cNvPr id="54" name="Functional burden-card-note">
            <a:extLst xmlns:a="http://schemas.openxmlformats.org/drawingml/2006/main">
              <a:ext uri="{FF2B5EF4-FFF2-40B4-BE49-F238E27FC236}">
                <a16:creationId xmlns:a16="http://schemas.microsoft.com/office/drawing/2014/main" id="{E70D915C-AA5D-4D40-8EDC-723EB784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4000" y="9936000"/>
            <a:ext cx="70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72" b="0">
                <a:solidFill>
                  <a:srgbClr val="102536"/>
                </a:solidFill>
              </a:defRPr>
            </a:pPr>
            <a:r>
              <a:rPr sz="1672" b="0">
                <a:solidFill>
                  <a:srgbClr val="102536"/>
                </a:solidFill>
              </a:rPr>
              <a:t>Respiratory absenteeism and mean lost days in 2019.</a:t>
            </a:r>
          </a:p>
        </p:txBody>
      </p:sp>
      <p:sp>
        <p:nvSpPr>
          <p:cNvPr id="55" name="Table 1: Physician-diagn">
            <a:extLst xmlns:a="http://schemas.openxmlformats.org/drawingml/2006/main">
              <a:ext uri="{FF2B5EF4-FFF2-40B4-BE49-F238E27FC236}">
                <a16:creationId xmlns:a16="http://schemas.microsoft.com/office/drawing/2014/main" id="{300B599F-0877-450E-9592-FCFC38C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000" y="11052000"/>
            <a:ext cx="12672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23" b="1">
                <a:solidFill>
                  <a:srgbClr val="153F59"/>
                </a:solidFill>
              </a:defRPr>
            </a:pPr>
            <a:r>
              <a:rPr sz="2523" b="1">
                <a:solidFill>
                  <a:srgbClr val="153F59"/>
                </a:solidFill>
              </a:rPr>
              <a:t>Table 1: Physician-diagnosed asthma prevalence by state, PNS 2013 and 2019.</a:t>
            </a:r>
          </a:p>
        </p:txBody>
      </p:sp>
      <p:sp>
        <p:nvSpPr>
          <p:cNvPr id="56" name="Table 1: Physician-diagnosed asthma prevalence by state, PNS 2013 and 2019.-frame">
            <a:extLst xmlns:a="http://schemas.openxmlformats.org/drawingml/2006/main">
              <a:ext uri="{FF2B5EF4-FFF2-40B4-BE49-F238E27FC236}">
                <a16:creationId xmlns:a16="http://schemas.microsoft.com/office/drawing/2014/main" id="{30ED45F5-F101-4DEE-ADE7-6ED3E55C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000" y="11988000"/>
            <a:ext cx="12672000" cy="11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6000">
            <a:solidFill>
              <a:srgbClr val="9BC5D8"/>
            </a:solidFill>
            <a:prstDash val="solid"/>
          </a:ln>
        </p:spPr>
      </p:sp>
      <p:sp>
        <p:nvSpPr>
          <p:cNvPr id="57" name="Table 1: Physician-diagnosed asthma prevalence by state, PNS 2013 and 2019.-head-bg">
            <a:extLst xmlns:a="http://schemas.openxmlformats.org/drawingml/2006/main">
              <a:ext uri="{FF2B5EF4-FFF2-40B4-BE49-F238E27FC236}">
                <a16:creationId xmlns:a16="http://schemas.microsoft.com/office/drawing/2014/main" id="{BB987CCA-117C-4B03-B8DE-375B1E0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2168000"/>
            <a:ext cx="91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0">
            <a:solidFill>
              <a:srgbClr val="153F59"/>
            </a:solidFill>
            <a:prstDash val="solid"/>
          </a:ln>
        </p:spPr>
      </p:sp>
      <p:sp>
        <p:nvSpPr>
          <p:cNvPr id="58" name="Table 1: Physician-diagnosed asthma prevalence by state, PNS 2013 and 2019.-head-0">
            <a:extLst xmlns:a="http://schemas.openxmlformats.org/drawingml/2006/main">
              <a:ext uri="{FF2B5EF4-FFF2-40B4-BE49-F238E27FC236}">
                <a16:creationId xmlns:a16="http://schemas.microsoft.com/office/drawing/2014/main" id="{F24E17AB-2932-4010-9840-9952076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00" y="12276000"/>
            <a:ext cx="10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59" name="Table 1: Physician-diagnosed asthma prevalence by state, PNS 2013 and 2019.-head-1">
            <a:extLst xmlns:a="http://schemas.openxmlformats.org/drawingml/2006/main">
              <a:ext uri="{FF2B5EF4-FFF2-40B4-BE49-F238E27FC236}">
                <a16:creationId xmlns:a16="http://schemas.microsoft.com/office/drawing/2014/main" id="{D45612F8-7584-4868-B8EF-779ED3A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2000" y="12276000"/>
            <a:ext cx="381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2013</a:t>
            </a:r>
          </a:p>
        </p:txBody>
      </p:sp>
      <p:sp>
        <p:nvSpPr>
          <p:cNvPr id="60" name="Table 1: Physician-diagnosed asthma prevalence by state, PNS 2013 and 2019.-head-2">
            <a:extLst xmlns:a="http://schemas.openxmlformats.org/drawingml/2006/main">
              <a:ext uri="{FF2B5EF4-FFF2-40B4-BE49-F238E27FC236}">
                <a16:creationId xmlns:a16="http://schemas.microsoft.com/office/drawing/2014/main" id="{7162E802-A4DA-4F6A-8445-44E8ECB2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2000" y="12276000"/>
            <a:ext cx="381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2019</a:t>
            </a:r>
          </a:p>
        </p:txBody>
      </p:sp>
      <p:sp>
        <p:nvSpPr>
          <p:cNvPr id="61" name="Table 1: Physician-diagnosed asthma prevalence by state, PNS 2013 and 2019.-stripe-0">
            <a:extLst xmlns:a="http://schemas.openxmlformats.org/drawingml/2006/main">
              <a:ext uri="{FF2B5EF4-FFF2-40B4-BE49-F238E27FC236}">
                <a16:creationId xmlns:a16="http://schemas.microsoft.com/office/drawing/2014/main" id="{99B572A8-1E23-4941-911B-F7EAFA06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2816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62" name="Table 1: Physician-diagnosed asthma prevalence by state, PNS 2013 and 2019.-cell-0-0">
            <a:extLst xmlns:a="http://schemas.openxmlformats.org/drawingml/2006/main">
              <a:ext uri="{FF2B5EF4-FFF2-40B4-BE49-F238E27FC236}">
                <a16:creationId xmlns:a16="http://schemas.microsoft.com/office/drawing/2014/main" id="{2BD1BC1B-43E8-40CF-BC25-09666CED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2852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RO</a:t>
            </a:r>
          </a:p>
        </p:txBody>
      </p:sp>
      <p:sp>
        <p:nvSpPr>
          <p:cNvPr id="63" name="Table 1: Physician-diagnosed asthma prevalence by state, PNS 2013 and 2019.-cell-0-1">
            <a:extLst xmlns:a="http://schemas.openxmlformats.org/drawingml/2006/main">
              <a:ext uri="{FF2B5EF4-FFF2-40B4-BE49-F238E27FC236}">
                <a16:creationId xmlns:a16="http://schemas.microsoft.com/office/drawing/2014/main" id="{72FC0E6A-B79B-4E04-81A9-A0E3BE3D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2852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4.20 [3.02-5.67]</a:t>
            </a:r>
          </a:p>
        </p:txBody>
      </p:sp>
      <p:sp>
        <p:nvSpPr>
          <p:cNvPr id="64" name="Table 1: Physician-diagnosed asthma prevalence by state, PNS 2013 and 2019.-cell-0-2">
            <a:extLst xmlns:a="http://schemas.openxmlformats.org/drawingml/2006/main">
              <a:ext uri="{FF2B5EF4-FFF2-40B4-BE49-F238E27FC236}">
                <a16:creationId xmlns:a16="http://schemas.microsoft.com/office/drawing/2014/main" id="{046EB793-7425-4FF2-8A57-C05A535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2852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3.43 [2.70-4.30]</a:t>
            </a:r>
          </a:p>
        </p:txBody>
      </p:sp>
      <p:sp>
        <p:nvSpPr>
          <p:cNvPr id="65" name="Table 1: Physician-diagnosed asthma prevalence by state, PNS 2013 and 2019.-cell-1-0">
            <a:extLst xmlns:a="http://schemas.openxmlformats.org/drawingml/2006/main">
              <a:ext uri="{FF2B5EF4-FFF2-40B4-BE49-F238E27FC236}">
                <a16:creationId xmlns:a16="http://schemas.microsoft.com/office/drawing/2014/main" id="{55A0E37C-C5A2-43BE-B81E-E7A89868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3217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AC</a:t>
            </a:r>
          </a:p>
        </p:txBody>
      </p:sp>
      <p:sp>
        <p:nvSpPr>
          <p:cNvPr id="66" name="Table 1: Physician-diagnosed asthma prevalence by state, PNS 2013 and 2019.-cell-1-1">
            <a:extLst xmlns:a="http://schemas.openxmlformats.org/drawingml/2006/main">
              <a:ext uri="{FF2B5EF4-FFF2-40B4-BE49-F238E27FC236}">
                <a16:creationId xmlns:a16="http://schemas.microsoft.com/office/drawing/2014/main" id="{33F048E9-86A9-4E9B-B2B0-6F91921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3217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4.07 [2.95-5.45]</a:t>
            </a:r>
          </a:p>
        </p:txBody>
      </p:sp>
      <p:sp>
        <p:nvSpPr>
          <p:cNvPr id="67" name="Table 1: Physician-diagnosed asthma prevalence by state, PNS 2013 and 2019.-cell-1-2">
            <a:extLst xmlns:a="http://schemas.openxmlformats.org/drawingml/2006/main">
              <a:ext uri="{FF2B5EF4-FFF2-40B4-BE49-F238E27FC236}">
                <a16:creationId xmlns:a16="http://schemas.microsoft.com/office/drawing/2014/main" id="{D2724554-CD9C-4B54-95F7-F730BEAF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3217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3.87 [2.99-4.91]</a:t>
            </a:r>
          </a:p>
        </p:txBody>
      </p:sp>
      <p:sp>
        <p:nvSpPr>
          <p:cNvPr id="68" name="Table 1: Physician-diagnosed asthma prevalence by state, PNS 2013 and 2019.-stripe-2">
            <a:extLst xmlns:a="http://schemas.openxmlformats.org/drawingml/2006/main">
              <a:ext uri="{FF2B5EF4-FFF2-40B4-BE49-F238E27FC236}">
                <a16:creationId xmlns:a16="http://schemas.microsoft.com/office/drawing/2014/main" id="{26494F21-0152-4353-8A60-6C70E07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3546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69" name="Table 1: Physician-diagnosed asthma prevalence by state, PNS 2013 and 2019.-cell-2-0">
            <a:extLst xmlns:a="http://schemas.openxmlformats.org/drawingml/2006/main">
              <a:ext uri="{FF2B5EF4-FFF2-40B4-BE49-F238E27FC236}">
                <a16:creationId xmlns:a16="http://schemas.microsoft.com/office/drawing/2014/main" id="{F0293D54-1D9F-45DC-B4A3-A4CA23E9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3582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AM</a:t>
            </a:r>
          </a:p>
        </p:txBody>
      </p:sp>
      <p:sp>
        <p:nvSpPr>
          <p:cNvPr id="70" name="Table 1: Physician-diagnosed asthma prevalence by state, PNS 2013 and 2019.-cell-2-1">
            <a:extLst xmlns:a="http://schemas.openxmlformats.org/drawingml/2006/main">
              <a:ext uri="{FF2B5EF4-FFF2-40B4-BE49-F238E27FC236}">
                <a16:creationId xmlns:a16="http://schemas.microsoft.com/office/drawing/2014/main" id="{3A650D5B-0AEA-455C-89DA-2E526B6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3582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5.65 [4.47-7.03]</a:t>
            </a:r>
          </a:p>
        </p:txBody>
      </p:sp>
      <p:sp>
        <p:nvSpPr>
          <p:cNvPr id="71" name="Table 1: Physician-diagnosed asthma prevalence by state, PNS 2013 and 2019.-cell-2-2">
            <a:extLst xmlns:a="http://schemas.openxmlformats.org/drawingml/2006/main">
              <a:ext uri="{FF2B5EF4-FFF2-40B4-BE49-F238E27FC236}">
                <a16:creationId xmlns:a16="http://schemas.microsoft.com/office/drawing/2014/main" id="{4C7BC5B2-BDCE-459D-9CB8-E9D899DF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3582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4.86 [3.86-6.02]</a:t>
            </a:r>
          </a:p>
        </p:txBody>
      </p:sp>
      <p:sp>
        <p:nvSpPr>
          <p:cNvPr id="72" name="Table 1: Physician-diagnosed asthma prevalence by state, PNS 2013 and 2019.-cell-3-0">
            <a:extLst xmlns:a="http://schemas.openxmlformats.org/drawingml/2006/main">
              <a:ext uri="{FF2B5EF4-FFF2-40B4-BE49-F238E27FC236}">
                <a16:creationId xmlns:a16="http://schemas.microsoft.com/office/drawing/2014/main" id="{6AFE10DB-2AB8-46CB-887F-F4B4D4FE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3948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RR</a:t>
            </a:r>
          </a:p>
        </p:txBody>
      </p:sp>
      <p:sp>
        <p:nvSpPr>
          <p:cNvPr id="73" name="Table 1: Physician-diagnosed asthma prevalence by state, PNS 2013 and 2019.-cell-3-1">
            <a:extLst xmlns:a="http://schemas.openxmlformats.org/drawingml/2006/main">
              <a:ext uri="{FF2B5EF4-FFF2-40B4-BE49-F238E27FC236}">
                <a16:creationId xmlns:a16="http://schemas.microsoft.com/office/drawing/2014/main" id="{9FDA8F86-50E9-4F87-86F1-2E72118E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3948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4.57 [3.35-6.06]</a:t>
            </a:r>
          </a:p>
        </p:txBody>
      </p:sp>
      <p:sp>
        <p:nvSpPr>
          <p:cNvPr id="74" name="Table 1: Physician-diagnosed asthma prevalence by state, PNS 2013 and 2019.-cell-3-2">
            <a:extLst xmlns:a="http://schemas.openxmlformats.org/drawingml/2006/main">
              <a:ext uri="{FF2B5EF4-FFF2-40B4-BE49-F238E27FC236}">
                <a16:creationId xmlns:a16="http://schemas.microsoft.com/office/drawing/2014/main" id="{6EC121C7-713B-43DE-BFDD-B682B38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3948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5.85 [4.03-8.16]</a:t>
            </a:r>
          </a:p>
        </p:txBody>
      </p:sp>
      <p:sp>
        <p:nvSpPr>
          <p:cNvPr id="75" name="Table 1: Physician-diagnosed asthma prevalence by state, PNS 2013 and 2019.-stripe-4">
            <a:extLst xmlns:a="http://schemas.openxmlformats.org/drawingml/2006/main">
              <a:ext uri="{FF2B5EF4-FFF2-40B4-BE49-F238E27FC236}">
                <a16:creationId xmlns:a16="http://schemas.microsoft.com/office/drawing/2014/main" id="{A6D6DC27-695A-48DD-AAE6-9C050579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4277333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76" name="Table 1: Physician-diagnosed asthma prevalence by state, PNS 2013 and 2019.-cell-4-0">
            <a:extLst xmlns:a="http://schemas.openxmlformats.org/drawingml/2006/main">
              <a:ext uri="{FF2B5EF4-FFF2-40B4-BE49-F238E27FC236}">
                <a16:creationId xmlns:a16="http://schemas.microsoft.com/office/drawing/2014/main" id="{C34EED64-6A75-435D-9EC9-3A9F4604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4313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PA</a:t>
            </a:r>
          </a:p>
        </p:txBody>
      </p:sp>
      <p:sp>
        <p:nvSpPr>
          <p:cNvPr id="77" name="Table 1: Physician-diagnosed asthma prevalence by state, PNS 2013 and 2019.-cell-4-1">
            <a:extLst xmlns:a="http://schemas.openxmlformats.org/drawingml/2006/main">
              <a:ext uri="{FF2B5EF4-FFF2-40B4-BE49-F238E27FC236}">
                <a16:creationId xmlns:a16="http://schemas.microsoft.com/office/drawing/2014/main" id="{C9ABEF98-98B8-43D3-A6C8-3C6239B5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4313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4.29 [3.28-5.50]</a:t>
            </a:r>
          </a:p>
        </p:txBody>
      </p:sp>
      <p:sp>
        <p:nvSpPr>
          <p:cNvPr id="78" name="Table 1: Physician-diagnosed asthma prevalence by state, PNS 2013 and 2019.-cell-4-2">
            <a:extLst xmlns:a="http://schemas.openxmlformats.org/drawingml/2006/main">
              <a:ext uri="{FF2B5EF4-FFF2-40B4-BE49-F238E27FC236}">
                <a16:creationId xmlns:a16="http://schemas.microsoft.com/office/drawing/2014/main" id="{A4E0B22A-E98A-49C3-ACC2-F5B8A58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4313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4.83 [3.90-5.89]</a:t>
            </a:r>
          </a:p>
        </p:txBody>
      </p:sp>
      <p:sp>
        <p:nvSpPr>
          <p:cNvPr id="79" name="Table 1: Physician-diagnosed asthma prevalence by state, PNS 2013 and 2019.-cell-5-0">
            <a:extLst xmlns:a="http://schemas.openxmlformats.org/drawingml/2006/main">
              <a:ext uri="{FF2B5EF4-FFF2-40B4-BE49-F238E27FC236}">
                <a16:creationId xmlns:a16="http://schemas.microsoft.com/office/drawing/2014/main" id="{90AA09D4-8C00-4961-B0AF-3BC2915A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4678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AP</a:t>
            </a:r>
          </a:p>
        </p:txBody>
      </p:sp>
      <p:sp>
        <p:nvSpPr>
          <p:cNvPr id="80" name="Table 1: Physician-diagnosed asthma prevalence by state, PNS 2013 and 2019.-cell-5-1">
            <a:extLst xmlns:a="http://schemas.openxmlformats.org/drawingml/2006/main">
              <a:ext uri="{FF2B5EF4-FFF2-40B4-BE49-F238E27FC236}">
                <a16:creationId xmlns:a16="http://schemas.microsoft.com/office/drawing/2014/main" id="{61B99DEF-2E36-4CF2-989B-44A7CC3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4678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4.02 [2.82-5.52]</a:t>
            </a:r>
          </a:p>
        </p:txBody>
      </p:sp>
      <p:sp>
        <p:nvSpPr>
          <p:cNvPr id="81" name="Table 1: Physician-diagnosed asthma prevalence by state, PNS 2013 and 2019.-cell-5-2">
            <a:extLst xmlns:a="http://schemas.openxmlformats.org/drawingml/2006/main">
              <a:ext uri="{FF2B5EF4-FFF2-40B4-BE49-F238E27FC236}">
                <a16:creationId xmlns:a16="http://schemas.microsoft.com/office/drawing/2014/main" id="{26F46EF0-3819-4854-830F-DA3340CA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4678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6.63 [5.27-8.21]</a:t>
            </a:r>
          </a:p>
        </p:txBody>
      </p:sp>
      <p:sp>
        <p:nvSpPr>
          <p:cNvPr id="82" name="Table 1: Physician-diagnosed asthma prevalence by state, PNS 2013 and 2019.-stripe-6">
            <a:extLst xmlns:a="http://schemas.openxmlformats.org/drawingml/2006/main">
              <a:ext uri="{FF2B5EF4-FFF2-40B4-BE49-F238E27FC236}">
                <a16:creationId xmlns:a16="http://schemas.microsoft.com/office/drawing/2014/main" id="{2560260F-09C1-4342-B5C2-25A90B52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5008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83" name="Table 1: Physician-diagnosed asthma prevalence by state, PNS 2013 and 2019.-cell-6-0">
            <a:extLst xmlns:a="http://schemas.openxmlformats.org/drawingml/2006/main">
              <a:ext uri="{FF2B5EF4-FFF2-40B4-BE49-F238E27FC236}">
                <a16:creationId xmlns:a16="http://schemas.microsoft.com/office/drawing/2014/main" id="{D16343E6-376F-4FC5-8C91-33AA0E6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5044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TO</a:t>
            </a:r>
          </a:p>
        </p:txBody>
      </p:sp>
      <p:sp>
        <p:nvSpPr>
          <p:cNvPr id="84" name="Table 1: Physician-diagnosed asthma prevalence by state, PNS 2013 and 2019.-cell-6-1">
            <a:extLst xmlns:a="http://schemas.openxmlformats.org/drawingml/2006/main">
              <a:ext uri="{FF2B5EF4-FFF2-40B4-BE49-F238E27FC236}">
                <a16:creationId xmlns:a16="http://schemas.microsoft.com/office/drawing/2014/main" id="{5E17F2B4-4FB2-4606-B523-ECDB242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5044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4.96 [3.55-6.72]</a:t>
            </a:r>
          </a:p>
        </p:txBody>
      </p:sp>
      <p:sp>
        <p:nvSpPr>
          <p:cNvPr id="85" name="Table 1: Physician-diagnosed asthma prevalence by state, PNS 2013 and 2019.-cell-6-2">
            <a:extLst xmlns:a="http://schemas.openxmlformats.org/drawingml/2006/main">
              <a:ext uri="{FF2B5EF4-FFF2-40B4-BE49-F238E27FC236}">
                <a16:creationId xmlns:a16="http://schemas.microsoft.com/office/drawing/2014/main" id="{F3E4A203-C6D9-4B54-AE23-3DE0757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5044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4.36 [3.27-5.70]</a:t>
            </a:r>
          </a:p>
        </p:txBody>
      </p:sp>
      <p:sp>
        <p:nvSpPr>
          <p:cNvPr id="86" name="Table 1: Physician-diagnosed asthma prevalence by state, PNS 2013 and 2019.-cell-7-0">
            <a:extLst xmlns:a="http://schemas.openxmlformats.org/drawingml/2006/main">
              <a:ext uri="{FF2B5EF4-FFF2-40B4-BE49-F238E27FC236}">
                <a16:creationId xmlns:a16="http://schemas.microsoft.com/office/drawing/2014/main" id="{F0419594-B575-4C5A-8F2C-A46FF248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5409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MA</a:t>
            </a:r>
          </a:p>
        </p:txBody>
      </p:sp>
      <p:sp>
        <p:nvSpPr>
          <p:cNvPr id="87" name="Table 1: Physician-diagnosed asthma prevalence by state, PNS 2013 and 2019.-cell-7-1">
            <a:extLst xmlns:a="http://schemas.openxmlformats.org/drawingml/2006/main">
              <a:ext uri="{FF2B5EF4-FFF2-40B4-BE49-F238E27FC236}">
                <a16:creationId xmlns:a16="http://schemas.microsoft.com/office/drawing/2014/main" id="{473E3B93-2604-460C-960D-251D7F99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5409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2.64 [1.59-4.12]</a:t>
            </a:r>
          </a:p>
        </p:txBody>
      </p:sp>
      <p:sp>
        <p:nvSpPr>
          <p:cNvPr id="88" name="Table 1: Physician-diagnosed asthma prevalence by state, PNS 2013 and 2019.-cell-7-2">
            <a:extLst xmlns:a="http://schemas.openxmlformats.org/drawingml/2006/main">
              <a:ext uri="{FF2B5EF4-FFF2-40B4-BE49-F238E27FC236}">
                <a16:creationId xmlns:a16="http://schemas.microsoft.com/office/drawing/2014/main" id="{D86A2B35-598C-4AE5-BCBB-160508C8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5409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3.84 [3.14-4.64]</a:t>
            </a:r>
          </a:p>
        </p:txBody>
      </p:sp>
      <p:sp>
        <p:nvSpPr>
          <p:cNvPr id="89" name="Table 1: Physician-diagnosed asthma prevalence by state, PNS 2013 and 2019.-stripe-8">
            <a:extLst xmlns:a="http://schemas.openxmlformats.org/drawingml/2006/main">
              <a:ext uri="{FF2B5EF4-FFF2-40B4-BE49-F238E27FC236}">
                <a16:creationId xmlns:a16="http://schemas.microsoft.com/office/drawing/2014/main" id="{8FF39747-97E9-4589-B746-AFCB855C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5738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90" name="Table 1: Physician-diagnosed asthma prevalence by state, PNS 2013 and 2019.-cell-8-0">
            <a:extLst xmlns:a="http://schemas.openxmlformats.org/drawingml/2006/main">
              <a:ext uri="{FF2B5EF4-FFF2-40B4-BE49-F238E27FC236}">
                <a16:creationId xmlns:a16="http://schemas.microsoft.com/office/drawing/2014/main" id="{E341704C-3B97-4B31-B7B5-58F9E0F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5774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PI</a:t>
            </a:r>
          </a:p>
        </p:txBody>
      </p:sp>
      <p:sp>
        <p:nvSpPr>
          <p:cNvPr id="91" name="Table 1: Physician-diagnosed asthma prevalence by state, PNS 2013 and 2019.-cell-8-1">
            <a:extLst xmlns:a="http://schemas.openxmlformats.org/drawingml/2006/main">
              <a:ext uri="{FF2B5EF4-FFF2-40B4-BE49-F238E27FC236}">
                <a16:creationId xmlns:a16="http://schemas.microsoft.com/office/drawing/2014/main" id="{81CFA7CE-4AD1-452A-ACAB-BA85C054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5774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4.41 [3.07-6.12]</a:t>
            </a:r>
          </a:p>
        </p:txBody>
      </p:sp>
      <p:sp>
        <p:nvSpPr>
          <p:cNvPr id="92" name="Table 1: Physician-diagnosed asthma prevalence by state, PNS 2013 and 2019.-cell-8-2">
            <a:extLst xmlns:a="http://schemas.openxmlformats.org/drawingml/2006/main">
              <a:ext uri="{FF2B5EF4-FFF2-40B4-BE49-F238E27FC236}">
                <a16:creationId xmlns:a16="http://schemas.microsoft.com/office/drawing/2014/main" id="{D9B7C971-728A-4514-85B7-1315AD66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5774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4.61 [3.66-5.72]</a:t>
            </a:r>
          </a:p>
        </p:txBody>
      </p:sp>
      <p:sp>
        <p:nvSpPr>
          <p:cNvPr id="93" name="Table 1: Physician-diagnosed asthma prevalence by state, PNS 2013 and 2019.-cell-9-0">
            <a:extLst xmlns:a="http://schemas.openxmlformats.org/drawingml/2006/main">
              <a:ext uri="{FF2B5EF4-FFF2-40B4-BE49-F238E27FC236}">
                <a16:creationId xmlns:a16="http://schemas.microsoft.com/office/drawing/2014/main" id="{74CE038A-7B34-489E-8ACA-2EA594FC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6140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CE</a:t>
            </a:r>
          </a:p>
        </p:txBody>
      </p:sp>
      <p:sp>
        <p:nvSpPr>
          <p:cNvPr id="94" name="Table 1: Physician-diagnosed asthma prevalence by state, PNS 2013 and 2019.-cell-9-1">
            <a:extLst xmlns:a="http://schemas.openxmlformats.org/drawingml/2006/main">
              <a:ext uri="{FF2B5EF4-FFF2-40B4-BE49-F238E27FC236}">
                <a16:creationId xmlns:a16="http://schemas.microsoft.com/office/drawing/2014/main" id="{05AAE9C8-B939-4315-B283-F9D35653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6140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3.22 [2.53-4.03]</a:t>
            </a:r>
          </a:p>
        </p:txBody>
      </p:sp>
      <p:sp>
        <p:nvSpPr>
          <p:cNvPr id="95" name="Table 1: Physician-diagnosed asthma prevalence by state, PNS 2013 and 2019.-cell-9-2">
            <a:extLst xmlns:a="http://schemas.openxmlformats.org/drawingml/2006/main">
              <a:ext uri="{FF2B5EF4-FFF2-40B4-BE49-F238E27FC236}">
                <a16:creationId xmlns:a16="http://schemas.microsoft.com/office/drawing/2014/main" id="{CB9B78CE-0E99-40DF-9400-22767B8C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6140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5.01 [4.20-5.93]</a:t>
            </a:r>
          </a:p>
        </p:txBody>
      </p:sp>
      <p:sp>
        <p:nvSpPr>
          <p:cNvPr id="96" name="Table 1: Physician-diagnosed asthma prevalence by state, PNS 2013 and 2019.-stripe-10">
            <a:extLst xmlns:a="http://schemas.openxmlformats.org/drawingml/2006/main">
              <a:ext uri="{FF2B5EF4-FFF2-40B4-BE49-F238E27FC236}">
                <a16:creationId xmlns:a16="http://schemas.microsoft.com/office/drawing/2014/main" id="{633647D4-ADA0-4A4C-B6FE-D68E93AE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6469333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97" name="Table 1: Physician-diagnosed asthma prevalence by state, PNS 2013 and 2019.-cell-10-0">
            <a:extLst xmlns:a="http://schemas.openxmlformats.org/drawingml/2006/main">
              <a:ext uri="{FF2B5EF4-FFF2-40B4-BE49-F238E27FC236}">
                <a16:creationId xmlns:a16="http://schemas.microsoft.com/office/drawing/2014/main" id="{41B93B10-69B8-4D3A-AA7A-541385E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6505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RN</a:t>
            </a:r>
          </a:p>
        </p:txBody>
      </p:sp>
      <p:sp>
        <p:nvSpPr>
          <p:cNvPr id="98" name="Table 1: Physician-diagnosed asthma prevalence by state, PNS 2013 and 2019.-cell-10-1">
            <a:extLst xmlns:a="http://schemas.openxmlformats.org/drawingml/2006/main">
              <a:ext uri="{FF2B5EF4-FFF2-40B4-BE49-F238E27FC236}">
                <a16:creationId xmlns:a16="http://schemas.microsoft.com/office/drawing/2014/main" id="{9C6F7B5B-7534-4B13-800C-51C91926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6505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3.65 [2.65-4.88]</a:t>
            </a:r>
          </a:p>
        </p:txBody>
      </p:sp>
      <p:sp>
        <p:nvSpPr>
          <p:cNvPr id="99" name="Table 1: Physician-diagnosed asthma prevalence by state, PNS 2013 and 2019.-cell-10-2">
            <a:extLst xmlns:a="http://schemas.openxmlformats.org/drawingml/2006/main">
              <a:ext uri="{FF2B5EF4-FFF2-40B4-BE49-F238E27FC236}">
                <a16:creationId xmlns:a16="http://schemas.microsoft.com/office/drawing/2014/main" id="{AC376D4E-4615-4004-BA45-CDE3C8DA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6505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5.02 [4.08-6.11]</a:t>
            </a:r>
          </a:p>
        </p:txBody>
      </p:sp>
      <p:sp>
        <p:nvSpPr>
          <p:cNvPr id="100" name="Table 1: Physician-diagnosed asthma prevalence by state, PNS 2013 and 2019.-cell-11-0">
            <a:extLst xmlns:a="http://schemas.openxmlformats.org/drawingml/2006/main">
              <a:ext uri="{FF2B5EF4-FFF2-40B4-BE49-F238E27FC236}">
                <a16:creationId xmlns:a16="http://schemas.microsoft.com/office/drawing/2014/main" id="{C8F02EE1-5ABB-4802-8621-8D8EF29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6870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PB</a:t>
            </a:r>
          </a:p>
        </p:txBody>
      </p:sp>
      <p:sp>
        <p:nvSpPr>
          <p:cNvPr id="101" name="Table 1: Physician-diagnosed asthma prevalence by state, PNS 2013 and 2019.-cell-11-1">
            <a:extLst xmlns:a="http://schemas.openxmlformats.org/drawingml/2006/main">
              <a:ext uri="{FF2B5EF4-FFF2-40B4-BE49-F238E27FC236}">
                <a16:creationId xmlns:a16="http://schemas.microsoft.com/office/drawing/2014/main" id="{2A0CB98F-47D1-4D89-BAC6-E84A9A29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6870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2.83 [2.05-3.82]</a:t>
            </a:r>
          </a:p>
        </p:txBody>
      </p:sp>
      <p:sp>
        <p:nvSpPr>
          <p:cNvPr id="102" name="Table 1: Physician-diagnosed asthma prevalence by state, PNS 2013 and 2019.-cell-11-2">
            <a:extLst xmlns:a="http://schemas.openxmlformats.org/drawingml/2006/main">
              <a:ext uri="{FF2B5EF4-FFF2-40B4-BE49-F238E27FC236}">
                <a16:creationId xmlns:a16="http://schemas.microsoft.com/office/drawing/2014/main" id="{9A36160E-2B56-426B-91DC-FE097FE8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6870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3.57 [2.86-4.39]</a:t>
            </a:r>
          </a:p>
        </p:txBody>
      </p:sp>
      <p:sp>
        <p:nvSpPr>
          <p:cNvPr id="103" name="Table 1: Physician-diagnosed asthma prevalence by state, PNS 2013 and 2019.-stripe-12">
            <a:extLst xmlns:a="http://schemas.openxmlformats.org/drawingml/2006/main">
              <a:ext uri="{FF2B5EF4-FFF2-40B4-BE49-F238E27FC236}">
                <a16:creationId xmlns:a16="http://schemas.microsoft.com/office/drawing/2014/main" id="{087723D7-1395-41D7-9183-1D31FE1C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7200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04" name="Table 1: Physician-diagnosed asthma prevalence by state, PNS 2013 and 2019.-cell-12-0">
            <a:extLst xmlns:a="http://schemas.openxmlformats.org/drawingml/2006/main">
              <a:ext uri="{FF2B5EF4-FFF2-40B4-BE49-F238E27FC236}">
                <a16:creationId xmlns:a16="http://schemas.microsoft.com/office/drawing/2014/main" id="{FC5B1E70-E1B2-42D5-951C-060823A2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7236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PE</a:t>
            </a:r>
          </a:p>
        </p:txBody>
      </p:sp>
      <p:sp>
        <p:nvSpPr>
          <p:cNvPr id="105" name="Table 1: Physician-diagnosed asthma prevalence by state, PNS 2013 and 2019.-cell-12-1">
            <a:extLst xmlns:a="http://schemas.openxmlformats.org/drawingml/2006/main">
              <a:ext uri="{FF2B5EF4-FFF2-40B4-BE49-F238E27FC236}">
                <a16:creationId xmlns:a16="http://schemas.microsoft.com/office/drawing/2014/main" id="{B73A4699-A610-4BC0-990D-1812C8C5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7236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4.93 [4.03-5.97]</a:t>
            </a:r>
          </a:p>
        </p:txBody>
      </p:sp>
      <p:sp>
        <p:nvSpPr>
          <p:cNvPr id="106" name="Table 1: Physician-diagnosed asthma prevalence by state, PNS 2013 and 2019.-cell-12-2">
            <a:extLst xmlns:a="http://schemas.openxmlformats.org/drawingml/2006/main">
              <a:ext uri="{FF2B5EF4-FFF2-40B4-BE49-F238E27FC236}">
                <a16:creationId xmlns:a16="http://schemas.microsoft.com/office/drawing/2014/main" id="{8723B88D-8EFD-4B55-9733-409E35A6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7236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4.75 [4.00-5.60]</a:t>
            </a:r>
          </a:p>
        </p:txBody>
      </p:sp>
      <p:sp>
        <p:nvSpPr>
          <p:cNvPr id="107" name="Table 1: Physician-diagnosed asthma prevalence by state, PNS 2013 and 2019.-cell-13-0">
            <a:extLst xmlns:a="http://schemas.openxmlformats.org/drawingml/2006/main">
              <a:ext uri="{FF2B5EF4-FFF2-40B4-BE49-F238E27FC236}">
                <a16:creationId xmlns:a16="http://schemas.microsoft.com/office/drawing/2014/main" id="{83A8F0B8-2BEE-4801-A45C-2D1204D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7601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AL</a:t>
            </a:r>
          </a:p>
        </p:txBody>
      </p:sp>
      <p:sp>
        <p:nvSpPr>
          <p:cNvPr id="108" name="Table 1: Physician-diagnosed asthma prevalence by state, PNS 2013 and 2019.-cell-13-1">
            <a:extLst xmlns:a="http://schemas.openxmlformats.org/drawingml/2006/main">
              <a:ext uri="{FF2B5EF4-FFF2-40B4-BE49-F238E27FC236}">
                <a16:creationId xmlns:a16="http://schemas.microsoft.com/office/drawing/2014/main" id="{D984A697-67D6-46CA-9033-B2107C1A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7601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2.63 [1.75-3.79]</a:t>
            </a:r>
          </a:p>
        </p:txBody>
      </p:sp>
      <p:sp>
        <p:nvSpPr>
          <p:cNvPr id="109" name="Table 1: Physician-diagnosed asthma prevalence by state, PNS 2013 and 2019.-cell-13-2">
            <a:extLst xmlns:a="http://schemas.openxmlformats.org/drawingml/2006/main">
              <a:ext uri="{FF2B5EF4-FFF2-40B4-BE49-F238E27FC236}">
                <a16:creationId xmlns:a16="http://schemas.microsoft.com/office/drawing/2014/main" id="{930861C2-62C1-4846-90B5-4A111C9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7601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3.99 [3.17-4.94]</a:t>
            </a:r>
          </a:p>
        </p:txBody>
      </p:sp>
      <p:sp>
        <p:nvSpPr>
          <p:cNvPr id="110" name="Table 1: Physician-diagnosed asthma prevalence by state, PNS 2013 and 2019.-stripe-14">
            <a:extLst xmlns:a="http://schemas.openxmlformats.org/drawingml/2006/main">
              <a:ext uri="{FF2B5EF4-FFF2-40B4-BE49-F238E27FC236}">
                <a16:creationId xmlns:a16="http://schemas.microsoft.com/office/drawing/2014/main" id="{7C4C0D20-082D-411A-A8CD-E1B60E5F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7930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11" name="Table 1: Physician-diagnosed asthma prevalence by state, PNS 2013 and 2019.-cell-14-0">
            <a:extLst xmlns:a="http://schemas.openxmlformats.org/drawingml/2006/main">
              <a:ext uri="{FF2B5EF4-FFF2-40B4-BE49-F238E27FC236}">
                <a16:creationId xmlns:a16="http://schemas.microsoft.com/office/drawing/2014/main" id="{8781ED92-F431-4075-AE2F-6247829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7966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SE</a:t>
            </a:r>
          </a:p>
        </p:txBody>
      </p:sp>
      <p:sp>
        <p:nvSpPr>
          <p:cNvPr id="112" name="Table 1: Physician-diagnosed asthma prevalence by state, PNS 2013 and 2019.-cell-14-1">
            <a:extLst xmlns:a="http://schemas.openxmlformats.org/drawingml/2006/main">
              <a:ext uri="{FF2B5EF4-FFF2-40B4-BE49-F238E27FC236}">
                <a16:creationId xmlns:a16="http://schemas.microsoft.com/office/drawing/2014/main" id="{28163445-657A-40D0-A810-CF42C2CC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7966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2.87 [2.03-3.93]</a:t>
            </a:r>
          </a:p>
        </p:txBody>
      </p:sp>
      <p:sp>
        <p:nvSpPr>
          <p:cNvPr id="113" name="Table 1: Physician-diagnosed asthma prevalence by state, PNS 2013 and 2019.-cell-14-2">
            <a:extLst xmlns:a="http://schemas.openxmlformats.org/drawingml/2006/main">
              <a:ext uri="{FF2B5EF4-FFF2-40B4-BE49-F238E27FC236}">
                <a16:creationId xmlns:a16="http://schemas.microsoft.com/office/drawing/2014/main" id="{2A7A8BC8-7959-4E10-8FEF-C3FF4146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7966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4.64 [3.62-5.84]</a:t>
            </a:r>
          </a:p>
        </p:txBody>
      </p:sp>
      <p:sp>
        <p:nvSpPr>
          <p:cNvPr id="114" name="Table 1: Physician-diagnosed asthma prevalence by state, PNS 2013 and 2019.-cell-15-0">
            <a:extLst xmlns:a="http://schemas.openxmlformats.org/drawingml/2006/main">
              <a:ext uri="{FF2B5EF4-FFF2-40B4-BE49-F238E27FC236}">
                <a16:creationId xmlns:a16="http://schemas.microsoft.com/office/drawing/2014/main" id="{7582B03C-8055-4C0D-BAC7-211C2584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8332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BA</a:t>
            </a:r>
          </a:p>
        </p:txBody>
      </p:sp>
      <p:sp>
        <p:nvSpPr>
          <p:cNvPr id="115" name="Table 1: Physician-diagnosed asthma prevalence by state, PNS 2013 and 2019.-cell-15-1">
            <a:extLst xmlns:a="http://schemas.openxmlformats.org/drawingml/2006/main">
              <a:ext uri="{FF2B5EF4-FFF2-40B4-BE49-F238E27FC236}">
                <a16:creationId xmlns:a16="http://schemas.microsoft.com/office/drawing/2014/main" id="{A9F483E0-03EC-4BF4-8859-4CB3ED6F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8332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2.35 [1.51-3.46]</a:t>
            </a:r>
          </a:p>
        </p:txBody>
      </p:sp>
      <p:sp>
        <p:nvSpPr>
          <p:cNvPr id="116" name="Table 1: Physician-diagnosed asthma prevalence by state, PNS 2013 and 2019.-cell-15-2">
            <a:extLst xmlns:a="http://schemas.openxmlformats.org/drawingml/2006/main">
              <a:ext uri="{FF2B5EF4-FFF2-40B4-BE49-F238E27FC236}">
                <a16:creationId xmlns:a16="http://schemas.microsoft.com/office/drawing/2014/main" id="{01978D9A-63D6-4B65-ADAA-F64F6A29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8332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3.56 [2.62-4.71]</a:t>
            </a:r>
          </a:p>
        </p:txBody>
      </p:sp>
      <p:sp>
        <p:nvSpPr>
          <p:cNvPr id="117" name="Table 1: Physician-diagnosed asthma prevalence by state, PNS 2013 and 2019.-stripe-16">
            <a:extLst xmlns:a="http://schemas.openxmlformats.org/drawingml/2006/main">
              <a:ext uri="{FF2B5EF4-FFF2-40B4-BE49-F238E27FC236}">
                <a16:creationId xmlns:a16="http://schemas.microsoft.com/office/drawing/2014/main" id="{92F62208-9C49-4DA9-9864-118603EE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8661333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18" name="Table 1: Physician-diagnosed asthma prevalence by state, PNS 2013 and 2019.-cell-16-0">
            <a:extLst xmlns:a="http://schemas.openxmlformats.org/drawingml/2006/main">
              <a:ext uri="{FF2B5EF4-FFF2-40B4-BE49-F238E27FC236}">
                <a16:creationId xmlns:a16="http://schemas.microsoft.com/office/drawing/2014/main" id="{9397F62D-4CB9-47A2-8B5B-053EB675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8697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MG</a:t>
            </a:r>
          </a:p>
        </p:txBody>
      </p:sp>
      <p:sp>
        <p:nvSpPr>
          <p:cNvPr id="119" name="Table 1: Physician-diagnosed asthma prevalence by state, PNS 2013 and 2019.-cell-16-1">
            <a:extLst xmlns:a="http://schemas.openxmlformats.org/drawingml/2006/main">
              <a:ext uri="{FF2B5EF4-FFF2-40B4-BE49-F238E27FC236}">
                <a16:creationId xmlns:a16="http://schemas.microsoft.com/office/drawing/2014/main" id="{71FDA532-F0F2-4B4E-BBAF-F7CB7917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8697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4.39 [3.28-5.75]</a:t>
            </a:r>
          </a:p>
        </p:txBody>
      </p:sp>
      <p:sp>
        <p:nvSpPr>
          <p:cNvPr id="120" name="Table 1: Physician-diagnosed asthma prevalence by state, PNS 2013 and 2019.-cell-16-2">
            <a:extLst xmlns:a="http://schemas.openxmlformats.org/drawingml/2006/main">
              <a:ext uri="{FF2B5EF4-FFF2-40B4-BE49-F238E27FC236}">
                <a16:creationId xmlns:a16="http://schemas.microsoft.com/office/drawing/2014/main" id="{F3F39496-E541-4ACC-9EBC-F702B158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8697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6.03 [5.11-7.05]</a:t>
            </a:r>
          </a:p>
        </p:txBody>
      </p:sp>
      <p:sp>
        <p:nvSpPr>
          <p:cNvPr id="121" name="Table 1: Physician-diagnosed asthma prevalence by state, PNS 2013 and 2019.-cell-17-0">
            <a:extLst xmlns:a="http://schemas.openxmlformats.org/drawingml/2006/main">
              <a:ext uri="{FF2B5EF4-FFF2-40B4-BE49-F238E27FC236}">
                <a16:creationId xmlns:a16="http://schemas.microsoft.com/office/drawing/2014/main" id="{0737289A-EC08-4197-866B-9C0A7549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9062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ES</a:t>
            </a:r>
          </a:p>
        </p:txBody>
      </p:sp>
      <p:sp>
        <p:nvSpPr>
          <p:cNvPr id="122" name="Table 1: Physician-diagnosed asthma prevalence by state, PNS 2013 and 2019.-cell-17-1">
            <a:extLst xmlns:a="http://schemas.openxmlformats.org/drawingml/2006/main">
              <a:ext uri="{FF2B5EF4-FFF2-40B4-BE49-F238E27FC236}">
                <a16:creationId xmlns:a16="http://schemas.microsoft.com/office/drawing/2014/main" id="{01632C5F-2AF9-42B7-ABED-666D15EB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9062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4.76 [3.10-6.94]</a:t>
            </a:r>
          </a:p>
        </p:txBody>
      </p:sp>
      <p:sp>
        <p:nvSpPr>
          <p:cNvPr id="123" name="Table 1: Physician-diagnosed asthma prevalence by state, PNS 2013 and 2019.-cell-17-2">
            <a:extLst xmlns:a="http://schemas.openxmlformats.org/drawingml/2006/main">
              <a:ext uri="{FF2B5EF4-FFF2-40B4-BE49-F238E27FC236}">
                <a16:creationId xmlns:a16="http://schemas.microsoft.com/office/drawing/2014/main" id="{17B32A2B-93CC-46F5-B6FE-451BC20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9062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6.71 [5.66-7.87]</a:t>
            </a:r>
          </a:p>
        </p:txBody>
      </p:sp>
      <p:sp>
        <p:nvSpPr>
          <p:cNvPr id="124" name="Table 1: Physician-diagnosed asthma prevalence by state, PNS 2013 and 2019.-stripe-18">
            <a:extLst xmlns:a="http://schemas.openxmlformats.org/drawingml/2006/main">
              <a:ext uri="{FF2B5EF4-FFF2-40B4-BE49-F238E27FC236}">
                <a16:creationId xmlns:a16="http://schemas.microsoft.com/office/drawing/2014/main" id="{E4F46289-3C38-4DC1-8639-A88C52B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19392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25" name="Table 1: Physician-diagnosed asthma prevalence by state, PNS 2013 and 2019.-cell-18-0">
            <a:extLst xmlns:a="http://schemas.openxmlformats.org/drawingml/2006/main">
              <a:ext uri="{FF2B5EF4-FFF2-40B4-BE49-F238E27FC236}">
                <a16:creationId xmlns:a16="http://schemas.microsoft.com/office/drawing/2014/main" id="{7D6DC891-C99C-432A-8035-093373AE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9428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RJ</a:t>
            </a:r>
          </a:p>
        </p:txBody>
      </p:sp>
      <p:sp>
        <p:nvSpPr>
          <p:cNvPr id="126" name="Table 1: Physician-diagnosed asthma prevalence by state, PNS 2013 and 2019.-cell-18-1">
            <a:extLst xmlns:a="http://schemas.openxmlformats.org/drawingml/2006/main">
              <a:ext uri="{FF2B5EF4-FFF2-40B4-BE49-F238E27FC236}">
                <a16:creationId xmlns:a16="http://schemas.microsoft.com/office/drawing/2014/main" id="{1625F4E8-495D-4378-96EC-B09908EE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9428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5.01 [4.04-6.13]</a:t>
            </a:r>
          </a:p>
        </p:txBody>
      </p:sp>
      <p:sp>
        <p:nvSpPr>
          <p:cNvPr id="127" name="Table 1: Physician-diagnosed asthma prevalence by state, PNS 2013 and 2019.-cell-18-2">
            <a:extLst xmlns:a="http://schemas.openxmlformats.org/drawingml/2006/main">
              <a:ext uri="{FF2B5EF4-FFF2-40B4-BE49-F238E27FC236}">
                <a16:creationId xmlns:a16="http://schemas.microsoft.com/office/drawing/2014/main" id="{A86B6CD6-E8B6-4786-B14D-C8619560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9428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4.60 [3.77-5.56]</a:t>
            </a:r>
          </a:p>
        </p:txBody>
      </p:sp>
      <p:sp>
        <p:nvSpPr>
          <p:cNvPr id="128" name="Table 1: Physician-diagnosed asthma prevalence by state, PNS 2013 and 2019.-cell-19-0">
            <a:extLst xmlns:a="http://schemas.openxmlformats.org/drawingml/2006/main">
              <a:ext uri="{FF2B5EF4-FFF2-40B4-BE49-F238E27FC236}">
                <a16:creationId xmlns:a16="http://schemas.microsoft.com/office/drawing/2014/main" id="{E08C9637-CE31-4B77-BF24-05C35588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19793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SP</a:t>
            </a:r>
          </a:p>
        </p:txBody>
      </p:sp>
      <p:sp>
        <p:nvSpPr>
          <p:cNvPr id="129" name="Table 1: Physician-diagnosed asthma prevalence by state, PNS 2013 and 2019.-cell-19-1">
            <a:extLst xmlns:a="http://schemas.openxmlformats.org/drawingml/2006/main">
              <a:ext uri="{FF2B5EF4-FFF2-40B4-BE49-F238E27FC236}">
                <a16:creationId xmlns:a16="http://schemas.microsoft.com/office/drawing/2014/main" id="{B7741E58-E858-4294-9037-BFCEB344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19793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4.89 [4.12-5.75]</a:t>
            </a:r>
          </a:p>
        </p:txBody>
      </p:sp>
      <p:sp>
        <p:nvSpPr>
          <p:cNvPr id="130" name="Table 1: Physician-diagnosed asthma prevalence by state, PNS 2013 and 2019.-cell-19-2">
            <a:extLst xmlns:a="http://schemas.openxmlformats.org/drawingml/2006/main">
              <a:ext uri="{FF2B5EF4-FFF2-40B4-BE49-F238E27FC236}">
                <a16:creationId xmlns:a16="http://schemas.microsoft.com/office/drawing/2014/main" id="{A004B093-626A-41F6-8C18-7FE414DB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19793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6.40 [5.54-7.35]</a:t>
            </a:r>
          </a:p>
        </p:txBody>
      </p:sp>
      <p:sp>
        <p:nvSpPr>
          <p:cNvPr id="131" name="Table 1: Physician-diagnosed asthma prevalence by state, PNS 2013 and 2019.-stripe-20">
            <a:extLst xmlns:a="http://schemas.openxmlformats.org/drawingml/2006/main">
              <a:ext uri="{FF2B5EF4-FFF2-40B4-BE49-F238E27FC236}">
                <a16:creationId xmlns:a16="http://schemas.microsoft.com/office/drawing/2014/main" id="{E7BEDA7B-75EA-4832-B954-B0752F65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20122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32" name="Table 1: Physician-diagnosed asthma prevalence by state, PNS 2013 and 2019.-cell-20-0">
            <a:extLst xmlns:a="http://schemas.openxmlformats.org/drawingml/2006/main">
              <a:ext uri="{FF2B5EF4-FFF2-40B4-BE49-F238E27FC236}">
                <a16:creationId xmlns:a16="http://schemas.microsoft.com/office/drawing/2014/main" id="{F401031A-346C-4D0C-B4FC-28E01980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20158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PR</a:t>
            </a:r>
          </a:p>
        </p:txBody>
      </p:sp>
      <p:sp>
        <p:nvSpPr>
          <p:cNvPr id="133" name="Table 1: Physician-diagnosed asthma prevalence by state, PNS 2013 and 2019.-cell-20-1">
            <a:extLst xmlns:a="http://schemas.openxmlformats.org/drawingml/2006/main">
              <a:ext uri="{FF2B5EF4-FFF2-40B4-BE49-F238E27FC236}">
                <a16:creationId xmlns:a16="http://schemas.microsoft.com/office/drawing/2014/main" id="{FE8D1A16-336D-4436-BAFB-5D27124A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20158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4.55 [3.40-5.96]</a:t>
            </a:r>
          </a:p>
        </p:txBody>
      </p:sp>
      <p:sp>
        <p:nvSpPr>
          <p:cNvPr id="134" name="Table 1: Physician-diagnosed asthma prevalence by state, PNS 2013 and 2019.-cell-20-2">
            <a:extLst xmlns:a="http://schemas.openxmlformats.org/drawingml/2006/main">
              <a:ext uri="{FF2B5EF4-FFF2-40B4-BE49-F238E27FC236}">
                <a16:creationId xmlns:a16="http://schemas.microsoft.com/office/drawing/2014/main" id="{11988865-E392-4FC2-BE56-1175A611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20158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5.18 [4.32-6.16]</a:t>
            </a:r>
          </a:p>
        </p:txBody>
      </p:sp>
      <p:sp>
        <p:nvSpPr>
          <p:cNvPr id="135" name="Table 1: Physician-diagnosed asthma prevalence by state, PNS 2013 and 2019.-cell-21-0">
            <a:extLst xmlns:a="http://schemas.openxmlformats.org/drawingml/2006/main">
              <a:ext uri="{FF2B5EF4-FFF2-40B4-BE49-F238E27FC236}">
                <a16:creationId xmlns:a16="http://schemas.microsoft.com/office/drawing/2014/main" id="{4479F788-5109-467F-9F05-0557D1D0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20524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SC</a:t>
            </a:r>
          </a:p>
        </p:txBody>
      </p:sp>
      <p:sp>
        <p:nvSpPr>
          <p:cNvPr id="136" name="Table 1: Physician-diagnosed asthma prevalence by state, PNS 2013 and 2019.-cell-21-1">
            <a:extLst xmlns:a="http://schemas.openxmlformats.org/drawingml/2006/main">
              <a:ext uri="{FF2B5EF4-FFF2-40B4-BE49-F238E27FC236}">
                <a16:creationId xmlns:a16="http://schemas.microsoft.com/office/drawing/2014/main" id="{B0768ACD-E9E2-48BA-B863-4100B224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20524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4.33 [3.09-5.87]</a:t>
            </a:r>
          </a:p>
        </p:txBody>
      </p:sp>
      <p:sp>
        <p:nvSpPr>
          <p:cNvPr id="137" name="Table 1: Physician-diagnosed asthma prevalence by state, PNS 2013 and 2019.-cell-21-2">
            <a:extLst xmlns:a="http://schemas.openxmlformats.org/drawingml/2006/main">
              <a:ext uri="{FF2B5EF4-FFF2-40B4-BE49-F238E27FC236}">
                <a16:creationId xmlns:a16="http://schemas.microsoft.com/office/drawing/2014/main" id="{49D39B4F-C42A-478C-88C7-7C4365F5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20524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5.08 [4.18-6.12]</a:t>
            </a:r>
          </a:p>
        </p:txBody>
      </p:sp>
      <p:sp>
        <p:nvSpPr>
          <p:cNvPr id="138" name="Table 1: Physician-diagnosed asthma prevalence by state, PNS 2013 and 2019.-stripe-22">
            <a:extLst xmlns:a="http://schemas.openxmlformats.org/drawingml/2006/main">
              <a:ext uri="{FF2B5EF4-FFF2-40B4-BE49-F238E27FC236}">
                <a16:creationId xmlns:a16="http://schemas.microsoft.com/office/drawing/2014/main" id="{314552DF-2E7C-496B-84B5-159B1D29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20853333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39" name="Table 1: Physician-diagnosed asthma prevalence by state, PNS 2013 and 2019.-cell-22-0">
            <a:extLst xmlns:a="http://schemas.openxmlformats.org/drawingml/2006/main">
              <a:ext uri="{FF2B5EF4-FFF2-40B4-BE49-F238E27FC236}">
                <a16:creationId xmlns:a16="http://schemas.microsoft.com/office/drawing/2014/main" id="{69617FEC-EB0F-4B51-8E1D-9421401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20889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RS</a:t>
            </a:r>
          </a:p>
        </p:txBody>
      </p:sp>
      <p:sp>
        <p:nvSpPr>
          <p:cNvPr id="140" name="Table 1: Physician-diagnosed asthma prevalence by state, PNS 2013 and 2019.-cell-22-1">
            <a:extLst xmlns:a="http://schemas.openxmlformats.org/drawingml/2006/main">
              <a:ext uri="{FF2B5EF4-FFF2-40B4-BE49-F238E27FC236}">
                <a16:creationId xmlns:a16="http://schemas.microsoft.com/office/drawing/2014/main" id="{A782BE1F-2A4A-4EC5-9F38-3907E9A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20889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6.79 [5.56-8.19]</a:t>
            </a:r>
          </a:p>
        </p:txBody>
      </p:sp>
      <p:sp>
        <p:nvSpPr>
          <p:cNvPr id="141" name="Table 1: Physician-diagnosed asthma prevalence by state, PNS 2013 and 2019.-cell-22-2">
            <a:extLst xmlns:a="http://schemas.openxmlformats.org/drawingml/2006/main">
              <a:ext uri="{FF2B5EF4-FFF2-40B4-BE49-F238E27FC236}">
                <a16:creationId xmlns:a16="http://schemas.microsoft.com/office/drawing/2014/main" id="{77148E66-6DD0-4D9F-86A6-7035DB8D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20889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8.55 [7.24-10.01]</a:t>
            </a:r>
          </a:p>
        </p:txBody>
      </p:sp>
      <p:sp>
        <p:nvSpPr>
          <p:cNvPr id="142" name="Table 1: Physician-diagnosed asthma prevalence by state, PNS 2013 and 2019.-cell-23-0">
            <a:extLst xmlns:a="http://schemas.openxmlformats.org/drawingml/2006/main">
              <a:ext uri="{FF2B5EF4-FFF2-40B4-BE49-F238E27FC236}">
                <a16:creationId xmlns:a16="http://schemas.microsoft.com/office/drawing/2014/main" id="{DB2994C3-0D94-40A5-80D2-525DEDEC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21254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MS</a:t>
            </a:r>
          </a:p>
        </p:txBody>
      </p:sp>
      <p:sp>
        <p:nvSpPr>
          <p:cNvPr id="143" name="Table 1: Physician-diagnosed asthma prevalence by state, PNS 2013 and 2019.-cell-23-1">
            <a:extLst xmlns:a="http://schemas.openxmlformats.org/drawingml/2006/main">
              <a:ext uri="{FF2B5EF4-FFF2-40B4-BE49-F238E27FC236}">
                <a16:creationId xmlns:a16="http://schemas.microsoft.com/office/drawing/2014/main" id="{FBE338AA-0928-4D4C-9D38-8ADF7E03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21254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4.24 [3.28-5.40]</a:t>
            </a:r>
          </a:p>
        </p:txBody>
      </p:sp>
      <p:sp>
        <p:nvSpPr>
          <p:cNvPr id="144" name="Table 1: Physician-diagnosed asthma prevalence by state, PNS 2013 and 2019.-cell-23-2">
            <a:extLst xmlns:a="http://schemas.openxmlformats.org/drawingml/2006/main">
              <a:ext uri="{FF2B5EF4-FFF2-40B4-BE49-F238E27FC236}">
                <a16:creationId xmlns:a16="http://schemas.microsoft.com/office/drawing/2014/main" id="{C302A253-468F-439B-AF83-F96CE729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21254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4.96 [4.15-5.87]</a:t>
            </a:r>
          </a:p>
        </p:txBody>
      </p:sp>
      <p:sp>
        <p:nvSpPr>
          <p:cNvPr id="145" name="Table 1: Physician-diagnosed asthma prevalence by state, PNS 2013 and 2019.-stripe-24">
            <a:extLst xmlns:a="http://schemas.openxmlformats.org/drawingml/2006/main">
              <a:ext uri="{FF2B5EF4-FFF2-40B4-BE49-F238E27FC236}">
                <a16:creationId xmlns:a16="http://schemas.microsoft.com/office/drawing/2014/main" id="{DD66D07E-0AE7-47ED-ADEE-137AB879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21584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46" name="Table 1: Physician-diagnosed asthma prevalence by state, PNS 2013 and 2019.-cell-24-0">
            <a:extLst xmlns:a="http://schemas.openxmlformats.org/drawingml/2006/main">
              <a:ext uri="{FF2B5EF4-FFF2-40B4-BE49-F238E27FC236}">
                <a16:creationId xmlns:a16="http://schemas.microsoft.com/office/drawing/2014/main" id="{A9463CDF-626C-4FA1-BB16-B8891F7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21620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MT</a:t>
            </a:r>
          </a:p>
        </p:txBody>
      </p:sp>
      <p:sp>
        <p:nvSpPr>
          <p:cNvPr id="147" name="Table 1: Physician-diagnosed asthma prevalence by state, PNS 2013 and 2019.-cell-24-1">
            <a:extLst xmlns:a="http://schemas.openxmlformats.org/drawingml/2006/main">
              <a:ext uri="{FF2B5EF4-FFF2-40B4-BE49-F238E27FC236}">
                <a16:creationId xmlns:a16="http://schemas.microsoft.com/office/drawing/2014/main" id="{1F3D00EF-28EB-4D59-B36C-59AC29CB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21620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3.94 [2.76-5.44]</a:t>
            </a:r>
          </a:p>
        </p:txBody>
      </p:sp>
      <p:sp>
        <p:nvSpPr>
          <p:cNvPr id="148" name="Table 1: Physician-diagnosed asthma prevalence by state, PNS 2013 and 2019.-cell-24-2">
            <a:extLst xmlns:a="http://schemas.openxmlformats.org/drawingml/2006/main">
              <a:ext uri="{FF2B5EF4-FFF2-40B4-BE49-F238E27FC236}">
                <a16:creationId xmlns:a16="http://schemas.microsoft.com/office/drawing/2014/main" id="{760A88B8-9948-40DF-96C6-E01F0334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21620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2.91 [1.95-4.18]</a:t>
            </a:r>
          </a:p>
        </p:txBody>
      </p:sp>
      <p:sp>
        <p:nvSpPr>
          <p:cNvPr id="149" name="Table 1: Physician-diagnosed asthma prevalence by state, PNS 2013 and 2019.-cell-25-0">
            <a:extLst xmlns:a="http://schemas.openxmlformats.org/drawingml/2006/main">
              <a:ext uri="{FF2B5EF4-FFF2-40B4-BE49-F238E27FC236}">
                <a16:creationId xmlns:a16="http://schemas.microsoft.com/office/drawing/2014/main" id="{232B4853-A656-4477-9556-A2695BCE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21985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GO</a:t>
            </a:r>
          </a:p>
        </p:txBody>
      </p:sp>
      <p:sp>
        <p:nvSpPr>
          <p:cNvPr id="150" name="Table 1: Physician-diagnosed asthma prevalence by state, PNS 2013 and 2019.-cell-25-1">
            <a:extLst xmlns:a="http://schemas.openxmlformats.org/drawingml/2006/main">
              <a:ext uri="{FF2B5EF4-FFF2-40B4-BE49-F238E27FC236}">
                <a16:creationId xmlns:a16="http://schemas.microsoft.com/office/drawing/2014/main" id="{0C2457F9-8356-4159-8862-B24F8F1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21985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3.61 [2.72-4.68]</a:t>
            </a:r>
          </a:p>
        </p:txBody>
      </p:sp>
      <p:sp>
        <p:nvSpPr>
          <p:cNvPr id="151" name="Table 1: Physician-diagnosed asthma prevalence by state, PNS 2013 and 2019.-cell-25-2">
            <a:extLst xmlns:a="http://schemas.openxmlformats.org/drawingml/2006/main">
              <a:ext uri="{FF2B5EF4-FFF2-40B4-BE49-F238E27FC236}">
                <a16:creationId xmlns:a16="http://schemas.microsoft.com/office/drawing/2014/main" id="{56C2367E-918E-4D48-A379-BB3E4829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21985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5.91 [4.67-7.35]</a:t>
            </a:r>
          </a:p>
        </p:txBody>
      </p:sp>
      <p:sp>
        <p:nvSpPr>
          <p:cNvPr id="152" name="Table 1: Physician-diagnosed asthma prevalence by state, PNS 2013 and 2019.-stripe-26">
            <a:extLst xmlns:a="http://schemas.openxmlformats.org/drawingml/2006/main">
              <a:ext uri="{FF2B5EF4-FFF2-40B4-BE49-F238E27FC236}">
                <a16:creationId xmlns:a16="http://schemas.microsoft.com/office/drawing/2014/main" id="{F720E080-2168-45AD-B052-3ABED20E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22314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53" name="Table 1: Physician-diagnosed asthma prevalence by state, PNS 2013 and 2019.-cell-26-0">
            <a:extLst xmlns:a="http://schemas.openxmlformats.org/drawingml/2006/main">
              <a:ext uri="{FF2B5EF4-FFF2-40B4-BE49-F238E27FC236}">
                <a16:creationId xmlns:a16="http://schemas.microsoft.com/office/drawing/2014/main" id="{05EA3BF2-0963-44B2-9048-01DF2EC6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200" y="22350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DF</a:t>
            </a:r>
          </a:p>
        </p:txBody>
      </p:sp>
      <p:sp>
        <p:nvSpPr>
          <p:cNvPr id="154" name="Table 1: Physician-diagnosed asthma prevalence by state, PNS 2013 and 2019.-cell-26-1">
            <a:extLst xmlns:a="http://schemas.openxmlformats.org/drawingml/2006/main">
              <a:ext uri="{FF2B5EF4-FFF2-40B4-BE49-F238E27FC236}">
                <a16:creationId xmlns:a16="http://schemas.microsoft.com/office/drawing/2014/main" id="{C22B1D0B-AD6C-4509-B334-6AAAD114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200" y="22350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5.91 [4.62-7.44]</a:t>
            </a:r>
          </a:p>
        </p:txBody>
      </p:sp>
      <p:sp>
        <p:nvSpPr>
          <p:cNvPr id="155" name="Table 1: Physician-diagnosed asthma prevalence by state, PNS 2013 and 2019.-cell-26-2">
            <a:extLst xmlns:a="http://schemas.openxmlformats.org/drawingml/2006/main">
              <a:ext uri="{FF2B5EF4-FFF2-40B4-BE49-F238E27FC236}">
                <a16:creationId xmlns:a16="http://schemas.microsoft.com/office/drawing/2014/main" id="{79E9C580-DA54-4D15-8FA0-0CD9EA7E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200" y="22350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4.93 [3.78-6.30]</a:t>
            </a:r>
          </a:p>
        </p:txBody>
      </p:sp>
      <p:sp>
        <p:nvSpPr>
          <p:cNvPr id="156" name="Table 1: Physician-diagnosed asthma prevalence by state, PNS 2013 and 2019.-note">
            <a:extLst xmlns:a="http://schemas.openxmlformats.org/drawingml/2006/main">
              <a:ext uri="{FF2B5EF4-FFF2-40B4-BE49-F238E27FC236}">
                <a16:creationId xmlns:a16="http://schemas.microsoft.com/office/drawing/2014/main" id="{8F2748F7-E32D-4E87-BA46-EB01D2A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000" y="22716000"/>
            <a:ext cx="914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30" b="0">
                <a:solidFill>
                  <a:srgbClr val="4F6372"/>
                </a:solidFill>
              </a:defRPr>
            </a:pPr>
            <a:r>
              <a:rPr sz="1630" b="0">
                <a:solidFill>
                  <a:srgbClr val="4F6372"/>
                </a:solidFill>
              </a:rPr>
              <a:t>UF abbreviations. Values in %; beta 95% CIs in brackets. Brazil in cards.</a:t>
            </a:r>
          </a:p>
        </p:txBody>
      </p:sp>
      <p:sp>
        <p:nvSpPr>
          <p:cNvPr id="157" name="Table 2: Oral medication">
            <a:extLst xmlns:a="http://schemas.openxmlformats.org/drawingml/2006/main">
              <a:ext uri="{FF2B5EF4-FFF2-40B4-BE49-F238E27FC236}">
                <a16:creationId xmlns:a16="http://schemas.microsoft.com/office/drawing/2014/main" id="{3FFD4E33-4E0C-4474-92A1-3036468A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000" y="11052000"/>
            <a:ext cx="12672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23" b="1">
                <a:solidFill>
                  <a:srgbClr val="153F59"/>
                </a:solidFill>
              </a:defRPr>
            </a:pPr>
            <a:r>
              <a:rPr sz="2523" b="1">
                <a:solidFill>
                  <a:srgbClr val="153F59"/>
                </a:solidFill>
              </a:rPr>
              <a:t>Table 2: Oral medication or inhaler use among people with asthma by state.</a:t>
            </a:r>
          </a:p>
        </p:txBody>
      </p:sp>
      <p:sp>
        <p:nvSpPr>
          <p:cNvPr id="158" name="Table 2: Oral medication or inhaler use among people with asthma by state.-frame">
            <a:extLst xmlns:a="http://schemas.openxmlformats.org/drawingml/2006/main">
              <a:ext uri="{FF2B5EF4-FFF2-40B4-BE49-F238E27FC236}">
                <a16:creationId xmlns:a16="http://schemas.microsoft.com/office/drawing/2014/main" id="{CA2CC02F-29D9-4CBE-A1F5-CEAAF3E3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000" y="11988000"/>
            <a:ext cx="12672000" cy="11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6000">
            <a:solidFill>
              <a:srgbClr val="9BC5D8"/>
            </a:solidFill>
            <a:prstDash val="solid"/>
          </a:ln>
        </p:spPr>
      </p:sp>
      <p:sp>
        <p:nvSpPr>
          <p:cNvPr id="159" name="Table 2: Oral medication or inhaler use among people with asthma by state.-head-bg">
            <a:extLst xmlns:a="http://schemas.openxmlformats.org/drawingml/2006/main">
              <a:ext uri="{FF2B5EF4-FFF2-40B4-BE49-F238E27FC236}">
                <a16:creationId xmlns:a16="http://schemas.microsoft.com/office/drawing/2014/main" id="{DD1A1D1D-95FF-488D-B347-51A3C874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2168000"/>
            <a:ext cx="91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0">
            <a:solidFill>
              <a:srgbClr val="153F59"/>
            </a:solidFill>
            <a:prstDash val="solid"/>
          </a:ln>
        </p:spPr>
      </p:sp>
      <p:sp>
        <p:nvSpPr>
          <p:cNvPr id="160" name="Table 2: Oral medication or inhaler use among people with asthma by state.-head-0">
            <a:extLst xmlns:a="http://schemas.openxmlformats.org/drawingml/2006/main">
              <a:ext uri="{FF2B5EF4-FFF2-40B4-BE49-F238E27FC236}">
                <a16:creationId xmlns:a16="http://schemas.microsoft.com/office/drawing/2014/main" id="{34138442-0490-4EA6-A6AA-2EDBF228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2000" y="12276000"/>
            <a:ext cx="10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61" name="Table 2: Oral medication or inhaler use among people with asthma by state.-head-1">
            <a:extLst xmlns:a="http://schemas.openxmlformats.org/drawingml/2006/main">
              <a:ext uri="{FF2B5EF4-FFF2-40B4-BE49-F238E27FC236}">
                <a16:creationId xmlns:a16="http://schemas.microsoft.com/office/drawing/2014/main" id="{38500CD6-8DE4-4493-8939-8047F435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6000" y="12276000"/>
            <a:ext cx="381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2013</a:t>
            </a:r>
          </a:p>
        </p:txBody>
      </p:sp>
      <p:sp>
        <p:nvSpPr>
          <p:cNvPr id="162" name="Table 2: Oral medication or inhaler use among people with asthma by state.-head-2">
            <a:extLst xmlns:a="http://schemas.openxmlformats.org/drawingml/2006/main">
              <a:ext uri="{FF2B5EF4-FFF2-40B4-BE49-F238E27FC236}">
                <a16:creationId xmlns:a16="http://schemas.microsoft.com/office/drawing/2014/main" id="{ED93CEE3-5E41-49E1-ABD5-090A9865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6000" y="12276000"/>
            <a:ext cx="381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2019</a:t>
            </a:r>
          </a:p>
        </p:txBody>
      </p:sp>
      <p:sp>
        <p:nvSpPr>
          <p:cNvPr id="163" name="Table 2: Oral medication or inhaler use among people with asthma by state.-stripe-0">
            <a:extLst xmlns:a="http://schemas.openxmlformats.org/drawingml/2006/main">
              <a:ext uri="{FF2B5EF4-FFF2-40B4-BE49-F238E27FC236}">
                <a16:creationId xmlns:a16="http://schemas.microsoft.com/office/drawing/2014/main" id="{30092AC9-FCB4-436F-B466-46B08974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2816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64" name="Table 2: Oral medication or inhaler use among people with asthma by state.-cell-0-0">
            <a:extLst xmlns:a="http://schemas.openxmlformats.org/drawingml/2006/main">
              <a:ext uri="{FF2B5EF4-FFF2-40B4-BE49-F238E27FC236}">
                <a16:creationId xmlns:a16="http://schemas.microsoft.com/office/drawing/2014/main" id="{3FBF2FA1-590F-4D5B-86C6-CBD3317C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2852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RO</a:t>
            </a:r>
          </a:p>
        </p:txBody>
      </p:sp>
      <p:sp>
        <p:nvSpPr>
          <p:cNvPr id="165" name="Table 2: Oral medication or inhaler use among people with asthma by state.-cell-0-1">
            <a:extLst xmlns:a="http://schemas.openxmlformats.org/drawingml/2006/main">
              <a:ext uri="{FF2B5EF4-FFF2-40B4-BE49-F238E27FC236}">
                <a16:creationId xmlns:a16="http://schemas.microsoft.com/office/drawing/2014/main" id="{CF9190FF-FC74-4A54-9A01-4CE71A3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2852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79.94 [58.68-93.34]</a:t>
            </a:r>
          </a:p>
        </p:txBody>
      </p:sp>
      <p:sp>
        <p:nvSpPr>
          <p:cNvPr id="166" name="Table 2: Oral medication or inhaler use among people with asthma by state.-cell-0-2">
            <a:extLst xmlns:a="http://schemas.openxmlformats.org/drawingml/2006/main">
              <a:ext uri="{FF2B5EF4-FFF2-40B4-BE49-F238E27FC236}">
                <a16:creationId xmlns:a16="http://schemas.microsoft.com/office/drawing/2014/main" id="{D422D49C-A19F-432B-998B-6ED5812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2852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79.76 [56.69-93.92]</a:t>
            </a:r>
          </a:p>
        </p:txBody>
      </p:sp>
      <p:sp>
        <p:nvSpPr>
          <p:cNvPr id="167" name="Table 2: Oral medication or inhaler use among people with asthma by state.-cell-1-0">
            <a:extLst xmlns:a="http://schemas.openxmlformats.org/drawingml/2006/main">
              <a:ext uri="{FF2B5EF4-FFF2-40B4-BE49-F238E27FC236}">
                <a16:creationId xmlns:a16="http://schemas.microsoft.com/office/drawing/2014/main" id="{F39E510B-5E20-4723-8885-6D4E74B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3217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AC</a:t>
            </a:r>
          </a:p>
        </p:txBody>
      </p:sp>
      <p:sp>
        <p:nvSpPr>
          <p:cNvPr id="168" name="Table 2: Oral medication or inhaler use among people with asthma by state.-cell-1-1">
            <a:extLst xmlns:a="http://schemas.openxmlformats.org/drawingml/2006/main">
              <a:ext uri="{FF2B5EF4-FFF2-40B4-BE49-F238E27FC236}">
                <a16:creationId xmlns:a16="http://schemas.microsoft.com/office/drawing/2014/main" id="{CB921565-D138-4124-8993-68735841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3217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74.66 [43.93-93.83]</a:t>
            </a:r>
          </a:p>
        </p:txBody>
      </p:sp>
      <p:sp>
        <p:nvSpPr>
          <p:cNvPr id="169" name="Table 2: Oral medication or inhaler use among people with asthma by state.-cell-1-2">
            <a:extLst xmlns:a="http://schemas.openxmlformats.org/drawingml/2006/main">
              <a:ext uri="{FF2B5EF4-FFF2-40B4-BE49-F238E27FC236}">
                <a16:creationId xmlns:a16="http://schemas.microsoft.com/office/drawing/2014/main" id="{49511C9E-366D-4E1E-B088-E7E7CD4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3217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54.47 [31.58-76.05]</a:t>
            </a:r>
          </a:p>
        </p:txBody>
      </p:sp>
      <p:sp>
        <p:nvSpPr>
          <p:cNvPr id="170" name="Table 2: Oral medication or inhaler use among people with asthma by state.-stripe-2">
            <a:extLst xmlns:a="http://schemas.openxmlformats.org/drawingml/2006/main">
              <a:ext uri="{FF2B5EF4-FFF2-40B4-BE49-F238E27FC236}">
                <a16:creationId xmlns:a16="http://schemas.microsoft.com/office/drawing/2014/main" id="{A8822BC7-C7D8-45C9-B414-6E322F4A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3546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71" name="Table 2: Oral medication or inhaler use among people with asthma by state.-cell-2-0">
            <a:extLst xmlns:a="http://schemas.openxmlformats.org/drawingml/2006/main">
              <a:ext uri="{FF2B5EF4-FFF2-40B4-BE49-F238E27FC236}">
                <a16:creationId xmlns:a16="http://schemas.microsoft.com/office/drawing/2014/main" id="{704CD27B-ED14-49FC-A8DC-69B1FB43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3582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AM</a:t>
            </a:r>
          </a:p>
        </p:txBody>
      </p:sp>
      <p:sp>
        <p:nvSpPr>
          <p:cNvPr id="172" name="Table 2: Oral medication or inhaler use among people with asthma by state.-cell-2-1">
            <a:extLst xmlns:a="http://schemas.openxmlformats.org/drawingml/2006/main">
              <a:ext uri="{FF2B5EF4-FFF2-40B4-BE49-F238E27FC236}">
                <a16:creationId xmlns:a16="http://schemas.microsoft.com/office/drawing/2014/main" id="{73273C58-6644-4155-9903-124D0250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3582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86.72 [70.34-95.98]</a:t>
            </a:r>
          </a:p>
        </p:txBody>
      </p:sp>
      <p:sp>
        <p:nvSpPr>
          <p:cNvPr id="173" name="Table 2: Oral medication or inhaler use among people with asthma by state.-cell-2-2">
            <a:extLst xmlns:a="http://schemas.openxmlformats.org/drawingml/2006/main">
              <a:ext uri="{FF2B5EF4-FFF2-40B4-BE49-F238E27FC236}">
                <a16:creationId xmlns:a16="http://schemas.microsoft.com/office/drawing/2014/main" id="{4EB613B1-07C2-4DF9-A076-DB3E491D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3582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46.70 [23.74-70.73]</a:t>
            </a:r>
          </a:p>
        </p:txBody>
      </p:sp>
      <p:sp>
        <p:nvSpPr>
          <p:cNvPr id="174" name="Table 2: Oral medication or inhaler use among people with asthma by state.-cell-3-0">
            <a:extLst xmlns:a="http://schemas.openxmlformats.org/drawingml/2006/main">
              <a:ext uri="{FF2B5EF4-FFF2-40B4-BE49-F238E27FC236}">
                <a16:creationId xmlns:a16="http://schemas.microsoft.com/office/drawing/2014/main" id="{2DEC7107-BA7C-41CD-B1A4-474A224A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3948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RR</a:t>
            </a:r>
          </a:p>
        </p:txBody>
      </p:sp>
      <p:sp>
        <p:nvSpPr>
          <p:cNvPr id="175" name="Table 2: Oral medication or inhaler use among people with asthma by state.-cell-3-1">
            <a:extLst xmlns:a="http://schemas.openxmlformats.org/drawingml/2006/main">
              <a:ext uri="{FF2B5EF4-FFF2-40B4-BE49-F238E27FC236}">
                <a16:creationId xmlns:a16="http://schemas.microsoft.com/office/drawing/2014/main" id="{6F0FB5E8-871C-4659-8719-19C47472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3948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81.69 [56.61-95.67]</a:t>
            </a:r>
          </a:p>
        </p:txBody>
      </p:sp>
      <p:sp>
        <p:nvSpPr>
          <p:cNvPr id="176" name="Table 2: Oral medication or inhaler use among people with asthma by state.-cell-3-2">
            <a:extLst xmlns:a="http://schemas.openxmlformats.org/drawingml/2006/main">
              <a:ext uri="{FF2B5EF4-FFF2-40B4-BE49-F238E27FC236}">
                <a16:creationId xmlns:a16="http://schemas.microsoft.com/office/drawing/2014/main" id="{28B09F0F-CB7C-470A-8C37-698BCA8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3948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74.36 [52.38-89.91]</a:t>
            </a:r>
          </a:p>
        </p:txBody>
      </p:sp>
      <p:sp>
        <p:nvSpPr>
          <p:cNvPr id="177" name="Table 2: Oral medication or inhaler use among people with asthma by state.-stripe-4">
            <a:extLst xmlns:a="http://schemas.openxmlformats.org/drawingml/2006/main">
              <a:ext uri="{FF2B5EF4-FFF2-40B4-BE49-F238E27FC236}">
                <a16:creationId xmlns:a16="http://schemas.microsoft.com/office/drawing/2014/main" id="{C998371C-2AEE-4A91-AFF3-13120200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4277333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78" name="Table 2: Oral medication or inhaler use among people with asthma by state.-cell-4-0">
            <a:extLst xmlns:a="http://schemas.openxmlformats.org/drawingml/2006/main">
              <a:ext uri="{FF2B5EF4-FFF2-40B4-BE49-F238E27FC236}">
                <a16:creationId xmlns:a16="http://schemas.microsoft.com/office/drawing/2014/main" id="{607B000D-AACC-4BDF-B3B4-8368ACEE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4313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PA</a:t>
            </a:r>
          </a:p>
        </p:txBody>
      </p:sp>
      <p:sp>
        <p:nvSpPr>
          <p:cNvPr id="179" name="Table 2: Oral medication or inhaler use among people with asthma by state.-cell-4-1">
            <a:extLst xmlns:a="http://schemas.openxmlformats.org/drawingml/2006/main">
              <a:ext uri="{FF2B5EF4-FFF2-40B4-BE49-F238E27FC236}">
                <a16:creationId xmlns:a16="http://schemas.microsoft.com/office/drawing/2014/main" id="{1206F4BB-3A54-4B90-AC14-2E72B2C3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4313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82.30 [47.71-98.05]</a:t>
            </a:r>
          </a:p>
        </p:txBody>
      </p:sp>
      <p:sp>
        <p:nvSpPr>
          <p:cNvPr id="180" name="Table 2: Oral medication or inhaler use among people with asthma by state.-cell-4-2">
            <a:extLst xmlns:a="http://schemas.openxmlformats.org/drawingml/2006/main">
              <a:ext uri="{FF2B5EF4-FFF2-40B4-BE49-F238E27FC236}">
                <a16:creationId xmlns:a16="http://schemas.microsoft.com/office/drawing/2014/main" id="{3471E621-17CA-4E2A-92E8-E1183389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4313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63.73 [41.71-82.21]</a:t>
            </a:r>
          </a:p>
        </p:txBody>
      </p:sp>
      <p:sp>
        <p:nvSpPr>
          <p:cNvPr id="181" name="Table 2: Oral medication or inhaler use among people with asthma by state.-cell-5-0">
            <a:extLst xmlns:a="http://schemas.openxmlformats.org/drawingml/2006/main">
              <a:ext uri="{FF2B5EF4-FFF2-40B4-BE49-F238E27FC236}">
                <a16:creationId xmlns:a16="http://schemas.microsoft.com/office/drawing/2014/main" id="{6EABDED7-16DE-46F6-9DF9-5AF6D18E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4678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AP</a:t>
            </a:r>
          </a:p>
        </p:txBody>
      </p:sp>
      <p:sp>
        <p:nvSpPr>
          <p:cNvPr id="182" name="Table 2: Oral medication or inhaler use among people with asthma by state.-cell-5-1">
            <a:extLst xmlns:a="http://schemas.openxmlformats.org/drawingml/2006/main">
              <a:ext uri="{FF2B5EF4-FFF2-40B4-BE49-F238E27FC236}">
                <a16:creationId xmlns:a16="http://schemas.microsoft.com/office/drawing/2014/main" id="{5AD2762F-EBA4-4681-9939-6A899B79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4678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82.76 [56.11-96.62]</a:t>
            </a:r>
          </a:p>
        </p:txBody>
      </p:sp>
      <p:sp>
        <p:nvSpPr>
          <p:cNvPr id="183" name="Table 2: Oral medication or inhaler use among people with asthma by state.-cell-5-2">
            <a:extLst xmlns:a="http://schemas.openxmlformats.org/drawingml/2006/main">
              <a:ext uri="{FF2B5EF4-FFF2-40B4-BE49-F238E27FC236}">
                <a16:creationId xmlns:a16="http://schemas.microsoft.com/office/drawing/2014/main" id="{48C30E50-2D74-4521-8A10-9B32ED9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4678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67.30 [31.93-92.16]</a:t>
            </a:r>
          </a:p>
        </p:txBody>
      </p:sp>
      <p:sp>
        <p:nvSpPr>
          <p:cNvPr id="184" name="Table 2: Oral medication or inhaler use among people with asthma by state.-stripe-6">
            <a:extLst xmlns:a="http://schemas.openxmlformats.org/drawingml/2006/main">
              <a:ext uri="{FF2B5EF4-FFF2-40B4-BE49-F238E27FC236}">
                <a16:creationId xmlns:a16="http://schemas.microsoft.com/office/drawing/2014/main" id="{FD750479-15AB-48B1-9938-50E08C72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5008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85" name="Table 2: Oral medication or inhaler use among people with asthma by state.-cell-6-0">
            <a:extLst xmlns:a="http://schemas.openxmlformats.org/drawingml/2006/main">
              <a:ext uri="{FF2B5EF4-FFF2-40B4-BE49-F238E27FC236}">
                <a16:creationId xmlns:a16="http://schemas.microsoft.com/office/drawing/2014/main" id="{1DBB5099-D27E-4262-B20A-70225D95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5044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TO</a:t>
            </a:r>
          </a:p>
        </p:txBody>
      </p:sp>
      <p:sp>
        <p:nvSpPr>
          <p:cNvPr id="186" name="Table 2: Oral medication or inhaler use among people with asthma by state.-cell-6-1">
            <a:extLst xmlns:a="http://schemas.openxmlformats.org/drawingml/2006/main">
              <a:ext uri="{FF2B5EF4-FFF2-40B4-BE49-F238E27FC236}">
                <a16:creationId xmlns:a16="http://schemas.microsoft.com/office/drawing/2014/main" id="{42BF63AB-4A16-47F2-B0F1-6C861D5F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5044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66.97 [36.61-89.49]</a:t>
            </a:r>
          </a:p>
        </p:txBody>
      </p:sp>
      <p:sp>
        <p:nvSpPr>
          <p:cNvPr id="187" name="Table 2: Oral medication or inhaler use among people with asthma by state.-cell-6-2">
            <a:extLst xmlns:a="http://schemas.openxmlformats.org/drawingml/2006/main">
              <a:ext uri="{FF2B5EF4-FFF2-40B4-BE49-F238E27FC236}">
                <a16:creationId xmlns:a16="http://schemas.microsoft.com/office/drawing/2014/main" id="{D526B55F-0DDF-4934-B9FA-51EA22AD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5044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49.52 [25.39-73.81]</a:t>
            </a:r>
          </a:p>
        </p:txBody>
      </p:sp>
      <p:sp>
        <p:nvSpPr>
          <p:cNvPr id="188" name="Table 2: Oral medication or inhaler use among people with asthma by state.-cell-7-0">
            <a:extLst xmlns:a="http://schemas.openxmlformats.org/drawingml/2006/main">
              <a:ext uri="{FF2B5EF4-FFF2-40B4-BE49-F238E27FC236}">
                <a16:creationId xmlns:a16="http://schemas.microsoft.com/office/drawing/2014/main" id="{D25B73E1-1348-4496-846D-8D3C6585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5409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MA</a:t>
            </a:r>
          </a:p>
        </p:txBody>
      </p:sp>
      <p:sp>
        <p:nvSpPr>
          <p:cNvPr id="189" name="Table 2: Oral medication or inhaler use among people with asthma by state.-cell-7-1">
            <a:extLst xmlns:a="http://schemas.openxmlformats.org/drawingml/2006/main">
              <a:ext uri="{FF2B5EF4-FFF2-40B4-BE49-F238E27FC236}">
                <a16:creationId xmlns:a16="http://schemas.microsoft.com/office/drawing/2014/main" id="{716E357F-6E8E-4DA4-A6FA-6F957CB9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5409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53.24 [22.96-81.84]</a:t>
            </a:r>
          </a:p>
        </p:txBody>
      </p:sp>
      <p:sp>
        <p:nvSpPr>
          <p:cNvPr id="190" name="Table 2: Oral medication or inhaler use among people with asthma by state.-cell-7-2">
            <a:extLst xmlns:a="http://schemas.openxmlformats.org/drawingml/2006/main">
              <a:ext uri="{FF2B5EF4-FFF2-40B4-BE49-F238E27FC236}">
                <a16:creationId xmlns:a16="http://schemas.microsoft.com/office/drawing/2014/main" id="{995A8828-4103-4840-8A98-C09B6AE7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5409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61.26 [42.46-77.89]</a:t>
            </a:r>
          </a:p>
        </p:txBody>
      </p:sp>
      <p:sp>
        <p:nvSpPr>
          <p:cNvPr id="191" name="Table 2: Oral medication or inhaler use among people with asthma by state.-stripe-8">
            <a:extLst xmlns:a="http://schemas.openxmlformats.org/drawingml/2006/main">
              <a:ext uri="{FF2B5EF4-FFF2-40B4-BE49-F238E27FC236}">
                <a16:creationId xmlns:a16="http://schemas.microsoft.com/office/drawing/2014/main" id="{D20865ED-0CC8-450D-8FAC-71754543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5738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92" name="Table 2: Oral medication or inhaler use among people with asthma by state.-cell-8-0">
            <a:extLst xmlns:a="http://schemas.openxmlformats.org/drawingml/2006/main">
              <a:ext uri="{FF2B5EF4-FFF2-40B4-BE49-F238E27FC236}">
                <a16:creationId xmlns:a16="http://schemas.microsoft.com/office/drawing/2014/main" id="{3E23A0C4-D292-46A0-83B5-3E5A1D6D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5774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PI</a:t>
            </a:r>
          </a:p>
        </p:txBody>
      </p:sp>
      <p:sp>
        <p:nvSpPr>
          <p:cNvPr id="193" name="Table 2: Oral medication or inhaler use among people with asthma by state.-cell-8-1">
            <a:extLst xmlns:a="http://schemas.openxmlformats.org/drawingml/2006/main">
              <a:ext uri="{FF2B5EF4-FFF2-40B4-BE49-F238E27FC236}">
                <a16:creationId xmlns:a16="http://schemas.microsoft.com/office/drawing/2014/main" id="{2028939A-D385-4DD0-9EC2-3B03FA69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5774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68.25 [37.26-90.53]</a:t>
            </a:r>
          </a:p>
        </p:txBody>
      </p:sp>
      <p:sp>
        <p:nvSpPr>
          <p:cNvPr id="194" name="Table 2: Oral medication or inhaler use among people with asthma by state.-cell-8-2">
            <a:extLst xmlns:a="http://schemas.openxmlformats.org/drawingml/2006/main">
              <a:ext uri="{FF2B5EF4-FFF2-40B4-BE49-F238E27FC236}">
                <a16:creationId xmlns:a16="http://schemas.microsoft.com/office/drawing/2014/main" id="{13B7B10D-F860-4695-879C-B39AB7DB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5774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53.03 [31.04-74.19]</a:t>
            </a:r>
          </a:p>
        </p:txBody>
      </p:sp>
      <p:sp>
        <p:nvSpPr>
          <p:cNvPr id="195" name="Table 2: Oral medication or inhaler use among people with asthma by state.-cell-9-0">
            <a:extLst xmlns:a="http://schemas.openxmlformats.org/drawingml/2006/main">
              <a:ext uri="{FF2B5EF4-FFF2-40B4-BE49-F238E27FC236}">
                <a16:creationId xmlns:a16="http://schemas.microsoft.com/office/drawing/2014/main" id="{6B8588BF-B7D0-46C1-93F1-B88BC21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6140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CE</a:t>
            </a:r>
          </a:p>
        </p:txBody>
      </p:sp>
      <p:sp>
        <p:nvSpPr>
          <p:cNvPr id="196" name="Table 2: Oral medication or inhaler use among people with asthma by state.-cell-9-1">
            <a:extLst xmlns:a="http://schemas.openxmlformats.org/drawingml/2006/main">
              <a:ext uri="{FF2B5EF4-FFF2-40B4-BE49-F238E27FC236}">
                <a16:creationId xmlns:a16="http://schemas.microsoft.com/office/drawing/2014/main" id="{76DCA662-D9BB-44BA-9734-F914708E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6140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78.81 [58.75-92.11]</a:t>
            </a:r>
          </a:p>
        </p:txBody>
      </p:sp>
      <p:sp>
        <p:nvSpPr>
          <p:cNvPr id="197" name="Table 2: Oral medication or inhaler use among people with asthma by state.-cell-9-2">
            <a:extLst xmlns:a="http://schemas.openxmlformats.org/drawingml/2006/main">
              <a:ext uri="{FF2B5EF4-FFF2-40B4-BE49-F238E27FC236}">
                <a16:creationId xmlns:a16="http://schemas.microsoft.com/office/drawing/2014/main" id="{25298A30-C379-4097-BA19-EBC060F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6140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44.49 [30.19-59.49]</a:t>
            </a:r>
          </a:p>
        </p:txBody>
      </p:sp>
      <p:sp>
        <p:nvSpPr>
          <p:cNvPr id="198" name="Table 2: Oral medication or inhaler use among people with asthma by state.-stripe-10">
            <a:extLst xmlns:a="http://schemas.openxmlformats.org/drawingml/2006/main">
              <a:ext uri="{FF2B5EF4-FFF2-40B4-BE49-F238E27FC236}">
                <a16:creationId xmlns:a16="http://schemas.microsoft.com/office/drawing/2014/main" id="{2868BAFB-992A-496C-AAFF-FD7F1E5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6469333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199" name="Table 2: Oral medication or inhaler use among people with asthma by state.-cell-10-0">
            <a:extLst xmlns:a="http://schemas.openxmlformats.org/drawingml/2006/main">
              <a:ext uri="{FF2B5EF4-FFF2-40B4-BE49-F238E27FC236}">
                <a16:creationId xmlns:a16="http://schemas.microsoft.com/office/drawing/2014/main" id="{58355414-F387-4E42-A1E9-994291B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6505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RN</a:t>
            </a:r>
          </a:p>
        </p:txBody>
      </p:sp>
      <p:sp>
        <p:nvSpPr>
          <p:cNvPr id="200" name="Table 2: Oral medication or inhaler use among people with asthma by state.-cell-10-1">
            <a:extLst xmlns:a="http://schemas.openxmlformats.org/drawingml/2006/main">
              <a:ext uri="{FF2B5EF4-FFF2-40B4-BE49-F238E27FC236}">
                <a16:creationId xmlns:a16="http://schemas.microsoft.com/office/drawing/2014/main" id="{E873D0D8-E35B-4C92-B87D-A3777C8F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6505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68.53 [38.21-90.35]</a:t>
            </a:r>
          </a:p>
        </p:txBody>
      </p:sp>
      <p:sp>
        <p:nvSpPr>
          <p:cNvPr id="201" name="Table 2: Oral medication or inhaler use among people with asthma by state.-cell-10-2">
            <a:extLst xmlns:a="http://schemas.openxmlformats.org/drawingml/2006/main">
              <a:ext uri="{FF2B5EF4-FFF2-40B4-BE49-F238E27FC236}">
                <a16:creationId xmlns:a16="http://schemas.microsoft.com/office/drawing/2014/main" id="{310E2E3E-38DC-42A5-AA93-2E24549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6505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61.69 [41.26-79.48]</a:t>
            </a:r>
          </a:p>
        </p:txBody>
      </p:sp>
      <p:sp>
        <p:nvSpPr>
          <p:cNvPr id="202" name="Table 2: Oral medication or inhaler use among people with asthma by state.-cell-11-0">
            <a:extLst xmlns:a="http://schemas.openxmlformats.org/drawingml/2006/main">
              <a:ext uri="{FF2B5EF4-FFF2-40B4-BE49-F238E27FC236}">
                <a16:creationId xmlns:a16="http://schemas.microsoft.com/office/drawing/2014/main" id="{40C77537-7C71-4469-B0BF-745A6FF6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6870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PB</a:t>
            </a:r>
          </a:p>
        </p:txBody>
      </p:sp>
      <p:sp>
        <p:nvSpPr>
          <p:cNvPr id="203" name="Table 2: Oral medication or inhaler use among people with asthma by state.-cell-11-1">
            <a:extLst xmlns:a="http://schemas.openxmlformats.org/drawingml/2006/main">
              <a:ext uri="{FF2B5EF4-FFF2-40B4-BE49-F238E27FC236}">
                <a16:creationId xmlns:a16="http://schemas.microsoft.com/office/drawing/2014/main" id="{146C4635-63AA-41BB-B44B-70991115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6870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77.50 [58.84-90.53]</a:t>
            </a:r>
          </a:p>
        </p:txBody>
      </p:sp>
      <p:sp>
        <p:nvSpPr>
          <p:cNvPr id="204" name="Table 2: Oral medication or inhaler use among people with asthma by state.-cell-11-2">
            <a:extLst xmlns:a="http://schemas.openxmlformats.org/drawingml/2006/main">
              <a:ext uri="{FF2B5EF4-FFF2-40B4-BE49-F238E27FC236}">
                <a16:creationId xmlns:a16="http://schemas.microsoft.com/office/drawing/2014/main" id="{ADD02C38-F46A-4EA0-9B82-349E1758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6870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56.03 [37.07-73.79]</a:t>
            </a:r>
          </a:p>
        </p:txBody>
      </p:sp>
      <p:sp>
        <p:nvSpPr>
          <p:cNvPr id="205" name="Table 2: Oral medication or inhaler use among people with asthma by state.-stripe-12">
            <a:extLst xmlns:a="http://schemas.openxmlformats.org/drawingml/2006/main">
              <a:ext uri="{FF2B5EF4-FFF2-40B4-BE49-F238E27FC236}">
                <a16:creationId xmlns:a16="http://schemas.microsoft.com/office/drawing/2014/main" id="{47FDB5BA-2C97-4893-9412-42EC9FC5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7200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206" name="Table 2: Oral medication or inhaler use among people with asthma by state.-cell-12-0">
            <a:extLst xmlns:a="http://schemas.openxmlformats.org/drawingml/2006/main">
              <a:ext uri="{FF2B5EF4-FFF2-40B4-BE49-F238E27FC236}">
                <a16:creationId xmlns:a16="http://schemas.microsoft.com/office/drawing/2014/main" id="{49BAD2A1-8922-41F5-BB7D-3F670E06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7236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PE</a:t>
            </a:r>
          </a:p>
        </p:txBody>
      </p:sp>
      <p:sp>
        <p:nvSpPr>
          <p:cNvPr id="207" name="Table 2: Oral medication or inhaler use among people with asthma by state.-cell-12-1">
            <a:extLst xmlns:a="http://schemas.openxmlformats.org/drawingml/2006/main">
              <a:ext uri="{FF2B5EF4-FFF2-40B4-BE49-F238E27FC236}">
                <a16:creationId xmlns:a16="http://schemas.microsoft.com/office/drawing/2014/main" id="{2469545D-1070-4D78-8769-6A9DB50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7236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68.46 [49.08-84.06]</a:t>
            </a:r>
          </a:p>
        </p:txBody>
      </p:sp>
      <p:sp>
        <p:nvSpPr>
          <p:cNvPr id="208" name="Table 2: Oral medication or inhaler use among people with asthma by state.-cell-12-2">
            <a:extLst xmlns:a="http://schemas.openxmlformats.org/drawingml/2006/main">
              <a:ext uri="{FF2B5EF4-FFF2-40B4-BE49-F238E27FC236}">
                <a16:creationId xmlns:a16="http://schemas.microsoft.com/office/drawing/2014/main" id="{A94A3CF1-85B1-4CE8-9A68-AA2E37FF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7236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60.93 [44.32-75.86]</a:t>
            </a:r>
          </a:p>
        </p:txBody>
      </p:sp>
      <p:sp>
        <p:nvSpPr>
          <p:cNvPr id="209" name="Table 2: Oral medication or inhaler use among people with asthma by state.-cell-13-0">
            <a:extLst xmlns:a="http://schemas.openxmlformats.org/drawingml/2006/main">
              <a:ext uri="{FF2B5EF4-FFF2-40B4-BE49-F238E27FC236}">
                <a16:creationId xmlns:a16="http://schemas.microsoft.com/office/drawing/2014/main" id="{763E61B8-E278-420F-A0A6-D24B1914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7601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AL</a:t>
            </a:r>
          </a:p>
        </p:txBody>
      </p:sp>
      <p:sp>
        <p:nvSpPr>
          <p:cNvPr id="210" name="Table 2: Oral medication or inhaler use among people with asthma by state.-cell-13-1">
            <a:extLst xmlns:a="http://schemas.openxmlformats.org/drawingml/2006/main">
              <a:ext uri="{FF2B5EF4-FFF2-40B4-BE49-F238E27FC236}">
                <a16:creationId xmlns:a16="http://schemas.microsoft.com/office/drawing/2014/main" id="{3DA2AFB0-525C-40CB-A179-FDD4F705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7601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85.95 [58.87-98.07]</a:t>
            </a:r>
          </a:p>
        </p:txBody>
      </p:sp>
      <p:sp>
        <p:nvSpPr>
          <p:cNvPr id="211" name="Table 2: Oral medication or inhaler use among people with asthma by state.-cell-13-2">
            <a:extLst xmlns:a="http://schemas.openxmlformats.org/drawingml/2006/main">
              <a:ext uri="{FF2B5EF4-FFF2-40B4-BE49-F238E27FC236}">
                <a16:creationId xmlns:a16="http://schemas.microsoft.com/office/drawing/2014/main" id="{63DDD922-A794-49EA-8AA4-D54275C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7601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62.04 [43.17-78.58]</a:t>
            </a:r>
          </a:p>
        </p:txBody>
      </p:sp>
      <p:sp>
        <p:nvSpPr>
          <p:cNvPr id="212" name="Table 2: Oral medication or inhaler use among people with asthma by state.-stripe-14">
            <a:extLst xmlns:a="http://schemas.openxmlformats.org/drawingml/2006/main">
              <a:ext uri="{FF2B5EF4-FFF2-40B4-BE49-F238E27FC236}">
                <a16:creationId xmlns:a16="http://schemas.microsoft.com/office/drawing/2014/main" id="{5B204879-C176-46EF-942C-FF563C73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7930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213" name="Table 2: Oral medication or inhaler use among people with asthma by state.-cell-14-0">
            <a:extLst xmlns:a="http://schemas.openxmlformats.org/drawingml/2006/main">
              <a:ext uri="{FF2B5EF4-FFF2-40B4-BE49-F238E27FC236}">
                <a16:creationId xmlns:a16="http://schemas.microsoft.com/office/drawing/2014/main" id="{B2E7E08D-EBB1-4A3B-A7A0-DEB65961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7966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SE</a:t>
            </a:r>
          </a:p>
        </p:txBody>
      </p:sp>
      <p:sp>
        <p:nvSpPr>
          <p:cNvPr id="214" name="Table 2: Oral medication or inhaler use among people with asthma by state.-cell-14-1">
            <a:extLst xmlns:a="http://schemas.openxmlformats.org/drawingml/2006/main">
              <a:ext uri="{FF2B5EF4-FFF2-40B4-BE49-F238E27FC236}">
                <a16:creationId xmlns:a16="http://schemas.microsoft.com/office/drawing/2014/main" id="{1074F42B-ECC2-43D7-ABB9-0445123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7966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87.58 [59.92-98.72]</a:t>
            </a:r>
          </a:p>
        </p:txBody>
      </p:sp>
      <p:sp>
        <p:nvSpPr>
          <p:cNvPr id="215" name="Table 2: Oral medication or inhaler use among people with asthma by state.-cell-14-2">
            <a:extLst xmlns:a="http://schemas.openxmlformats.org/drawingml/2006/main">
              <a:ext uri="{FF2B5EF4-FFF2-40B4-BE49-F238E27FC236}">
                <a16:creationId xmlns:a16="http://schemas.microsoft.com/office/drawing/2014/main" id="{0E047FD9-8483-408B-AA3D-BA1ABF33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7966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80.23 [60.76-92.82]</a:t>
            </a:r>
          </a:p>
        </p:txBody>
      </p:sp>
      <p:sp>
        <p:nvSpPr>
          <p:cNvPr id="216" name="Table 2: Oral medication or inhaler use among people with asthma by state.-cell-15-0">
            <a:extLst xmlns:a="http://schemas.openxmlformats.org/drawingml/2006/main">
              <a:ext uri="{FF2B5EF4-FFF2-40B4-BE49-F238E27FC236}">
                <a16:creationId xmlns:a16="http://schemas.microsoft.com/office/drawing/2014/main" id="{20EDE431-B57F-48FA-91F0-A157CC57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8332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BA</a:t>
            </a:r>
          </a:p>
        </p:txBody>
      </p:sp>
      <p:sp>
        <p:nvSpPr>
          <p:cNvPr id="217" name="Table 2: Oral medication or inhaler use among people with asthma by state.-cell-15-1">
            <a:extLst xmlns:a="http://schemas.openxmlformats.org/drawingml/2006/main">
              <a:ext uri="{FF2B5EF4-FFF2-40B4-BE49-F238E27FC236}">
                <a16:creationId xmlns:a16="http://schemas.microsoft.com/office/drawing/2014/main" id="{D35CC52C-75E8-4A64-ACB4-CA145F60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8332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84.22 [55.45-97.71]</a:t>
            </a:r>
          </a:p>
        </p:txBody>
      </p:sp>
      <p:sp>
        <p:nvSpPr>
          <p:cNvPr id="218" name="Table 2: Oral medication or inhaler use among people with asthma by state.-cell-15-2">
            <a:extLst xmlns:a="http://schemas.openxmlformats.org/drawingml/2006/main">
              <a:ext uri="{FF2B5EF4-FFF2-40B4-BE49-F238E27FC236}">
                <a16:creationId xmlns:a16="http://schemas.microsoft.com/office/drawing/2014/main" id="{0C81060D-21A7-4147-8718-399C721B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8332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74.04 [42.37-93.86]</a:t>
            </a:r>
          </a:p>
        </p:txBody>
      </p:sp>
      <p:sp>
        <p:nvSpPr>
          <p:cNvPr id="219" name="Table 2: Oral medication or inhaler use among people with asthma by state.-stripe-16">
            <a:extLst xmlns:a="http://schemas.openxmlformats.org/drawingml/2006/main">
              <a:ext uri="{FF2B5EF4-FFF2-40B4-BE49-F238E27FC236}">
                <a16:creationId xmlns:a16="http://schemas.microsoft.com/office/drawing/2014/main" id="{D45BD75B-D3C3-4830-9FDD-C3B8A736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8661333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220" name="Table 2: Oral medication or inhaler use among people with asthma by state.-cell-16-0">
            <a:extLst xmlns:a="http://schemas.openxmlformats.org/drawingml/2006/main">
              <a:ext uri="{FF2B5EF4-FFF2-40B4-BE49-F238E27FC236}">
                <a16:creationId xmlns:a16="http://schemas.microsoft.com/office/drawing/2014/main" id="{B94C5307-B528-472A-8361-4D35F941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8697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MG</a:t>
            </a:r>
          </a:p>
        </p:txBody>
      </p:sp>
      <p:sp>
        <p:nvSpPr>
          <p:cNvPr id="221" name="Table 2: Oral medication or inhaler use among people with asthma by state.-cell-16-1">
            <a:extLst xmlns:a="http://schemas.openxmlformats.org/drawingml/2006/main">
              <a:ext uri="{FF2B5EF4-FFF2-40B4-BE49-F238E27FC236}">
                <a16:creationId xmlns:a16="http://schemas.microsoft.com/office/drawing/2014/main" id="{41F149BE-838C-424B-8213-366B2FE3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8697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71.82 [43.99-91.07]</a:t>
            </a:r>
          </a:p>
        </p:txBody>
      </p:sp>
      <p:sp>
        <p:nvSpPr>
          <p:cNvPr id="222" name="Table 2: Oral medication or inhaler use among people with asthma by state.-cell-16-2">
            <a:extLst xmlns:a="http://schemas.openxmlformats.org/drawingml/2006/main">
              <a:ext uri="{FF2B5EF4-FFF2-40B4-BE49-F238E27FC236}">
                <a16:creationId xmlns:a16="http://schemas.microsoft.com/office/drawing/2014/main" id="{FD7A4D8E-4F95-4F41-A1EE-07A343A4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8697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64.00 [50.05-76.42]</a:t>
            </a:r>
          </a:p>
        </p:txBody>
      </p:sp>
      <p:sp>
        <p:nvSpPr>
          <p:cNvPr id="223" name="Table 2: Oral medication or inhaler use among people with asthma by state.-cell-17-0">
            <a:extLst xmlns:a="http://schemas.openxmlformats.org/drawingml/2006/main">
              <a:ext uri="{FF2B5EF4-FFF2-40B4-BE49-F238E27FC236}">
                <a16:creationId xmlns:a16="http://schemas.microsoft.com/office/drawing/2014/main" id="{EFEC13C8-8D8A-416A-883F-48EB2428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9062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ES</a:t>
            </a:r>
          </a:p>
        </p:txBody>
      </p:sp>
      <p:sp>
        <p:nvSpPr>
          <p:cNvPr id="224" name="Table 2: Oral medication or inhaler use among people with asthma by state.-cell-17-1">
            <a:extLst xmlns:a="http://schemas.openxmlformats.org/drawingml/2006/main">
              <a:ext uri="{FF2B5EF4-FFF2-40B4-BE49-F238E27FC236}">
                <a16:creationId xmlns:a16="http://schemas.microsoft.com/office/drawing/2014/main" id="{B0DAF7AD-44D6-44C1-8FAB-A7F4998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9062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64.90 [32.88-89.27]</a:t>
            </a:r>
          </a:p>
        </p:txBody>
      </p:sp>
      <p:sp>
        <p:nvSpPr>
          <p:cNvPr id="225" name="Table 2: Oral medication or inhaler use among people with asthma by state.-cell-17-2">
            <a:extLst xmlns:a="http://schemas.openxmlformats.org/drawingml/2006/main">
              <a:ext uri="{FF2B5EF4-FFF2-40B4-BE49-F238E27FC236}">
                <a16:creationId xmlns:a16="http://schemas.microsoft.com/office/drawing/2014/main" id="{8C4B5A67-2641-4B51-A784-54B39D93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9062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76.46 [63.42-86.65]</a:t>
            </a:r>
          </a:p>
        </p:txBody>
      </p:sp>
      <p:sp>
        <p:nvSpPr>
          <p:cNvPr id="226" name="Table 2: Oral medication or inhaler use among people with asthma by state.-stripe-18">
            <a:extLst xmlns:a="http://schemas.openxmlformats.org/drawingml/2006/main">
              <a:ext uri="{FF2B5EF4-FFF2-40B4-BE49-F238E27FC236}">
                <a16:creationId xmlns:a16="http://schemas.microsoft.com/office/drawing/2014/main" id="{E31EB4D6-A72F-410E-A164-2A587470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19392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227" name="Table 2: Oral medication or inhaler use among people with asthma by state.-cell-18-0">
            <a:extLst xmlns:a="http://schemas.openxmlformats.org/drawingml/2006/main">
              <a:ext uri="{FF2B5EF4-FFF2-40B4-BE49-F238E27FC236}">
                <a16:creationId xmlns:a16="http://schemas.microsoft.com/office/drawing/2014/main" id="{87295759-F955-4F11-9B1E-DBE8E34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9428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RJ</a:t>
            </a:r>
          </a:p>
        </p:txBody>
      </p:sp>
      <p:sp>
        <p:nvSpPr>
          <p:cNvPr id="228" name="Table 2: Oral medication or inhaler use among people with asthma by state.-cell-18-1">
            <a:extLst xmlns:a="http://schemas.openxmlformats.org/drawingml/2006/main">
              <a:ext uri="{FF2B5EF4-FFF2-40B4-BE49-F238E27FC236}">
                <a16:creationId xmlns:a16="http://schemas.microsoft.com/office/drawing/2014/main" id="{A67DE717-0805-4CBB-991C-08A1D882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9428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91.98 [82.45-97.29]</a:t>
            </a:r>
          </a:p>
        </p:txBody>
      </p:sp>
      <p:sp>
        <p:nvSpPr>
          <p:cNvPr id="229" name="Table 2: Oral medication or inhaler use among people with asthma by state.-cell-18-2">
            <a:extLst xmlns:a="http://schemas.openxmlformats.org/drawingml/2006/main">
              <a:ext uri="{FF2B5EF4-FFF2-40B4-BE49-F238E27FC236}">
                <a16:creationId xmlns:a16="http://schemas.microsoft.com/office/drawing/2014/main" id="{6224F501-54F2-434A-96AC-790D25A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9428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54.29 [35.89-71.87]</a:t>
            </a:r>
          </a:p>
        </p:txBody>
      </p:sp>
      <p:sp>
        <p:nvSpPr>
          <p:cNvPr id="230" name="Table 2: Oral medication or inhaler use among people with asthma by state.-cell-19-0">
            <a:extLst xmlns:a="http://schemas.openxmlformats.org/drawingml/2006/main">
              <a:ext uri="{FF2B5EF4-FFF2-40B4-BE49-F238E27FC236}">
                <a16:creationId xmlns:a16="http://schemas.microsoft.com/office/drawing/2014/main" id="{63E604AE-F5A3-4F75-AA93-3FB3688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19793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SP</a:t>
            </a:r>
          </a:p>
        </p:txBody>
      </p:sp>
      <p:sp>
        <p:nvSpPr>
          <p:cNvPr id="231" name="Table 2: Oral medication or inhaler use among people with asthma by state.-cell-19-1">
            <a:extLst xmlns:a="http://schemas.openxmlformats.org/drawingml/2006/main">
              <a:ext uri="{FF2B5EF4-FFF2-40B4-BE49-F238E27FC236}">
                <a16:creationId xmlns:a16="http://schemas.microsoft.com/office/drawing/2014/main" id="{B46950B7-20F1-4C2E-AE44-FDBCBE48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19793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88.46 [80.12-94.17]</a:t>
            </a:r>
          </a:p>
        </p:txBody>
      </p:sp>
      <p:sp>
        <p:nvSpPr>
          <p:cNvPr id="232" name="Table 2: Oral medication or inhaler use among people with asthma by state.-cell-19-2">
            <a:extLst xmlns:a="http://schemas.openxmlformats.org/drawingml/2006/main">
              <a:ext uri="{FF2B5EF4-FFF2-40B4-BE49-F238E27FC236}">
                <a16:creationId xmlns:a16="http://schemas.microsoft.com/office/drawing/2014/main" id="{3EA1D7C9-FE8A-4C97-AC7D-9614B817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19793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69.34 [56.38-80.39]</a:t>
            </a:r>
          </a:p>
        </p:txBody>
      </p:sp>
      <p:sp>
        <p:nvSpPr>
          <p:cNvPr id="233" name="Table 2: Oral medication or inhaler use among people with asthma by state.-stripe-20">
            <a:extLst xmlns:a="http://schemas.openxmlformats.org/drawingml/2006/main">
              <a:ext uri="{FF2B5EF4-FFF2-40B4-BE49-F238E27FC236}">
                <a16:creationId xmlns:a16="http://schemas.microsoft.com/office/drawing/2014/main" id="{03BFE12D-73B1-4457-A999-92D15ACF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20122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234" name="Table 2: Oral medication or inhaler use among people with asthma by state.-cell-20-0">
            <a:extLst xmlns:a="http://schemas.openxmlformats.org/drawingml/2006/main">
              <a:ext uri="{FF2B5EF4-FFF2-40B4-BE49-F238E27FC236}">
                <a16:creationId xmlns:a16="http://schemas.microsoft.com/office/drawing/2014/main" id="{495D224C-EADD-4565-988F-DE2B980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20158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PR</a:t>
            </a:r>
          </a:p>
        </p:txBody>
      </p:sp>
      <p:sp>
        <p:nvSpPr>
          <p:cNvPr id="235" name="Table 2: Oral medication or inhaler use among people with asthma by state.-cell-20-1">
            <a:extLst xmlns:a="http://schemas.openxmlformats.org/drawingml/2006/main">
              <a:ext uri="{FF2B5EF4-FFF2-40B4-BE49-F238E27FC236}">
                <a16:creationId xmlns:a16="http://schemas.microsoft.com/office/drawing/2014/main" id="{B586D656-B3DB-421D-9B0A-089BE746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20158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85.31 [70.59-94.46]</a:t>
            </a:r>
          </a:p>
        </p:txBody>
      </p:sp>
      <p:sp>
        <p:nvSpPr>
          <p:cNvPr id="236" name="Table 2: Oral medication or inhaler use among people with asthma by state.-cell-20-2">
            <a:extLst xmlns:a="http://schemas.openxmlformats.org/drawingml/2006/main">
              <a:ext uri="{FF2B5EF4-FFF2-40B4-BE49-F238E27FC236}">
                <a16:creationId xmlns:a16="http://schemas.microsoft.com/office/drawing/2014/main" id="{A2881B97-4D7D-4523-B62D-BABEADBE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20158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74.79 [60.28-86.14]</a:t>
            </a:r>
          </a:p>
        </p:txBody>
      </p:sp>
      <p:sp>
        <p:nvSpPr>
          <p:cNvPr id="237" name="Table 2: Oral medication or inhaler use among people with asthma by state.-cell-21-0">
            <a:extLst xmlns:a="http://schemas.openxmlformats.org/drawingml/2006/main">
              <a:ext uri="{FF2B5EF4-FFF2-40B4-BE49-F238E27FC236}">
                <a16:creationId xmlns:a16="http://schemas.microsoft.com/office/drawing/2014/main" id="{E2D3B6FA-5D06-435D-B36B-FE20576E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20524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SC</a:t>
            </a:r>
          </a:p>
        </p:txBody>
      </p:sp>
      <p:sp>
        <p:nvSpPr>
          <p:cNvPr id="238" name="Table 2: Oral medication or inhaler use among people with asthma by state.-cell-21-1">
            <a:extLst xmlns:a="http://schemas.openxmlformats.org/drawingml/2006/main">
              <a:ext uri="{FF2B5EF4-FFF2-40B4-BE49-F238E27FC236}">
                <a16:creationId xmlns:a16="http://schemas.microsoft.com/office/drawing/2014/main" id="{B74BBF6A-7C7D-46BB-9704-3B138088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20524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67.01 [30.86-92.39]</a:t>
            </a:r>
          </a:p>
        </p:txBody>
      </p:sp>
      <p:sp>
        <p:nvSpPr>
          <p:cNvPr id="239" name="Table 2: Oral medication or inhaler use among people with asthma by state.-cell-21-2">
            <a:extLst xmlns:a="http://schemas.openxmlformats.org/drawingml/2006/main">
              <a:ext uri="{FF2B5EF4-FFF2-40B4-BE49-F238E27FC236}">
                <a16:creationId xmlns:a16="http://schemas.microsoft.com/office/drawing/2014/main" id="{C8EBF353-E7A1-469E-AE05-C82F6C19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20524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65.68 [45.89-82.15]</a:t>
            </a:r>
          </a:p>
        </p:txBody>
      </p:sp>
      <p:sp>
        <p:nvSpPr>
          <p:cNvPr id="240" name="Table 2: Oral medication or inhaler use among people with asthma by state.-stripe-22">
            <a:extLst xmlns:a="http://schemas.openxmlformats.org/drawingml/2006/main">
              <a:ext uri="{FF2B5EF4-FFF2-40B4-BE49-F238E27FC236}">
                <a16:creationId xmlns:a16="http://schemas.microsoft.com/office/drawing/2014/main" id="{80394DB4-227F-4519-86FE-1551C936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20853333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241" name="Table 2: Oral medication or inhaler use among people with asthma by state.-cell-22-0">
            <a:extLst xmlns:a="http://schemas.openxmlformats.org/drawingml/2006/main">
              <a:ext uri="{FF2B5EF4-FFF2-40B4-BE49-F238E27FC236}">
                <a16:creationId xmlns:a16="http://schemas.microsoft.com/office/drawing/2014/main" id="{2F1644D7-2242-4F3C-9E74-DEF16586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20889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RS</a:t>
            </a:r>
          </a:p>
        </p:txBody>
      </p:sp>
      <p:sp>
        <p:nvSpPr>
          <p:cNvPr id="242" name="Table 2: Oral medication or inhaler use among people with asthma by state.-cell-22-1">
            <a:extLst xmlns:a="http://schemas.openxmlformats.org/drawingml/2006/main">
              <a:ext uri="{FF2B5EF4-FFF2-40B4-BE49-F238E27FC236}">
                <a16:creationId xmlns:a16="http://schemas.microsoft.com/office/drawing/2014/main" id="{ED065109-BAEB-4F11-88C4-3915DEC7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20889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83.19 [64.65-94.43]</a:t>
            </a:r>
          </a:p>
        </p:txBody>
      </p:sp>
      <p:sp>
        <p:nvSpPr>
          <p:cNvPr id="243" name="Table 2: Oral medication or inhaler use among people with asthma by state.-cell-22-2">
            <a:extLst xmlns:a="http://schemas.openxmlformats.org/drawingml/2006/main">
              <a:ext uri="{FF2B5EF4-FFF2-40B4-BE49-F238E27FC236}">
                <a16:creationId xmlns:a16="http://schemas.microsoft.com/office/drawing/2014/main" id="{7988CA11-E23C-44CA-B7A0-0C539CAA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20889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61.33 [45.42-75.65]</a:t>
            </a:r>
          </a:p>
        </p:txBody>
      </p:sp>
      <p:sp>
        <p:nvSpPr>
          <p:cNvPr id="244" name="Table 2: Oral medication or inhaler use among people with asthma by state.-cell-23-0">
            <a:extLst xmlns:a="http://schemas.openxmlformats.org/drawingml/2006/main">
              <a:ext uri="{FF2B5EF4-FFF2-40B4-BE49-F238E27FC236}">
                <a16:creationId xmlns:a16="http://schemas.microsoft.com/office/drawing/2014/main" id="{17D33831-29F9-4CC4-B203-D1E4C08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21254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MS</a:t>
            </a:r>
          </a:p>
        </p:txBody>
      </p:sp>
      <p:sp>
        <p:nvSpPr>
          <p:cNvPr id="245" name="Table 2: Oral medication or inhaler use among people with asthma by state.-cell-23-1">
            <a:extLst xmlns:a="http://schemas.openxmlformats.org/drawingml/2006/main">
              <a:ext uri="{FF2B5EF4-FFF2-40B4-BE49-F238E27FC236}">
                <a16:creationId xmlns:a16="http://schemas.microsoft.com/office/drawing/2014/main" id="{05B888DC-5658-4FD5-9286-8944F5EB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21254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80.53 [61.07-93.02]</a:t>
            </a:r>
          </a:p>
        </p:txBody>
      </p:sp>
      <p:sp>
        <p:nvSpPr>
          <p:cNvPr id="246" name="Table 2: Oral medication or inhaler use among people with asthma by state.-cell-23-2">
            <a:extLst xmlns:a="http://schemas.openxmlformats.org/drawingml/2006/main">
              <a:ext uri="{FF2B5EF4-FFF2-40B4-BE49-F238E27FC236}">
                <a16:creationId xmlns:a16="http://schemas.microsoft.com/office/drawing/2014/main" id="{A80BE9A4-0603-4AE0-8F92-F56DA480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21254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69.40 [51.51-83.83]</a:t>
            </a:r>
          </a:p>
        </p:txBody>
      </p:sp>
      <p:sp>
        <p:nvSpPr>
          <p:cNvPr id="247" name="Table 2: Oral medication or inhaler use among people with asthma by state.-stripe-24">
            <a:extLst xmlns:a="http://schemas.openxmlformats.org/drawingml/2006/main">
              <a:ext uri="{FF2B5EF4-FFF2-40B4-BE49-F238E27FC236}">
                <a16:creationId xmlns:a16="http://schemas.microsoft.com/office/drawing/2014/main" id="{05A9BCAC-8CC9-4BED-A6F9-0F04F309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21584000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248" name="Table 2: Oral medication or inhaler use among people with asthma by state.-cell-24-0">
            <a:extLst xmlns:a="http://schemas.openxmlformats.org/drawingml/2006/main">
              <a:ext uri="{FF2B5EF4-FFF2-40B4-BE49-F238E27FC236}">
                <a16:creationId xmlns:a16="http://schemas.microsoft.com/office/drawing/2014/main" id="{37C35DAB-C368-4095-A2A2-BD537F00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21620000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MT</a:t>
            </a:r>
          </a:p>
        </p:txBody>
      </p:sp>
      <p:sp>
        <p:nvSpPr>
          <p:cNvPr id="249" name="Table 2: Oral medication or inhaler use among people with asthma by state.-cell-24-1">
            <a:extLst xmlns:a="http://schemas.openxmlformats.org/drawingml/2006/main">
              <a:ext uri="{FF2B5EF4-FFF2-40B4-BE49-F238E27FC236}">
                <a16:creationId xmlns:a16="http://schemas.microsoft.com/office/drawing/2014/main" id="{4D939AC7-2F91-449B-8CB2-F06D0D87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21620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86.59 [61.99-97.89]</a:t>
            </a:r>
          </a:p>
        </p:txBody>
      </p:sp>
      <p:sp>
        <p:nvSpPr>
          <p:cNvPr id="250" name="Table 2: Oral medication or inhaler use among people with asthma by state.-cell-24-2">
            <a:extLst xmlns:a="http://schemas.openxmlformats.org/drawingml/2006/main">
              <a:ext uri="{FF2B5EF4-FFF2-40B4-BE49-F238E27FC236}">
                <a16:creationId xmlns:a16="http://schemas.microsoft.com/office/drawing/2014/main" id="{61E86998-46C5-4FD2-8D31-97CDE236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21620000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71.01 [37.48-93.10]</a:t>
            </a:r>
          </a:p>
        </p:txBody>
      </p:sp>
      <p:sp>
        <p:nvSpPr>
          <p:cNvPr id="251" name="Table 2: Oral medication or inhaler use among people with asthma by state.-cell-25-0">
            <a:extLst xmlns:a="http://schemas.openxmlformats.org/drawingml/2006/main">
              <a:ext uri="{FF2B5EF4-FFF2-40B4-BE49-F238E27FC236}">
                <a16:creationId xmlns:a16="http://schemas.microsoft.com/office/drawing/2014/main" id="{714BEA57-A562-437B-9B93-CA85465B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21985333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GO</a:t>
            </a:r>
          </a:p>
        </p:txBody>
      </p:sp>
      <p:sp>
        <p:nvSpPr>
          <p:cNvPr id="252" name="Table 2: Oral medication or inhaler use among people with asthma by state.-cell-25-1">
            <a:extLst xmlns:a="http://schemas.openxmlformats.org/drawingml/2006/main">
              <a:ext uri="{FF2B5EF4-FFF2-40B4-BE49-F238E27FC236}">
                <a16:creationId xmlns:a16="http://schemas.microsoft.com/office/drawing/2014/main" id="{BDE690F7-FDE2-469C-96BE-ACB7FBF5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21985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80.41 [63.61-91.80]</a:t>
            </a:r>
          </a:p>
        </p:txBody>
      </p:sp>
      <p:sp>
        <p:nvSpPr>
          <p:cNvPr id="253" name="Table 2: Oral medication or inhaler use among people with asthma by state.-cell-25-2">
            <a:extLst xmlns:a="http://schemas.openxmlformats.org/drawingml/2006/main">
              <a:ext uri="{FF2B5EF4-FFF2-40B4-BE49-F238E27FC236}">
                <a16:creationId xmlns:a16="http://schemas.microsoft.com/office/drawing/2014/main" id="{9E67DB98-5A02-48F0-BED9-A02A765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21985333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60.59 [43.81-75.73]</a:t>
            </a:r>
          </a:p>
        </p:txBody>
      </p:sp>
      <p:sp>
        <p:nvSpPr>
          <p:cNvPr id="254" name="Table 2: Oral medication or inhaler use among people with asthma by state.-stripe-26">
            <a:extLst xmlns:a="http://schemas.openxmlformats.org/drawingml/2006/main">
              <a:ext uri="{FF2B5EF4-FFF2-40B4-BE49-F238E27FC236}">
                <a16:creationId xmlns:a16="http://schemas.microsoft.com/office/drawing/2014/main" id="{873F0636-816D-4D74-ADAC-9521BD24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22314667"/>
            <a:ext cx="9144000" cy="36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  <a:prstDash val="solid"/>
          </a:ln>
        </p:spPr>
      </p:sp>
      <p:sp>
        <p:nvSpPr>
          <p:cNvPr id="255" name="Table 2: Oral medication or inhaler use among people with asthma by state.-cell-26-0">
            <a:extLst xmlns:a="http://schemas.openxmlformats.org/drawingml/2006/main">
              <a:ext uri="{FF2B5EF4-FFF2-40B4-BE49-F238E27FC236}">
                <a16:creationId xmlns:a16="http://schemas.microsoft.com/office/drawing/2014/main" id="{0DB1BD88-FD80-42A5-8E23-0D6B1A80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200" y="22350667"/>
            <a:ext cx="1137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DF</a:t>
            </a:r>
          </a:p>
        </p:txBody>
      </p:sp>
      <p:sp>
        <p:nvSpPr>
          <p:cNvPr id="256" name="Table 2: Oral medication or inhaler use among people with asthma by state.-cell-26-1">
            <a:extLst xmlns:a="http://schemas.openxmlformats.org/drawingml/2006/main">
              <a:ext uri="{FF2B5EF4-FFF2-40B4-BE49-F238E27FC236}">
                <a16:creationId xmlns:a16="http://schemas.microsoft.com/office/drawing/2014/main" id="{B973CD90-E3F0-435D-BBE6-3280A3C2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200" y="22350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77.45 [49.84-94.19]</a:t>
            </a:r>
          </a:p>
        </p:txBody>
      </p:sp>
      <p:sp>
        <p:nvSpPr>
          <p:cNvPr id="257" name="Table 2: Oral medication or inhaler use among people with asthma by state.-cell-26-2">
            <a:extLst xmlns:a="http://schemas.openxmlformats.org/drawingml/2006/main">
              <a:ext uri="{FF2B5EF4-FFF2-40B4-BE49-F238E27FC236}">
                <a16:creationId xmlns:a16="http://schemas.microsoft.com/office/drawing/2014/main" id="{78B6BDE0-173B-4CA5-A1D3-9B783336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7200" y="22350667"/>
            <a:ext cx="3873600" cy="365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52.79 [32.84-72.12]</a:t>
            </a:r>
          </a:p>
        </p:txBody>
      </p:sp>
      <p:sp>
        <p:nvSpPr>
          <p:cNvPr id="258" name="Table 2: Oral medication or inhaler use among people with asthma by state.-note">
            <a:extLst xmlns:a="http://schemas.openxmlformats.org/drawingml/2006/main">
              <a:ext uri="{FF2B5EF4-FFF2-40B4-BE49-F238E27FC236}">
                <a16:creationId xmlns:a16="http://schemas.microsoft.com/office/drawing/2014/main" id="{29BB0EE7-F988-4D3F-945C-2307C21A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000" y="22716000"/>
            <a:ext cx="914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30" b="0">
                <a:solidFill>
                  <a:srgbClr val="4F6372"/>
                </a:solidFill>
              </a:defRPr>
            </a:pPr>
            <a:r>
              <a:rPr sz="1630" b="0">
                <a:solidFill>
                  <a:srgbClr val="4F6372"/>
                </a:solidFill>
              </a:rPr>
              <a:t>UF abbreviations. Values in %; beta 95% CIs in brackets. Brazil in cards.</a:t>
            </a:r>
          </a:p>
        </p:txBody>
      </p:sp>
      <p:sp>
        <p:nvSpPr>
          <p:cNvPr id="259" name="Figure 1: Health-related">
            <a:extLst xmlns:a="http://schemas.openxmlformats.org/drawingml/2006/main">
              <a:ext uri="{FF2B5EF4-FFF2-40B4-BE49-F238E27FC236}">
                <a16:creationId xmlns:a16="http://schemas.microsoft.com/office/drawing/2014/main" id="{DAA77DFA-0250-4B12-A063-7378ACA0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0" y="23652000"/>
            <a:ext cx="11592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23" b="1">
                <a:solidFill>
                  <a:srgbClr val="153F59"/>
                </a:solidFill>
              </a:defRPr>
            </a:pPr>
            <a:r>
              <a:rPr sz="2523" b="1">
                <a:solidFill>
                  <a:srgbClr val="153F59"/>
                </a:solidFill>
              </a:rPr>
              <a:t>Figure 1: Health-related absenteeism in Brazil, highlighting respiratory causes, PNS 2019.</a:t>
            </a:r>
          </a:p>
        </p:txBody>
      </p:sp>
      <p:sp>
        <p:nvSpPr>
          <p:cNvPr id="260" name="Figure 1: Health-related absenteeism in Brazil, highlighting respiratory causes, PNS 2019.-frame">
            <a:extLst xmlns:a="http://schemas.openxmlformats.org/drawingml/2006/main">
              <a:ext uri="{FF2B5EF4-FFF2-40B4-BE49-F238E27FC236}">
                <a16:creationId xmlns:a16="http://schemas.microsoft.com/office/drawing/2014/main" id="{232A4FE5-0C1F-4481-B929-1A826AFC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0" y="24516000"/>
            <a:ext cx="11592000" cy="68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6000">
            <a:solidFill>
              <a:srgbClr val="9BC5D8"/>
            </a:solidFill>
            <a:prstDash val="solid"/>
          </a:ln>
        </p:spPr>
      </p:sp>
      <p:pic>
        <p:nvPicPr>
          <p:cNvPr id="5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108bc5a8f4b61"/>
          <a:stretch xmlns:a="http://schemas.openxmlformats.org/drawingml/2006/main"/>
        </p:blipFill>
        <p:spPr>
          <a:xfrm xmlns:a="http://schemas.openxmlformats.org/drawingml/2006/main">
            <a:off x="9144000" y="24791571"/>
            <a:ext cx="11304000" cy="6324857"/>
          </a:xfrm>
          <a:prstGeom xmlns:a="http://schemas.openxmlformats.org/drawingml/2006/main" prst="rect">
            <a:avLst/>
          </a:prstGeom>
        </p:spPr>
      </p:pic>
      <p:sp>
        <p:nvSpPr>
          <p:cNvPr id="262" name="Figure 2: Mean lost days">
            <a:extLst xmlns:a="http://schemas.openxmlformats.org/drawingml/2006/main">
              <a:ext uri="{FF2B5EF4-FFF2-40B4-BE49-F238E27FC236}">
                <a16:creationId xmlns:a16="http://schemas.microsoft.com/office/drawing/2014/main" id="{B511E4AA-A5CD-4119-BAD4-1B75A75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0000" y="23652000"/>
            <a:ext cx="11592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23" b="1">
                <a:solidFill>
                  <a:srgbClr val="153F59"/>
                </a:solidFill>
              </a:defRPr>
            </a:pPr>
            <a:r>
              <a:rPr sz="2523" b="1">
                <a:solidFill>
                  <a:srgbClr val="153F59"/>
                </a:solidFill>
              </a:rPr>
              <a:t>Figure 2: Mean lost days by health cause in Brazil, highlighting respiratory causes, PNS 2019.</a:t>
            </a:r>
          </a:p>
        </p:txBody>
      </p:sp>
      <p:sp>
        <p:nvSpPr>
          <p:cNvPr id="263" name="Figure 2: Mean lost days by health cause in Brazil, highlighting respiratory causes, PNS 2019.-frame">
            <a:extLst xmlns:a="http://schemas.openxmlformats.org/drawingml/2006/main">
              <a:ext uri="{FF2B5EF4-FFF2-40B4-BE49-F238E27FC236}">
                <a16:creationId xmlns:a16="http://schemas.microsoft.com/office/drawing/2014/main" id="{179D0BA6-B2B8-4165-BC0F-47F3CD1A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0000" y="24516000"/>
            <a:ext cx="11592000" cy="68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6000">
            <a:solidFill>
              <a:srgbClr val="9BC5D8"/>
            </a:solidFill>
            <a:prstDash val="solid"/>
          </a:ln>
        </p:spPr>
      </p:sp>
      <p:pic>
        <p:nvPicPr>
          <p:cNvPr id="5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4f53ee6de4733"/>
          <a:stretch xmlns:a="http://schemas.openxmlformats.org/drawingml/2006/main"/>
        </p:blipFill>
        <p:spPr>
          <a:xfrm xmlns:a="http://schemas.openxmlformats.org/drawingml/2006/main">
            <a:off x="21024000" y="24791571"/>
            <a:ext cx="11304000" cy="6324857"/>
          </a:xfrm>
          <a:prstGeom xmlns:a="http://schemas.openxmlformats.org/drawingml/2006/main" prst="rect">
            <a:avLst/>
          </a:prstGeom>
        </p:spPr>
      </p:pic>
      <p:sp>
        <p:nvSpPr>
          <p:cNvPr id="265" name="qr-label">
            <a:extLst xmlns:a="http://schemas.openxmlformats.org/drawingml/2006/main">
              <a:ext uri="{FF2B5EF4-FFF2-40B4-BE49-F238E27FC236}">
                <a16:creationId xmlns:a16="http://schemas.microsoft.com/office/drawing/2014/main" id="{6CD237FE-1FC2-4425-9173-021C5D94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0000" y="24696000"/>
            <a:ext cx="2376000" cy="23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66" b="1">
                <a:solidFill>
                  <a:srgbClr val="153F59"/>
                </a:solidFill>
              </a:defRPr>
            </a:pPr>
            <a:r>
              <a:rPr sz="2466" b="1">
                <a:solidFill>
                  <a:srgbClr val="153F59"/>
                </a:solidFill>
              </a:rPr>
              <a:t>Scan to access the complete methodological report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46e57a0b4e8a"/>
          <a:stretch xmlns:a="http://schemas.openxmlformats.org/drawingml/2006/main"/>
        </p:blipFill>
        <p:spPr>
          <a:xfrm xmlns:a="http://schemas.openxmlformats.org/drawingml/2006/main">
            <a:off x="32760000" y="27360000"/>
            <a:ext cx="2376000" cy="2376000"/>
          </a:xfrm>
          <a:prstGeom xmlns:a="http://schemas.openxmlformats.org/drawingml/2006/main" prst="rect">
            <a:avLst/>
          </a:prstGeom>
        </p:spPr>
      </p:pic>
      <p:sp>
        <p:nvSpPr>
          <p:cNvPr id="26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D85134BA-558C-4ED3-A521-6E111F39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7600" y="5400000"/>
            <a:ext cx="684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25" b="1">
                <a:solidFill>
                  <a:srgbClr val="102536"/>
                </a:solidFill>
              </a:defRPr>
            </a:pPr>
            <a:r>
              <a:rPr sz="4025" b="1">
                <a:solidFill>
                  <a:srgbClr val="102536"/>
                </a:solidFill>
              </a:rPr>
              <a:t>Discussion and Implications</a:t>
            </a:r>
          </a:p>
        </p:txBody>
      </p:sp>
      <p:sp>
        <p:nvSpPr>
          <p:cNvPr id="268" name="right-discussion">
            <a:extLst xmlns:a="http://schemas.openxmlformats.org/drawingml/2006/main">
              <a:ext uri="{FF2B5EF4-FFF2-40B4-BE49-F238E27FC236}">
                <a16:creationId xmlns:a16="http://schemas.microsoft.com/office/drawing/2014/main" id="{295199B4-610E-4F29-9BD5-81D5B73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7600" y="6840000"/>
            <a:ext cx="7092000" cy="154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APPLIED DISCUSSION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Increased diagnosis may reflect higher occurrence, better diagnostic access, or both.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Stable recent attacks indicate that broader detection does not automatically mean better clinical control.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Lower medication use among diagnosed people requires caution: denominator, case mix and 95% CIs affect interpretation.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Functional burden matters economically: attacks and respiratory symptoms can increase absences, lost workdays, productivity loss and pressure on families and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BETA CI AND INFERENCE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State and subgroup proportions may involve few events and limits near 0 or 1.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Wald intervals can have unstable coverage and impossible limits.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Beta CIs respect the 0-1 scale and were used for proportions estimated with survey::svyciprop(method = "beta").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Year/state comparisons combine magnitude and 95% CI overlap.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ETL, OMOP AND ECONOMY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The workflow documents extraction, indicator treatment, sampling design and reproducible visualization.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PNS is not a longitudinal clinical database, but can serve as a population reference layer for OMOP/OHDSI.</a:t>
            </a:r>
          </a:p>
          <a:p xmlns:a="http://schemas.openxmlformats.org/drawingml/2006/main"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Harmonized indicators support interoperability, comparison with care databases and policy prioritization.</a:t>
            </a:r>
          </a:p>
        </p:txBody>
      </p:sp>
      <p:sp>
        <p:nvSpPr>
          <p:cNvPr id="269" name="refs-heading">
            <a:extLst xmlns:a="http://schemas.openxmlformats.org/drawingml/2006/main">
              <a:ext uri="{FF2B5EF4-FFF2-40B4-BE49-F238E27FC236}">
                <a16:creationId xmlns:a16="http://schemas.microsoft.com/office/drawing/2014/main" id="{E73750A3-D60F-4291-9D7E-DEF98EC4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7600" y="22788000"/>
            <a:ext cx="7272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53" b="1">
                <a:solidFill>
                  <a:srgbClr val="153F59"/>
                </a:solidFill>
              </a:defRPr>
            </a:pPr>
            <a:r>
              <a:rPr sz="2353" b="1">
                <a:solidFill>
                  <a:srgbClr val="153F59"/>
                </a:solidFill>
              </a:rPr>
              <a:t>REFERENCES</a:t>
            </a:r>
          </a:p>
        </p:txBody>
      </p:sp>
      <p:sp>
        <p:nvSpPr>
          <p:cNvPr id="270" name="refs-left">
            <a:extLst xmlns:a="http://schemas.openxmlformats.org/drawingml/2006/main">
              <a:ext uri="{FF2B5EF4-FFF2-40B4-BE49-F238E27FC236}">
                <a16:creationId xmlns:a16="http://schemas.microsoft.com/office/drawing/2014/main" id="{085432E4-7169-4D39-A1E1-F1652146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7600" y="23364000"/>
            <a:ext cx="3546000" cy="46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[1] GLOBAL ASTHMA NETWORK. Global Asthma Report 2022. Auckland, New Zealand: Global Asthma Network, 2022. Disponível em: https://globalasthmareport.org/resources/Global_Asthma_Report_2022.pdf. Acesso em: 19 set. 2025.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[2] SOUZA-JÚNIOR, Paulo Roberto Borges de et al. Desenho da amostra da Pesquisa Nacional de Saúde 2013. Epidemiologia e Serviços de Saúde, v. 24, p. 207-216, 2015.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[3] DUBE, I.; SILVA, M. E. L. PNS_2013_2019. GitHub, 2026. Disponível em: https://github.com/ingodube/PNS_2013_2019. Acesso em: 28 mai. 2026.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[4] MENEZES, A. M. B. et al. Prevalência de diagnóstico médico de asma em adultos brasileiros: Pesquisa Nacional de Saúde, 2013. Revista Brasileira de Epidemiologia, São Paulo, v. 18, supl. 2, p. 204-213, 2015.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[5] SEVERE ASTHMA. Non-Pharmacological Interventions for Asthma. Disponível em: https://www.severeasthma.org.au/non-pharmacological-interventions-asthma/. Acesso em: 19 set. 2025.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[6] SANTOS, Felipe Moraes dos et al. Tendência da prevalência de asma autorreferida no Brasil de 2003 a 2013 em adultos e fatores associados à prevalência. Jornal Brasileiro de Pneumologia, v. 44, n. 6, p. 491-497, 2018. doi:10.1590/S1806-37562017000000328.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[7] TO, T. et al. Global asthma prevalence in adults: findings from the cross-sectional world health survey. BMC Public Health, v. 12, art. 204, 2012. doi:10.1186/1471-2458-12-204.</a:t>
            </a:r>
          </a:p>
        </p:txBody>
      </p:sp>
      <p:sp>
        <p:nvSpPr>
          <p:cNvPr id="271" name="refs-right">
            <a:extLst xmlns:a="http://schemas.openxmlformats.org/drawingml/2006/main">
              <a:ext uri="{FF2B5EF4-FFF2-40B4-BE49-F238E27FC236}">
                <a16:creationId xmlns:a16="http://schemas.microsoft.com/office/drawing/2014/main" id="{6193ABE6-3186-4312-9778-BA31CD47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3600" y="23364000"/>
            <a:ext cx="3546000" cy="46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[8] OHDSI. Standardized Data: The OMOP Common Data Model. Disponível em: https://www.ohdsi.org/data-standardization/.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[9] OHDSI. OMOP Common Data Model. Disponível em: https://ohdsi.github.io/CommonDataModel/.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[10] OHDSI. ETL Creation Best Practices. Disponível em: https://www.ohdsi.org/web/wiki/doku.php?id=documentation:etl_best_practices.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[11] LUMLEY, Thomas. Complex Surveys: A Guide to Analysis Using R. Hoboken: Wiley, 2010.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[12] BROWN, Lawrence D.; CAI, T. Tony; DASGUPTA, Anirban. Interval estimation for a binomial proportion. Statistical Science, v. 16, n. 2, p. 101-133, 2001. doi:10.1214/ss/1009213286.</a:t>
            </a:r>
          </a:p>
          <a:p xmlns:a="http://schemas.openxmlformats.org/drawingml/2006/main"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[13] KORN, Edward L.; GRAUBARD, Barry I. Confidence intervals for proportions with small expected number of positive counts estimated from survey data. Survey Methodology, v. 24, n. 2, p. 193-201, 1998.</a:t>
            </a:r>
          </a:p>
        </p:txBody>
      </p:sp>
      <p:sp>
        <p:nvSpPr>
          <p:cNvPr id="272" name="author-footer">
            <a:extLst xmlns:a="http://schemas.openxmlformats.org/drawingml/2006/main">
              <a:ext uri="{FF2B5EF4-FFF2-40B4-BE49-F238E27FC236}">
                <a16:creationId xmlns:a16="http://schemas.microsoft.com/office/drawing/2014/main" id="{88A12E5C-ABDD-49AB-96E2-48ACCFB1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7600" y="28080000"/>
            <a:ext cx="4248000" cy="12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41" b="0">
                <a:solidFill>
                  <a:srgbClr val="102536"/>
                </a:solidFill>
              </a:defRPr>
            </a:pPr>
            <a:r>
              <a:rPr sz="2041" b="0">
                <a:solidFill>
                  <a:srgbClr val="102536"/>
                </a:solidFill>
              </a:rPr>
              <a:t>I. Dube; M. E. L. Silva</a:t>
            </a:r>
          </a:p>
          <a:p xmlns:a="http://schemas.openxmlformats.org/drawingml/2006/main">
            <a:pPr algn="l">
              <a:defRPr sz="2041" b="0">
                <a:solidFill>
                  <a:srgbClr val="102536"/>
                </a:solidFill>
              </a:defRPr>
            </a:pPr>
            <a:r>
              <a:rPr sz="2041" b="0">
                <a:solidFill>
                  <a:srgbClr val="102536"/>
                </a:solidFill>
              </a:rPr>
              <a:t>PNS 2013-2019 | Brazil</a:t>
            </a:r>
          </a:p>
        </p:txBody>
      </p:sp>
    </p:spTree>
    <p:extLst>
      <p:ext uri="{BB962C8B-B14F-4D97-AF65-F5344CB8AC3E}">
        <p14:creationId xmlns:p14="http://schemas.microsoft.com/office/powerpoint/2010/main" val="1587875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2026-07-22T11:54:01.4040000Z</dcterms:created>
  <dcterms:modified xsi:type="dcterms:W3CDTF">2026-07-22T11:54:01.4040000Z</dcterms:modified>
</coreProperties>
</file>