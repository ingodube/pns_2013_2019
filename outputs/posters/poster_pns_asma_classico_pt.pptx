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29663b8c1b40a3" /><Relationship Type="http://schemas.openxmlformats.org/officeDocument/2006/relationships/extended-properties" Target="/docProps/app.xml" Id="Ra42b1f0225274808" /><Relationship Type="http://schemas.openxmlformats.org/officeDocument/2006/relationships/officeDocument" Target="/ppt/presentation.xml" Id="R47d854fea7bd4a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bf02ef6205477d"/>
  </p:sldMasterIdLst>
  <p:notesMasterIdLst>
    <p:notesMasterId xmlns:r="http://schemas.openxmlformats.org/officeDocument/2006/relationships" r:id="R1ddee4aaa7e1468e"/>
  </p:notesMasterIdLst>
  <p:sldIdLst>
    <p:sldId xmlns:r="http://schemas.openxmlformats.org/officeDocument/2006/relationships" id="256" r:id="R88e3372e84c84244"/>
  </p:sldIdLst>
  <p:sldSz cx="43200638" cy="32399288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99f281bf4c454e" /><Relationship Type="http://schemas.openxmlformats.org/officeDocument/2006/relationships/slideMaster" Target="/ppt/slideMasters/slideMaster1.xml" Id="Rc3bf02ef6205477d" /><Relationship Type="http://schemas.openxmlformats.org/officeDocument/2006/relationships/notesMaster" Target="/ppt/notesMasters/notesMaster1.xml" Id="R1ddee4aaa7e1468e" /><Relationship Type="http://schemas.openxmlformats.org/officeDocument/2006/relationships/presProps" Target="/ppt/presProps.xml" Id="R66a1987f865d43ab" /><Relationship Type="http://schemas.openxmlformats.org/officeDocument/2006/relationships/viewProps" Target="/ppt/viewProps.xml" Id="Re3aca83de4024e02" /><Relationship Type="http://schemas.openxmlformats.org/officeDocument/2006/relationships/tableStyles" Target="/ppt/tableStyles.xml" Id="Ra66d836861164faa" /><Relationship Type="http://schemas.openxmlformats.org/officeDocument/2006/relationships/slide" Target="/ppt/slides/slide1.xml" Id="R88e3372e84c842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09f6ad9869f4e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1e7d8c60be4112" /><Relationship Type="http://schemas.openxmlformats.org/officeDocument/2006/relationships/notesMaster" Target="/ppt/notesMasters/notesMaster1.xml" Id="Rb672843339dc49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44dfb9048646d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465191c997462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bc21d0b01c416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ac8f3e7018400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6fd8fda7ea479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5475c2a10e4d1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784eb046104f2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c8e77dc0f04ab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9e2deaa1d549b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3e5fdafe9e4dc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891785cd7444fc" /></Relationships>
</file>

<file path=ppt/slideLayouts/slideLayout1.xml><?xml version="1.0" encoding="utf-8"?>
<p:sldLayout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B608C7-7FE5-40FE-BFE3-77DFD054E56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240048" y="5302386"/>
            <a:ext cx="36720542" cy="11279752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28346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1FA07AA-9B2B-481E-B9CA-52A3734341E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400080" y="17017128"/>
            <a:ext cx="32400479" cy="782232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11338"/>
            </a:lvl1pPr>
            <a:lvl2pPr marL="2159950" indent="0" algn="ctr">
              <a:buNone/>
              <a:defRPr sz="9449"/>
            </a:lvl2pPr>
            <a:lvl3pPr marL="4319900" indent="0" algn="ctr">
              <a:buNone/>
              <a:defRPr sz="8504"/>
            </a:lvl3pPr>
            <a:lvl4pPr marL="6479850" indent="0" algn="ctr">
              <a:buNone/>
              <a:defRPr sz="7559"/>
            </a:lvl4pPr>
            <a:lvl5pPr marL="8639800" indent="0" algn="ctr">
              <a:buNone/>
              <a:defRPr sz="7559"/>
            </a:lvl5pPr>
            <a:lvl6pPr marL="10799750" indent="0" algn="ctr">
              <a:buNone/>
              <a:defRPr sz="7559"/>
            </a:lvl6pPr>
            <a:lvl7pPr marL="12959700" indent="0" algn="ctr">
              <a:buNone/>
              <a:defRPr sz="7559"/>
            </a:lvl7pPr>
            <a:lvl8pPr marL="15119650" indent="0" algn="ctr">
              <a:buNone/>
              <a:defRPr sz="7559"/>
            </a:lvl8pPr>
            <a:lvl9pPr marL="17279600" indent="0" algn="ctr">
              <a:buNone/>
              <a:defRPr sz="7559"/>
            </a:lvl9pPr>
          </a:lstStyle>
          <a:p xmlns:a="http://schemas.openxmlformats.org/drawingml/2006/main">
            <a:r>
              <a:t>Clique para editar o estilo do subtítulo Mestre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25AF841-EDBA-4FF1-AE0D-08400438DD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E03EF64-BD54-4AEC-8193-AE88023A2D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F3B068A-28DB-42AB-9941-DC4ACDF43BA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  <p:sp>
        <p:nvSpPr>
          <p:cNvPr id="9" name="Retângulo 8">
            <a:extLst xmlns:a="http://schemas.openxmlformats.org/drawingml/2006/main">
              <a:ext uri="{FF2B5EF4-FFF2-40B4-BE49-F238E27FC236}">
                <a16:creationId xmlns:a16="http://schemas.microsoft.com/office/drawing/2014/main" id="{9B614290-5D00-AF15-AB7B-44A2F006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587" y="4554684"/>
            <a:ext cx="43221225" cy="2784460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FCA7AC6-ED7B-4055-A9E8-86B672DBE6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C214AF4-C02D-4B9E-8D74-5910F750BB5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AADAE8-5A04-4DB3-9021-4DB007C607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057400-1E24-4889-9DE8-AC585706ED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9D7C76E-EFC4-444F-9E75-7EF421E9A8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B5F3D3-23C0-4FA0-94EF-7CAAE389AE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47546" y="8077332"/>
            <a:ext cx="37260550" cy="13477201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8346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9EC876F-8B19-48C6-9129-108ECFC74B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47546" y="21682033"/>
            <a:ext cx="37260550" cy="708734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1338">
                <a:solidFill>
                  <a:schemeClr val="tx1"/>
                </a:solidFill>
              </a:defRPr>
            </a:lvl1pPr>
            <a:lvl2pPr marL="2159950" indent="0">
              <a:buNone/>
              <a:defRPr sz="9449">
                <a:solidFill>
                  <a:schemeClr val="tx1">
                    <a:tint val="75000"/>
                  </a:schemeClr>
                </a:solidFill>
              </a:defRPr>
            </a:lvl2pPr>
            <a:lvl3pPr marL="4319900" indent="0">
              <a:buNone/>
              <a:defRPr sz="8504">
                <a:solidFill>
                  <a:schemeClr val="tx1">
                    <a:tint val="75000"/>
                  </a:schemeClr>
                </a:solidFill>
              </a:defRPr>
            </a:lvl3pPr>
            <a:lvl4pPr marL="64798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4pPr>
            <a:lvl5pPr marL="86398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5pPr>
            <a:lvl6pPr marL="107997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6pPr>
            <a:lvl7pPr marL="129597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7pPr>
            <a:lvl8pPr marL="151196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8pPr>
            <a:lvl9pPr marL="172796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0600332-4421-40E8-98E5-971F61F0CE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23D46F2-955A-4567-B1BC-99A4ECDDC5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52F7C2A-FA65-489B-99BB-219DA526F07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0C7311B-A627-48F6-A217-B4C70DB7B5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0144BFB-5C5A-4A12-8984-1C1A7579E3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970044" y="8624810"/>
            <a:ext cx="18360271" cy="2055705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C113FC4-7ADD-4489-88BB-CDB91023CAD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1870323" y="8624810"/>
            <a:ext cx="18360271" cy="2055705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7F4CE83-B013-4222-A9B0-52C4C02C427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D21C581-51B6-4360-9667-D39F509B740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09B199D-D282-4232-A6F8-A0EC692C66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8137BF-1DBC-42F7-AD5F-1EDA8E5A1E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1724969"/>
            <a:ext cx="37260550" cy="62623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AFB671-282D-45C3-AEBB-F65F2CBED3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5675" y="7942328"/>
            <a:ext cx="18275892" cy="38924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338" b="1"/>
            </a:lvl1pPr>
            <a:lvl2pPr marL="2159950" indent="0">
              <a:buNone/>
              <a:defRPr sz="9449" b="1"/>
            </a:lvl2pPr>
            <a:lvl3pPr marL="4319900" indent="0">
              <a:buNone/>
              <a:defRPr sz="8504" b="1"/>
            </a:lvl3pPr>
            <a:lvl4pPr marL="6479850" indent="0">
              <a:buNone/>
              <a:defRPr sz="7559" b="1"/>
            </a:lvl4pPr>
            <a:lvl5pPr marL="8639800" indent="0">
              <a:buNone/>
              <a:defRPr sz="7559" b="1"/>
            </a:lvl5pPr>
            <a:lvl6pPr marL="10799750" indent="0">
              <a:buNone/>
              <a:defRPr sz="7559" b="1"/>
            </a:lvl6pPr>
            <a:lvl7pPr marL="12959700" indent="0">
              <a:buNone/>
              <a:defRPr sz="7559" b="1"/>
            </a:lvl7pPr>
            <a:lvl8pPr marL="15119650" indent="0">
              <a:buNone/>
              <a:defRPr sz="7559" b="1"/>
            </a:lvl8pPr>
            <a:lvl9pPr marL="17279600" indent="0">
              <a:buNone/>
              <a:defRPr sz="7559" b="1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0436D71-5DCF-40DA-9607-C53FE0E9C7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975675" y="11834740"/>
            <a:ext cx="18275892" cy="1740712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6218FDA-D5B3-4AE6-A15A-E6363FC44A4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870325" y="7942328"/>
            <a:ext cx="18365898" cy="38924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338" b="1"/>
            </a:lvl1pPr>
            <a:lvl2pPr marL="2159950" indent="0">
              <a:buNone/>
              <a:defRPr sz="9449" b="1"/>
            </a:lvl2pPr>
            <a:lvl3pPr marL="4319900" indent="0">
              <a:buNone/>
              <a:defRPr sz="8504" b="1"/>
            </a:lvl3pPr>
            <a:lvl4pPr marL="6479850" indent="0">
              <a:buNone/>
              <a:defRPr sz="7559" b="1"/>
            </a:lvl4pPr>
            <a:lvl5pPr marL="8639800" indent="0">
              <a:buNone/>
              <a:defRPr sz="7559" b="1"/>
            </a:lvl5pPr>
            <a:lvl6pPr marL="10799750" indent="0">
              <a:buNone/>
              <a:defRPr sz="7559" b="1"/>
            </a:lvl6pPr>
            <a:lvl7pPr marL="12959700" indent="0">
              <a:buNone/>
              <a:defRPr sz="7559" b="1"/>
            </a:lvl7pPr>
            <a:lvl8pPr marL="15119650" indent="0">
              <a:buNone/>
              <a:defRPr sz="7559" b="1"/>
            </a:lvl8pPr>
            <a:lvl9pPr marL="17279600" indent="0">
              <a:buNone/>
              <a:defRPr sz="7559" b="1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EF84086-2B0D-4CEC-AAC2-28BB27FEE68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21870325" y="11834740"/>
            <a:ext cx="18365898" cy="1740712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B83D61F-FB4E-41C0-A637-5F2B988E89B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5959681-EC3E-415E-BAF1-825FF5C377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D74A784-2F16-4AEB-91DF-A8E74B77A0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578D8B-3EB0-4E88-8080-EAF1109830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E590DB9-EB4D-4A72-B476-3B5242C1D5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7CE50E0-E754-4874-854B-22DA0ED84F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AEF4F1D-951F-4D58-A97F-95EA3B13C6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705AA4E-E6C0-47CC-A7E1-781EE059883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24E4A610-9C46-49A4-98A6-C221459BDE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9D2B8EE-0A5C-49EC-9546-7F9B05D2E7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7DDD17-E1D6-454E-9444-0C3CC0D4EB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2159952"/>
            <a:ext cx="13933330" cy="7559834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15118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D95E676-56C1-4AFF-8B25-B6BDBAD589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8365898" y="4664905"/>
            <a:ext cx="21870323" cy="23024494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118"/>
            </a:lvl1pPr>
            <a:lvl2pPr>
              <a:buNone/>
              <a:defRPr sz="13228"/>
            </a:lvl2pPr>
            <a:lvl3pPr>
              <a:buNone/>
              <a:defRPr sz="11338"/>
            </a:lvl3pPr>
            <a:lvl4pPr>
              <a:buNone/>
              <a:defRPr sz="9449"/>
            </a:lvl4pPr>
            <a:lvl5pPr>
              <a:buNone/>
              <a:defRPr sz="9449"/>
            </a:lvl5pPr>
            <a:lvl6pPr>
              <a:buNone/>
              <a:defRPr sz="9449"/>
            </a:lvl6pPr>
            <a:lvl7pPr>
              <a:buNone/>
              <a:defRPr sz="9449"/>
            </a:lvl7pPr>
            <a:lvl8pPr>
              <a:buNone/>
              <a:defRPr sz="9449"/>
            </a:lvl8pPr>
            <a:lvl9pPr>
              <a:buNone/>
              <a:defRPr sz="9449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B5B439E-8F00-44B8-B23B-E83D3FE8B3B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75671" y="9719786"/>
            <a:ext cx="13933330" cy="1800710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559"/>
            </a:lvl1pPr>
            <a:lvl2pPr marL="2159950" indent="0">
              <a:buNone/>
              <a:defRPr sz="6614"/>
            </a:lvl2pPr>
            <a:lvl3pPr marL="4319900" indent="0">
              <a:buNone/>
              <a:defRPr sz="5669"/>
            </a:lvl3pPr>
            <a:lvl4pPr marL="6479850" indent="0">
              <a:buNone/>
              <a:defRPr sz="4724"/>
            </a:lvl4pPr>
            <a:lvl5pPr marL="8639800" indent="0">
              <a:buNone/>
              <a:defRPr sz="4724"/>
            </a:lvl5pPr>
            <a:lvl6pPr marL="10799750" indent="0">
              <a:buNone/>
              <a:defRPr sz="4724"/>
            </a:lvl6pPr>
            <a:lvl7pPr marL="12959700" indent="0">
              <a:buNone/>
              <a:defRPr sz="4724"/>
            </a:lvl7pPr>
            <a:lvl8pPr marL="15119650" indent="0">
              <a:buNone/>
              <a:defRPr sz="4724"/>
            </a:lvl8pPr>
            <a:lvl9pPr marL="17279600" indent="0">
              <a:buNone/>
              <a:defRPr sz="4724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2CCA874-0688-4FD9-9A66-01FFD98F81E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C9C15E7-B421-4767-9C4C-FA5A2F1446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45FA658-9BD2-4599-AAFF-29A902DE3B9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3AA61DF-30F5-4A2F-B544-F7CC72D311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2159952"/>
            <a:ext cx="13933330" cy="7559834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15118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72CD6B4-3CB5-4C4E-BDFC-51C6368D12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8365898" y="4664905"/>
            <a:ext cx="21870323" cy="23024494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15118"/>
            </a:lvl1pPr>
            <a:lvl2pPr marL="2159950" indent="0">
              <a:buNone/>
              <a:defRPr sz="13228"/>
            </a:lvl2pPr>
            <a:lvl3pPr marL="4319900" indent="0">
              <a:buNone/>
              <a:defRPr sz="11338"/>
            </a:lvl3pPr>
            <a:lvl4pPr marL="6479850" indent="0">
              <a:buNone/>
              <a:defRPr sz="9449"/>
            </a:lvl4pPr>
            <a:lvl5pPr marL="8639800" indent="0">
              <a:buNone/>
              <a:defRPr sz="9449"/>
            </a:lvl5pPr>
            <a:lvl6pPr marL="10799750" indent="0">
              <a:buNone/>
              <a:defRPr sz="9449"/>
            </a:lvl6pPr>
            <a:lvl7pPr marL="12959700" indent="0">
              <a:buNone/>
              <a:defRPr sz="9449"/>
            </a:lvl7pPr>
            <a:lvl8pPr marL="15119650" indent="0">
              <a:buNone/>
              <a:defRPr sz="9449"/>
            </a:lvl8pPr>
            <a:lvl9pPr marL="17279600" indent="0">
              <a:buNone/>
              <a:defRPr sz="9449"/>
            </a:lvl9pPr>
          </a:lstStyle>
          <a:p xmlns:a="http://schemas.openxmlformats.org/drawingml/2006/main">
            <a:r>
              <a:t>Clique no ícone para adicionar uma imagem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8AE0A72-7492-4824-9C51-3AA77B09F03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75671" y="9719786"/>
            <a:ext cx="13933330" cy="1800710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559"/>
            </a:lvl1pPr>
            <a:lvl2pPr marL="2159950" indent="0">
              <a:buNone/>
              <a:defRPr sz="6614"/>
            </a:lvl2pPr>
            <a:lvl3pPr marL="4319900" indent="0">
              <a:buNone/>
              <a:defRPr sz="5669"/>
            </a:lvl3pPr>
            <a:lvl4pPr marL="6479850" indent="0">
              <a:buNone/>
              <a:defRPr sz="4724"/>
            </a:lvl4pPr>
            <a:lvl5pPr marL="8639800" indent="0">
              <a:buNone/>
              <a:defRPr sz="4724"/>
            </a:lvl5pPr>
            <a:lvl6pPr marL="10799750" indent="0">
              <a:buNone/>
              <a:defRPr sz="4724"/>
            </a:lvl6pPr>
            <a:lvl7pPr marL="12959700" indent="0">
              <a:buNone/>
              <a:defRPr sz="4724"/>
            </a:lvl7pPr>
            <a:lvl8pPr marL="15119650" indent="0">
              <a:buNone/>
              <a:defRPr sz="4724"/>
            </a:lvl8pPr>
            <a:lvl9pPr marL="17279600" indent="0">
              <a:buNone/>
              <a:defRPr sz="4724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8A57C46-1049-47DE-8431-2B5BAC503C6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CE051C5-4AF6-4B32-ABDC-42CF22D662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1CB488E-ED51-4CBE-8AFE-61DC719A6E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99C79B-BD2A-4196-9FB8-DB354E16D5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EFD3BB1-7932-4A0B-BFAE-9A6D2E14EF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DC5ECB9-4EDF-45FA-A3EC-2962ECF679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14D8A0B-E3B4-4C32-AC5D-CD625913253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61439D4-1E8F-4520-B4BF-ABA1B0BA72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A697261-5BF0-48A1-A0E0-E4B4EA4C59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915459" y="1724962"/>
            <a:ext cx="9315138" cy="27456899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ED976F2-0A72-4682-97B7-06375EA5EB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0046" y="1724962"/>
            <a:ext cx="27405405" cy="27456899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E33489-2A29-4B6C-A689-F4CECFC2AA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949FDB0-620F-4E53-8280-7880AABECA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F79F3DB-812E-471F-AB36-E89A1611CC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788d32b2534676" /><Relationship Type="http://schemas.openxmlformats.org/officeDocument/2006/relationships/slideLayout" Target="/ppt/slideLayouts/slideLayout1.xml" Id="R1896b957488a4712" /><Relationship Type="http://schemas.openxmlformats.org/officeDocument/2006/relationships/slideLayout" Target="/ppt/slideLayouts/slideLayout2.xml" Id="Rdd41ce84e999497e" /><Relationship Type="http://schemas.openxmlformats.org/officeDocument/2006/relationships/slideLayout" Target="/ppt/slideLayouts/slideLayout3.xml" Id="Re2f87d1365234281" /><Relationship Type="http://schemas.openxmlformats.org/officeDocument/2006/relationships/slideLayout" Target="/ppt/slideLayouts/slideLayout4.xml" Id="Re8cbfc0adc0443f5" /><Relationship Type="http://schemas.openxmlformats.org/officeDocument/2006/relationships/slideLayout" Target="/ppt/slideLayouts/slideLayout5.xml" Id="R58b3be28bb7a47b7" /><Relationship Type="http://schemas.openxmlformats.org/officeDocument/2006/relationships/slideLayout" Target="/ppt/slideLayouts/slideLayout6.xml" Id="R22a8dad696a14c59" /><Relationship Type="http://schemas.openxmlformats.org/officeDocument/2006/relationships/slideLayout" Target="/ppt/slideLayouts/slideLayout7.xml" Id="R3b4302b8a2ff42c7" /><Relationship Type="http://schemas.openxmlformats.org/officeDocument/2006/relationships/slideLayout" Target="/ppt/slideLayouts/slideLayout8.xml" Id="R8bf541ba461345ad" /><Relationship Type="http://schemas.openxmlformats.org/officeDocument/2006/relationships/slideLayout" Target="/ppt/slideLayouts/slideLayout9.xml" Id="R8510e8e1c7d046ed" /><Relationship Type="http://schemas.openxmlformats.org/officeDocument/2006/relationships/slideLayout" Target="/ppt/slideLayouts/slideLayout10.xml" Id="R4ebbc99060934245" /><Relationship Type="http://schemas.openxmlformats.org/officeDocument/2006/relationships/slideLayout" Target="/ppt/slideLayouts/slideLayout11.xml" Id="R70f66519d0d2403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4A584D3-F0C5-469B-A956-A561EAA00E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0044" y="1724969"/>
            <a:ext cx="37260550" cy="626236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A0E25F4-AAF8-4C3D-B42D-28CFE826CF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0044" y="8624810"/>
            <a:ext cx="37260550" cy="205570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C7FEEDB-FC2B-4DA2-AF58-9900385CEB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2970044" y="30029347"/>
            <a:ext cx="9720144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BC4401-100A-4D41-BF4C-AAA99F4B483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310212" y="30029347"/>
            <a:ext cx="14580215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2ABD15-1A8C-44DC-BD27-EBCD05AB7B4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30510450" y="30029347"/>
            <a:ext cx="9720144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96b957488a4712"/>
    <p:sldLayoutId xmlns:r="http://schemas.openxmlformats.org/officeDocument/2006/relationships" id="2147483650" r:id="Rdd41ce84e999497e"/>
    <p:sldLayoutId xmlns:r="http://schemas.openxmlformats.org/officeDocument/2006/relationships" id="2147483651" r:id="Re2f87d1365234281"/>
    <p:sldLayoutId xmlns:r="http://schemas.openxmlformats.org/officeDocument/2006/relationships" id="2147483652" r:id="Re8cbfc0adc0443f5"/>
    <p:sldLayoutId xmlns:r="http://schemas.openxmlformats.org/officeDocument/2006/relationships" id="2147483653" r:id="R58b3be28bb7a47b7"/>
    <p:sldLayoutId xmlns:r="http://schemas.openxmlformats.org/officeDocument/2006/relationships" id="2147483654" r:id="R22a8dad696a14c59"/>
    <p:sldLayoutId xmlns:r="http://schemas.openxmlformats.org/officeDocument/2006/relationships" id="2147483655" r:id="R3b4302b8a2ff42c7"/>
    <p:sldLayoutId xmlns:r="http://schemas.openxmlformats.org/officeDocument/2006/relationships" id="2147483656" r:id="R8bf541ba461345ad"/>
    <p:sldLayoutId xmlns:r="http://schemas.openxmlformats.org/officeDocument/2006/relationships" id="2147483657" r:id="R8510e8e1c7d046ed"/>
    <p:sldLayoutId xmlns:r="http://schemas.openxmlformats.org/officeDocument/2006/relationships" id="2147483658" r:id="R4ebbc99060934245"/>
    <p:sldLayoutId xmlns:r="http://schemas.openxmlformats.org/officeDocument/2006/relationships" id="2147483659" r:id="R70f66519d0d24034"/>
  </p:sldLayoutIdLst>
  <p:txStyles>
    <p:titleStyle>
      <a:lvl1pPr xmlns:a="http://schemas.openxmlformats.org/drawingml/2006/main" algn="l" defTabSz="4319900">
        <a:lnSpc>
          <a:spcPct val="90000"/>
        </a:lnSpc>
        <a:spcBef>
          <a:spcPct val="0"/>
        </a:spcBef>
        <a:buNone/>
        <a:defRPr sz="20787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079975" indent="-1079975" algn="l" defTabSz="4319900">
        <a:lnSpc>
          <a:spcPct val="90000"/>
        </a:lnSpc>
        <a:spcBef>
          <a:spcPts val="4724"/>
        </a:spcBef>
        <a:buFont typeface="Arial"/>
        <a:buChar char="•"/>
        <a:defRPr sz="13228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2399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11338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3998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9449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75598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97197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18797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40396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61996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83595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1599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43199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64798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86398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07997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29597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51196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72796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1cfbc7a0241f0" /><Relationship Type="http://schemas.openxmlformats.org/officeDocument/2006/relationships/image" Target="/ppt/media/image.png" Id="R93936a15ffc5402c" /><Relationship Type="http://schemas.openxmlformats.org/officeDocument/2006/relationships/image" Target="/ppt/media/image2.png" Id="Raf7bddf60b12439a" /><Relationship Type="http://schemas.openxmlformats.org/officeDocument/2006/relationships/image" Target="/ppt/media/image3.png" Id="R0d457cff43d6479b" /><Relationship Type="http://schemas.openxmlformats.org/officeDocument/2006/relationships/image" Target="/ppt/media/image4.png" Id="R7380f614aae64e53" /><Relationship Type="http://schemas.openxmlformats.org/officeDocument/2006/relationships/image" Target="/ppt/media/image5.png" Id="R49cc8ec8088446a4" /><Relationship Type="http://schemas.openxmlformats.org/officeDocument/2006/relationships/image" Target="/ppt/media/image6.png" Id="R622f7f94b75d4fdf" /><Relationship Type="http://schemas.openxmlformats.org/officeDocument/2006/relationships/image" Target="/ppt/media/image7.png" Id="R9e95ad130edb487b" /><Relationship Type="http://schemas.openxmlformats.org/officeDocument/2006/relationships/notesSlide" Target="/ppt/notesSlides/notesSlide1.xml" Id="R9fe352d19c6a430f" /></Relationships>
</file>

<file path=ppt/slides/slide1.xml><?xml version="1.0" encoding="utf-8"?>
<p:sld xmlns:a="http://schemas.openxmlformats.org/drawingml/2006/main" xmlns:ns2="http://schemas.openxmlformats.org/officeDocument/2006/relationships" xmlns:ns3="http://schemas.microsoft.com/office/drawing/2014/main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pic>
        <p:nvPicPr>
          <p:cNvPr id="108" name="Imagem 3"/>
          <p:cNvPicPr>
            <a:picLocks noChangeAspect="1"/>
          </p:cNvPicPr>
          <p:nvPr/>
        </p:nvPicPr>
        <p:blipFill>
          <a:blip ns2:embed="R93936a15ffc5402c"/>
          <a:srcRect l="0" t="41985" r="50251" b="34197"/>
          <a:stretch/>
        </p:blipFill>
        <p:spPr>
          <a:xfrm rot="0" flipH="1" flipV="0">
            <a:off x="17442037" y="1"/>
            <a:ext cx="17548975" cy="4696690"/>
          </a:xfrm>
          <a:prstGeom prst="rect">
            <a:avLst/>
          </a:prstGeom>
        </p:spPr>
      </p:pic>
      <p:pic>
        <p:nvPicPr>
          <p:cNvPr id="109" name="Imagem 7"/>
          <p:cNvPicPr>
            <a:picLocks noChangeAspect="1"/>
          </p:cNvPicPr>
          <p:nvPr/>
        </p:nvPicPr>
        <p:blipFill>
          <a:blip ns2:embed="R93936a15ffc5402c"/>
          <a:srcRect l="0" t="0" r="0" b="0"/>
          <a:stretch/>
        </p:blipFill>
        <p:spPr>
          <a:xfrm rot="0" flipH="0" flipV="0">
            <a:off x="34816366" y="1"/>
            <a:ext cx="8384272" cy="4696690"/>
          </a:xfrm>
          <a:prstGeom prst="rect">
            <a:avLst/>
          </a:prstGeom>
        </p:spPr>
      </p:pic>
      <p:pic>
        <p:nvPicPr>
          <p:cNvPr id="110" name="Imagem 12"/>
          <p:cNvPicPr>
            <a:picLocks noChangeAspect="1"/>
          </p:cNvPicPr>
          <p:nvPr/>
        </p:nvPicPr>
        <p:blipFill>
          <a:blip ns2:embed="R93936a15ffc5402c"/>
          <a:srcRect l="0" t="41985" r="50251" b="34197"/>
          <a:stretch/>
        </p:blipFill>
        <p:spPr>
          <a:xfrm rot="10800000" flipH="1" flipV="0">
            <a:off x="0" y="1"/>
            <a:ext cx="17548975" cy="4696690"/>
          </a:xfrm>
          <a:prstGeom prst="rect">
            <a:avLst/>
          </a:prstGeom>
        </p:spPr>
      </p:pic>
      <p:pic>
        <p:nvPicPr>
          <p:cNvPr id="111" name="Imagem 9"/>
          <p:cNvPicPr>
            <a:picLocks noChangeAspect="1"/>
          </p:cNvPicPr>
          <p:nvPr/>
        </p:nvPicPr>
        <p:blipFill>
          <a:blip ns2:embed="Raf7bddf60b12439a"/>
          <a:stretch>
            <a:fillRect l="0" t="0" r="0" b="0"/>
          </a:stretch>
        </p:blipFill>
        <p:spPr>
          <a:xfrm>
            <a:off x="1104807" y="998069"/>
            <a:ext cx="12847803" cy="2658990"/>
          </a:xfrm>
          <a:prstGeom prst="rect">
            <a:avLst/>
          </a:prstGeom>
        </p:spPr>
      </p:pic>
      <p:sp>
        <p:nvSpPr>
          <p:cNvPr id="30" name="CustomShape 2">
            <a:extLst>
              <a:ext uri="{FF2B5EF4-FFF2-40B4-BE49-F238E27FC236}">
                <ns3:creationId id="{FE98121D-8F4A-D71C-8D06-5DE5B30E6A92}"/>
              </a:ext>
            </a:extLst>
          </p:cNvPr>
          <p:cNvSpPr>
            <a:spLocks noGrp="1"/>
          </p:cNvSpPr>
          <p:nvPr/>
        </p:nvSpPr>
        <p:spPr>
          <a:xfrm>
            <a:off x="1104806" y="6598088"/>
            <a:ext cx="9653040" cy="912960"/>
          </a:xfrm>
          <a:prstGeom prst="rect">
            <a:avLst/>
          </a:prstGeom>
          <a:solidFill>
            <a:srgbClr val="1C425B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INTRODUÇÃO</a:t>
            </a:r>
          </a:p>
        </p:txBody>
      </p:sp>
      <p:sp>
        <p:nvSpPr>
          <p:cNvPr id="31" name="CustomShape 3">
            <a:extLst>
              <a:ext uri="{FF2B5EF4-FFF2-40B4-BE49-F238E27FC236}">
                <ns3:creationId id="{8151D5D6-229C-BBFF-BB22-6FFAEFF57C7F}"/>
              </a:ext>
            </a:extLst>
          </p:cNvPr>
          <p:cNvSpPr>
            <a:spLocks noGrp="1"/>
          </p:cNvSpPr>
          <p:nvPr/>
        </p:nvSpPr>
        <p:spPr>
          <a:xfrm>
            <a:off x="11615726" y="6598088"/>
            <a:ext cx="9662400" cy="912960"/>
          </a:xfrm>
          <a:prstGeom prst="rect">
            <a:avLst/>
          </a:prstGeom>
          <a:solidFill>
            <a:srgbClr val="1C425B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OBJETIVO</a:t>
            </a:r>
          </a:p>
        </p:txBody>
      </p:sp>
      <p:sp>
        <p:nvSpPr>
          <p:cNvPr id="32" name="CustomShape 4">
            <a:extLst>
              <a:ext uri="{FF2B5EF4-FFF2-40B4-BE49-F238E27FC236}">
                <ns3:creationId id="{DFC10092-CAB3-EC38-0F46-6962C23892D5}"/>
              </a:ext>
            </a:extLst>
          </p:cNvPr>
          <p:cNvSpPr>
            <a:spLocks noGrp="1"/>
          </p:cNvSpPr>
          <p:nvPr/>
        </p:nvSpPr>
        <p:spPr>
          <a:xfrm>
            <a:off x="22079126" y="6598088"/>
            <a:ext cx="9771840" cy="912960"/>
          </a:xfrm>
          <a:prstGeom prst="rect">
            <a:avLst/>
          </a:prstGeom>
          <a:solidFill>
            <a:srgbClr val="1C425B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JUSTIFICATIVA</a:t>
            </a:r>
          </a:p>
        </p:txBody>
      </p:sp>
      <p:sp>
        <p:nvSpPr>
          <p:cNvPr id="33" name="CustomShape 5">
            <a:extLst>
              <a:ext uri="{FF2B5EF4-FFF2-40B4-BE49-F238E27FC236}">
                <ns3:creationId id="{3C99F79D-68C2-C74F-CE40-279AEF3500B7}"/>
              </a:ext>
            </a:extLst>
          </p:cNvPr>
          <p:cNvSpPr>
            <a:spLocks noGrp="1"/>
          </p:cNvSpPr>
          <p:nvPr/>
        </p:nvSpPr>
        <p:spPr>
          <a:xfrm>
            <a:off x="32586446" y="6598088"/>
            <a:ext cx="9653040" cy="912960"/>
          </a:xfrm>
          <a:prstGeom prst="rect">
            <a:avLst/>
          </a:prstGeom>
          <a:solidFill>
            <a:srgbClr val="1C425B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METODOLOGIA</a:t>
            </a:r>
          </a:p>
        </p:txBody>
      </p:sp>
      <p:sp>
        <p:nvSpPr>
          <p:cNvPr id="35" name="CustomShape 7">
            <a:extLst>
              <a:ext uri="{FF2B5EF4-FFF2-40B4-BE49-F238E27FC236}">
                <ns3:creationId id="{3D962965-B5EC-D5A8-D05D-6EA31D14EA2E}"/>
              </a:ext>
            </a:extLst>
          </p:cNvPr>
          <p:cNvSpPr>
            <a:spLocks noGrp="1"/>
          </p:cNvSpPr>
          <p:nvPr/>
        </p:nvSpPr>
        <p:spPr>
          <a:xfrm>
            <a:off x="32586446" y="8174528"/>
            <a:ext cx="9653040" cy="9416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wrap="square">
            <a:spAutoFit/>
          </a:bodyPr>
          <a:lstStyle/>
          <a:p>
            <a:r>
              <a:rPr sz="1300" b="1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Fonte: PNS 2013/2019; morador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selecionado; Q074, Q076,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Q07701/Q07704/Q07708, P050 e módulos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complementares.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Desenho: `PNSIBGE::pns_design()`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incorpora UPA/PSU, estratos e peso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calibrado.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Estimação: `survey` para proporções,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médias, totais e taxas; PSUs solitárias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tratadas nas opções do desenho.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IC95%: `svyciprop(method = "beta")`,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adequado para proporções, UFs e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subgrupos com poucos eventos positivos.</a:t>
            </a:r>
            <a:endParaRPr/>
          </a:p>
        </p:txBody>
      </p:sp>
      <p:sp>
        <p:nvSpPr>
          <p:cNvPr id="36" name="CustomShape 8">
            <a:extLst>
              <a:ext uri="{FF2B5EF4-FFF2-40B4-BE49-F238E27FC236}">
                <ns3:creationId id="{3C1D0D6F-29F8-0950-AA63-2BE193A210F5}"/>
              </a:ext>
            </a:extLst>
          </p:cNvPr>
          <p:cNvSpPr>
            <a:spLocks noGrp="1"/>
          </p:cNvSpPr>
          <p:nvPr/>
        </p:nvSpPr>
        <p:spPr>
          <a:xfrm>
            <a:off x="1104806" y="8174528"/>
            <a:ext cx="9653040" cy="9416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wrap="square">
            <a:spAutoFit/>
          </a:bodyPr>
          <a:lstStyle/>
          <a:p>
            <a:r>
              <a:rPr sz="1300" b="1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Indicadores epidemiológicos sintetizam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frequência, distribuição e evolução de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eventos de saúde.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Na asma, prevalência, crises,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medicamentos e tabagismo distinguem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carga da doença, acesso diagnóstico,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manejo e fatores de risco.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A PNS tem amostragem complexa; ignorar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UPA, estratos e pesos compromete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variâncias, ICs e comparações entre UFs.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O estudo transforma respostas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individuais em evidência populacional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reprodutível para vigilância e políticas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públicas.</a:t>
            </a:r>
            <a:endParaRPr/>
          </a:p>
        </p:txBody>
      </p:sp>
      <p:sp>
        <p:nvSpPr>
          <p:cNvPr id="37" name="CustomShape 9">
            <a:extLst>
              <a:ext uri="{FF2B5EF4-FFF2-40B4-BE49-F238E27FC236}">
                <ns3:creationId id="{38B1C518-B840-C3EE-B849-672D4A949564}"/>
              </a:ext>
            </a:extLst>
          </p:cNvPr>
          <p:cNvSpPr>
            <a:spLocks noGrp="1"/>
          </p:cNvSpPr>
          <p:nvPr/>
        </p:nvSpPr>
        <p:spPr>
          <a:xfrm>
            <a:off x="11555246" y="8174528"/>
            <a:ext cx="9653040" cy="9416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wrap="square">
            <a:spAutoFit/>
          </a:bodyPr>
          <a:lstStyle/>
          <a:p>
            <a:r>
              <a:rPr sz="1300" b="1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Implementar no R o plano amostral da PNS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2013 e 2019 para o morador selecionado.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Estimar diagnóstico médico de asma,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crise em 12 meses, medicamento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oral/bombinha, tabagismo e indicadores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complementares.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Comparar Brasil e UFs por estimativa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pontual, IC95% beta, magnitude e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sobreposição dos intervalos.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Disponibilizar códigos, tabelas,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gráficos e relatório metodológico para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auditoria e reprodução.</a:t>
            </a:r>
            <a:endParaRPr/>
          </a:p>
        </p:txBody>
      </p:sp>
      <p:sp>
        <p:nvSpPr>
          <p:cNvPr id="38" name="CustomShape 10">
            <a:extLst>
              <a:ext uri="{FF2B5EF4-FFF2-40B4-BE49-F238E27FC236}">
                <ns3:creationId id="{63C46FB7-B3E5-47B7-350A-C3A9906D6F91}"/>
              </a:ext>
            </a:extLst>
          </p:cNvPr>
          <p:cNvSpPr>
            <a:spLocks noGrp="1"/>
          </p:cNvSpPr>
          <p:nvPr/>
        </p:nvSpPr>
        <p:spPr>
          <a:xfrm>
            <a:off x="22070846" y="8174528"/>
            <a:ext cx="9653040" cy="9416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wrap="square">
            <a:spAutoFit/>
          </a:bodyPr>
          <a:lstStyle/>
          <a:p>
            <a:r>
              <a:rPr sz="1300" b="1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O aumento do diagnóstico pode indicar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maior ocorrência, melhor acesso ao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diagnóstico ou ambos.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Crises e medicamentos avaliam se o maior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diagnóstico veio acompanhado de melhor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controle da doença.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Taxas por 100 mil separam carga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populacional total da proporção entre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diagnosticados.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ETL documenta extração, transformação,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denominadores e outputs; OMOP/OHDSI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orienta padronização e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interoperabilidade.</a:t>
            </a:r>
            <a:endParaRPr/>
          </a:p>
        </p:txBody>
      </p:sp>
      <p:pic>
        <p:nvPicPr>
          <p:cNvPr id="120" name="Imagem 2"/>
          <p:cNvPicPr>
            <a:picLocks noChangeAspect="1"/>
          </p:cNvPicPr>
          <p:nvPr/>
        </p:nvPicPr>
        <p:blipFill>
          <a:blip ns2:embed="R0d457cff43d6479b"/>
          <a:stretch>
            <a:fillRect l="0" t="0" r="0" b="0"/>
          </a:stretch>
        </p:blipFill>
        <p:spPr>
          <a:xfrm>
            <a:off x="16844210" y="1861013"/>
            <a:ext cx="23547763" cy="1483024"/>
          </a:xfrm>
          <a:prstGeom prst="rect">
            <a:avLst/>
          </a:prstGeom>
        </p:spPr>
      </p:pic>
      <p:sp>
        <p:nvSpPr>
          <p:cNvPr id="49" name="poster-title">
            <a:extLst>
              <a:ext uri="{FF2B5EF4-FFF2-40B4-BE49-F238E27FC236}">
                <ns3:creationId id="{8F1B3491-6A40-4375-8823-0A0F6D80AD4F}"/>
              </a:ext>
            </a:extLst>
          </p:cNvPr>
          <p:cNvSpPr>
            <a:spLocks noGrp="1"/>
          </p:cNvSpPr>
          <p:nvPr/>
        </p:nvSpPr>
        <p:spPr>
          <a:xfrm>
            <a:off x="1095375" y="4953000"/>
            <a:ext cx="31432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1500" b="1" i="0">
                <a:solidFill>
                  <a:srgbClr val="1C425B"/>
                </a:solidFill>
                <a:latin typeface="Calibri"/>
                <a:ea typeface="Calibri"/>
                <a:cs typeface="Calibri"/>
              </a:rPr>
              <a:t>Implementação do plano amostral da PNS no R: asma no Brasil, 2013-2019</a:t>
            </a:r>
            <a:endParaRPr/>
          </a:p>
        </p:txBody>
      </p:sp>
      <p:sp>
        <p:nvSpPr>
          <p:cNvPr id="50" name="poster-authors">
            <a:extLst>
              <a:ext uri="{FF2B5EF4-FFF2-40B4-BE49-F238E27FC236}">
                <ns3:creationId id="{E727C1FD-6A24-4F4B-AE83-B7B4DDA2903B}"/>
              </a:ext>
            </a:extLst>
          </p:cNvPr>
          <p:cNvSpPr>
            <a:spLocks noGrp="1"/>
          </p:cNvSpPr>
          <p:nvPr/>
        </p:nvSpPr>
        <p:spPr>
          <a:xfrm>
            <a:off x="1095375" y="5857875"/>
            <a:ext cx="31432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 i="0">
                <a:solidFill>
                  <a:srgbClr val="5A5A5A"/>
                </a:solidFill>
              </a:defRPr>
            </a:pPr>
            <a:r>
              <a:rPr sz="1800" b="0" i="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I. Dube; M. E. L. Silva | Gerenciamento de dados observacionais</a:t>
            </a:r>
          </a:p>
        </p:txBody>
      </p:sp>
      <p:sp>
        <p:nvSpPr>
          <p:cNvPr id="94" name="section-METODOLOGIA - ESTIMADORES">
            <a:extLst>
              <a:ext uri="{FF2B5EF4-FFF2-40B4-BE49-F238E27FC236}">
                <ns3:creationId id="{0314C110-0150-4DD4-95D2-7D9BAC3B23CF}"/>
              </a:ext>
            </a:extLst>
          </p:cNvPr>
          <p:cNvSpPr>
            <a:spLocks noGrp="1"/>
          </p:cNvSpPr>
          <p:nvPr/>
        </p:nvSpPr>
        <p:spPr>
          <a:xfrm>
            <a:off x="1095375" y="11382375"/>
            <a:ext cx="20097750" cy="857250"/>
          </a:xfrm>
          <a:prstGeom prst="rect">
            <a:avLst/>
          </a:prstGeom>
          <a:solidFill>
            <a:srgbClr val="1C425B"/>
          </a:solidFill>
          <a:ln w="0">
            <a:solidFill>
              <a:srgbClr val="1C425B"/>
            </a:solidFill>
            <a:prstDash val="solid"/>
          </a:ln>
        </p:spPr>
      </p:sp>
      <p:sp>
        <p:nvSpPr>
          <p:cNvPr id="95" name="section-label-METODOLOGIA - ESTIMADORES">
            <a:extLst>
              <a:ext uri="{FF2B5EF4-FFF2-40B4-BE49-F238E27FC236}">
                <ns3:creationId id="{5484767A-F110-4765-8360-329783D73B3D}"/>
              </a:ext>
            </a:extLst>
          </p:cNvPr>
          <p:cNvSpPr>
            <a:spLocks noGrp="1"/>
          </p:cNvSpPr>
          <p:nvPr/>
        </p:nvSpPr>
        <p:spPr>
          <a:xfrm>
            <a:off x="1095375" y="11477625"/>
            <a:ext cx="20097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METODOLOGIA - ESTIMADORES</a:t>
            </a:r>
          </a:p>
        </p:txBody>
      </p:sp>
      <p:sp>
        <p:nvSpPr>
          <p:cNvPr id="96" name="method-detail-classic">
            <a:extLst>
              <a:ext uri="{FF2B5EF4-FFF2-40B4-BE49-F238E27FC236}">
                <ns3:creationId id="{01EF5B7E-4DD8-42AC-B0B9-EC0542431C0F}"/>
              </a:ext>
            </a:extLst>
          </p:cNvPr>
          <p:cNvSpPr>
            <a:spLocks noGrp="1"/>
          </p:cNvSpPr>
          <p:nvPr/>
        </p:nvSpPr>
        <p:spPr>
          <a:xfrm>
            <a:off x="1190625" y="12300000"/>
            <a:ext cx="19907250" cy="3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1019" b="1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ETL analítico: extrair microdados, selecionar variáveis, recodificar desfechos</a:t>
            </a:r>
            <a:endParaRPr/>
          </a:p>
          <a:p>
            <a:r>
              <a:rPr sz="1019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binários, definir denominadores válidos e gerar `df_*.csv`/`df_*.xlsx`.</a:t>
            </a:r>
            <a:endParaRPr/>
          </a:p>
          <a:p>
            <a:r>
              <a:rPr sz="1019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Indicadores: diagnóstico de asma; crise recente; medicamento entre asmáticos;</a:t>
            </a:r>
            <a:endParaRPr/>
          </a:p>
          <a:p>
            <a:r>
              <a:rPr sz="1019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medicamento entre asmáticos com crise; taxa populacional de medicamento; fumantes por</a:t>
            </a:r>
            <a:endParaRPr/>
          </a:p>
          <a:p>
            <a:r>
              <a:rPr sz="1019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100 mil; Farmácia Popular/desembolso; absenteísmo, dias perdidos e renda deflacionada.</a:t>
            </a:r>
            <a:endParaRPr/>
          </a:p>
          <a:p>
            <a:r>
              <a:rPr sz="1019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IC beta respeita a escala 0-1 e evita fragilidades do Wald em proporções extremas ou</a:t>
            </a:r>
            <a:endParaRPr/>
          </a:p>
          <a:p>
            <a:r>
              <a:rPr sz="1019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domínios pequenos.</a:t>
            </a:r>
            <a:endParaRPr/>
          </a:p>
          <a:p>
            <a:r>
              <a:rPr sz="1019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Interpretação: considerar magnitude, direção, denominador e sobreposição dos IC95%; a</a:t>
            </a:r>
            <a:endParaRPr/>
          </a:p>
          <a:p>
            <a:r>
              <a:rPr sz="1019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altura das barras isoladamente não basta.</a:t>
            </a:r>
            <a:endParaRPr/>
          </a:p>
        </p:txBody>
      </p:sp>
      <p:sp>
        <p:nvSpPr>
          <p:cNvPr id="97" name="section-LEITURA DOS RESULTADOS">
            <a:extLst>
              <a:ext uri="{FF2B5EF4-FFF2-40B4-BE49-F238E27FC236}">
                <ns3:creationId id="{39DB03F4-C21B-4ED6-81A2-9CFE8A3B20A2}"/>
              </a:ext>
            </a:extLst>
          </p:cNvPr>
          <p:cNvSpPr>
            <a:spLocks noGrp="1"/>
          </p:cNvSpPr>
          <p:nvPr/>
        </p:nvSpPr>
        <p:spPr>
          <a:xfrm>
            <a:off x="22078950" y="11382375"/>
            <a:ext cx="20173950" cy="857250"/>
          </a:xfrm>
          <a:prstGeom prst="rect">
            <a:avLst/>
          </a:prstGeom>
          <a:solidFill>
            <a:srgbClr val="1C425B"/>
          </a:solidFill>
          <a:ln w="0">
            <a:solidFill>
              <a:srgbClr val="1C425B"/>
            </a:solidFill>
            <a:prstDash val="solid"/>
          </a:ln>
        </p:spPr>
      </p:sp>
      <p:sp>
        <p:nvSpPr>
          <p:cNvPr id="98" name="section-label-LEITURA DOS RESULTADOS">
            <a:extLst>
              <a:ext uri="{FF2B5EF4-FFF2-40B4-BE49-F238E27FC236}">
                <ns3:creationId id="{12AE5FE9-3576-40E0-B9D6-7F7366AA30C8}"/>
              </a:ext>
            </a:extLst>
          </p:cNvPr>
          <p:cNvSpPr>
            <a:spLocks noGrp="1"/>
          </p:cNvSpPr>
          <p:nvPr/>
        </p:nvSpPr>
        <p:spPr>
          <a:xfrm>
            <a:off x="22078950" y="11477625"/>
            <a:ext cx="201739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LEITURA DOS RESULTADOS</a:t>
            </a:r>
          </a:p>
        </p:txBody>
      </p:sp>
      <p:sp>
        <p:nvSpPr>
          <p:cNvPr id="99" name="analysis-detail-classic">
            <a:extLst>
              <a:ext uri="{FF2B5EF4-FFF2-40B4-BE49-F238E27FC236}">
                <ns3:creationId id="{709A3C76-59C6-4D91-8A99-C76FB80A5C64}"/>
              </a:ext>
            </a:extLst>
          </p:cNvPr>
          <p:cNvSpPr>
            <a:spLocks noGrp="1"/>
          </p:cNvSpPr>
          <p:nvPr/>
        </p:nvSpPr>
        <p:spPr>
          <a:xfrm>
            <a:off x="22174200" y="12430125"/>
            <a:ext cx="19907250" cy="409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900" b="1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Prevalência nacional de diagnóstico médico de asma: 4,41% em 2013 para 5,40% em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2019; ICs sem sobreposição indicam aumento estatisticamente relevante.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UFs: Rio Grande do Sul permaneceu entre maiores prevalências; Espírito Santo e Amapá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se destacam; Bahia, Rondônia e Mato Grosso ficaram entre menores níveis em 2019. ICs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sobrepostos limitam inferência em várias UFs.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Crises em 12 meses: 38,3% para 37,7%; estabilidade sugere que mais diagnóstico não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se converteu em melhora proporcional do controle.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Medicamento oral/bombinha entre asmáticos: 81,5% para 64,4%; leitura exige cautela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por denominador, IC95% e diferença entre proporção entre diagnosticados e taxa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populacional.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Tabagismo caiu em várias UFs; a taxa nacional citada foi de 14.650 para 12.151 por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100 mil, insuficiente para explicar sozinho o aumento do diagnóstico.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Implicação: manejo da asma requer acesso farmacológico, seguimento clínico,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educação, controle de exposições e intervenções não farmacológicas.</a:t>
            </a:r>
            <a:endParaRPr/>
          </a:p>
        </p:txBody>
      </p:sp>
      <p:sp>
        <p:nvSpPr>
          <p:cNvPr id="100" name="references-compact-classic">
            <a:extLst>
              <a:ext uri="{FF2B5EF4-FFF2-40B4-BE49-F238E27FC236}">
                <ns3:creationId id="{9E048DA4-4526-49F0-8B12-3769BDA4E051}"/>
              </a:ext>
            </a:extLst>
          </p:cNvPr>
          <p:cNvSpPr>
            <a:spLocks noGrp="1"/>
          </p:cNvSpPr>
          <p:nvPr/>
        </p:nvSpPr>
        <p:spPr>
          <a:xfrm>
            <a:off x="20150000" y="29190000"/>
            <a:ext cx="18400000" cy="31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500" b="1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[1] GLOBAL ASTHMA NETWORK. Global Asthma Report 2022. Auckland, New Zealand: Global Asthma Network, 2022. Disponível em: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https://globalasthmareport.org/resources/Global_Asthma_Report_2022.pdf. Acesso em: 19 set. 2025.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[2] SOUZA-JÚNIOR, Paulo Roberto Borges de et al. Desenho da amostra da Pesquisa Nacional de Saúde 2013. Epidemiologia e Serviços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de Saúde, v. 24, p. 207-216, 2015.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[3] DUBE, I.; SILVA, M. E. L. PNS_2013_2019. GitHub, 2026. Disponível em: https://github.com/ingodube/PNS_2013_2019. Acesso em: 28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mai. 2026.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[4] MENEZES, A. M. B. et al. Prevalência de diagnóstico médico de asma em adultos brasileiros: Pesquisa Nacional de Saúde, 2013.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Revista Brasileira de Epidemiologia, São Paulo, v. 18, supl. 2, p. 204-213, 2015.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[5] SEVERE ASTHMA. Non-Pharmacological Interventions for Asthma. Disponível em: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https://www.severeasthma.org.au/non-pharmacological-interventions-asthma/. Acesso em: 19 set. 2025.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[6] SANTOS, Felipe Moraes dos et al. Tendência da prevalência de asma autorreferida no Brasil de 2003 a 2013 em adultos e fatores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associados à prevalência. Jornal Brasileiro de Pneumologia, v. 44, n. 6, p. 491-497, 2018.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doi:10.1590/S1806-37562017000000328.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[7] TO, T. et al. Global asthma prevalence in adults: findings from the cross-sectional world health survey. BMC Public Health, v.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12, art. 204, 2012. doi:10.1186/1471-2458-12-204.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[8] OHDSI. Standardized Data: The OMOP Common Data Model. Disponível em: https://www.ohdsi.org/data-standardization/.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[9] OHDSI. OMOP Common Data Model. Disponível em: https://ohdsi.github.io/CommonDataModel/.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[10] OHDSI. ETL Creation Best Practices. Disponível em: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https://www.ohdsi.org/web/wiki/doku.php?id=documentation:etl_best_practices.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[11] LUMLEY, Thomas. Complex Surveys: A Guide to Analysis Using R. Hoboken: Wiley, 2010.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[12] BROWN, Lawrence D.; CAI, T. Tony; DASGUPTA, Anirban. Interval estimation for a binomial proportion. Statistical Science, v.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16, n. 2, p. 101-133, 2001. doi:10.1214/ss/1009213286.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[13] KORN, Edward L.; GRAUBARD, Barry I. Confidence intervals for proportions with small expected number of positive counts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estimated from survey data. Survey Methodology, v. 24, n. 2, p. 193-201, 1998.</a:t>
            </a:r>
            <a:endParaRPr/>
          </a:p>
        </p:txBody>
      </p:sp>
      <p:sp>
        <p:nvSpPr>
          <p:cNvPr id="101" name="section-GRÁFICOS EXPORTADOS DOS CÓDIGOS R">
            <a:extLst>
              <a:ext uri="{FF2B5EF4-FFF2-40B4-BE49-F238E27FC236}">
                <ns3:creationId id="{540C7B78-679B-44FC-9FE1-D51ABF45935D}"/>
              </a:ext>
            </a:extLst>
          </p:cNvPr>
          <p:cNvSpPr>
            <a:spLocks noGrp="1"/>
          </p:cNvSpPr>
          <p:nvPr/>
        </p:nvSpPr>
        <p:spPr>
          <a:xfrm>
            <a:off x="1095375" y="16954500"/>
            <a:ext cx="41148000" cy="857250"/>
          </a:xfrm>
          <a:prstGeom prst="rect">
            <a:avLst/>
          </a:prstGeom>
          <a:solidFill>
            <a:srgbClr val="1C425B"/>
          </a:solidFill>
          <a:ln w="0">
            <a:solidFill>
              <a:srgbClr val="1C425B"/>
            </a:solidFill>
            <a:prstDash val="solid"/>
          </a:ln>
        </p:spPr>
      </p:sp>
      <p:sp>
        <p:nvSpPr>
          <p:cNvPr id="102" name="section-label-GRÁFICOS EXPORTADOS DOS CÓDIGOS R">
            <a:extLst>
              <a:ext uri="{FF2B5EF4-FFF2-40B4-BE49-F238E27FC236}">
                <ns3:creationId id="{FF872F2A-466A-4737-99EE-5C95FCC67612}"/>
              </a:ext>
            </a:extLst>
          </p:cNvPr>
          <p:cNvSpPr>
            <a:spLocks noGrp="1"/>
          </p:cNvSpPr>
          <p:nvPr/>
        </p:nvSpPr>
        <p:spPr>
          <a:xfrm>
            <a:off x="1095375" y="17049750"/>
            <a:ext cx="41148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GRÁFICOS EXPORTADOS DOS CÓDIGOS R</a:t>
            </a:r>
          </a:p>
        </p:txBody>
      </p:sp>
      <p:pic>
        <p:nvPicPr>
          <p:cNvPr id="132" name=""/>
          <p:cNvPicPr>
            <a:picLocks noChangeAspect="1"/>
          </p:cNvPicPr>
          <p:nvPr/>
        </p:nvPicPr>
        <p:blipFill>
          <a:blip ns2:embed="R7380f614aae64e53"/>
          <a:stretch/>
        </p:blipFill>
        <p:spPr>
          <a:xfrm>
            <a:off x="1319893" y="18097500"/>
            <a:ext cx="19267714" cy="5619750"/>
          </a:xfrm>
          <a:prstGeom prst="rect">
            <a:avLst/>
          </a:prstGeom>
        </p:spPr>
      </p:pic>
      <p:pic>
        <p:nvPicPr>
          <p:cNvPr id="133" name=""/>
          <p:cNvPicPr>
            <a:picLocks noChangeAspect="1"/>
          </p:cNvPicPr>
          <p:nvPr/>
        </p:nvPicPr>
        <p:blipFill>
          <a:blip ns2:embed="R49cc8ec8088446a4"/>
          <a:stretch/>
        </p:blipFill>
        <p:spPr>
          <a:xfrm>
            <a:off x="22751143" y="18097500"/>
            <a:ext cx="19267714" cy="5619750"/>
          </a:xfrm>
          <a:prstGeom prst="rect">
            <a:avLst/>
          </a:prstGeom>
        </p:spPr>
      </p:pic>
      <p:pic>
        <p:nvPicPr>
          <p:cNvPr id="134" name=""/>
          <p:cNvPicPr>
            <a:picLocks noChangeAspect="1"/>
          </p:cNvPicPr>
          <p:nvPr/>
        </p:nvPicPr>
        <p:blipFill>
          <a:blip ns2:embed="R622f7f94b75d4fdf"/>
          <a:stretch/>
        </p:blipFill>
        <p:spPr>
          <a:xfrm>
            <a:off x="1319893" y="24098250"/>
            <a:ext cx="19267714" cy="5619750"/>
          </a:xfrm>
          <a:prstGeom prst="rect">
            <a:avLst/>
          </a:prstGeom>
        </p:spPr>
      </p:pic>
      <p:pic>
        <p:nvPicPr>
          <p:cNvPr id="135" name=""/>
          <p:cNvPicPr>
            <a:picLocks noChangeAspect="1"/>
          </p:cNvPicPr>
          <p:nvPr/>
        </p:nvPicPr>
        <p:blipFill>
          <a:blip ns2:embed="R9e95ad130edb487b"/>
          <a:stretch/>
        </p:blipFill>
        <p:spPr>
          <a:xfrm>
            <a:off x="22751143" y="24098250"/>
            <a:ext cx="19267714" cy="5619750"/>
          </a:xfrm>
          <a:prstGeom prst="rect">
            <a:avLst/>
          </a:prstGeom>
        </p:spPr>
      </p:pic>
      <p:sp>
        <p:nvSpPr>
          <p:cNvPr id="107" name="chart-caption-classic">
            <a:extLst>
              <a:ext uri="{FF2B5EF4-FFF2-40B4-BE49-F238E27FC236}">
                <ns3:creationId id="{B708A308-45BC-4E6E-B9C7-972F274E0CCB}"/>
              </a:ext>
            </a:extLst>
          </p:cNvPr>
          <p:cNvSpPr>
            <a:spLocks noGrp="1"/>
          </p:cNvSpPr>
          <p:nvPr/>
        </p:nvSpPr>
        <p:spPr>
          <a:xfrm>
            <a:off x="1095375" y="29860875"/>
            <a:ext cx="210502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700" b="1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• Figuras exportadas dos códigos R: `geom_col`, `geom_errorbar`, `coord_flip`, IC95% beta e</a:t>
            </a:r>
            <a:endParaRPr/>
          </a:p>
          <a:p>
            <a:r>
              <a:rPr sz="70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  paleta original.</a:t>
            </a:r>
            <a:endParaRPr/>
          </a:p>
          <a:p>
            <a:r>
              <a:rPr sz="70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• Barras = estimativas ponderadas; traços = incerteza do desenho complexo. UFs com IC95%</a:t>
            </a:r>
            <a:endParaRPr/>
          </a:p>
          <a:p>
            <a:r>
              <a:rPr sz="70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  sobreposto exigem leitura cautelosa.</a:t>
            </a:r>
            <a:endParaRPr/>
          </a:p>
        </p:txBody>
      </p:sp>
      <p:sp>
        <p:nvSpPr>
          <p:cNvPr id="136" name="formula-box-classic-pt"/>
          <p:cNvSpPr txBox="1"/>
          <p:nvPr/>
        </p:nvSpPr>
        <p:spPr>
          <a:xfrm>
            <a:off x="1190625" y="15630000"/>
            <a:ext cx="19907250" cy="1250000"/>
          </a:xfrm>
          <a:prstGeom prst="rect">
            <a:avLst/>
          </a:prstGeom>
          <a:solidFill>
            <a:srgbClr val="F2F7FB"/>
          </a:solidFill>
          <a:ln w="19050">
            <a:solidFill>
              <a:srgbClr val="1F4E79"/>
            </a:solidFill>
          </a:ln>
        </p:spPr>
        <p:txBody>
          <a:bodyPr wrap="square" lIns="91440" rIns="91440" tIns="91440" bIns="91440" anchor="ctr"/>
          <a:lstStyle/>
          <a:p>
            <a:pPr algn="ctr"/>
            <a:r>
              <a:rPr lang="pt-BR" sz="800" b="1">
                <a:latin typeface="Cambria Math"/>
              </a:rPr>
              <a:t>ESTIMADORES E NOTAÇÃO</a:t>
            </a:r>
            <a:endParaRPr/>
          </a:p>
          <a:p>
            <a:pPr algn="ctr"/>
            <a:r>
              <a:rPr lang="pt-BR" sz="800" b="0">
                <a:latin typeface="Cambria Math"/>
              </a:rPr>
              <a:t>Proporção ponderada: p̂ = Σᵢ wᵢyᵢ / Σᵢ wᵢ</a:t>
            </a:r>
            <a:endParaRPr/>
          </a:p>
          <a:p>
            <a:pPr algn="ctr"/>
            <a:r>
              <a:rPr lang="pt-BR" sz="800" b="0">
                <a:latin typeface="Cambria Math"/>
              </a:rPr>
              <a:t>wᵢ = peso amostral; yᵢ = evento binário</a:t>
            </a:r>
            <a:endParaRPr/>
          </a:p>
          <a:p>
            <a:pPr algn="ctr"/>
            <a:r>
              <a:rPr lang="pt-BR" sz="800" b="0">
                <a:latin typeface="Cambria Math"/>
              </a:rPr>
              <a:t>Percentual: % = 100 × p̂</a:t>
            </a:r>
            <a:endParaRPr/>
          </a:p>
          <a:p>
            <a:pPr algn="ctr"/>
            <a:r>
              <a:rPr lang="pt-BR" sz="800" b="0">
                <a:latin typeface="Cambria Math"/>
              </a:rPr>
              <a:t>Taxa populacional: taxa₁₀₀k = 100000 × p̂</a:t>
            </a:r>
            <a:endParaRPr/>
          </a:p>
          <a:p>
            <a:pPr algn="ctr"/>
            <a:r>
              <a:rPr lang="pt-BR" sz="800" b="0">
                <a:latin typeface="Cambria Math"/>
              </a:rPr>
              <a:t>Intervalo aplicado: IC₉₅%(p̂) = survey::svyciprop(method = "beta")</a:t>
            </a:r>
            <a:endParaRPr/>
          </a:p>
        </p:txBody>
      </p:sp>
      <p:sp>
        <p:nvSpPr>
          <p:cNvPr id="137" name="qr-placeholder-classic-pt"/>
          <p:cNvSpPr txBox="1"/>
          <p:nvPr/>
        </p:nvSpPr>
        <p:spPr>
          <a:xfrm>
            <a:off x="38930000" y="29250000"/>
            <a:ext cx="3150000" cy="28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</p:spPr>
        <p:txBody>
          <a:bodyPr wrap="square" lIns="91440" rIns="91440" tIns="91440" bIns="91440" anchor="ctr"/>
          <a:lstStyle/>
          <a:p>
            <a:pPr algn="ctr"/>
            <a:r>
              <a:rPr lang="pt-BR" sz="680" b="1">
                <a:latin typeface="Aptos"/>
              </a:rPr>
              <a:t>QR CODE</a:t>
            </a:r>
            <a:endParaRPr/>
          </a:p>
          <a:p>
            <a:pPr algn="ctr"/>
            <a:r>
              <a:rPr lang="pt-BR" sz="680" b="0">
                <a:latin typeface="Aptos"/>
              </a:rPr>
              <a:t>Relatório metodológico</a:t>
            </a:r>
            <a:endParaRPr/>
          </a:p>
          <a:p>
            <a:pPr algn="ctr"/>
            <a:r>
              <a:rPr lang="pt-BR" sz="680" b="0">
                <a:latin typeface="Aptos"/>
              </a:rPr>
              <a:t>https://ingodube.github.io/PNS_2013_2019/metodologia.html</a:t>
            </a:r>
            <a:endParaRPr/>
          </a:p>
        </p:txBody>
      </p:sp>
      <p:sp>
        <p:nvSpPr>
          <p:cNvPr id="138" name="chart-caption-above-classic-pt-1"/>
          <p:cNvSpPr txBox="1"/>
          <p:nvPr/>
        </p:nvSpPr>
        <p:spPr>
          <a:xfrm>
            <a:off x="1319893" y="17730000"/>
            <a:ext cx="19267714" cy="3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76200" rIns="76200" tIns="76200" bIns="76200" anchor="t"/>
          <a:lstStyle/>
          <a:p>
            <a:pPr algn="ctr"/>
            <a:r>
              <a:rPr lang="pt-BR" sz="680" b="1"/>
              <a:t>Figura 1: Prevalência de diagnóstico médico de asma por UF, PNS 2013 e 2019.</a:t>
            </a:r>
            <a:endParaRPr/>
          </a:p>
        </p:txBody>
      </p:sp>
      <p:sp>
        <p:nvSpPr>
          <p:cNvPr id="139" name="chart-caption-above-classic-pt-2"/>
          <p:cNvSpPr txBox="1"/>
          <p:nvPr/>
        </p:nvSpPr>
        <p:spPr>
          <a:xfrm>
            <a:off x="22751143" y="17730000"/>
            <a:ext cx="19267714" cy="3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76200" rIns="76200" tIns="76200" bIns="76200" anchor="t"/>
          <a:lstStyle/>
          <a:p>
            <a:pPr algn="ctr"/>
            <a:r>
              <a:rPr lang="pt-BR" sz="680" b="1"/>
              <a:t>Figura 2: Crises de asma nos últimos 12 meses entre pessoas com diagnóstico, PNS 2013 e 2019.</a:t>
            </a:r>
            <a:endParaRPr/>
          </a:p>
        </p:txBody>
      </p:sp>
      <p:sp>
        <p:nvSpPr>
          <p:cNvPr id="140" name="chart-caption-above-classic-pt-3"/>
          <p:cNvSpPr txBox="1"/>
          <p:nvPr/>
        </p:nvSpPr>
        <p:spPr>
          <a:xfrm>
            <a:off x="1319893" y="23725000"/>
            <a:ext cx="19267714" cy="3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76200" rIns="76200" tIns="76200" bIns="76200" anchor="t"/>
          <a:lstStyle/>
          <a:p>
            <a:pPr algn="ctr"/>
            <a:r>
              <a:rPr lang="pt-BR" sz="680" b="1"/>
              <a:t>Figura 3: Uso de medicamento oral ou bombinha entre pessoas com asma, PNS 2013 e 2019.</a:t>
            </a:r>
            <a:endParaRPr/>
          </a:p>
        </p:txBody>
      </p:sp>
      <p:sp>
        <p:nvSpPr>
          <p:cNvPr id="141" name="chart-caption-above-classic-pt-4"/>
          <p:cNvSpPr txBox="1"/>
          <p:nvPr/>
        </p:nvSpPr>
        <p:spPr>
          <a:xfrm>
            <a:off x="22751143" y="23725000"/>
            <a:ext cx="19267714" cy="3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76200" rIns="76200" tIns="76200" bIns="76200" anchor="t"/>
          <a:lstStyle/>
          <a:p>
            <a:pPr algn="ctr"/>
            <a:r>
              <a:rPr lang="pt-BR" sz="680" b="1"/>
              <a:t>Figura 4: Taxa populacional de fumantes ativos por 100 mil habitantes, PNS 2013 e 2019.</a:t>
            </a:r>
            <a:endParaRPr/>
          </a:p>
        </p:txBody>
      </p:sp>
    </p:spTree>
    <p:extLst>
      <p:ext uri="{BB962C8B-B14F-4D97-AF65-F5344CB8AC3E}">
        <ns4:creationId val="1144243419"/>
      </p:ext>
    </p:extLst>
  </p:cSld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2026-07-21T12:19:09.0810000Z</dcterms:created>
  <dcterms:modified xsi:type="dcterms:W3CDTF">2026-07-21T12:19:09.0820000Z</dcterms:modified>
</coreProperties>
</file>