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5b9f49e65144cc" /><Relationship Type="http://schemas.openxmlformats.org/officeDocument/2006/relationships/extended-properties" Target="/docProps/app.xml" Id="R984b735a6f9e49bd" /><Relationship Type="http://schemas.openxmlformats.org/officeDocument/2006/relationships/officeDocument" Target="/ppt/presentation.xml" Id="Rd8816a60ac1e44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e5801caac14353"/>
  </p:sldMasterIdLst>
  <p:notesMasterIdLst>
    <p:notesMasterId xmlns:r="http://schemas.openxmlformats.org/officeDocument/2006/relationships" r:id="R6ed3a468bc234179"/>
  </p:notesMasterIdLst>
  <p:sldIdLst>
    <p:sldId xmlns:r="http://schemas.openxmlformats.org/officeDocument/2006/relationships" id="256" r:id="R28c1de09df1b454a"/>
  </p:sldIdLst>
  <p:sldSz cx="9525000" cy="134683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839417e5934d1b" /><Relationship Type="http://schemas.openxmlformats.org/officeDocument/2006/relationships/slideMaster" Target="/ppt/slideMasters/slideMaster1.xml" Id="R37e5801caac14353" /><Relationship Type="http://schemas.openxmlformats.org/officeDocument/2006/relationships/notesMaster" Target="/ppt/notesMasters/notesMaster1.xml" Id="R6ed3a468bc234179" /><Relationship Type="http://schemas.openxmlformats.org/officeDocument/2006/relationships/presProps" Target="/ppt/presProps.xml" Id="R6bb05e1b00ea4636" /><Relationship Type="http://schemas.openxmlformats.org/officeDocument/2006/relationships/tableStyles" Target="/ppt/tableStyles.xml" Id="R2a0bce7f488c48de" /><Relationship Type="http://schemas.openxmlformats.org/officeDocument/2006/relationships/slide" Target="/ppt/slides/slide1.xml" Id="R28c1de09df1b45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ece0fa15994b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6a33d016474467" /><Relationship Type="http://schemas.openxmlformats.org/officeDocument/2006/relationships/notesMaster" Target="/ppt/notesMasters/notesMaster1.xml" Id="Rf1aed154e8b04a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92726f700047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7b77f023174259" /><Relationship Type="http://schemas.openxmlformats.org/officeDocument/2006/relationships/slideLayout" Target="/ppt/slideLayouts/slideLayout1.xml" Id="R1f8fc130e83a49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8fc130e83a49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b62d1236343f5" /><Relationship Type="http://schemas.openxmlformats.org/officeDocument/2006/relationships/image" Target="/ppt/media/image.png" Id="R116fa79ff7c84d7c" /><Relationship Type="http://schemas.openxmlformats.org/officeDocument/2006/relationships/image" Target="/ppt/media/image2.png" Id="R4d3c42a07f1e4f33" /><Relationship Type="http://schemas.openxmlformats.org/officeDocument/2006/relationships/image" Target="/ppt/media/image3.png" Id="Reca477d14fad4d9e" /><Relationship Type="http://schemas.openxmlformats.org/officeDocument/2006/relationships/image" Target="/ppt/media/image4.png" Id="Rc351e320ed104b9f" /><Relationship Type="http://schemas.openxmlformats.org/officeDocument/2006/relationships/image" Target="/ppt/media/image5.png" Id="R6eb66648237c43de" /><Relationship Type="http://schemas.openxmlformats.org/officeDocument/2006/relationships/image" Target="/ppt/media/image6.png" Id="R47ecfd9f85894d2a" /><Relationship Type="http://schemas.openxmlformats.org/officeDocument/2006/relationships/image" Target="/ppt/media/image7.png" Id="R7b25a0da41204c87" /><Relationship Type="http://schemas.openxmlformats.org/officeDocument/2006/relationships/image" Target="/ppt/media/image8.png" Id="Raa0ffdd4df364cd1" /><Relationship Type="http://schemas.openxmlformats.org/officeDocument/2006/relationships/notesSlide" Target="/ppt/notesSlides/notesSlide1.xml" Id="Rfec2a39e602346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6fa79ff7c84d7c"/>
          <a:srcRect xmlns:a="http://schemas.openxmlformats.org/drawingml/2006/main" l="0" t="38622" r="0" b="386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000" cy="1219200"/>
          </a:xfrm>
          <a:prstGeom xmlns:a="http://schemas.openxmlformats.org/drawingml/2006/main" prst="rect">
            <a:avLst/>
          </a:prstGeom>
        </p:spPr>
      </p:pic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3c42a07f1e4f33"/>
          <a:stretch xmlns:a="http://schemas.openxmlformats.org/drawingml/2006/main"/>
        </p:blipFill>
        <p:spPr>
          <a:xfrm xmlns:a="http://schemas.openxmlformats.org/drawingml/2006/main">
            <a:off x="323850" y="265374"/>
            <a:ext cx="2952750" cy="612252"/>
          </a:xfrm>
          <a:prstGeom xmlns:a="http://schemas.openxmlformats.org/drawingml/2006/main" prst="rect">
            <a:avLst/>
          </a:prstGeom>
        </p:spPr>
      </p:pic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477d14fad4d9e"/>
          <a:stretch xmlns:a="http://schemas.openxmlformats.org/drawingml/2006/main"/>
        </p:blipFill>
        <p:spPr>
          <a:xfrm xmlns:a="http://schemas.openxmlformats.org/drawingml/2006/main">
            <a:off x="3905250" y="425056"/>
            <a:ext cx="4953000" cy="311937"/>
          </a:xfrm>
          <a:prstGeom xmlns:a="http://schemas.openxmlformats.org/drawingml/2006/main" prst="rect">
            <a:avLst/>
          </a:prstGeom>
        </p:spPr>
      </p:pic>
      <p:sp>
        <p:nvSpPr>
          <p:cNvPr id="4" name="classic-title">
            <a:extLst xmlns:a="http://schemas.openxmlformats.org/drawingml/2006/main">
              <a:ext uri="{FF2B5EF4-FFF2-40B4-BE49-F238E27FC236}">
                <a16:creationId xmlns:a16="http://schemas.microsoft.com/office/drawing/2014/main" id="{34059B0E-1D44-4C05-9DB2-66063757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352550"/>
            <a:ext cx="8839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53F59"/>
                </a:solidFill>
              </a:defRPr>
            </a:pPr>
            <a:r>
              <a:rPr sz="1875" b="1">
                <a:solidFill>
                  <a:srgbClr val="153F59"/>
                </a:solidFill>
              </a:rPr>
              <a:t>Implementação do Plano Amostral da Pesquisa Nacional de Saúde no R: um estudo de caso sobre a asma no Brasil</a:t>
            </a:r>
          </a:p>
        </p:txBody>
      </p:sp>
      <p:sp>
        <p:nvSpPr>
          <p:cNvPr id="5" name="classic-authors">
            <a:extLst xmlns:a="http://schemas.openxmlformats.org/drawingml/2006/main">
              <a:ext uri="{FF2B5EF4-FFF2-40B4-BE49-F238E27FC236}">
                <a16:creationId xmlns:a16="http://schemas.microsoft.com/office/drawing/2014/main" id="{C479838E-48ED-4298-96E3-50CB8F81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62150"/>
            <a:ext cx="883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F6372"/>
                </a:solidFill>
              </a:defRPr>
            </a:pPr>
            <a:r>
              <a:rPr sz="825" b="0">
                <a:solidFill>
                  <a:srgbClr val="4F6372"/>
                </a:solidFill>
              </a:rPr>
              <a:t>I. Dube; M. E. L. Silva | Gerenciamento de dados observacionais</a:t>
            </a:r>
          </a:p>
        </p:txBody>
      </p:sp>
      <p:sp>
        <p:nvSpPr>
          <p:cNvPr id="6" name="1-Introdução-box">
            <a:extLst xmlns:a="http://schemas.openxmlformats.org/drawingml/2006/main">
              <a:ext uri="{FF2B5EF4-FFF2-40B4-BE49-F238E27FC236}">
                <a16:creationId xmlns:a16="http://schemas.microsoft.com/office/drawing/2014/main" id="{68FF23A6-60E1-4E08-A053-C7311630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343150"/>
            <a:ext cx="2870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0DF"/>
            </a:solidFill>
            <a:prstDash val="solid"/>
          </a:ln>
        </p:spPr>
      </p:sp>
      <p:sp>
        <p:nvSpPr>
          <p:cNvPr id="7" name="1-Introdução-head">
            <a:extLst xmlns:a="http://schemas.openxmlformats.org/drawingml/2006/main">
              <a:ext uri="{FF2B5EF4-FFF2-40B4-BE49-F238E27FC236}">
                <a16:creationId xmlns:a16="http://schemas.microsoft.com/office/drawing/2014/main" id="{814A221B-5282-41F0-894B-CF495B21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343150"/>
            <a:ext cx="287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59"/>
          </a:solidFill>
          <a:ln xmlns:a="http://schemas.openxmlformats.org/drawingml/2006/main" w="9525">
            <a:solidFill>
              <a:srgbClr val="153F59"/>
            </a:solidFill>
            <a:prstDash val="solid"/>
          </a:ln>
        </p:spPr>
      </p:sp>
      <p:sp>
        <p:nvSpPr>
          <p:cNvPr id="8" name="1-Introdução-title">
            <a:extLst xmlns:a="http://schemas.openxmlformats.org/drawingml/2006/main">
              <a:ext uri="{FF2B5EF4-FFF2-40B4-BE49-F238E27FC236}">
                <a16:creationId xmlns:a16="http://schemas.microsoft.com/office/drawing/2014/main" id="{81971622-6A6E-4373-84A3-C60159EB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90775"/>
            <a:ext cx="271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1. Introdução</a:t>
            </a:r>
          </a:p>
        </p:txBody>
      </p:sp>
      <p:sp>
        <p:nvSpPr>
          <p:cNvPr id="9" name="1-Introdução-body">
            <a:extLst xmlns:a="http://schemas.openxmlformats.org/drawingml/2006/main">
              <a:ext uri="{FF2B5EF4-FFF2-40B4-BE49-F238E27FC236}">
                <a16:creationId xmlns:a16="http://schemas.microsoft.com/office/drawing/2014/main" id="{CDFEEE0F-92BB-4491-9BAE-34065CF9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2679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102536"/>
                </a:solidFill>
              </a:defRPr>
            </a:pPr>
            <a:r>
              <a:rPr sz="653" b="0">
                <a:solidFill>
                  <a:srgbClr val="102536"/>
                </a:solidFill>
              </a:rPr>
              <a:t>• Indicadores epidemiológicos resumem frequência, distribuição e evolução de eventos de saúde.</a:t>
            </a:r>
          </a:p>
          <a:p xmlns:a="http://schemas.openxmlformats.org/drawingml/2006/main">
            <a:pPr algn="l">
              <a:defRPr sz="653" b="0">
                <a:solidFill>
                  <a:srgbClr val="102536"/>
                </a:solidFill>
              </a:defRPr>
            </a:pPr>
            <a:r>
              <a:rPr sz="653" b="0">
                <a:solidFill>
                  <a:srgbClr val="102536"/>
                </a:solidFill>
              </a:rPr>
              <a:t>• Na asma, prevalência, crises, uso de medicamentos e tabagismo ajudam a distinguir carga da doença, acesso diagnóstico, manejo clínico e fatores de risco.</a:t>
            </a:r>
          </a:p>
          <a:p xmlns:a="http://schemas.openxmlformats.org/drawingml/2006/main">
            <a:pPr algn="l">
              <a:defRPr sz="653" b="0">
                <a:solidFill>
                  <a:srgbClr val="102536"/>
                </a:solidFill>
              </a:defRPr>
            </a:pPr>
            <a:r>
              <a:rPr sz="653" b="0">
                <a:solidFill>
                  <a:srgbClr val="102536"/>
                </a:solidFill>
              </a:rPr>
              <a:t>• A PNS é um inquérito domiciliar populacional com desenho amostral complexo; por isso, estimativas válidas dependem de pesos, estratos e conglomerados.</a:t>
            </a:r>
          </a:p>
        </p:txBody>
      </p:sp>
      <p:sp>
        <p:nvSpPr>
          <p:cNvPr id="10" name="2-Objetivos-box">
            <a:extLst xmlns:a="http://schemas.openxmlformats.org/drawingml/2006/main">
              <a:ext uri="{FF2B5EF4-FFF2-40B4-BE49-F238E27FC236}">
                <a16:creationId xmlns:a16="http://schemas.microsoft.com/office/drawing/2014/main" id="{0F72E840-E4E5-4792-873D-23568BDF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38600"/>
            <a:ext cx="2870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0DF"/>
            </a:solidFill>
            <a:prstDash val="solid"/>
          </a:ln>
        </p:spPr>
      </p:sp>
      <p:sp>
        <p:nvSpPr>
          <p:cNvPr id="11" name="2-Objetivos-head">
            <a:extLst xmlns:a="http://schemas.openxmlformats.org/drawingml/2006/main">
              <a:ext uri="{FF2B5EF4-FFF2-40B4-BE49-F238E27FC236}">
                <a16:creationId xmlns:a16="http://schemas.microsoft.com/office/drawing/2014/main" id="{55F9FEB7-F11F-48D8-91CB-AEAC788F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38600"/>
            <a:ext cx="287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59"/>
          </a:solidFill>
          <a:ln xmlns:a="http://schemas.openxmlformats.org/drawingml/2006/main" w="9525">
            <a:solidFill>
              <a:srgbClr val="153F59"/>
            </a:solidFill>
            <a:prstDash val="solid"/>
          </a:ln>
        </p:spPr>
      </p:sp>
      <p:sp>
        <p:nvSpPr>
          <p:cNvPr id="12" name="2-Objetivos-title">
            <a:extLst xmlns:a="http://schemas.openxmlformats.org/drawingml/2006/main">
              <a:ext uri="{FF2B5EF4-FFF2-40B4-BE49-F238E27FC236}">
                <a16:creationId xmlns:a16="http://schemas.microsoft.com/office/drawing/2014/main" id="{59EEF8F1-32D4-467C-A241-7C88ACE9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86225"/>
            <a:ext cx="271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2. Objetivos</a:t>
            </a:r>
          </a:p>
        </p:txBody>
      </p:sp>
      <p:sp>
        <p:nvSpPr>
          <p:cNvPr id="13" name="2-Objetivos-body">
            <a:extLst xmlns:a="http://schemas.openxmlformats.org/drawingml/2006/main">
              <a:ext uri="{FF2B5EF4-FFF2-40B4-BE49-F238E27FC236}">
                <a16:creationId xmlns:a16="http://schemas.microsoft.com/office/drawing/2014/main" id="{74D7BCF3-B06D-4B79-92E5-1A1C8694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2679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02536"/>
                </a:solidFill>
              </a:defRPr>
            </a:pPr>
            <a:r>
              <a:rPr sz="638" b="0">
                <a:solidFill>
                  <a:srgbClr val="102536"/>
                </a:solidFill>
              </a:rPr>
              <a:t>• Implementar no R o plano amostral da PNS 2013 e 2019.</a:t>
            </a:r>
          </a:p>
          <a:p xmlns:a="http://schemas.openxmlformats.org/drawingml/2006/main">
            <a:pPr algn="l">
              <a:defRPr sz="638" b="0">
                <a:solidFill>
                  <a:srgbClr val="102536"/>
                </a:solidFill>
              </a:defRPr>
            </a:pPr>
            <a:r>
              <a:rPr sz="638" b="0">
                <a:solidFill>
                  <a:srgbClr val="102536"/>
                </a:solidFill>
              </a:rPr>
              <a:t>• Estimar diagnóstico médico de asma, crise nos últimos 12 meses, uso de medicamento oral/bombinha, tabagismo, desembolso, absenteísmo, dias perdidos e renda.</a:t>
            </a:r>
          </a:p>
          <a:p xmlns:a="http://schemas.openxmlformats.org/drawingml/2006/main">
            <a:pPr algn="l">
              <a:defRPr sz="638" b="0">
                <a:solidFill>
                  <a:srgbClr val="102536"/>
                </a:solidFill>
              </a:defRPr>
            </a:pPr>
            <a:r>
              <a:rPr sz="638" b="0">
                <a:solidFill>
                  <a:srgbClr val="102536"/>
                </a:solidFill>
              </a:rPr>
              <a:t>• Comparar Brasil e UFs por estimativas pontuais, IC95% beta, magnitude e sobreposição dos intervalos.</a:t>
            </a:r>
          </a:p>
        </p:txBody>
      </p:sp>
      <p:sp>
        <p:nvSpPr>
          <p:cNvPr id="14" name="3-Dados e indicadores-box">
            <a:extLst xmlns:a="http://schemas.openxmlformats.org/drawingml/2006/main">
              <a:ext uri="{FF2B5EF4-FFF2-40B4-BE49-F238E27FC236}">
                <a16:creationId xmlns:a16="http://schemas.microsoft.com/office/drawing/2014/main" id="{A018F41C-C178-4B08-98A1-86325AC4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638800"/>
            <a:ext cx="28702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0DF"/>
            </a:solidFill>
            <a:prstDash val="solid"/>
          </a:ln>
        </p:spPr>
      </p:sp>
      <p:sp>
        <p:nvSpPr>
          <p:cNvPr id="15" name="3-Dados e indicadores-head">
            <a:extLst xmlns:a="http://schemas.openxmlformats.org/drawingml/2006/main">
              <a:ext uri="{FF2B5EF4-FFF2-40B4-BE49-F238E27FC236}">
                <a16:creationId xmlns:a16="http://schemas.microsoft.com/office/drawing/2014/main" id="{FFD3FEF2-0213-4EE9-88BD-42871114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638800"/>
            <a:ext cx="287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59"/>
          </a:solidFill>
          <a:ln xmlns:a="http://schemas.openxmlformats.org/drawingml/2006/main" w="9525">
            <a:solidFill>
              <a:srgbClr val="153F59"/>
            </a:solidFill>
            <a:prstDash val="solid"/>
          </a:ln>
        </p:spPr>
      </p:sp>
      <p:sp>
        <p:nvSpPr>
          <p:cNvPr id="16" name="3-Dados e indicadores-title">
            <a:extLst xmlns:a="http://schemas.openxmlformats.org/drawingml/2006/main">
              <a:ext uri="{FF2B5EF4-FFF2-40B4-BE49-F238E27FC236}">
                <a16:creationId xmlns:a16="http://schemas.microsoft.com/office/drawing/2014/main" id="{545207E1-0541-4A64-8D8D-365A7017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86425"/>
            <a:ext cx="271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3. Dados e indicadores</a:t>
            </a:r>
          </a:p>
        </p:txBody>
      </p:sp>
      <p:sp>
        <p:nvSpPr>
          <p:cNvPr id="17" name="3-Dados e indicadores-body">
            <a:extLst xmlns:a="http://schemas.openxmlformats.org/drawingml/2006/main">
              <a:ext uri="{FF2B5EF4-FFF2-40B4-BE49-F238E27FC236}">
                <a16:creationId xmlns:a16="http://schemas.microsoft.com/office/drawing/2014/main" id="{6B4B3DC6-CB0A-4D05-88A4-ED57ED55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2679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02536"/>
                </a:solidFill>
              </a:defRPr>
            </a:pPr>
            <a:r>
              <a:rPr sz="645" b="0">
                <a:solidFill>
                  <a:srgbClr val="102536"/>
                </a:solidFill>
              </a:rPr>
              <a:t>• Unidade analítica: morador selecionado da PNS.</a:t>
            </a:r>
          </a:p>
          <a:p xmlns:a="http://schemas.openxmlformats.org/drawingml/2006/main">
            <a:pPr algn="l">
              <a:defRPr sz="645" b="0">
                <a:solidFill>
                  <a:srgbClr val="102536"/>
                </a:solidFill>
              </a:defRPr>
            </a:pPr>
            <a:r>
              <a:rPr sz="645" b="0">
                <a:solidFill>
                  <a:srgbClr val="102536"/>
                </a:solidFill>
              </a:rPr>
              <a:t>• Variáveis centrais: Q074 diagnóstico médico de asma; Q076 crise recente; Q07701/Q07704/Q07708 uso de medicamento; P050 tabagismo.</a:t>
            </a:r>
          </a:p>
          <a:p xmlns:a="http://schemas.openxmlformats.org/drawingml/2006/main">
            <a:pPr algn="l">
              <a:defRPr sz="645" b="0">
                <a:solidFill>
                  <a:srgbClr val="102536"/>
                </a:solidFill>
              </a:defRPr>
            </a:pPr>
            <a:r>
              <a:rPr sz="645" b="0">
                <a:solidFill>
                  <a:srgbClr val="102536"/>
                </a:solidFill>
              </a:rPr>
              <a:t>• Denominadores variam conforme o indicador: população geral, pessoas com asma, pessoas com asma e crise ou conjunto de respostas válidas.</a:t>
            </a:r>
          </a:p>
        </p:txBody>
      </p:sp>
      <p:sp>
        <p:nvSpPr>
          <p:cNvPr id="18" name="4-Plano amostral-box">
            <a:extLst xmlns:a="http://schemas.openxmlformats.org/drawingml/2006/main">
              <a:ext uri="{FF2B5EF4-FFF2-40B4-BE49-F238E27FC236}">
                <a16:creationId xmlns:a16="http://schemas.microsoft.com/office/drawing/2014/main" id="{B9A7B30D-D41E-4938-A79D-E92DFB66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162800"/>
            <a:ext cx="28702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0DF"/>
            </a:solidFill>
            <a:prstDash val="solid"/>
          </a:ln>
        </p:spPr>
      </p:sp>
      <p:sp>
        <p:nvSpPr>
          <p:cNvPr id="19" name="4-Plano amostral-head">
            <a:extLst xmlns:a="http://schemas.openxmlformats.org/drawingml/2006/main">
              <a:ext uri="{FF2B5EF4-FFF2-40B4-BE49-F238E27FC236}">
                <a16:creationId xmlns:a16="http://schemas.microsoft.com/office/drawing/2014/main" id="{89FA2FF0-136D-4B91-BE2C-7FB9194D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162800"/>
            <a:ext cx="287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59"/>
          </a:solidFill>
          <a:ln xmlns:a="http://schemas.openxmlformats.org/drawingml/2006/main" w="9525">
            <a:solidFill>
              <a:srgbClr val="153F59"/>
            </a:solidFill>
            <a:prstDash val="solid"/>
          </a:ln>
        </p:spPr>
      </p:sp>
      <p:sp>
        <p:nvSpPr>
          <p:cNvPr id="20" name="4-Plano amostral-title">
            <a:extLst xmlns:a="http://schemas.openxmlformats.org/drawingml/2006/main">
              <a:ext uri="{FF2B5EF4-FFF2-40B4-BE49-F238E27FC236}">
                <a16:creationId xmlns:a16="http://schemas.microsoft.com/office/drawing/2014/main" id="{1D80A735-7B9E-46DD-A9AC-089E189F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210425"/>
            <a:ext cx="271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4. Plano amostral</a:t>
            </a:r>
          </a:p>
        </p:txBody>
      </p:sp>
      <p:sp>
        <p:nvSpPr>
          <p:cNvPr id="21" name="4-Plano amostral-body">
            <a:extLst xmlns:a="http://schemas.openxmlformats.org/drawingml/2006/main">
              <a:ext uri="{FF2B5EF4-FFF2-40B4-BE49-F238E27FC236}">
                <a16:creationId xmlns:a16="http://schemas.microsoft.com/office/drawing/2014/main" id="{E8471387-014F-4284-B200-317B47B0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505700"/>
            <a:ext cx="26797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02536"/>
                </a:solidFill>
              </a:defRPr>
            </a:pPr>
            <a:r>
              <a:rPr sz="615" b="0">
                <a:solidFill>
                  <a:srgbClr val="102536"/>
                </a:solidFill>
              </a:rPr>
              <a:t>• O desenho foi construído com PNSIBGE::pns_design(), preservando UPA/PSU, estratos e peso calibrado do morador selecionado.</a:t>
            </a:r>
          </a:p>
          <a:p xmlns:a="http://schemas.openxmlformats.org/drawingml/2006/main">
            <a:pPr algn="l">
              <a:defRPr sz="615" b="0">
                <a:solidFill>
                  <a:srgbClr val="102536"/>
                </a:solidFill>
              </a:defRPr>
            </a:pPr>
            <a:r>
              <a:rPr sz="615" b="0">
                <a:solidFill>
                  <a:srgbClr val="102536"/>
                </a:solidFill>
              </a:rPr>
              <a:t>• A estimação usa o pacote survey para proporções, médias, totais e taxas.</a:t>
            </a:r>
          </a:p>
          <a:p xmlns:a="http://schemas.openxmlformats.org/drawingml/2006/main">
            <a:pPr algn="l">
              <a:defRPr sz="615" b="0">
                <a:solidFill>
                  <a:srgbClr val="102536"/>
                </a:solidFill>
              </a:defRPr>
            </a:pPr>
            <a:r>
              <a:rPr sz="615" b="0">
                <a:solidFill>
                  <a:srgbClr val="102536"/>
                </a:solidFill>
              </a:rPr>
              <a:t>• As taxas por 100 mil reescalam proporções ponderadas sem descartar a incerteza do desenho complexo.</a:t>
            </a:r>
          </a:p>
          <a:p xmlns:a="http://schemas.openxmlformats.org/drawingml/2006/main">
            <a:pPr algn="l">
              <a:defRPr sz="615" b="0">
                <a:solidFill>
                  <a:srgbClr val="102536"/>
                </a:solidFill>
              </a:defRPr>
            </a:pPr>
            <a:r>
              <a:rPr sz="615" b="0">
                <a:solidFill>
                  <a:srgbClr val="102536"/>
                </a:solidFill>
              </a:rPr>
              <a:t>• PSUs solitárias e domínios pequenos exigem escolhas explícitas de inferência.</a:t>
            </a:r>
          </a:p>
        </p:txBody>
      </p:sp>
      <p:sp>
        <p:nvSpPr>
          <p:cNvPr id="22" name="classic-formula-box">
            <a:extLst xmlns:a="http://schemas.openxmlformats.org/drawingml/2006/main">
              <a:ext uri="{FF2B5EF4-FFF2-40B4-BE49-F238E27FC236}">
                <a16:creationId xmlns:a16="http://schemas.microsoft.com/office/drawing/2014/main" id="{73C71D1E-E51C-4F73-A76F-D3E45B88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9105900"/>
            <a:ext cx="2870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1F5673"/>
            </a:solidFill>
            <a:prstDash val="solid"/>
          </a:ln>
        </p:spPr>
      </p:sp>
      <p:sp>
        <p:nvSpPr>
          <p:cNvPr id="23" name="classic-formula-title">
            <a:extLst xmlns:a="http://schemas.openxmlformats.org/drawingml/2006/main">
              <a:ext uri="{FF2B5EF4-FFF2-40B4-BE49-F238E27FC236}">
                <a16:creationId xmlns:a16="http://schemas.microsoft.com/office/drawing/2014/main" id="{10807F33-C053-4BBB-A1BB-B2DE8FFE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9163050"/>
            <a:ext cx="287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3F59"/>
                </a:solidFill>
              </a:defRPr>
            </a:pPr>
            <a:r>
              <a:rPr sz="900" b="1">
                <a:solidFill>
                  <a:srgbClr val="153F59"/>
                </a:solidFill>
              </a:rPr>
              <a:t>Estimadores e fórmulas</a:t>
            </a:r>
          </a:p>
        </p:txBody>
      </p:sp>
      <p:sp>
        <p:nvSpPr>
          <p:cNvPr id="24" name="classic-formula">
            <a:extLst xmlns:a="http://schemas.openxmlformats.org/drawingml/2006/main">
              <a:ext uri="{FF2B5EF4-FFF2-40B4-BE49-F238E27FC236}">
                <a16:creationId xmlns:a16="http://schemas.microsoft.com/office/drawing/2014/main" id="{335F50E0-FA21-4D7B-8411-5C6CD044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372600"/>
            <a:ext cx="2679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02536"/>
                </a:solidFill>
              </a:defRPr>
            </a:pPr>
            <a:r>
              <a:rPr sz="788" b="0">
                <a:solidFill>
                  <a:srgbClr val="102536"/>
                </a:solidFill>
              </a:rPr>
              <a:t>p̂ = Σᵢ wᵢyᵢ / Σᵢ wᵢ</a:t>
            </a:r>
          </a:p>
          <a:p xmlns:a="http://schemas.openxmlformats.org/drawingml/2006/main">
            <a:pPr algn="ctr">
              <a:defRPr sz="788" b="0">
                <a:solidFill>
                  <a:srgbClr val="102536"/>
                </a:solidFill>
              </a:defRPr>
            </a:pPr>
            <a:r>
              <a:rPr sz="788" b="0">
                <a:solidFill>
                  <a:srgbClr val="102536"/>
                </a:solidFill>
              </a:rPr>
              <a:t>wᵢ = peso amostral; yᵢ = indicador binário</a:t>
            </a:r>
          </a:p>
          <a:p xmlns:a="http://schemas.openxmlformats.org/drawingml/2006/main">
            <a:pPr algn="ctr">
              <a:defRPr sz="788" b="0">
                <a:solidFill>
                  <a:srgbClr val="102536"/>
                </a:solidFill>
              </a:defRPr>
            </a:pPr>
            <a:r>
              <a:rPr sz="788" b="0">
                <a:solidFill>
                  <a:srgbClr val="102536"/>
                </a:solidFill>
              </a:rPr>
              <a:t>% = 100 × p̂</a:t>
            </a:r>
          </a:p>
          <a:p xmlns:a="http://schemas.openxmlformats.org/drawingml/2006/main">
            <a:pPr algn="ctr">
              <a:defRPr sz="788" b="0">
                <a:solidFill>
                  <a:srgbClr val="102536"/>
                </a:solidFill>
              </a:defRPr>
            </a:pPr>
            <a:r>
              <a:rPr sz="788" b="0">
                <a:solidFill>
                  <a:srgbClr val="102536"/>
                </a:solidFill>
              </a:rPr>
              <a:t>taxa₁₀₀k = 100000 × p̂</a:t>
            </a:r>
          </a:p>
          <a:p xmlns:a="http://schemas.openxmlformats.org/drawingml/2006/main">
            <a:pPr algn="ctr">
              <a:defRPr sz="788" b="0">
                <a:solidFill>
                  <a:srgbClr val="102536"/>
                </a:solidFill>
              </a:defRPr>
            </a:pPr>
            <a:r>
              <a:rPr sz="788" b="0">
                <a:solidFill>
                  <a:srgbClr val="102536"/>
                </a:solidFill>
              </a:rPr>
              <a:t>IC₉₅%(p̂) = survey::svyciprop(method = "beta")</a:t>
            </a:r>
          </a:p>
        </p:txBody>
      </p:sp>
      <p:sp>
        <p:nvSpPr>
          <p:cNvPr id="25" name="prev-metric">
            <a:extLst xmlns:a="http://schemas.openxmlformats.org/drawingml/2006/main">
              <a:ext uri="{FF2B5EF4-FFF2-40B4-BE49-F238E27FC236}">
                <a16:creationId xmlns:a16="http://schemas.microsoft.com/office/drawing/2014/main" id="{265610DF-C256-45CA-BEE9-48E29164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400" y="2343150"/>
            <a:ext cx="2870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B7D0DF"/>
            </a:solidFill>
            <a:prstDash val="solid"/>
          </a:ln>
        </p:spPr>
      </p:sp>
      <p:sp>
        <p:nvSpPr>
          <p:cNvPr id="26" name="prev-metric-title">
            <a:extLst xmlns:a="http://schemas.openxmlformats.org/drawingml/2006/main">
              <a:ext uri="{FF2B5EF4-FFF2-40B4-BE49-F238E27FC236}">
                <a16:creationId xmlns:a16="http://schemas.microsoft.com/office/drawing/2014/main" id="{7C50B553-4E82-45ED-A8AD-8CDA844B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125" y="2419350"/>
            <a:ext cx="269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3F59"/>
                </a:solidFill>
              </a:defRPr>
            </a:pPr>
            <a:r>
              <a:rPr sz="675" b="1">
                <a:solidFill>
                  <a:srgbClr val="153F59"/>
                </a:solidFill>
              </a:rPr>
              <a:t>Brasil: diagnóstico</a:t>
            </a:r>
          </a:p>
        </p:txBody>
      </p:sp>
      <p:sp>
        <p:nvSpPr>
          <p:cNvPr id="27" name="prev-metric-value">
            <a:extLst xmlns:a="http://schemas.openxmlformats.org/drawingml/2006/main">
              <a:ext uri="{FF2B5EF4-FFF2-40B4-BE49-F238E27FC236}">
                <a16:creationId xmlns:a16="http://schemas.microsoft.com/office/drawing/2014/main" id="{86AFDD2E-5819-40F6-A1A8-0E1AA464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125" y="2609850"/>
            <a:ext cx="269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3F59"/>
                </a:solidFill>
              </a:defRPr>
            </a:pPr>
            <a:r>
              <a:rPr sz="1050" b="1">
                <a:solidFill>
                  <a:srgbClr val="153F59"/>
                </a:solidFill>
              </a:rPr>
              <a:t>4,41%→5,40%</a:t>
            </a:r>
          </a:p>
        </p:txBody>
      </p:sp>
      <p:sp>
        <p:nvSpPr>
          <p:cNvPr id="28" name="prev-metric-note">
            <a:extLst xmlns:a="http://schemas.openxmlformats.org/drawingml/2006/main">
              <a:ext uri="{FF2B5EF4-FFF2-40B4-BE49-F238E27FC236}">
                <a16:creationId xmlns:a16="http://schemas.microsoft.com/office/drawing/2014/main" id="{3B72C22F-2352-4AB2-83AD-F9D188BF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125" y="2876550"/>
            <a:ext cx="269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33" b="0">
                <a:solidFill>
                  <a:srgbClr val="102536"/>
                </a:solidFill>
              </a:defRPr>
            </a:pPr>
            <a:r>
              <a:rPr sz="533" b="0">
                <a:solidFill>
                  <a:srgbClr val="102536"/>
                </a:solidFill>
              </a:rPr>
              <a:t>Aumento do diagnóstico médico de asma, com IC95% sem sobreposição.</a:t>
            </a:r>
          </a:p>
        </p:txBody>
      </p:sp>
      <p:sp>
        <p:nvSpPr>
          <p:cNvPr id="29" name="crisis-metric">
            <a:extLst xmlns:a="http://schemas.openxmlformats.org/drawingml/2006/main">
              <a:ext uri="{FF2B5EF4-FFF2-40B4-BE49-F238E27FC236}">
                <a16:creationId xmlns:a16="http://schemas.microsoft.com/office/drawing/2014/main" id="{3B298C39-E2C1-490A-B3F3-AA936F0A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400" y="3371850"/>
            <a:ext cx="2870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B7D0DF"/>
            </a:solidFill>
            <a:prstDash val="solid"/>
          </a:ln>
        </p:spPr>
      </p:sp>
      <p:sp>
        <p:nvSpPr>
          <p:cNvPr id="30" name="crisis-metric-title">
            <a:extLst xmlns:a="http://schemas.openxmlformats.org/drawingml/2006/main">
              <a:ext uri="{FF2B5EF4-FFF2-40B4-BE49-F238E27FC236}">
                <a16:creationId xmlns:a16="http://schemas.microsoft.com/office/drawing/2014/main" id="{3C7B6991-CAED-4608-B631-ED6CB608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125" y="3448050"/>
            <a:ext cx="269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3F59"/>
                </a:solidFill>
              </a:defRPr>
            </a:pPr>
            <a:r>
              <a:rPr sz="675" b="1">
                <a:solidFill>
                  <a:srgbClr val="153F59"/>
                </a:solidFill>
              </a:rPr>
              <a:t>Brasil: crises</a:t>
            </a:r>
          </a:p>
        </p:txBody>
      </p:sp>
      <p:sp>
        <p:nvSpPr>
          <p:cNvPr id="31" name="crisis-metric-value">
            <a:extLst xmlns:a="http://schemas.openxmlformats.org/drawingml/2006/main">
              <a:ext uri="{FF2B5EF4-FFF2-40B4-BE49-F238E27FC236}">
                <a16:creationId xmlns:a16="http://schemas.microsoft.com/office/drawing/2014/main" id="{90A023EB-6E3C-49B4-92D5-81FA92A3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125" y="3638550"/>
            <a:ext cx="269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3F59"/>
                </a:solidFill>
              </a:defRPr>
            </a:pPr>
            <a:r>
              <a:rPr sz="1050" b="1">
                <a:solidFill>
                  <a:srgbClr val="153F59"/>
                </a:solidFill>
              </a:rPr>
              <a:t>38,3%→37,7%</a:t>
            </a:r>
          </a:p>
        </p:txBody>
      </p:sp>
      <p:sp>
        <p:nvSpPr>
          <p:cNvPr id="32" name="crisis-metric-note">
            <a:extLst xmlns:a="http://schemas.openxmlformats.org/drawingml/2006/main">
              <a:ext uri="{FF2B5EF4-FFF2-40B4-BE49-F238E27FC236}">
                <a16:creationId xmlns:a16="http://schemas.microsoft.com/office/drawing/2014/main" id="{F58ABBE4-D649-45FE-B013-6866BED2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125" y="3905250"/>
            <a:ext cx="269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33" b="0">
                <a:solidFill>
                  <a:srgbClr val="102536"/>
                </a:solidFill>
              </a:defRPr>
            </a:pPr>
            <a:r>
              <a:rPr sz="533" b="0">
                <a:solidFill>
                  <a:srgbClr val="102536"/>
                </a:solidFill>
              </a:rPr>
              <a:t>Crises em 12 meses ficaram estáveis; controle não melhorou na mesma proporção.</a:t>
            </a:r>
          </a:p>
        </p:txBody>
      </p:sp>
      <p:sp>
        <p:nvSpPr>
          <p:cNvPr id="33" name="chart-prev-caption">
            <a:extLst xmlns:a="http://schemas.openxmlformats.org/drawingml/2006/main">
              <a:ext uri="{FF2B5EF4-FFF2-40B4-BE49-F238E27FC236}">
                <a16:creationId xmlns:a16="http://schemas.microsoft.com/office/drawing/2014/main" id="{36F5C73B-A8A7-4D24-82FA-F2F115A2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400" y="4419600"/>
            <a:ext cx="287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153F59"/>
                </a:solidFill>
              </a:defRPr>
            </a:pPr>
            <a:r>
              <a:rPr sz="660" b="1">
                <a:solidFill>
                  <a:srgbClr val="153F59"/>
                </a:solidFill>
              </a:rPr>
              <a:t>Figura 1: Prevalência (%) de diagnóstico médico de asma por UF e Brasil, PNS 2013 e 2019.</a:t>
            </a:r>
          </a:p>
        </p:txBody>
      </p:sp>
      <p:sp>
        <p:nvSpPr>
          <p:cNvPr id="34" name="chart-prev-frame">
            <a:extLst xmlns:a="http://schemas.openxmlformats.org/drawingml/2006/main">
              <a:ext uri="{FF2B5EF4-FFF2-40B4-BE49-F238E27FC236}">
                <a16:creationId xmlns:a16="http://schemas.microsoft.com/office/drawing/2014/main" id="{1679B1DF-3CBE-4386-A6AB-0DF77DA3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400" y="4667250"/>
            <a:ext cx="2870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0DF"/>
            </a:solidFill>
            <a:prstDash val="solid"/>
          </a:ln>
        </p:spPr>
      </p:sp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51e320ed104b9f"/>
          <a:stretch xmlns:a="http://schemas.openxmlformats.org/drawingml/2006/main"/>
        </p:blipFill>
        <p:spPr>
          <a:xfrm xmlns:a="http://schemas.openxmlformats.org/drawingml/2006/main">
            <a:off x="3387790" y="4724400"/>
            <a:ext cx="2749420" cy="1981200"/>
          </a:xfrm>
          <a:prstGeom xmlns:a="http://schemas.openxmlformats.org/drawingml/2006/main" prst="rect">
            <a:avLst/>
          </a:prstGeom>
        </p:spPr>
      </p:pic>
      <p:sp>
        <p:nvSpPr>
          <p:cNvPr id="36" name="chart-crisis-caption">
            <a:extLst xmlns:a="http://schemas.openxmlformats.org/drawingml/2006/main">
              <a:ext uri="{FF2B5EF4-FFF2-40B4-BE49-F238E27FC236}">
                <a16:creationId xmlns:a16="http://schemas.microsoft.com/office/drawing/2014/main" id="{B425D553-108C-4D9F-92D8-3D94DA42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400" y="6896100"/>
            <a:ext cx="287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153F59"/>
                </a:solidFill>
              </a:defRPr>
            </a:pPr>
            <a:r>
              <a:rPr sz="660" b="1">
                <a:solidFill>
                  <a:srgbClr val="153F59"/>
                </a:solidFill>
              </a:rPr>
              <a:t>Figura 2: Prevalência (%) de crise de asma nos últimos 12 meses por UF e Brasil, PNS 2013 e 2019.</a:t>
            </a:r>
          </a:p>
        </p:txBody>
      </p:sp>
      <p:sp>
        <p:nvSpPr>
          <p:cNvPr id="37" name="chart-crisis-frame">
            <a:extLst xmlns:a="http://schemas.openxmlformats.org/drawingml/2006/main">
              <a:ext uri="{FF2B5EF4-FFF2-40B4-BE49-F238E27FC236}">
                <a16:creationId xmlns:a16="http://schemas.microsoft.com/office/drawing/2014/main" id="{D7A8E6BB-C2C9-4D84-BB04-FAB6B1F6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400" y="7143750"/>
            <a:ext cx="2870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0DF"/>
            </a:solidFill>
            <a:prstDash val="solid"/>
          </a:ln>
        </p:spPr>
      </p:sp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b66648237c43de"/>
          <a:stretch xmlns:a="http://schemas.openxmlformats.org/drawingml/2006/main"/>
        </p:blipFill>
        <p:spPr>
          <a:xfrm xmlns:a="http://schemas.openxmlformats.org/drawingml/2006/main">
            <a:off x="3387790" y="7200900"/>
            <a:ext cx="2749420" cy="1981200"/>
          </a:xfrm>
          <a:prstGeom xmlns:a="http://schemas.openxmlformats.org/drawingml/2006/main" prst="rect">
            <a:avLst/>
          </a:prstGeom>
        </p:spPr>
      </p:pic>
      <p:sp>
        <p:nvSpPr>
          <p:cNvPr id="39" name="5-Resultados e interpretação-box">
            <a:extLst xmlns:a="http://schemas.openxmlformats.org/drawingml/2006/main">
              <a:ext uri="{FF2B5EF4-FFF2-40B4-BE49-F238E27FC236}">
                <a16:creationId xmlns:a16="http://schemas.microsoft.com/office/drawing/2014/main" id="{5CE7E6A1-689C-4CBC-AB3E-102560D2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400" y="9372600"/>
            <a:ext cx="2870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0DF"/>
            </a:solidFill>
            <a:prstDash val="solid"/>
          </a:ln>
        </p:spPr>
      </p:sp>
      <p:sp>
        <p:nvSpPr>
          <p:cNvPr id="40" name="5-Resultados e interpretação-head">
            <a:extLst xmlns:a="http://schemas.openxmlformats.org/drawingml/2006/main">
              <a:ext uri="{FF2B5EF4-FFF2-40B4-BE49-F238E27FC236}">
                <a16:creationId xmlns:a16="http://schemas.microsoft.com/office/drawing/2014/main" id="{46D6E1AF-B05F-4039-8213-D519E9D0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400" y="9372600"/>
            <a:ext cx="287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59"/>
          </a:solidFill>
          <a:ln xmlns:a="http://schemas.openxmlformats.org/drawingml/2006/main" w="9525">
            <a:solidFill>
              <a:srgbClr val="153F59"/>
            </a:solidFill>
            <a:prstDash val="solid"/>
          </a:ln>
        </p:spPr>
      </p:sp>
      <p:sp>
        <p:nvSpPr>
          <p:cNvPr id="41" name="5-Resultados e interpretação-title">
            <a:extLst xmlns:a="http://schemas.openxmlformats.org/drawingml/2006/main">
              <a:ext uri="{FF2B5EF4-FFF2-40B4-BE49-F238E27FC236}">
                <a16:creationId xmlns:a16="http://schemas.microsoft.com/office/drawing/2014/main" id="{09CEAE7C-5961-4654-8D09-71CE4BC6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0" y="9420225"/>
            <a:ext cx="271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5. Resultados e interpretação</a:t>
            </a:r>
          </a:p>
        </p:txBody>
      </p:sp>
      <p:sp>
        <p:nvSpPr>
          <p:cNvPr id="42" name="5-Resultados e interpretação-body">
            <a:extLst xmlns:a="http://schemas.openxmlformats.org/drawingml/2006/main">
              <a:ext uri="{FF2B5EF4-FFF2-40B4-BE49-F238E27FC236}">
                <a16:creationId xmlns:a16="http://schemas.microsoft.com/office/drawing/2014/main" id="{00FCF87B-EDE6-4505-8BEF-06A74CBC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2650" y="9715500"/>
            <a:ext cx="26797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55" b="0">
                <a:solidFill>
                  <a:srgbClr val="102536"/>
                </a:solidFill>
              </a:defRPr>
            </a:pPr>
            <a:r>
              <a:rPr sz="555" b="0">
                <a:solidFill>
                  <a:srgbClr val="102536"/>
                </a:solidFill>
              </a:rPr>
              <a:t>• Brasil: diagnóstico médico de asma aumentou de 4,41% em 2013 para 5,40% em 2019, com IC95% sem sobreposição.</a:t>
            </a:r>
          </a:p>
          <a:p xmlns:a="http://schemas.openxmlformats.org/drawingml/2006/main">
            <a:pPr algn="l">
              <a:defRPr sz="555" b="0">
                <a:solidFill>
                  <a:srgbClr val="102536"/>
                </a:solidFill>
              </a:defRPr>
            </a:pPr>
            <a:r>
              <a:rPr sz="555" b="0">
                <a:solidFill>
                  <a:srgbClr val="102536"/>
                </a:solidFill>
              </a:rPr>
              <a:t>• Brasil: crises nos últimos 12 meses ficaram estáveis, de 38,3% para 37,7%.</a:t>
            </a:r>
          </a:p>
          <a:p xmlns:a="http://schemas.openxmlformats.org/drawingml/2006/main">
            <a:pPr algn="l">
              <a:defRPr sz="555" b="0">
                <a:solidFill>
                  <a:srgbClr val="102536"/>
                </a:solidFill>
              </a:defRPr>
            </a:pPr>
            <a:r>
              <a:rPr sz="555" b="0">
                <a:solidFill>
                  <a:srgbClr val="102536"/>
                </a:solidFill>
              </a:rPr>
              <a:t>• Brasil: uso de medicamento oral/bombinha entre pessoas com asma passou de 81,5% para 64,4%; a leitura deve considerar IC95%, perfil dos diagnosticados e taxa populacional.</a:t>
            </a:r>
          </a:p>
          <a:p xmlns:a="http://schemas.openxmlformats.org/drawingml/2006/main">
            <a:pPr algn="l">
              <a:defRPr sz="555" b="0">
                <a:solidFill>
                  <a:srgbClr val="102536"/>
                </a:solidFill>
              </a:defRPr>
            </a:pPr>
            <a:r>
              <a:rPr sz="555" b="0">
                <a:solidFill>
                  <a:srgbClr val="102536"/>
                </a:solidFill>
              </a:rPr>
              <a:t>• Tabagismo caiu em várias UFs; a taxa nacional citada foi de 14.650 para 12.151 por 100 mil.</a:t>
            </a:r>
          </a:p>
        </p:txBody>
      </p:sp>
      <p:sp>
        <p:nvSpPr>
          <p:cNvPr id="43" name="meds-metric">
            <a:extLst xmlns:a="http://schemas.openxmlformats.org/drawingml/2006/main">
              <a:ext uri="{FF2B5EF4-FFF2-40B4-BE49-F238E27FC236}">
                <a16:creationId xmlns:a16="http://schemas.microsoft.com/office/drawing/2014/main" id="{D1A97E95-4EF9-43FE-B084-15B5616C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2343150"/>
            <a:ext cx="2870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B7D0DF"/>
            </a:solidFill>
            <a:prstDash val="solid"/>
          </a:ln>
        </p:spPr>
      </p:sp>
      <p:sp>
        <p:nvSpPr>
          <p:cNvPr id="44" name="meds-metric-title">
            <a:extLst xmlns:a="http://schemas.openxmlformats.org/drawingml/2006/main">
              <a:ext uri="{FF2B5EF4-FFF2-40B4-BE49-F238E27FC236}">
                <a16:creationId xmlns:a16="http://schemas.microsoft.com/office/drawing/2014/main" id="{3801DEC5-D033-45AB-ACD3-CB55B67F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725" y="2419350"/>
            <a:ext cx="269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3F59"/>
                </a:solidFill>
              </a:defRPr>
            </a:pPr>
            <a:r>
              <a:rPr sz="675" b="1">
                <a:solidFill>
                  <a:srgbClr val="153F59"/>
                </a:solidFill>
              </a:rPr>
              <a:t>Brasil: medicamentos</a:t>
            </a:r>
          </a:p>
        </p:txBody>
      </p:sp>
      <p:sp>
        <p:nvSpPr>
          <p:cNvPr id="45" name="meds-metric-value">
            <a:extLst xmlns:a="http://schemas.openxmlformats.org/drawingml/2006/main">
              <a:ext uri="{FF2B5EF4-FFF2-40B4-BE49-F238E27FC236}">
                <a16:creationId xmlns:a16="http://schemas.microsoft.com/office/drawing/2014/main" id="{83E182D6-A78B-410C-A9E1-FA62E9CB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725" y="2609850"/>
            <a:ext cx="269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3F59"/>
                </a:solidFill>
              </a:defRPr>
            </a:pPr>
            <a:r>
              <a:rPr sz="1050" b="1">
                <a:solidFill>
                  <a:srgbClr val="153F59"/>
                </a:solidFill>
              </a:rPr>
              <a:t>81,5%→64,4%</a:t>
            </a:r>
          </a:p>
        </p:txBody>
      </p:sp>
      <p:sp>
        <p:nvSpPr>
          <p:cNvPr id="46" name="meds-metric-note">
            <a:extLst xmlns:a="http://schemas.openxmlformats.org/drawingml/2006/main">
              <a:ext uri="{FF2B5EF4-FFF2-40B4-BE49-F238E27FC236}">
                <a16:creationId xmlns:a16="http://schemas.microsoft.com/office/drawing/2014/main" id="{8EF8D409-777D-4590-AAFF-52EDEA11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725" y="2876550"/>
            <a:ext cx="269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33" b="0">
                <a:solidFill>
                  <a:srgbClr val="102536"/>
                </a:solidFill>
              </a:defRPr>
            </a:pPr>
            <a:r>
              <a:rPr sz="533" b="0">
                <a:solidFill>
                  <a:srgbClr val="102536"/>
                </a:solidFill>
              </a:rPr>
              <a:t>Menor proporção de uso entre asmáticos; interpretar com IC95% e perfil dos diagnosticados.</a:t>
            </a:r>
          </a:p>
        </p:txBody>
      </p:sp>
      <p:sp>
        <p:nvSpPr>
          <p:cNvPr id="47" name="chart-meds-caption">
            <a:extLst xmlns:a="http://schemas.openxmlformats.org/drawingml/2006/main">
              <a:ext uri="{FF2B5EF4-FFF2-40B4-BE49-F238E27FC236}">
                <a16:creationId xmlns:a16="http://schemas.microsoft.com/office/drawing/2014/main" id="{787B92F2-3198-4F58-BEA9-066F51A5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3371850"/>
            <a:ext cx="287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153F59"/>
                </a:solidFill>
              </a:defRPr>
            </a:pPr>
            <a:r>
              <a:rPr sz="660" b="1">
                <a:solidFill>
                  <a:srgbClr val="153F59"/>
                </a:solidFill>
              </a:rPr>
              <a:t>Figura 3: Uso de medicamento oral ou bombinha entre pessoas com diagnóstico médico de asma por UF e Brasil.</a:t>
            </a:r>
          </a:p>
        </p:txBody>
      </p:sp>
      <p:sp>
        <p:nvSpPr>
          <p:cNvPr id="48" name="chart-meds-frame">
            <a:extLst xmlns:a="http://schemas.openxmlformats.org/drawingml/2006/main">
              <a:ext uri="{FF2B5EF4-FFF2-40B4-BE49-F238E27FC236}">
                <a16:creationId xmlns:a16="http://schemas.microsoft.com/office/drawing/2014/main" id="{C8F3F114-DB69-488A-B671-C7369B03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3619500"/>
            <a:ext cx="2870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0DF"/>
            </a:solidFill>
            <a:prstDash val="solid"/>
          </a:ln>
        </p:spPr>
      </p:sp>
      <p:pic>
        <p:nvPicPr>
          <p:cNvPr id="1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ecfd9f85894d2a"/>
          <a:stretch xmlns:a="http://schemas.openxmlformats.org/drawingml/2006/main"/>
        </p:blipFill>
        <p:spPr>
          <a:xfrm xmlns:a="http://schemas.openxmlformats.org/drawingml/2006/main">
            <a:off x="6410390" y="3676650"/>
            <a:ext cx="2749420" cy="1981200"/>
          </a:xfrm>
          <a:prstGeom xmlns:a="http://schemas.openxmlformats.org/drawingml/2006/main" prst="rect">
            <a:avLst/>
          </a:prstGeom>
        </p:spPr>
      </p:pic>
      <p:sp>
        <p:nvSpPr>
          <p:cNvPr id="50" name="chart-smoke-caption">
            <a:extLst xmlns:a="http://schemas.openxmlformats.org/drawingml/2006/main">
              <a:ext uri="{FF2B5EF4-FFF2-40B4-BE49-F238E27FC236}">
                <a16:creationId xmlns:a16="http://schemas.microsoft.com/office/drawing/2014/main" id="{36272DF9-0156-4A46-8B51-EA01EF3B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5848350"/>
            <a:ext cx="287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153F59"/>
                </a:solidFill>
              </a:defRPr>
            </a:pPr>
            <a:r>
              <a:rPr sz="660" b="1">
                <a:solidFill>
                  <a:srgbClr val="153F59"/>
                </a:solidFill>
              </a:rPr>
              <a:t>Figura 4: Taxa de fumantes ativos por 100 mil habitantes por UF, PNS 2013 e 2019.</a:t>
            </a:r>
          </a:p>
        </p:txBody>
      </p:sp>
      <p:sp>
        <p:nvSpPr>
          <p:cNvPr id="51" name="chart-smoke-frame">
            <a:extLst xmlns:a="http://schemas.openxmlformats.org/drawingml/2006/main">
              <a:ext uri="{FF2B5EF4-FFF2-40B4-BE49-F238E27FC236}">
                <a16:creationId xmlns:a16="http://schemas.microsoft.com/office/drawing/2014/main" id="{19DA7A4D-DDCB-4AFA-8758-06B6CA15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6096000"/>
            <a:ext cx="2870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0DF"/>
            </a:solidFill>
            <a:prstDash val="solid"/>
          </a:ln>
        </p:spPr>
      </p:sp>
      <p:pic>
        <p:nvPicPr>
          <p:cNvPr id="1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25a0da41204c87"/>
          <a:stretch xmlns:a="http://schemas.openxmlformats.org/drawingml/2006/main"/>
        </p:blipFill>
        <p:spPr>
          <a:xfrm xmlns:a="http://schemas.openxmlformats.org/drawingml/2006/main">
            <a:off x="6410390" y="6153150"/>
            <a:ext cx="2749420" cy="1981200"/>
          </a:xfrm>
          <a:prstGeom xmlns:a="http://schemas.openxmlformats.org/drawingml/2006/main" prst="rect">
            <a:avLst/>
          </a:prstGeom>
        </p:spPr>
      </p:pic>
      <p:sp>
        <p:nvSpPr>
          <p:cNvPr id="53" name="6-IC beta e leitura dos gráficos-box">
            <a:extLst xmlns:a="http://schemas.openxmlformats.org/drawingml/2006/main">
              <a:ext uri="{FF2B5EF4-FFF2-40B4-BE49-F238E27FC236}">
                <a16:creationId xmlns:a16="http://schemas.microsoft.com/office/drawing/2014/main" id="{18A6F073-3A0C-4CB9-B9C2-36D98686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8324850"/>
            <a:ext cx="28702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0DF"/>
            </a:solidFill>
            <a:prstDash val="solid"/>
          </a:ln>
        </p:spPr>
      </p:sp>
      <p:sp>
        <p:nvSpPr>
          <p:cNvPr id="54" name="6-IC beta e leitura dos gráficos-head">
            <a:extLst xmlns:a="http://schemas.openxmlformats.org/drawingml/2006/main">
              <a:ext uri="{FF2B5EF4-FFF2-40B4-BE49-F238E27FC236}">
                <a16:creationId xmlns:a16="http://schemas.microsoft.com/office/drawing/2014/main" id="{EDC81BB3-3044-4C52-9D9E-EB379B6D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8324850"/>
            <a:ext cx="287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59"/>
          </a:solidFill>
          <a:ln xmlns:a="http://schemas.openxmlformats.org/drawingml/2006/main" w="9525">
            <a:solidFill>
              <a:srgbClr val="153F59"/>
            </a:solidFill>
            <a:prstDash val="solid"/>
          </a:ln>
        </p:spPr>
      </p:sp>
      <p:sp>
        <p:nvSpPr>
          <p:cNvPr id="55" name="6-IC beta e leitura dos gráficos-title">
            <a:extLst xmlns:a="http://schemas.openxmlformats.org/drawingml/2006/main">
              <a:ext uri="{FF2B5EF4-FFF2-40B4-BE49-F238E27FC236}">
                <a16:creationId xmlns:a16="http://schemas.microsoft.com/office/drawing/2014/main" id="{CF7705EB-2FC6-425F-B71A-31F32539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8372475"/>
            <a:ext cx="271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6. IC beta e leitura dos gráficos</a:t>
            </a:r>
          </a:p>
        </p:txBody>
      </p:sp>
      <p:sp>
        <p:nvSpPr>
          <p:cNvPr id="56" name="6-IC beta e leitura dos gráficos-body">
            <a:extLst xmlns:a="http://schemas.openxmlformats.org/drawingml/2006/main">
              <a:ext uri="{FF2B5EF4-FFF2-40B4-BE49-F238E27FC236}">
                <a16:creationId xmlns:a16="http://schemas.microsoft.com/office/drawing/2014/main" id="{BF1BFCE6-CB5F-418A-9EC4-3106C47A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8667750"/>
            <a:ext cx="2679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02536"/>
                </a:solidFill>
              </a:defRPr>
            </a:pPr>
            <a:r>
              <a:rPr sz="563" b="0">
                <a:solidFill>
                  <a:srgbClr val="102536"/>
                </a:solidFill>
              </a:rPr>
              <a:t>• O intervalo de Wald pode apresentar cobertura instável em proporções baixas/altas ou domínios com poucos eventos.</a:t>
            </a:r>
          </a:p>
          <a:p xmlns:a="http://schemas.openxmlformats.org/drawingml/2006/main">
            <a:pPr algn="l">
              <a:defRPr sz="563" b="0">
                <a:solidFill>
                  <a:srgbClr val="102536"/>
                </a:solidFill>
              </a:defRPr>
            </a:pPr>
            <a:r>
              <a:rPr sz="563" b="0">
                <a:solidFill>
                  <a:srgbClr val="102536"/>
                </a:solidFill>
              </a:rPr>
              <a:t>• O IC beta por survey::svyciprop(method = "beta") respeita a escala 0-1 e reduz o risco de limites impossíveis.</a:t>
            </a:r>
          </a:p>
          <a:p xmlns:a="http://schemas.openxmlformats.org/drawingml/2006/main">
            <a:pPr algn="l">
              <a:defRPr sz="563" b="0">
                <a:solidFill>
                  <a:srgbClr val="102536"/>
                </a:solidFill>
              </a:defRPr>
            </a:pPr>
            <a:r>
              <a:rPr sz="563" b="0">
                <a:solidFill>
                  <a:srgbClr val="102536"/>
                </a:solidFill>
              </a:rPr>
              <a:t>• A comparação entre anos/UFs foi interpretada por magnitude e sobreposição dos IC95%, não apenas pela altura das barras.</a:t>
            </a:r>
          </a:p>
        </p:txBody>
      </p:sp>
      <p:sp>
        <p:nvSpPr>
          <p:cNvPr id="57" name="7-Discussão e implicações-box">
            <a:extLst xmlns:a="http://schemas.openxmlformats.org/drawingml/2006/main">
              <a:ext uri="{FF2B5EF4-FFF2-40B4-BE49-F238E27FC236}">
                <a16:creationId xmlns:a16="http://schemas.microsoft.com/office/drawing/2014/main" id="{896309AC-0AFC-49EC-89C9-EC6E6431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9848850"/>
            <a:ext cx="28702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0DF"/>
            </a:solidFill>
            <a:prstDash val="solid"/>
          </a:ln>
        </p:spPr>
      </p:sp>
      <p:sp>
        <p:nvSpPr>
          <p:cNvPr id="58" name="7-Discussão e implicações-head">
            <a:extLst xmlns:a="http://schemas.openxmlformats.org/drawingml/2006/main">
              <a:ext uri="{FF2B5EF4-FFF2-40B4-BE49-F238E27FC236}">
                <a16:creationId xmlns:a16="http://schemas.microsoft.com/office/drawing/2014/main" id="{5609ED91-CAAE-4538-B00C-E3854E85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9848850"/>
            <a:ext cx="287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59"/>
          </a:solidFill>
          <a:ln xmlns:a="http://schemas.openxmlformats.org/drawingml/2006/main" w="9525">
            <a:solidFill>
              <a:srgbClr val="153F59"/>
            </a:solidFill>
            <a:prstDash val="solid"/>
          </a:ln>
        </p:spPr>
      </p:sp>
      <p:sp>
        <p:nvSpPr>
          <p:cNvPr id="59" name="7-Discussão e implicações-title">
            <a:extLst xmlns:a="http://schemas.openxmlformats.org/drawingml/2006/main">
              <a:ext uri="{FF2B5EF4-FFF2-40B4-BE49-F238E27FC236}">
                <a16:creationId xmlns:a16="http://schemas.microsoft.com/office/drawing/2014/main" id="{C4F73AED-522A-427F-8999-8D7A0D48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9896475"/>
            <a:ext cx="271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7. Discussão e implicações</a:t>
            </a:r>
          </a:p>
        </p:txBody>
      </p:sp>
      <p:sp>
        <p:nvSpPr>
          <p:cNvPr id="60" name="7-Discussão e implicações-body">
            <a:extLst xmlns:a="http://schemas.openxmlformats.org/drawingml/2006/main">
              <a:ext uri="{FF2B5EF4-FFF2-40B4-BE49-F238E27FC236}">
                <a16:creationId xmlns:a16="http://schemas.microsoft.com/office/drawing/2014/main" id="{16EF75B4-E464-4AE5-B31B-799E2230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10191750"/>
            <a:ext cx="2679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102536"/>
                </a:solidFill>
              </a:defRPr>
            </a:pPr>
            <a:r>
              <a:rPr sz="578" b="0">
                <a:solidFill>
                  <a:srgbClr val="102536"/>
                </a:solidFill>
              </a:rPr>
              <a:t>• A combinação diagnóstico↑, crises≈ e uso de medicamentos↓ sugere expansão do reconhecimento da asma sem melhora proporcional no controle.</a:t>
            </a:r>
          </a:p>
          <a:p xmlns:a="http://schemas.openxmlformats.org/drawingml/2006/main">
            <a:pPr algn="l">
              <a:defRPr sz="578" b="0">
                <a:solidFill>
                  <a:srgbClr val="102536"/>
                </a:solidFill>
              </a:defRPr>
            </a:pPr>
            <a:r>
              <a:rPr sz="578" b="0">
                <a:solidFill>
                  <a:srgbClr val="102536"/>
                </a:solidFill>
              </a:rPr>
              <a:t>• O aumento do diagnóstico pode refletir maior ocorrência, melhor acesso ao diagnóstico ou ambos.</a:t>
            </a:r>
          </a:p>
          <a:p xmlns:a="http://schemas.openxmlformats.org/drawingml/2006/main">
            <a:pPr algn="l">
              <a:defRPr sz="578" b="0">
                <a:solidFill>
                  <a:srgbClr val="102536"/>
                </a:solidFill>
              </a:defRPr>
            </a:pPr>
            <a:r>
              <a:rPr sz="578" b="0">
                <a:solidFill>
                  <a:srgbClr val="102536"/>
                </a:solidFill>
              </a:rPr>
              <a:t>• O controle da asma depende de acesso farmacológico, seguimento clínico, educação, controle de exposições e intervenções não farmacológicas.</a:t>
            </a:r>
          </a:p>
        </p:txBody>
      </p:sp>
      <p:sp>
        <p:nvSpPr>
          <p:cNvPr id="61" name="8-ETL, OMOP e OHDSI-box">
            <a:extLst xmlns:a="http://schemas.openxmlformats.org/drawingml/2006/main">
              <a:ext uri="{FF2B5EF4-FFF2-40B4-BE49-F238E27FC236}">
                <a16:creationId xmlns:a16="http://schemas.microsoft.com/office/drawing/2014/main" id="{EE993A2D-7F58-4041-B872-5FC2A118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0572750"/>
            <a:ext cx="5892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0DF"/>
            </a:solidFill>
            <a:prstDash val="solid"/>
          </a:ln>
        </p:spPr>
      </p:sp>
      <p:sp>
        <p:nvSpPr>
          <p:cNvPr id="62" name="8-ETL, OMOP e OHDSI-head">
            <a:extLst xmlns:a="http://schemas.openxmlformats.org/drawingml/2006/main">
              <a:ext uri="{FF2B5EF4-FFF2-40B4-BE49-F238E27FC236}">
                <a16:creationId xmlns:a16="http://schemas.microsoft.com/office/drawing/2014/main" id="{04E3D744-8C65-4345-8688-BE11BF44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0572750"/>
            <a:ext cx="5892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59"/>
          </a:solidFill>
          <a:ln xmlns:a="http://schemas.openxmlformats.org/drawingml/2006/main" w="9525">
            <a:solidFill>
              <a:srgbClr val="153F59"/>
            </a:solidFill>
            <a:prstDash val="solid"/>
          </a:ln>
        </p:spPr>
      </p:sp>
      <p:sp>
        <p:nvSpPr>
          <p:cNvPr id="63" name="8-ETL, OMOP e OHDSI-title">
            <a:extLst xmlns:a="http://schemas.openxmlformats.org/drawingml/2006/main">
              <a:ext uri="{FF2B5EF4-FFF2-40B4-BE49-F238E27FC236}">
                <a16:creationId xmlns:a16="http://schemas.microsoft.com/office/drawing/2014/main" id="{965AE57A-28F8-4BBC-B2D4-21D61A1F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620375"/>
            <a:ext cx="574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8. ETL, OMOP e OHDSI</a:t>
            </a:r>
          </a:p>
        </p:txBody>
      </p:sp>
      <p:sp>
        <p:nvSpPr>
          <p:cNvPr id="64" name="8-ETL, OMOP e OHDSI-body">
            <a:extLst xmlns:a="http://schemas.openxmlformats.org/drawingml/2006/main">
              <a:ext uri="{FF2B5EF4-FFF2-40B4-BE49-F238E27FC236}">
                <a16:creationId xmlns:a16="http://schemas.microsoft.com/office/drawing/2014/main" id="{E1D8EB9D-81B1-41F6-A754-58C21940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915650"/>
            <a:ext cx="570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102536"/>
                </a:solidFill>
              </a:defRPr>
            </a:pPr>
            <a:r>
              <a:rPr sz="570" b="0">
                <a:solidFill>
                  <a:srgbClr val="102536"/>
                </a:solidFill>
              </a:rPr>
              <a:t>• O fluxo analítico segue lógica ETL: extração dos microdados, transformação de variáveis e carga de tabelas analíticas reprodutíveis.</a:t>
            </a:r>
          </a:p>
          <a:p xmlns:a="http://schemas.openxmlformats.org/drawingml/2006/main">
            <a:pPr algn="l">
              <a:defRPr sz="570" b="0">
                <a:solidFill>
                  <a:srgbClr val="102536"/>
                </a:solidFill>
              </a:defRPr>
            </a:pPr>
            <a:r>
              <a:rPr sz="570" b="0">
                <a:solidFill>
                  <a:srgbClr val="102536"/>
                </a:solidFill>
              </a:rPr>
              <a:t>• A PNS não é base clínica longitudinal, mas pode atuar como camada populacional de referência.</a:t>
            </a:r>
          </a:p>
          <a:p xmlns:a="http://schemas.openxmlformats.org/drawingml/2006/main">
            <a:pPr algn="l">
              <a:defRPr sz="570" b="0">
                <a:solidFill>
                  <a:srgbClr val="102536"/>
                </a:solidFill>
              </a:defRPr>
            </a:pPr>
            <a:r>
              <a:rPr sz="570" b="0">
                <a:solidFill>
                  <a:srgbClr val="102536"/>
                </a:solidFill>
              </a:rPr>
              <a:t>• OMOP/OHDSI oferece princípios de padronização, vocabulários e reprodutibilidade para comparação futura com bases assistenciais.</a:t>
            </a:r>
          </a:p>
        </p:txBody>
      </p:sp>
      <p:sp>
        <p:nvSpPr>
          <p:cNvPr id="65" name="9-Conclusões-box">
            <a:extLst xmlns:a="http://schemas.openxmlformats.org/drawingml/2006/main">
              <a:ext uri="{FF2B5EF4-FFF2-40B4-BE49-F238E27FC236}">
                <a16:creationId xmlns:a16="http://schemas.microsoft.com/office/drawing/2014/main" id="{45DD230E-B581-4D17-928A-00EE3EFC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1118235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0DF"/>
            </a:solidFill>
            <a:prstDash val="solid"/>
          </a:ln>
        </p:spPr>
      </p:sp>
      <p:sp>
        <p:nvSpPr>
          <p:cNvPr id="66" name="9-Conclusões-head">
            <a:extLst xmlns:a="http://schemas.openxmlformats.org/drawingml/2006/main">
              <a:ext uri="{FF2B5EF4-FFF2-40B4-BE49-F238E27FC236}">
                <a16:creationId xmlns:a16="http://schemas.microsoft.com/office/drawing/2014/main" id="{D947E601-701E-4D2F-839F-8E4F2090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111823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59"/>
          </a:solidFill>
          <a:ln xmlns:a="http://schemas.openxmlformats.org/drawingml/2006/main" w="9525">
            <a:solidFill>
              <a:srgbClr val="153F59"/>
            </a:solidFill>
            <a:prstDash val="solid"/>
          </a:ln>
        </p:spPr>
      </p:sp>
      <p:sp>
        <p:nvSpPr>
          <p:cNvPr id="67" name="9-Conclusões-title">
            <a:extLst xmlns:a="http://schemas.openxmlformats.org/drawingml/2006/main">
              <a:ext uri="{FF2B5EF4-FFF2-40B4-BE49-F238E27FC236}">
                <a16:creationId xmlns:a16="http://schemas.microsoft.com/office/drawing/2014/main" id="{A3E759BD-D2F2-41FD-AA35-77308AC5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11229975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9. Conclusões</a:t>
            </a:r>
          </a:p>
        </p:txBody>
      </p:sp>
      <p:sp>
        <p:nvSpPr>
          <p:cNvPr id="68" name="9-Conclusões-body">
            <a:extLst xmlns:a="http://schemas.openxmlformats.org/drawingml/2006/main">
              <a:ext uri="{FF2B5EF4-FFF2-40B4-BE49-F238E27FC236}">
                <a16:creationId xmlns:a16="http://schemas.microsoft.com/office/drawing/2014/main" id="{C011EFC5-97CE-4246-A9A5-D5BBA44B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1152525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102536"/>
                </a:solidFill>
              </a:defRPr>
            </a:pPr>
            <a:r>
              <a:rPr sz="540" b="0">
                <a:solidFill>
                  <a:srgbClr val="102536"/>
                </a:solidFill>
              </a:rPr>
              <a:t>• A implementação correta do plano amostral é condição para estimativas válidas.</a:t>
            </a:r>
          </a:p>
          <a:p xmlns:a="http://schemas.openxmlformats.org/drawingml/2006/main">
            <a:pPr algn="l">
              <a:defRPr sz="540" b="0">
                <a:solidFill>
                  <a:srgbClr val="102536"/>
                </a:solidFill>
              </a:defRPr>
            </a:pPr>
            <a:r>
              <a:rPr sz="540" b="0">
                <a:solidFill>
                  <a:srgbClr val="102536"/>
                </a:solidFill>
              </a:rPr>
              <a:t>• O Brasil apresentou aumento de diagnóstico, mas não evidência equivalente de melhora no controle.</a:t>
            </a:r>
          </a:p>
          <a:p xmlns:a="http://schemas.openxmlformats.org/drawingml/2006/main">
            <a:pPr algn="l">
              <a:defRPr sz="540" b="0">
                <a:solidFill>
                  <a:srgbClr val="102536"/>
                </a:solidFill>
              </a:defRPr>
            </a:pPr>
            <a:r>
              <a:rPr sz="540" b="0">
                <a:solidFill>
                  <a:srgbClr val="102536"/>
                </a:solidFill>
              </a:rPr>
              <a:t>• Os gráficos por UF devem ser lidos com IC95%, pois várias comparações têm intervalos sobrepostos.</a:t>
            </a:r>
          </a:p>
        </p:txBody>
      </p:sp>
      <p:sp>
        <p:nvSpPr>
          <p:cNvPr id="69" name="references-box">
            <a:extLst xmlns:a="http://schemas.openxmlformats.org/drawingml/2006/main">
              <a:ext uri="{FF2B5EF4-FFF2-40B4-BE49-F238E27FC236}">
                <a16:creationId xmlns:a16="http://schemas.microsoft.com/office/drawing/2014/main" id="{07952E55-254D-4467-967B-EBF81019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811000"/>
            <a:ext cx="7048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0DF"/>
            </a:solidFill>
            <a:prstDash val="solid"/>
          </a:ln>
        </p:spPr>
      </p:sp>
      <p:sp>
        <p:nvSpPr>
          <p:cNvPr id="70" name="references-title">
            <a:extLst xmlns:a="http://schemas.openxmlformats.org/drawingml/2006/main">
              <a:ext uri="{FF2B5EF4-FFF2-40B4-BE49-F238E27FC236}">
                <a16:creationId xmlns:a16="http://schemas.microsoft.com/office/drawing/2014/main" id="{6C5B2E12-EA82-40E2-A904-4DC30019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877675"/>
            <a:ext cx="6896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3F59"/>
                </a:solidFill>
              </a:defRPr>
            </a:pPr>
            <a:r>
              <a:rPr sz="825" b="1">
                <a:solidFill>
                  <a:srgbClr val="153F59"/>
                </a:solidFill>
              </a:rPr>
              <a:t>Referências</a:t>
            </a:r>
          </a:p>
        </p:txBody>
      </p:sp>
      <p:sp>
        <p:nvSpPr>
          <p:cNvPr id="71" name="references-body">
            <a:extLst xmlns:a="http://schemas.openxmlformats.org/drawingml/2006/main">
              <a:ext uri="{FF2B5EF4-FFF2-40B4-BE49-F238E27FC236}">
                <a16:creationId xmlns:a16="http://schemas.microsoft.com/office/drawing/2014/main" id="{B952D2F7-F345-4975-B623-13A25799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077700"/>
            <a:ext cx="68961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8" b="0">
                <a:solidFill>
                  <a:srgbClr val="102536"/>
                </a:solidFill>
              </a:defRPr>
            </a:pPr>
            <a:r>
              <a:rPr sz="338" b="0">
                <a:solidFill>
                  <a:srgbClr val="102536"/>
                </a:solidFill>
              </a:rPr>
              <a:t>[1] GLOBAL ASTHMA NETWORK. Global Asthma Report 2022. Auckland, New Zealand: Global Asthma Network, 2022. Disponível em: https://globalasthmareport.org/resources/Global_Asthma_Report_2022.pdf. Acesso em: 19 set. 2025.</a:t>
            </a:r>
          </a:p>
          <a:p xmlns:a="http://schemas.openxmlformats.org/drawingml/2006/main">
            <a:pPr algn="l">
              <a:defRPr sz="338" b="0">
                <a:solidFill>
                  <a:srgbClr val="102536"/>
                </a:solidFill>
              </a:defRPr>
            </a:pPr>
            <a:r>
              <a:rPr sz="338" b="0">
                <a:solidFill>
                  <a:srgbClr val="102536"/>
                </a:solidFill>
              </a:rPr>
              <a:t>[2] SOUZA-JÚNIOR, Paulo Roberto Borges de et al. Desenho da amostra da Pesquisa Nacional de Saúde 2013. Epidemiologia e Serviços de Saúde, v. 24, p. 207-216, 2015.</a:t>
            </a:r>
          </a:p>
          <a:p xmlns:a="http://schemas.openxmlformats.org/drawingml/2006/main">
            <a:pPr algn="l">
              <a:defRPr sz="338" b="0">
                <a:solidFill>
                  <a:srgbClr val="102536"/>
                </a:solidFill>
              </a:defRPr>
            </a:pPr>
            <a:r>
              <a:rPr sz="338" b="0">
                <a:solidFill>
                  <a:srgbClr val="102536"/>
                </a:solidFill>
              </a:rPr>
              <a:t>[3] DUBE, I.; SILVA, M. E. L. PNS_2013_2019. GitHub, 2026. Disponível em: https://github.com/ingodube/PNS_2013_2019. Acesso em: 28 mai. 2026.</a:t>
            </a:r>
          </a:p>
          <a:p xmlns:a="http://schemas.openxmlformats.org/drawingml/2006/main">
            <a:pPr algn="l">
              <a:defRPr sz="338" b="0">
                <a:solidFill>
                  <a:srgbClr val="102536"/>
                </a:solidFill>
              </a:defRPr>
            </a:pPr>
            <a:r>
              <a:rPr sz="338" b="0">
                <a:solidFill>
                  <a:srgbClr val="102536"/>
                </a:solidFill>
              </a:rPr>
              <a:t>[4] MENEZES, A. M. B. et al. Prevalência de diagnóstico médico de asma em adultos brasileiros: Pesquisa Nacional de Saúde, 2013. Revista Brasileira de Epidemiologia, São Paulo, v. 18, supl. 2, p. 204-213, 2015.</a:t>
            </a:r>
          </a:p>
          <a:p xmlns:a="http://schemas.openxmlformats.org/drawingml/2006/main">
            <a:pPr algn="l">
              <a:defRPr sz="338" b="0">
                <a:solidFill>
                  <a:srgbClr val="102536"/>
                </a:solidFill>
              </a:defRPr>
            </a:pPr>
            <a:r>
              <a:rPr sz="338" b="0">
                <a:solidFill>
                  <a:srgbClr val="102536"/>
                </a:solidFill>
              </a:rPr>
              <a:t>[5] SEVERE ASTHMA. Non-Pharmacological Interventions for Asthma. Disponível em: https://www.severeasthma.org.au/non-pharmacological-interventions-asthma/. Acesso em: 19 set. 2025.</a:t>
            </a:r>
          </a:p>
          <a:p xmlns:a="http://schemas.openxmlformats.org/drawingml/2006/main">
            <a:pPr algn="l">
              <a:defRPr sz="338" b="0">
                <a:solidFill>
                  <a:srgbClr val="102536"/>
                </a:solidFill>
              </a:defRPr>
            </a:pPr>
            <a:r>
              <a:rPr sz="338" b="0">
                <a:solidFill>
                  <a:srgbClr val="102536"/>
                </a:solidFill>
              </a:rPr>
              <a:t>[6] SANTOS, Felipe Moraes dos et al. Tendência da prevalência de asma autorreferida no Brasil de 2003 a 2013 em adultos e fatores associados à prevalência. Jornal Brasileiro de Pneumologia, v. 44, n. 6, p. 491-497, 2018. doi:10.1590/S1806-37562017000000328.</a:t>
            </a:r>
          </a:p>
          <a:p xmlns:a="http://schemas.openxmlformats.org/drawingml/2006/main">
            <a:pPr algn="l">
              <a:defRPr sz="338" b="0">
                <a:solidFill>
                  <a:srgbClr val="102536"/>
                </a:solidFill>
              </a:defRPr>
            </a:pPr>
            <a:r>
              <a:rPr sz="338" b="0">
                <a:solidFill>
                  <a:srgbClr val="102536"/>
                </a:solidFill>
              </a:rPr>
              <a:t>[7] TO, T. et al. Global asthma prevalence in adults: findings from the cross-sectional world health survey. BMC Public Health, v. 12, art. 204, 2012. doi:10.1186/1471-2458-12-204.</a:t>
            </a:r>
          </a:p>
          <a:p xmlns:a="http://schemas.openxmlformats.org/drawingml/2006/main">
            <a:pPr algn="l">
              <a:defRPr sz="338" b="0">
                <a:solidFill>
                  <a:srgbClr val="102536"/>
                </a:solidFill>
              </a:defRPr>
            </a:pPr>
            <a:r>
              <a:rPr sz="338" b="0">
                <a:solidFill>
                  <a:srgbClr val="102536"/>
                </a:solidFill>
              </a:rPr>
              <a:t>[8] OHDSI. Standardized Data: The OMOP Common Data Model. Disponível em: https://www.ohdsi.org/data-standardization/.</a:t>
            </a:r>
          </a:p>
          <a:p xmlns:a="http://schemas.openxmlformats.org/drawingml/2006/main">
            <a:pPr algn="l">
              <a:defRPr sz="338" b="0">
                <a:solidFill>
                  <a:srgbClr val="102536"/>
                </a:solidFill>
              </a:defRPr>
            </a:pPr>
            <a:r>
              <a:rPr sz="338" b="0">
                <a:solidFill>
                  <a:srgbClr val="102536"/>
                </a:solidFill>
              </a:rPr>
              <a:t>[9] OHDSI. OMOP Common Data Model. Disponível em: https://ohdsi.github.io/CommonDataModel/.</a:t>
            </a:r>
          </a:p>
          <a:p xmlns:a="http://schemas.openxmlformats.org/drawingml/2006/main">
            <a:pPr algn="l">
              <a:defRPr sz="338" b="0">
                <a:solidFill>
                  <a:srgbClr val="102536"/>
                </a:solidFill>
              </a:defRPr>
            </a:pPr>
            <a:r>
              <a:rPr sz="338" b="0">
                <a:solidFill>
                  <a:srgbClr val="102536"/>
                </a:solidFill>
              </a:rPr>
              <a:t>[10] OHDSI. ETL Creation Best Practices. Disponível em: https://www.ohdsi.org/web/wiki/doku.php?id=documentation:etl_best_practices.</a:t>
            </a:r>
          </a:p>
          <a:p xmlns:a="http://schemas.openxmlformats.org/drawingml/2006/main">
            <a:pPr algn="l">
              <a:defRPr sz="338" b="0">
                <a:solidFill>
                  <a:srgbClr val="102536"/>
                </a:solidFill>
              </a:defRPr>
            </a:pPr>
            <a:r>
              <a:rPr sz="338" b="0">
                <a:solidFill>
                  <a:srgbClr val="102536"/>
                </a:solidFill>
              </a:rPr>
              <a:t>[11] LUMLEY, Thomas. Complex Surveys: A Guide to Analysis Using R. Hoboken: Wiley, 2010.</a:t>
            </a:r>
          </a:p>
          <a:p xmlns:a="http://schemas.openxmlformats.org/drawingml/2006/main">
            <a:pPr algn="l">
              <a:defRPr sz="338" b="0">
                <a:solidFill>
                  <a:srgbClr val="102536"/>
                </a:solidFill>
              </a:defRPr>
            </a:pPr>
            <a:r>
              <a:rPr sz="338" b="0">
                <a:solidFill>
                  <a:srgbClr val="102536"/>
                </a:solidFill>
              </a:rPr>
              <a:t>[12] BROWN, Lawrence D.; CAI, T. Tony; DASGUPTA, Anirban. Interval estimation for a binomial proportion. Statistical Science, v. 16, n. 2, p. 101-133, 2001. doi:10.1214/ss/1009213286.</a:t>
            </a:r>
          </a:p>
          <a:p xmlns:a="http://schemas.openxmlformats.org/drawingml/2006/main">
            <a:pPr algn="l">
              <a:defRPr sz="338" b="0">
                <a:solidFill>
                  <a:srgbClr val="102536"/>
                </a:solidFill>
              </a:defRPr>
            </a:pPr>
            <a:r>
              <a:rPr sz="338" b="0">
                <a:solidFill>
                  <a:srgbClr val="102536"/>
                </a:solidFill>
              </a:rPr>
              <a:t>[13] KORN, Edward L.; GRAUBARD, Barry I. Confidence intervals for proportions with small expected number of positive counts estimated from survey data. Survey Methodology, v. 24, n. 2, p. 193-201, 1998.</a:t>
            </a:r>
          </a:p>
        </p:txBody>
      </p:sp>
      <p:sp>
        <p:nvSpPr>
          <p:cNvPr id="72" name="qr-box">
            <a:extLst xmlns:a="http://schemas.openxmlformats.org/drawingml/2006/main">
              <a:ext uri="{FF2B5EF4-FFF2-40B4-BE49-F238E27FC236}">
                <a16:creationId xmlns:a16="http://schemas.microsoft.com/office/drawing/2014/main" id="{7DAB4EDE-9DD0-414B-816E-0EB39AA5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1696700"/>
            <a:ext cx="8763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673"/>
            </a:solidFill>
            <a:prstDash val="solid"/>
          </a:ln>
        </p:spPr>
      </p:sp>
      <p:pic>
        <p:nvPicPr>
          <p:cNvPr id="1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0ffdd4df364cd1"/>
          <a:stretch xmlns:a="http://schemas.openxmlformats.org/drawingml/2006/main"/>
        </p:blipFill>
        <p:spPr>
          <a:xfrm xmlns:a="http://schemas.openxmlformats.org/drawingml/2006/main">
            <a:off x="8305800" y="1181100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74" name="qr-label">
            <a:extLst xmlns:a="http://schemas.openxmlformats.org/drawingml/2006/main">
              <a:ext uri="{FF2B5EF4-FFF2-40B4-BE49-F238E27FC236}">
                <a16:creationId xmlns:a16="http://schemas.microsoft.com/office/drawing/2014/main" id="{A06FF839-4A0B-4482-A6BA-91EB4EF3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2496800"/>
            <a:ext cx="723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8" b="1">
                <a:solidFill>
                  <a:srgbClr val="153F59"/>
                </a:solidFill>
              </a:defRPr>
            </a:pPr>
            <a:r>
              <a:rPr sz="488" b="1">
                <a:solidFill>
                  <a:srgbClr val="153F59"/>
                </a:solidFill>
              </a:rPr>
              <a:t>Relatório metodológico, códigos e gráficos reprodutíveis</a:t>
            </a:r>
          </a:p>
          <a:p xmlns:a="http://schemas.openxmlformats.org/drawingml/2006/main">
            <a:pPr algn="ctr">
              <a:defRPr sz="488" b="1">
                <a:solidFill>
                  <a:srgbClr val="153F59"/>
                </a:solidFill>
              </a:defRPr>
            </a:pPr>
            <a:r>
              <a:rPr sz="488" b="1">
                <a:solidFill>
                  <a:srgbClr val="153F59"/>
                </a:solidFill>
              </a:rPr>
              <a:t>https://ingodube.github.io/PNS_2013_2019/metodologia.html</a:t>
            </a:r>
          </a:p>
        </p:txBody>
      </p:sp>
    </p:spTree>
    <p:extLst>
      <p:ext uri="{BB962C8B-B14F-4D97-AF65-F5344CB8AC3E}">
        <p14:creationId xmlns:p14="http://schemas.microsoft.com/office/powerpoint/2010/main" val="4223220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2026-07-21T21:53:25.0650000Z</dcterms:created>
  <dcterms:modified xsi:type="dcterms:W3CDTF">2026-07-21T21:53:25.0660000Z</dcterms:modified>
</coreProperties>
</file>