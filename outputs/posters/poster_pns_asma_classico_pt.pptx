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d80f21756024dd2" /><Relationship Type="http://schemas.openxmlformats.org/officeDocument/2006/relationships/extended-properties" Target="/docProps/app.xml" Id="R064c5b9abdc7453a" /><Relationship Type="http://schemas.openxmlformats.org/officeDocument/2006/relationships/officeDocument" Target="/ppt/presentation.xml" Id="R8c30280ae96740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f72ca2fbc2347ff"/>
  </p:sldMasterIdLst>
  <p:notesMasterIdLst>
    <p:notesMasterId xmlns:r="http://schemas.openxmlformats.org/officeDocument/2006/relationships" r:id="R3392e50be2e84633"/>
  </p:notesMasterIdLst>
  <p:sldIdLst>
    <p:sldId xmlns:r="http://schemas.openxmlformats.org/officeDocument/2006/relationships" id="256" r:id="Rde6ea29e60934dfa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a68236f63b94cbe" /><Relationship Type="http://schemas.openxmlformats.org/officeDocument/2006/relationships/slideMaster" Target="/ppt/slideMasters/slideMaster1.xml" Id="Raf72ca2fbc2347ff" /><Relationship Type="http://schemas.openxmlformats.org/officeDocument/2006/relationships/notesMaster" Target="/ppt/notesMasters/notesMaster1.xml" Id="R3392e50be2e84633" /><Relationship Type="http://schemas.openxmlformats.org/officeDocument/2006/relationships/presProps" Target="/ppt/presProps.xml" Id="Rc790454547cc48dc" /><Relationship Type="http://schemas.openxmlformats.org/officeDocument/2006/relationships/tableStyles" Target="/ppt/tableStyles.xml" Id="R6396ae7a0c144736" /><Relationship Type="http://schemas.openxmlformats.org/officeDocument/2006/relationships/slide" Target="/ppt/slides/slide1.xml" Id="Rde6ea29e60934d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32c108252a4eb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7433396f194e11" /><Relationship Type="http://schemas.openxmlformats.org/officeDocument/2006/relationships/notesMaster" Target="/ppt/notesMasters/notesMaster1.xml" Id="Rcaa0dc07bf144a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be45fbfcfa4f8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c747a6013a41ce" /><Relationship Type="http://schemas.openxmlformats.org/officeDocument/2006/relationships/slideLayout" Target="/ppt/slideLayouts/slideLayout1.xml" Id="R4bd543a40207476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d543a40207476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8632d9140d4129" /><Relationship Type="http://schemas.openxmlformats.org/officeDocument/2006/relationships/image" Target="/ppt/media/image.png" Id="R86c214d87641435b" /><Relationship Type="http://schemas.openxmlformats.org/officeDocument/2006/relationships/image" Target="/ppt/media/image2.png" Id="R740e3c8d444d40d9" /><Relationship Type="http://schemas.openxmlformats.org/officeDocument/2006/relationships/image" Target="/ppt/media/image3.png" Id="R22cfbc16cdf64861" /><Relationship Type="http://schemas.openxmlformats.org/officeDocument/2006/relationships/image" Target="/ppt/media/image4.png" Id="R5f68bf29912840af" /><Relationship Type="http://schemas.openxmlformats.org/officeDocument/2006/relationships/image" Target="/ppt/media/image5.png" Id="R11b3c868e4374742" /><Relationship Type="http://schemas.openxmlformats.org/officeDocument/2006/relationships/image" Target="/ppt/media/image6.png" Id="R6d52b9f75aa94281" /><Relationship Type="http://schemas.openxmlformats.org/officeDocument/2006/relationships/image" Target="/ppt/media/image7.png" Id="R48fca81eec4d417b" /><Relationship Type="http://schemas.openxmlformats.org/officeDocument/2006/relationships/image" Target="/ppt/media/image8.png" Id="Ref5c5ab6bca14edf" /><Relationship Type="http://schemas.openxmlformats.org/officeDocument/2006/relationships/notesSlide" Target="/ppt/notesSlides/notesSlide1.xml" Id="Rbfcd4df1bebe4e8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214d87641435b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0e3c8d444d40d9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cfbc16cdf64861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classic-title">
            <a:extLst xmlns:a="http://schemas.openxmlformats.org/drawingml/2006/main">
              <a:ext uri="{FF2B5EF4-FFF2-40B4-BE49-F238E27FC236}">
                <a16:creationId xmlns:a16="http://schemas.microsoft.com/office/drawing/2014/main" id="{6BFBF493-02CB-43A7-81DE-FCEE9CFE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classic-authors">
            <a:extLst xmlns:a="http://schemas.openxmlformats.org/drawingml/2006/main">
              <a:ext uri="{FF2B5EF4-FFF2-40B4-BE49-F238E27FC236}">
                <a16:creationId xmlns:a16="http://schemas.microsoft.com/office/drawing/2014/main" id="{B8E0B3DC-6084-408D-899A-08A88BE2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1-Introdução-box">
            <a:extLst xmlns:a="http://schemas.openxmlformats.org/drawingml/2006/main">
              <a:ext uri="{FF2B5EF4-FFF2-40B4-BE49-F238E27FC236}">
                <a16:creationId xmlns:a16="http://schemas.microsoft.com/office/drawing/2014/main" id="{5A7BBF9B-18CB-426F-83E4-9CBBB512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" name="1-Introdução-head">
            <a:extLst xmlns:a="http://schemas.openxmlformats.org/drawingml/2006/main">
              <a:ext uri="{FF2B5EF4-FFF2-40B4-BE49-F238E27FC236}">
                <a16:creationId xmlns:a16="http://schemas.microsoft.com/office/drawing/2014/main" id="{BC6B1F3C-4C21-40F6-9C55-046C8D49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8" name="1-Introdução-title">
            <a:extLst xmlns:a="http://schemas.openxmlformats.org/drawingml/2006/main">
              <a:ext uri="{FF2B5EF4-FFF2-40B4-BE49-F238E27FC236}">
                <a16:creationId xmlns:a16="http://schemas.microsoft.com/office/drawing/2014/main" id="{4F51C6A3-076C-44D5-905C-EE805AF4F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907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Introdução</a:t>
            </a:r>
          </a:p>
        </p:txBody>
      </p:sp>
      <p:sp>
        <p:nvSpPr>
          <p:cNvPr id="9" name="1-Introdução-body">
            <a:extLst xmlns:a="http://schemas.openxmlformats.org/drawingml/2006/main">
              <a:ext uri="{FF2B5EF4-FFF2-40B4-BE49-F238E27FC236}">
                <a16:creationId xmlns:a16="http://schemas.microsoft.com/office/drawing/2014/main" id="{66B011B6-F27B-45FF-AAFC-E0304C92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2679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Indicadores epidemiológicos resumem frequência, distribuição e evolução de eventos de saúde.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Na asma, prevalência, uso de medicamentos, absenteísmo e dias perdidos ajudam a distinguir carga clínica, manejo e efeitos sobre trabalho.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A PNS é um inquérito domiciliar populacional com desenho amostral complexo; por isso, estimativas válidas dependem de pesos, estratos e conglomerados.</a:t>
            </a:r>
          </a:p>
        </p:txBody>
      </p:sp>
      <p:sp>
        <p:nvSpPr>
          <p:cNvPr id="10" name="2-Objetivos-box">
            <a:extLst xmlns:a="http://schemas.openxmlformats.org/drawingml/2006/main">
              <a:ext uri="{FF2B5EF4-FFF2-40B4-BE49-F238E27FC236}">
                <a16:creationId xmlns:a16="http://schemas.microsoft.com/office/drawing/2014/main" id="{384A8EEC-5EA4-4981-8326-0C99F33E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1" name="2-Objetivos-head">
            <a:extLst xmlns:a="http://schemas.openxmlformats.org/drawingml/2006/main">
              <a:ext uri="{FF2B5EF4-FFF2-40B4-BE49-F238E27FC236}">
                <a16:creationId xmlns:a16="http://schemas.microsoft.com/office/drawing/2014/main" id="{296F6E8F-C2F5-49EA-A214-11D5BBB98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2" name="2-Objetivos-title">
            <a:extLst xmlns:a="http://schemas.openxmlformats.org/drawingml/2006/main">
              <a:ext uri="{FF2B5EF4-FFF2-40B4-BE49-F238E27FC236}">
                <a16:creationId xmlns:a16="http://schemas.microsoft.com/office/drawing/2014/main" id="{D34ACA97-174C-4145-A995-E62FDA63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Objetivos</a:t>
            </a:r>
          </a:p>
        </p:txBody>
      </p:sp>
      <p:sp>
        <p:nvSpPr>
          <p:cNvPr id="13" name="2-Objetivos-body">
            <a:extLst xmlns:a="http://schemas.openxmlformats.org/drawingml/2006/main">
              <a:ext uri="{FF2B5EF4-FFF2-40B4-BE49-F238E27FC236}">
                <a16:creationId xmlns:a16="http://schemas.microsoft.com/office/drawing/2014/main" id="{7E18A482-57A4-4190-A054-168B9FD0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267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Implementar no R o plano amostral da PNS 2013 e 2019.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Estimar diagnóstico médico de asma, crise nos últimos 12 meses, uso de medicamento oral/bombinha, tabagismo, desembolso, absenteísmo, dias perdidos e renda.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Comparar Brasil e UFs por estimativas pontuais, IC95% beta, magnitude e sobreposição dos intervalos.</a:t>
            </a:r>
          </a:p>
        </p:txBody>
      </p:sp>
      <p:sp>
        <p:nvSpPr>
          <p:cNvPr id="14" name="3-Dados e indicadores-box">
            <a:extLst xmlns:a="http://schemas.openxmlformats.org/drawingml/2006/main">
              <a:ext uri="{FF2B5EF4-FFF2-40B4-BE49-F238E27FC236}">
                <a16:creationId xmlns:a16="http://schemas.microsoft.com/office/drawing/2014/main" id="{01B24235-C246-40FC-AC1C-9C55B78B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3-Dados e indicadores-head">
            <a:extLst xmlns:a="http://schemas.openxmlformats.org/drawingml/2006/main">
              <a:ext uri="{FF2B5EF4-FFF2-40B4-BE49-F238E27FC236}">
                <a16:creationId xmlns:a16="http://schemas.microsoft.com/office/drawing/2014/main" id="{5D920994-E62E-4EA9-8183-6499321EC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6" name="3-Dados e indicadores-title">
            <a:extLst xmlns:a="http://schemas.openxmlformats.org/drawingml/2006/main">
              <a:ext uri="{FF2B5EF4-FFF2-40B4-BE49-F238E27FC236}">
                <a16:creationId xmlns:a16="http://schemas.microsoft.com/office/drawing/2014/main" id="{523DCF95-C6D0-4CDB-B94C-323E327C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86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Dados e indicadores</a:t>
            </a:r>
          </a:p>
        </p:txBody>
      </p:sp>
      <p:sp>
        <p:nvSpPr>
          <p:cNvPr id="17" name="3-Dados e indicadores-body">
            <a:extLst xmlns:a="http://schemas.openxmlformats.org/drawingml/2006/main">
              <a:ext uri="{FF2B5EF4-FFF2-40B4-BE49-F238E27FC236}">
                <a16:creationId xmlns:a16="http://schemas.microsoft.com/office/drawing/2014/main" id="{76CDC2D2-32ED-4D06-81C5-5E552750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4-Plano amostral-box">
            <a:extLst xmlns:a="http://schemas.openxmlformats.org/drawingml/2006/main">
              <a:ext uri="{FF2B5EF4-FFF2-40B4-BE49-F238E27FC236}">
                <a16:creationId xmlns:a16="http://schemas.microsoft.com/office/drawing/2014/main" id="{B616CBDD-EA79-4C6A-9B11-2CDB6A09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4-Plano amostral-head">
            <a:extLst xmlns:a="http://schemas.openxmlformats.org/drawingml/2006/main">
              <a:ext uri="{FF2B5EF4-FFF2-40B4-BE49-F238E27FC236}">
                <a16:creationId xmlns:a16="http://schemas.microsoft.com/office/drawing/2014/main" id="{F01C5A2E-17D7-4B08-A7B2-56277281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20" name="4-Plano amostral-title">
            <a:extLst xmlns:a="http://schemas.openxmlformats.org/drawingml/2006/main">
              <a:ext uri="{FF2B5EF4-FFF2-40B4-BE49-F238E27FC236}">
                <a16:creationId xmlns:a16="http://schemas.microsoft.com/office/drawing/2014/main" id="{AA84CD32-4AA3-4D90-B3AA-6FBB137E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10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Plano amostral</a:t>
            </a:r>
          </a:p>
        </p:txBody>
      </p:sp>
      <p:sp>
        <p:nvSpPr>
          <p:cNvPr id="21" name="4-Plano amostral-body">
            <a:extLst xmlns:a="http://schemas.openxmlformats.org/drawingml/2006/main">
              <a:ext uri="{FF2B5EF4-FFF2-40B4-BE49-F238E27FC236}">
                <a16:creationId xmlns:a16="http://schemas.microsoft.com/office/drawing/2014/main" id="{943DA42C-8B4C-469A-991B-A9C3846ED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05700"/>
            <a:ext cx="26797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22" name="classic-formula-box">
            <a:extLst xmlns:a="http://schemas.openxmlformats.org/drawingml/2006/main">
              <a:ext uri="{FF2B5EF4-FFF2-40B4-BE49-F238E27FC236}">
                <a16:creationId xmlns:a16="http://schemas.microsoft.com/office/drawing/2014/main" id="{F05DB279-3730-44BD-810C-A3D2AD9B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05900"/>
            <a:ext cx="2870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3" name="classic-formula-title">
            <a:extLst xmlns:a="http://schemas.openxmlformats.org/drawingml/2006/main">
              <a:ext uri="{FF2B5EF4-FFF2-40B4-BE49-F238E27FC236}">
                <a16:creationId xmlns:a16="http://schemas.microsoft.com/office/drawing/2014/main" id="{3B77EBDF-C95B-4D7D-9695-C06D5973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63050"/>
            <a:ext cx="2870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24" name="classic-formula">
            <a:extLst xmlns:a="http://schemas.openxmlformats.org/drawingml/2006/main">
              <a:ext uri="{FF2B5EF4-FFF2-40B4-BE49-F238E27FC236}">
                <a16:creationId xmlns:a16="http://schemas.microsoft.com/office/drawing/2014/main" id="{397CB9EF-4BCD-44E4-9FE7-1A584647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72600"/>
            <a:ext cx="2679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25" name="prev-metric">
            <a:extLst xmlns:a="http://schemas.openxmlformats.org/drawingml/2006/main">
              <a:ext uri="{FF2B5EF4-FFF2-40B4-BE49-F238E27FC236}">
                <a16:creationId xmlns:a16="http://schemas.microsoft.com/office/drawing/2014/main" id="{07C51561-AF44-4DBF-A48B-571CEDF6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6" name="prev-metric-title">
            <a:extLst xmlns:a="http://schemas.openxmlformats.org/drawingml/2006/main">
              <a:ext uri="{FF2B5EF4-FFF2-40B4-BE49-F238E27FC236}">
                <a16:creationId xmlns:a16="http://schemas.microsoft.com/office/drawing/2014/main" id="{3CD6FF19-F38C-476D-AF1E-33FC32C9E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diagnóstico</a:t>
            </a:r>
          </a:p>
        </p:txBody>
      </p:sp>
      <p:sp>
        <p:nvSpPr>
          <p:cNvPr id="27" name="prev-metric-value">
            <a:extLst xmlns:a="http://schemas.openxmlformats.org/drawingml/2006/main">
              <a:ext uri="{FF2B5EF4-FFF2-40B4-BE49-F238E27FC236}">
                <a16:creationId xmlns:a16="http://schemas.microsoft.com/office/drawing/2014/main" id="{0B3C72C4-776A-4CA2-94ED-64E4B71C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8" name="prev-metric-note">
            <a:extLst xmlns:a="http://schemas.openxmlformats.org/drawingml/2006/main">
              <a:ext uri="{FF2B5EF4-FFF2-40B4-BE49-F238E27FC236}">
                <a16:creationId xmlns:a16="http://schemas.microsoft.com/office/drawing/2014/main" id="{FD26ACB1-7E04-4739-AD23-46A8ED4B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Aumento do diagnóstico médico de asma, com IC95% sem sobreposição.</a:t>
            </a:r>
          </a:p>
        </p:txBody>
      </p:sp>
      <p:sp>
        <p:nvSpPr>
          <p:cNvPr id="29" name="crisis-metric">
            <a:extLst xmlns:a="http://schemas.openxmlformats.org/drawingml/2006/main">
              <a:ext uri="{FF2B5EF4-FFF2-40B4-BE49-F238E27FC236}">
                <a16:creationId xmlns:a16="http://schemas.microsoft.com/office/drawing/2014/main" id="{14C6EB8A-DDF6-4E62-88BB-B86F52281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33718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0" name="crisis-metric-title">
            <a:extLst xmlns:a="http://schemas.openxmlformats.org/drawingml/2006/main">
              <a:ext uri="{FF2B5EF4-FFF2-40B4-BE49-F238E27FC236}">
                <a16:creationId xmlns:a16="http://schemas.microsoft.com/office/drawing/2014/main" id="{7EDB4949-1587-43A1-88B5-9D6DFBE7B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4480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trabalho</a:t>
            </a:r>
          </a:p>
        </p:txBody>
      </p:sp>
      <p:sp>
        <p:nvSpPr>
          <p:cNvPr id="31" name="crisis-metric-value">
            <a:extLst xmlns:a="http://schemas.openxmlformats.org/drawingml/2006/main">
              <a:ext uri="{FF2B5EF4-FFF2-40B4-BE49-F238E27FC236}">
                <a16:creationId xmlns:a16="http://schemas.microsoft.com/office/drawing/2014/main" id="{7500F16E-B017-403D-AD38-C1CC8EB6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6385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15,2%; 4,8 dias</a:t>
            </a:r>
          </a:p>
        </p:txBody>
      </p:sp>
      <p:sp>
        <p:nvSpPr>
          <p:cNvPr id="32" name="crisis-metric-note">
            <a:extLst xmlns:a="http://schemas.openxmlformats.org/drawingml/2006/main">
              <a:ext uri="{FF2B5EF4-FFF2-40B4-BE49-F238E27FC236}">
                <a16:creationId xmlns:a16="http://schemas.microsoft.com/office/drawing/2014/main" id="{5151B75D-C88B-4B08-99E0-1E47ACB5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9052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Motivos respiratórios: absenteísmo e perda média de dias úteis.</a:t>
            </a:r>
          </a:p>
        </p:txBody>
      </p:sp>
      <p:sp>
        <p:nvSpPr>
          <p:cNvPr id="33" name="chart-prev-caption">
            <a:extLst xmlns:a="http://schemas.openxmlformats.org/drawingml/2006/main">
              <a:ext uri="{FF2B5EF4-FFF2-40B4-BE49-F238E27FC236}">
                <a16:creationId xmlns:a16="http://schemas.microsoft.com/office/drawing/2014/main" id="{743F2ACD-5B9B-466F-9F64-B08E790B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4196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4" name="chart-prev-frame">
            <a:extLst xmlns:a="http://schemas.openxmlformats.org/drawingml/2006/main">
              <a:ext uri="{FF2B5EF4-FFF2-40B4-BE49-F238E27FC236}">
                <a16:creationId xmlns:a16="http://schemas.microsoft.com/office/drawing/2014/main" id="{3CE9CC30-2DA7-49CC-BDAC-B566C18B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6672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68bf29912840af"/>
          <a:stretch xmlns:a="http://schemas.openxmlformats.org/drawingml/2006/main"/>
        </p:blipFill>
        <p:spPr>
          <a:xfrm xmlns:a="http://schemas.openxmlformats.org/drawingml/2006/main">
            <a:off x="3387790" y="47244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6" name="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38B578AA-1702-4443-9E2D-8941D9B4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68961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Absenteísmo por motivo de saúde no Brasil, com destaque para causas respiratórias, PNS 2019.</a:t>
            </a:r>
          </a:p>
        </p:txBody>
      </p:sp>
      <p:sp>
        <p:nvSpPr>
          <p:cNvPr id="37" name="chart-crisis-frame">
            <a:extLst xmlns:a="http://schemas.openxmlformats.org/drawingml/2006/main">
              <a:ext uri="{FF2B5EF4-FFF2-40B4-BE49-F238E27FC236}">
                <a16:creationId xmlns:a16="http://schemas.microsoft.com/office/drawing/2014/main" id="{D2A65015-D607-4CD6-9B41-579C96CDC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71437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3c868e4374742"/>
          <a:stretch xmlns:a="http://schemas.openxmlformats.org/drawingml/2006/main"/>
        </p:blipFill>
        <p:spPr>
          <a:xfrm xmlns:a="http://schemas.openxmlformats.org/drawingml/2006/main">
            <a:off x="3387790" y="72009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9" name="5-Discussão-box">
            <a:extLst xmlns:a="http://schemas.openxmlformats.org/drawingml/2006/main">
              <a:ext uri="{FF2B5EF4-FFF2-40B4-BE49-F238E27FC236}">
                <a16:creationId xmlns:a16="http://schemas.microsoft.com/office/drawing/2014/main" id="{FD430BD8-4BF9-4F36-B5BB-D6D71FBCE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0" name="5-Discussão-head">
            <a:extLst xmlns:a="http://schemas.openxmlformats.org/drawingml/2006/main">
              <a:ext uri="{FF2B5EF4-FFF2-40B4-BE49-F238E27FC236}">
                <a16:creationId xmlns:a16="http://schemas.microsoft.com/office/drawing/2014/main" id="{01637222-F4C3-46C2-BFE2-88A62E79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41" name="5-Discussão-title">
            <a:extLst xmlns:a="http://schemas.openxmlformats.org/drawingml/2006/main">
              <a:ext uri="{FF2B5EF4-FFF2-40B4-BE49-F238E27FC236}">
                <a16:creationId xmlns:a16="http://schemas.microsoft.com/office/drawing/2014/main" id="{72FDF235-01D2-4D91-943A-325A31D2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9420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Discussão</a:t>
            </a:r>
          </a:p>
        </p:txBody>
      </p:sp>
      <p:sp>
        <p:nvSpPr>
          <p:cNvPr id="42" name="5-Discussão-body">
            <a:extLst xmlns:a="http://schemas.openxmlformats.org/drawingml/2006/main">
              <a:ext uri="{FF2B5EF4-FFF2-40B4-BE49-F238E27FC236}">
                <a16:creationId xmlns:a16="http://schemas.microsoft.com/office/drawing/2014/main" id="{C9C43F36-B855-4E4B-B156-BA2B4FB78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650" y="9715500"/>
            <a:ext cx="2679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Diagnóstico de asma aumentou no Brasil; motivos respiratórios somam 15,2% do absenteísmo por saúde.</a:t>
            </a:r>
          </a:p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A perda média respiratória foi 4,8 dias, sinalizando custo potencial para produtividade e renda.</a:t>
            </a:r>
          </a:p>
          <a:p xmlns:a="http://schemas.openxmlformats.org/drawingml/2006/main">
            <a:pPr algn="l">
              <a:defRPr sz="472" b="0">
                <a:solidFill>
                  <a:srgbClr val="102536"/>
                </a:solidFill>
              </a:defRPr>
            </a:pPr>
            <a:r>
              <a:rPr sz="472" b="0">
                <a:solidFill>
                  <a:srgbClr val="102536"/>
                </a:solidFill>
              </a:rPr>
              <a:t>• Melhor controle pode reduzir faltas, dias perdidos e demanda por cuidado agudo.</a:t>
            </a:r>
          </a:p>
        </p:txBody>
      </p:sp>
      <p:sp>
        <p:nvSpPr>
          <p:cNvPr id="43" name="meds-metric">
            <a:extLst xmlns:a="http://schemas.openxmlformats.org/drawingml/2006/main">
              <a:ext uri="{FF2B5EF4-FFF2-40B4-BE49-F238E27FC236}">
                <a16:creationId xmlns:a16="http://schemas.microsoft.com/office/drawing/2014/main" id="{0A775D22-414E-452E-9461-064E8EEF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4" name="meds-metric-title">
            <a:extLst xmlns:a="http://schemas.openxmlformats.org/drawingml/2006/main">
              <a:ext uri="{FF2B5EF4-FFF2-40B4-BE49-F238E27FC236}">
                <a16:creationId xmlns:a16="http://schemas.microsoft.com/office/drawing/2014/main" id="{C939AEF3-384B-4DC7-8CC0-B0090089C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Brasil: medicamentos</a:t>
            </a:r>
          </a:p>
        </p:txBody>
      </p:sp>
      <p:sp>
        <p:nvSpPr>
          <p:cNvPr id="45" name="meds-metric-value">
            <a:extLst xmlns:a="http://schemas.openxmlformats.org/drawingml/2006/main">
              <a:ext uri="{FF2B5EF4-FFF2-40B4-BE49-F238E27FC236}">
                <a16:creationId xmlns:a16="http://schemas.microsoft.com/office/drawing/2014/main" id="{AB3098A7-0EF0-4EC6-BFC2-E6A96935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46" name="meds-metric-note">
            <a:extLst xmlns:a="http://schemas.openxmlformats.org/drawingml/2006/main">
              <a:ext uri="{FF2B5EF4-FFF2-40B4-BE49-F238E27FC236}">
                <a16:creationId xmlns:a16="http://schemas.microsoft.com/office/drawing/2014/main" id="{1686A08A-57C1-436E-8514-B6766F467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Menor proporção de uso entre asmáticos; interpretar com IC95% e perfil dos diagnosticados.</a:t>
            </a:r>
          </a:p>
        </p:txBody>
      </p:sp>
      <p:sp>
        <p:nvSpPr>
          <p:cNvPr id="47" name="chart-meds-caption">
            <a:extLst xmlns:a="http://schemas.openxmlformats.org/drawingml/2006/main">
              <a:ext uri="{FF2B5EF4-FFF2-40B4-BE49-F238E27FC236}">
                <a16:creationId xmlns:a16="http://schemas.microsoft.com/office/drawing/2014/main" id="{AAF83D9E-412E-4220-A492-4D415D6D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3718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8" name="chart-meds-frame">
            <a:extLst xmlns:a="http://schemas.openxmlformats.org/drawingml/2006/main">
              <a:ext uri="{FF2B5EF4-FFF2-40B4-BE49-F238E27FC236}">
                <a16:creationId xmlns:a16="http://schemas.microsoft.com/office/drawing/2014/main" id="{8567D0DB-02BE-4D05-AC5C-27B1558C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6195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52b9f75aa94281"/>
          <a:stretch xmlns:a="http://schemas.openxmlformats.org/drawingml/2006/main"/>
        </p:blipFill>
        <p:spPr>
          <a:xfrm xmlns:a="http://schemas.openxmlformats.org/drawingml/2006/main">
            <a:off x="6407150" y="3684712"/>
            <a:ext cx="2755900" cy="1965077"/>
          </a:xfrm>
          <a:prstGeom xmlns:a="http://schemas.openxmlformats.org/drawingml/2006/main" prst="rect">
            <a:avLst/>
          </a:prstGeom>
        </p:spPr>
      </p:pic>
      <p:sp>
        <p:nvSpPr>
          <p:cNvPr id="50" name="chart-smoke-caption">
            <a:extLst xmlns:a="http://schemas.openxmlformats.org/drawingml/2006/main">
              <a:ext uri="{FF2B5EF4-FFF2-40B4-BE49-F238E27FC236}">
                <a16:creationId xmlns:a16="http://schemas.microsoft.com/office/drawing/2014/main" id="{28493A06-057A-471C-908C-313742BC0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8483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Média de dias perdidos por motivo de saúde no Brasil, com destaque para causas respiratórias, PNS 2019.</a:t>
            </a:r>
          </a:p>
        </p:txBody>
      </p:sp>
      <p:sp>
        <p:nvSpPr>
          <p:cNvPr id="51" name="chart-smoke-frame">
            <a:extLst xmlns:a="http://schemas.openxmlformats.org/drawingml/2006/main">
              <a:ext uri="{FF2B5EF4-FFF2-40B4-BE49-F238E27FC236}">
                <a16:creationId xmlns:a16="http://schemas.microsoft.com/office/drawing/2014/main" id="{66628A65-CDD6-40BB-B284-243A502F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60960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fca81eec4d417b"/>
          <a:stretch xmlns:a="http://schemas.openxmlformats.org/drawingml/2006/main"/>
        </p:blipFill>
        <p:spPr>
          <a:xfrm xmlns:a="http://schemas.openxmlformats.org/drawingml/2006/main">
            <a:off x="6410390" y="61531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3" name="6-IC beta e leitura dos gráficos-box">
            <a:extLst xmlns:a="http://schemas.openxmlformats.org/drawingml/2006/main">
              <a:ext uri="{FF2B5EF4-FFF2-40B4-BE49-F238E27FC236}">
                <a16:creationId xmlns:a16="http://schemas.microsoft.com/office/drawing/2014/main" id="{CE0C7DAB-755B-415B-8188-D7E2FE8FA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4" name="6-IC beta e leitura dos gráficos-head">
            <a:extLst xmlns:a="http://schemas.openxmlformats.org/drawingml/2006/main">
              <a:ext uri="{FF2B5EF4-FFF2-40B4-BE49-F238E27FC236}">
                <a16:creationId xmlns:a16="http://schemas.microsoft.com/office/drawing/2014/main" id="{CA4BD9E2-7B76-4D98-9B89-EA47F9B5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5" name="6-IC beta e leitura dos gráficos-title">
            <a:extLst xmlns:a="http://schemas.openxmlformats.org/drawingml/2006/main">
              <a:ext uri="{FF2B5EF4-FFF2-40B4-BE49-F238E27FC236}">
                <a16:creationId xmlns:a16="http://schemas.microsoft.com/office/drawing/2014/main" id="{27353677-76CF-4260-AEEA-D2262E6F8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8372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IC beta e leitura dos gráficos</a:t>
            </a:r>
          </a:p>
        </p:txBody>
      </p:sp>
      <p:sp>
        <p:nvSpPr>
          <p:cNvPr id="56" name="6-IC beta e leitura dos gráficos-body">
            <a:extLst xmlns:a="http://schemas.openxmlformats.org/drawingml/2006/main">
              <a:ext uri="{FF2B5EF4-FFF2-40B4-BE49-F238E27FC236}">
                <a16:creationId xmlns:a16="http://schemas.microsoft.com/office/drawing/2014/main" id="{0CB93CCB-8D1D-4A6E-A1E2-480481EFC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866775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57" name="7-Impacto econômico-box">
            <a:extLst xmlns:a="http://schemas.openxmlformats.org/drawingml/2006/main">
              <a:ext uri="{FF2B5EF4-FFF2-40B4-BE49-F238E27FC236}">
                <a16:creationId xmlns:a16="http://schemas.microsoft.com/office/drawing/2014/main" id="{80E3AD67-DC80-4DD7-BEC0-EED92F922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8" name="7-Impacto econômico-head">
            <a:extLst xmlns:a="http://schemas.openxmlformats.org/drawingml/2006/main">
              <a:ext uri="{FF2B5EF4-FFF2-40B4-BE49-F238E27FC236}">
                <a16:creationId xmlns:a16="http://schemas.microsoft.com/office/drawing/2014/main" id="{53D237FE-3E87-4C2E-96D3-855A125E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9" name="7-Impacto econômico-title">
            <a:extLst xmlns:a="http://schemas.openxmlformats.org/drawingml/2006/main">
              <a:ext uri="{FF2B5EF4-FFF2-40B4-BE49-F238E27FC236}">
                <a16:creationId xmlns:a16="http://schemas.microsoft.com/office/drawing/2014/main" id="{B5C4B0B1-401A-480F-A810-AE2983B0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9896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Impacto econômico</a:t>
            </a:r>
          </a:p>
        </p:txBody>
      </p:sp>
      <p:sp>
        <p:nvSpPr>
          <p:cNvPr id="60" name="7-Impacto econômico-body">
            <a:extLst xmlns:a="http://schemas.openxmlformats.org/drawingml/2006/main">
              <a:ext uri="{FF2B5EF4-FFF2-40B4-BE49-F238E27FC236}">
                <a16:creationId xmlns:a16="http://schemas.microsoft.com/office/drawing/2014/main" id="{7616BC5A-FC4B-44E4-A3F5-655724E2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0191750"/>
            <a:ext cx="267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4" b="0">
                <a:solidFill>
                  <a:srgbClr val="102536"/>
                </a:solidFill>
              </a:defRPr>
            </a:pPr>
            <a:r>
              <a:rPr sz="544" b="0">
                <a:solidFill>
                  <a:srgbClr val="102536"/>
                </a:solidFill>
              </a:rPr>
              <a:t>• A asma mal controlada pode reduzir produtividade por faltas, limitação funcional e demanda por cuidado agudo.</a:t>
            </a:r>
          </a:p>
          <a:p xmlns:a="http://schemas.openxmlformats.org/drawingml/2006/main">
            <a:pPr algn="l">
              <a:defRPr sz="544" b="0">
                <a:solidFill>
                  <a:srgbClr val="102536"/>
                </a:solidFill>
              </a:defRPr>
            </a:pPr>
            <a:r>
              <a:rPr sz="544" b="0">
                <a:solidFill>
                  <a:srgbClr val="102536"/>
                </a:solidFill>
              </a:rPr>
              <a:t>• A leitura econômica reforça políticas de diagnóstico, acesso a medicamentos e acompanhamento clínico.</a:t>
            </a:r>
          </a:p>
        </p:txBody>
      </p:sp>
      <p:sp>
        <p:nvSpPr>
          <p:cNvPr id="61" name="8-ETL, OMOP e OHDSI-box">
            <a:extLst xmlns:a="http://schemas.openxmlformats.org/drawingml/2006/main">
              <a:ext uri="{FF2B5EF4-FFF2-40B4-BE49-F238E27FC236}">
                <a16:creationId xmlns:a16="http://schemas.microsoft.com/office/drawing/2014/main" id="{D87689DA-4AAE-48B9-AF9F-05A5D88E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8-ETL, OMOP e OHDSI-head">
            <a:extLst xmlns:a="http://schemas.openxmlformats.org/drawingml/2006/main">
              <a:ext uri="{FF2B5EF4-FFF2-40B4-BE49-F238E27FC236}">
                <a16:creationId xmlns:a16="http://schemas.microsoft.com/office/drawing/2014/main" id="{B765065A-A61E-43F8-91CC-C1F1B9EA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3" name="8-ETL, OMOP e OHDSI-title">
            <a:extLst xmlns:a="http://schemas.openxmlformats.org/drawingml/2006/main">
              <a:ext uri="{FF2B5EF4-FFF2-40B4-BE49-F238E27FC236}">
                <a16:creationId xmlns:a16="http://schemas.microsoft.com/office/drawing/2014/main" id="{B71C3D13-7137-4F39-9F07-9CDF44BBD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20375"/>
            <a:ext cx="574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8. ETL, OMOP e OHDSI</a:t>
            </a:r>
          </a:p>
        </p:txBody>
      </p:sp>
      <p:sp>
        <p:nvSpPr>
          <p:cNvPr id="64" name="8-ETL, OMOP e OHDSI-body">
            <a:extLst xmlns:a="http://schemas.openxmlformats.org/drawingml/2006/main">
              <a:ext uri="{FF2B5EF4-FFF2-40B4-BE49-F238E27FC236}">
                <a16:creationId xmlns:a16="http://schemas.microsoft.com/office/drawing/2014/main" id="{5FC3409E-C53B-4C4C-88B6-AFBC2A25E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15650"/>
            <a:ext cx="570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65" name="9-Conclusões-box">
            <a:extLst xmlns:a="http://schemas.openxmlformats.org/drawingml/2006/main">
              <a:ext uri="{FF2B5EF4-FFF2-40B4-BE49-F238E27FC236}">
                <a16:creationId xmlns:a16="http://schemas.microsoft.com/office/drawing/2014/main" id="{382E1D33-47E0-4AC5-BEEF-22690E3E7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9-Conclusões-head">
            <a:extLst xmlns:a="http://schemas.openxmlformats.org/drawingml/2006/main">
              <a:ext uri="{FF2B5EF4-FFF2-40B4-BE49-F238E27FC236}">
                <a16:creationId xmlns:a16="http://schemas.microsoft.com/office/drawing/2014/main" id="{ED5D4A24-0ACD-4CEB-8C62-E03F6DFB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7" name="9-Conclusões-title">
            <a:extLst xmlns:a="http://schemas.openxmlformats.org/drawingml/2006/main">
              <a:ext uri="{FF2B5EF4-FFF2-40B4-BE49-F238E27FC236}">
                <a16:creationId xmlns:a16="http://schemas.microsoft.com/office/drawing/2014/main" id="{BCD0D1D5-BEAF-441D-94F0-1BEC22CC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12299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9. Conclusões</a:t>
            </a:r>
          </a:p>
        </p:txBody>
      </p:sp>
      <p:sp>
        <p:nvSpPr>
          <p:cNvPr id="68" name="9-Conclusões-body">
            <a:extLst xmlns:a="http://schemas.openxmlformats.org/drawingml/2006/main">
              <a:ext uri="{FF2B5EF4-FFF2-40B4-BE49-F238E27FC236}">
                <a16:creationId xmlns:a16="http://schemas.microsoft.com/office/drawing/2014/main" id="{60C2C45D-677E-4237-B040-94EE3AEB3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1525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asma deve ser tratada como problema clínico e econômico, pois pode afetar produtividade, renda e força de trabalho.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Os resultados de absenteísmo são respiratórios agregados; não devem ser lidos como estimativa isolada de asma.</a:t>
            </a:r>
          </a:p>
        </p:txBody>
      </p:sp>
      <p:sp>
        <p:nvSpPr>
          <p:cNvPr id="69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6CADF53F-807C-4683-87E2-B621983B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704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0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A57348DC-C009-4724-B9BF-87EBB145D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877675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71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2ABDB9A8-5065-405E-BBA7-2F3C076D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077700"/>
            <a:ext cx="6896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72" name="qr-box">
            <a:extLst xmlns:a="http://schemas.openxmlformats.org/drawingml/2006/main">
              <a:ext uri="{FF2B5EF4-FFF2-40B4-BE49-F238E27FC236}">
                <a16:creationId xmlns:a16="http://schemas.microsoft.com/office/drawing/2014/main" id="{F3322DAE-A3BE-4302-B201-DBB3D4E1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696700"/>
            <a:ext cx="876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5c5ab6bca14edf"/>
          <a:stretch xmlns:a="http://schemas.openxmlformats.org/drawingml/2006/main"/>
        </p:blipFill>
        <p:spPr>
          <a:xfrm xmlns:a="http://schemas.openxmlformats.org/drawingml/2006/main">
            <a:off x="8305800" y="118110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74" name="qr-label">
            <a:extLst xmlns:a="http://schemas.openxmlformats.org/drawingml/2006/main">
              <a:ext uri="{FF2B5EF4-FFF2-40B4-BE49-F238E27FC236}">
                <a16:creationId xmlns:a16="http://schemas.microsoft.com/office/drawing/2014/main" id="{F383FF64-8206-44D2-BAFA-E7FD0C93B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249680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</p:spTree>
    <p:extLst>
      <p:ext uri="{BB962C8B-B14F-4D97-AF65-F5344CB8AC3E}">
        <p14:creationId xmlns:p14="http://schemas.microsoft.com/office/powerpoint/2010/main" val="2945898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2026-07-21T22:39:08.3080000Z</dcterms:created>
  <dcterms:modified xsi:type="dcterms:W3CDTF">2026-07-21T22:39:08.3080000Z</dcterms:modified>
</coreProperties>
</file>