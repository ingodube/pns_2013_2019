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ecd97a952d54f83" /><Relationship Type="http://schemas.openxmlformats.org/officeDocument/2006/relationships/extended-properties" Target="/docProps/app.xml" Id="Rf83dfd82bd0b435d" /><Relationship Type="http://schemas.openxmlformats.org/officeDocument/2006/relationships/officeDocument" Target="/ppt/presentation.xml" Id="R41f7803d45824d1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4ad1efde5e849ba"/>
  </p:sldMasterIdLst>
  <p:notesMasterIdLst>
    <p:notesMasterId xmlns:r="http://schemas.openxmlformats.org/officeDocument/2006/relationships" r:id="R3173a343edab498c"/>
  </p:notesMasterIdLst>
  <p:sldIdLst>
    <p:sldId xmlns:r="http://schemas.openxmlformats.org/officeDocument/2006/relationships" id="256" r:id="R914eec251f1f401a"/>
  </p:sldIdLst>
  <p:sldSz cx="9525000" cy="1346835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b99fbdbc99a4ae2" /><Relationship Type="http://schemas.openxmlformats.org/officeDocument/2006/relationships/slideMaster" Target="/ppt/slideMasters/slideMaster1.xml" Id="R54ad1efde5e849ba" /><Relationship Type="http://schemas.openxmlformats.org/officeDocument/2006/relationships/notesMaster" Target="/ppt/notesMasters/notesMaster1.xml" Id="R3173a343edab498c" /><Relationship Type="http://schemas.openxmlformats.org/officeDocument/2006/relationships/presProps" Target="/ppt/presProps.xml" Id="Re40333c6672742a8" /><Relationship Type="http://schemas.openxmlformats.org/officeDocument/2006/relationships/tableStyles" Target="/ppt/tableStyles.xml" Id="Rd2043c54d80d45e2" /><Relationship Type="http://schemas.openxmlformats.org/officeDocument/2006/relationships/slide" Target="/ppt/slides/slide1.xml" Id="R914eec251f1f401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e74ca7e52e6429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9ac3344a0974e00" /><Relationship Type="http://schemas.openxmlformats.org/officeDocument/2006/relationships/notesMaster" Target="/ppt/notesMasters/notesMaster1.xml" Id="Re62b9234428f465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28d6456f3cd4ed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866cacba5a242c1" /><Relationship Type="http://schemas.openxmlformats.org/officeDocument/2006/relationships/slideLayout" Target="/ppt/slideLayouts/slideLayout1.xml" Id="Raf7a8c7fe29c40b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f7a8c7fe29c40b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429d7f73ca4f09" /><Relationship Type="http://schemas.openxmlformats.org/officeDocument/2006/relationships/image" Target="/ppt/media/image.png" Id="R65e40cb7d9674865" /><Relationship Type="http://schemas.openxmlformats.org/officeDocument/2006/relationships/image" Target="/ppt/media/image2.png" Id="R890505166ef542d4" /><Relationship Type="http://schemas.openxmlformats.org/officeDocument/2006/relationships/image" Target="/ppt/media/image3.png" Id="R5254c7f45ea347ce" /><Relationship Type="http://schemas.openxmlformats.org/officeDocument/2006/relationships/image" Target="/ppt/media/image4.png" Id="R95aeb26abdec4344" /><Relationship Type="http://schemas.openxmlformats.org/officeDocument/2006/relationships/image" Target="/ppt/media/image5.png" Id="R662f0b921fba4c71" /><Relationship Type="http://schemas.openxmlformats.org/officeDocument/2006/relationships/image" Target="/ppt/media/image6.png" Id="Ra82871ac30974878" /><Relationship Type="http://schemas.openxmlformats.org/officeDocument/2006/relationships/image" Target="/ppt/media/image7.png" Id="R615753c662c54cc2" /><Relationship Type="http://schemas.openxmlformats.org/officeDocument/2006/relationships/image" Target="/ppt/media/image8.png" Id="R70fc303d4b9a4467" /><Relationship Type="http://schemas.openxmlformats.org/officeDocument/2006/relationships/notesSlide" Target="/ppt/notesSlides/notesSlide1.xml" Id="Rba603ef9fd07427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e40cb7d9674865"/>
          <a:srcRect xmlns:a="http://schemas.openxmlformats.org/drawingml/2006/main" l="0" t="38622" r="0" b="386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525000" cy="1219200"/>
          </a:xfrm>
          <a:prstGeom xmlns:a="http://schemas.openxmlformats.org/drawingml/2006/main" prst="rect">
            <a:avLst/>
          </a:prstGeom>
        </p:spPr>
      </p:pic>
      <p:pic>
        <p:nvPicPr>
          <p:cNvPr id="7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0505166ef542d4"/>
          <a:stretch xmlns:a="http://schemas.openxmlformats.org/drawingml/2006/main"/>
        </p:blipFill>
        <p:spPr>
          <a:xfrm xmlns:a="http://schemas.openxmlformats.org/drawingml/2006/main">
            <a:off x="323850" y="265374"/>
            <a:ext cx="2952750" cy="612252"/>
          </a:xfrm>
          <a:prstGeom xmlns:a="http://schemas.openxmlformats.org/drawingml/2006/main" prst="rect">
            <a:avLst/>
          </a:prstGeom>
        </p:spPr>
      </p:pic>
      <p:pic>
        <p:nvPicPr>
          <p:cNvPr id="7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54c7f45ea347ce"/>
          <a:stretch xmlns:a="http://schemas.openxmlformats.org/drawingml/2006/main"/>
        </p:blipFill>
        <p:spPr>
          <a:xfrm xmlns:a="http://schemas.openxmlformats.org/drawingml/2006/main">
            <a:off x="3905250" y="425056"/>
            <a:ext cx="4953000" cy="311937"/>
          </a:xfrm>
          <a:prstGeom xmlns:a="http://schemas.openxmlformats.org/drawingml/2006/main" prst="rect">
            <a:avLst/>
          </a:prstGeom>
        </p:spPr>
      </p:pic>
      <p:sp>
        <p:nvSpPr>
          <p:cNvPr id="4" name="classic-title">
            <a:extLst xmlns:a="http://schemas.openxmlformats.org/drawingml/2006/main">
              <a:ext uri="{FF2B5EF4-FFF2-40B4-BE49-F238E27FC236}">
                <a16:creationId xmlns:a16="http://schemas.microsoft.com/office/drawing/2014/main" id="{E5F7D8E6-80FA-4962-B394-E959DF552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352550"/>
            <a:ext cx="8839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53F59"/>
                </a:solidFill>
              </a:defRPr>
            </a:pPr>
            <a:r>
              <a:rPr sz="1875" b="1">
                <a:solidFill>
                  <a:srgbClr val="153F59"/>
                </a:solidFill>
              </a:rPr>
              <a:t>Implementação do Plano Amostral da Pesquisa Nacional de Saúde no R: um estudo de caso sobre a asma no Brasil</a:t>
            </a:r>
          </a:p>
        </p:txBody>
      </p:sp>
      <p:sp>
        <p:nvSpPr>
          <p:cNvPr id="5" name="classic-authors">
            <a:extLst xmlns:a="http://schemas.openxmlformats.org/drawingml/2006/main">
              <a:ext uri="{FF2B5EF4-FFF2-40B4-BE49-F238E27FC236}">
                <a16:creationId xmlns:a16="http://schemas.microsoft.com/office/drawing/2014/main" id="{47280F62-6509-44B8-9CD9-8BD48CD2C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962150"/>
            <a:ext cx="8839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4F6372"/>
                </a:solidFill>
              </a:defRPr>
            </a:pPr>
            <a:r>
              <a:rPr sz="825" b="0">
                <a:solidFill>
                  <a:srgbClr val="4F6372"/>
                </a:solidFill>
              </a:rPr>
              <a:t>I. Dube; M. E. L. Silva | Gerenciamento de dados observacionais</a:t>
            </a:r>
          </a:p>
        </p:txBody>
      </p:sp>
      <p:sp>
        <p:nvSpPr>
          <p:cNvPr id="6" name="1-Introdução-box">
            <a:extLst xmlns:a="http://schemas.openxmlformats.org/drawingml/2006/main">
              <a:ext uri="{FF2B5EF4-FFF2-40B4-BE49-F238E27FC236}">
                <a16:creationId xmlns:a16="http://schemas.microsoft.com/office/drawing/2014/main" id="{901A24B9-1CB9-4EC9-996F-BB4EB2BB4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343150"/>
            <a:ext cx="28702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7" name="1-Introdução-head">
            <a:extLst xmlns:a="http://schemas.openxmlformats.org/drawingml/2006/main">
              <a:ext uri="{FF2B5EF4-FFF2-40B4-BE49-F238E27FC236}">
                <a16:creationId xmlns:a16="http://schemas.microsoft.com/office/drawing/2014/main" id="{26A6C295-6FAE-4358-A3B9-6AD397F89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343150"/>
            <a:ext cx="2870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</p:sp>
      <p:sp>
        <p:nvSpPr>
          <p:cNvPr id="8" name="1-Introdução-title">
            <a:extLst xmlns:a="http://schemas.openxmlformats.org/drawingml/2006/main">
              <a:ext uri="{FF2B5EF4-FFF2-40B4-BE49-F238E27FC236}">
                <a16:creationId xmlns:a16="http://schemas.microsoft.com/office/drawing/2014/main" id="{E7F378EF-6CFD-4AE5-8305-4B29CFBC8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390775"/>
            <a:ext cx="2717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1. Introdução</a:t>
            </a:r>
          </a:p>
        </p:txBody>
      </p:sp>
      <p:sp>
        <p:nvSpPr>
          <p:cNvPr id="9" name="1-Introdução-body">
            <a:extLst xmlns:a="http://schemas.openxmlformats.org/drawingml/2006/main">
              <a:ext uri="{FF2B5EF4-FFF2-40B4-BE49-F238E27FC236}">
                <a16:creationId xmlns:a16="http://schemas.microsoft.com/office/drawing/2014/main" id="{99807BDB-B897-4168-B02D-3BE1F0CAD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86050"/>
            <a:ext cx="26797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102536"/>
                </a:solidFill>
              </a:defRPr>
            </a:pPr>
            <a:r>
              <a:rPr sz="653" b="0">
                <a:solidFill>
                  <a:srgbClr val="102536"/>
                </a:solidFill>
              </a:rPr>
              <a:t>• Indicadores epidemiológicos resumem frequência, distribuição e evolução de eventos de saúde.</a:t>
            </a:r>
          </a:p>
          <a:p xmlns:a="http://schemas.openxmlformats.org/drawingml/2006/main">
            <a:pPr algn="l">
              <a:defRPr sz="653" b="0">
                <a:solidFill>
                  <a:srgbClr val="102536"/>
                </a:solidFill>
              </a:defRPr>
            </a:pPr>
            <a:r>
              <a:rPr sz="653" b="0">
                <a:solidFill>
                  <a:srgbClr val="102536"/>
                </a:solidFill>
              </a:rPr>
              <a:t>• Na asma, prevalência, crises, uso de medicamentos e tabagismo ajudam a distinguir carga da doença, acesso diagnóstico, manejo clínico e fatores de risco.</a:t>
            </a:r>
          </a:p>
          <a:p xmlns:a="http://schemas.openxmlformats.org/drawingml/2006/main">
            <a:pPr algn="l">
              <a:defRPr sz="653" b="0">
                <a:solidFill>
                  <a:srgbClr val="102536"/>
                </a:solidFill>
              </a:defRPr>
            </a:pPr>
            <a:r>
              <a:rPr sz="653" b="0">
                <a:solidFill>
                  <a:srgbClr val="102536"/>
                </a:solidFill>
              </a:rPr>
              <a:t>• A PNS é um inquérito domiciliar populacional com desenho amostral complexo; por isso, estimativas válidas dependem de pesos, estratos e conglomerados.</a:t>
            </a:r>
          </a:p>
        </p:txBody>
      </p:sp>
      <p:sp>
        <p:nvSpPr>
          <p:cNvPr id="10" name="2-Objetivos-box">
            <a:extLst xmlns:a="http://schemas.openxmlformats.org/drawingml/2006/main">
              <a:ext uri="{FF2B5EF4-FFF2-40B4-BE49-F238E27FC236}">
                <a16:creationId xmlns:a16="http://schemas.microsoft.com/office/drawing/2014/main" id="{959EE709-42B3-45DF-85DE-E8CA3002B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4038600"/>
            <a:ext cx="28702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11" name="2-Objetivos-head">
            <a:extLst xmlns:a="http://schemas.openxmlformats.org/drawingml/2006/main">
              <a:ext uri="{FF2B5EF4-FFF2-40B4-BE49-F238E27FC236}">
                <a16:creationId xmlns:a16="http://schemas.microsoft.com/office/drawing/2014/main" id="{15B9AC0D-12B5-4417-A57E-2A0C7BA67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4038600"/>
            <a:ext cx="2870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</p:sp>
      <p:sp>
        <p:nvSpPr>
          <p:cNvPr id="12" name="2-Objetivos-title">
            <a:extLst xmlns:a="http://schemas.openxmlformats.org/drawingml/2006/main">
              <a:ext uri="{FF2B5EF4-FFF2-40B4-BE49-F238E27FC236}">
                <a16:creationId xmlns:a16="http://schemas.microsoft.com/office/drawing/2014/main" id="{B8279D52-1565-45FE-A578-EBA749C27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086225"/>
            <a:ext cx="2717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2. Objetivos</a:t>
            </a:r>
          </a:p>
        </p:txBody>
      </p:sp>
      <p:sp>
        <p:nvSpPr>
          <p:cNvPr id="13" name="2-Objetivos-body">
            <a:extLst xmlns:a="http://schemas.openxmlformats.org/drawingml/2006/main">
              <a:ext uri="{FF2B5EF4-FFF2-40B4-BE49-F238E27FC236}">
                <a16:creationId xmlns:a16="http://schemas.microsoft.com/office/drawing/2014/main" id="{4CA62983-8BD1-40D7-AF23-3ADF39859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81500"/>
            <a:ext cx="26797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102536"/>
                </a:solidFill>
              </a:defRPr>
            </a:pPr>
            <a:r>
              <a:rPr sz="638" b="0">
                <a:solidFill>
                  <a:srgbClr val="102536"/>
                </a:solidFill>
              </a:rPr>
              <a:t>• Implementar no R o plano amostral da PNS 2013 e 2019.</a:t>
            </a:r>
          </a:p>
          <a:p xmlns:a="http://schemas.openxmlformats.org/drawingml/2006/main">
            <a:pPr algn="l">
              <a:defRPr sz="638" b="0">
                <a:solidFill>
                  <a:srgbClr val="102536"/>
                </a:solidFill>
              </a:defRPr>
            </a:pPr>
            <a:r>
              <a:rPr sz="638" b="0">
                <a:solidFill>
                  <a:srgbClr val="102536"/>
                </a:solidFill>
              </a:rPr>
              <a:t>• Estimar diagnóstico médico de asma, crise nos últimos 12 meses, uso de medicamento oral/bombinha, tabagismo, desembolso, absenteísmo, dias perdidos e renda.</a:t>
            </a:r>
          </a:p>
          <a:p xmlns:a="http://schemas.openxmlformats.org/drawingml/2006/main">
            <a:pPr algn="l">
              <a:defRPr sz="638" b="0">
                <a:solidFill>
                  <a:srgbClr val="102536"/>
                </a:solidFill>
              </a:defRPr>
            </a:pPr>
            <a:r>
              <a:rPr sz="638" b="0">
                <a:solidFill>
                  <a:srgbClr val="102536"/>
                </a:solidFill>
              </a:rPr>
              <a:t>• Comparar Brasil e UFs por estimativas pontuais, IC95% beta, magnitude e sobreposição dos intervalos.</a:t>
            </a:r>
          </a:p>
        </p:txBody>
      </p:sp>
      <p:sp>
        <p:nvSpPr>
          <p:cNvPr id="14" name="3-Dados e indicadores-box">
            <a:extLst xmlns:a="http://schemas.openxmlformats.org/drawingml/2006/main">
              <a:ext uri="{FF2B5EF4-FFF2-40B4-BE49-F238E27FC236}">
                <a16:creationId xmlns:a16="http://schemas.microsoft.com/office/drawing/2014/main" id="{C8FDCE18-85BD-42BD-9555-13C51193B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638800"/>
            <a:ext cx="287020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15" name="3-Dados e indicadores-head">
            <a:extLst xmlns:a="http://schemas.openxmlformats.org/drawingml/2006/main">
              <a:ext uri="{FF2B5EF4-FFF2-40B4-BE49-F238E27FC236}">
                <a16:creationId xmlns:a16="http://schemas.microsoft.com/office/drawing/2014/main" id="{FCF48954-B85D-40B4-B2B9-7B80EE412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638800"/>
            <a:ext cx="2870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</p:sp>
      <p:sp>
        <p:nvSpPr>
          <p:cNvPr id="16" name="3-Dados e indicadores-title">
            <a:extLst xmlns:a="http://schemas.openxmlformats.org/drawingml/2006/main">
              <a:ext uri="{FF2B5EF4-FFF2-40B4-BE49-F238E27FC236}">
                <a16:creationId xmlns:a16="http://schemas.microsoft.com/office/drawing/2014/main" id="{585553A4-CF6B-429D-A64D-55934416F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686425"/>
            <a:ext cx="2717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3. Dados e indicadores</a:t>
            </a:r>
          </a:p>
        </p:txBody>
      </p:sp>
      <p:sp>
        <p:nvSpPr>
          <p:cNvPr id="17" name="3-Dados e indicadores-body">
            <a:extLst xmlns:a="http://schemas.openxmlformats.org/drawingml/2006/main">
              <a:ext uri="{FF2B5EF4-FFF2-40B4-BE49-F238E27FC236}">
                <a16:creationId xmlns:a16="http://schemas.microsoft.com/office/drawing/2014/main" id="{23ECAA76-30A7-41E5-B619-4BD600E9B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81700"/>
            <a:ext cx="26797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45" b="0">
                <a:solidFill>
                  <a:srgbClr val="102536"/>
                </a:solidFill>
              </a:defRPr>
            </a:pPr>
            <a:r>
              <a:rPr sz="645" b="0">
                <a:solidFill>
                  <a:srgbClr val="102536"/>
                </a:solidFill>
              </a:rPr>
              <a:t>• Unidade analítica: morador selecionado da PNS.</a:t>
            </a:r>
          </a:p>
          <a:p xmlns:a="http://schemas.openxmlformats.org/drawingml/2006/main">
            <a:pPr algn="l">
              <a:defRPr sz="645" b="0">
                <a:solidFill>
                  <a:srgbClr val="102536"/>
                </a:solidFill>
              </a:defRPr>
            </a:pPr>
            <a:r>
              <a:rPr sz="645" b="0">
                <a:solidFill>
                  <a:srgbClr val="102536"/>
                </a:solidFill>
              </a:rPr>
              <a:t>• Variáveis centrais: Q074 diagnóstico médico de asma; Q076 crise recente; Q07701/Q07704/Q07708 uso de medicamento; P050 tabagismo.</a:t>
            </a:r>
          </a:p>
          <a:p xmlns:a="http://schemas.openxmlformats.org/drawingml/2006/main">
            <a:pPr algn="l">
              <a:defRPr sz="645" b="0">
                <a:solidFill>
                  <a:srgbClr val="102536"/>
                </a:solidFill>
              </a:defRPr>
            </a:pPr>
            <a:r>
              <a:rPr sz="645" b="0">
                <a:solidFill>
                  <a:srgbClr val="102536"/>
                </a:solidFill>
              </a:rPr>
              <a:t>• Denominadores variam conforme o indicador: população geral, pessoas com asma, pessoas com asma e crise ou conjunto de respostas válidas.</a:t>
            </a:r>
          </a:p>
        </p:txBody>
      </p:sp>
      <p:sp>
        <p:nvSpPr>
          <p:cNvPr id="18" name="4-Plano amostral-box">
            <a:extLst xmlns:a="http://schemas.openxmlformats.org/drawingml/2006/main">
              <a:ext uri="{FF2B5EF4-FFF2-40B4-BE49-F238E27FC236}">
                <a16:creationId xmlns:a16="http://schemas.microsoft.com/office/drawing/2014/main" id="{FA926236-B8F9-406C-A4BD-B57FFB3E6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7162800"/>
            <a:ext cx="28702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19" name="4-Plano amostral-head">
            <a:extLst xmlns:a="http://schemas.openxmlformats.org/drawingml/2006/main">
              <a:ext uri="{FF2B5EF4-FFF2-40B4-BE49-F238E27FC236}">
                <a16:creationId xmlns:a16="http://schemas.microsoft.com/office/drawing/2014/main" id="{C940A09A-2FDA-4340-974C-750F95EEC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7162800"/>
            <a:ext cx="2870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</p:sp>
      <p:sp>
        <p:nvSpPr>
          <p:cNvPr id="20" name="4-Plano amostral-title">
            <a:extLst xmlns:a="http://schemas.openxmlformats.org/drawingml/2006/main">
              <a:ext uri="{FF2B5EF4-FFF2-40B4-BE49-F238E27FC236}">
                <a16:creationId xmlns:a16="http://schemas.microsoft.com/office/drawing/2014/main" id="{E1F35C8A-E64C-45E3-9848-57265A464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7210425"/>
            <a:ext cx="2717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4. Plano amostral</a:t>
            </a:r>
          </a:p>
        </p:txBody>
      </p:sp>
      <p:sp>
        <p:nvSpPr>
          <p:cNvPr id="21" name="4-Plano amostral-body">
            <a:extLst xmlns:a="http://schemas.openxmlformats.org/drawingml/2006/main">
              <a:ext uri="{FF2B5EF4-FFF2-40B4-BE49-F238E27FC236}">
                <a16:creationId xmlns:a16="http://schemas.microsoft.com/office/drawing/2014/main" id="{925F6080-CB28-4B4F-A723-5DA455DAE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505700"/>
            <a:ext cx="267970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15" b="0">
                <a:solidFill>
                  <a:srgbClr val="102536"/>
                </a:solidFill>
              </a:defRPr>
            </a:pPr>
            <a:r>
              <a:rPr sz="615" b="0">
                <a:solidFill>
                  <a:srgbClr val="102536"/>
                </a:solidFill>
              </a:rPr>
              <a:t>• O desenho foi construído com PNSIBGE::pns_design(), preservando UPA/PSU, estratos e peso calibrado do morador selecionado.</a:t>
            </a:r>
          </a:p>
          <a:p xmlns:a="http://schemas.openxmlformats.org/drawingml/2006/main">
            <a:pPr algn="l">
              <a:defRPr sz="615" b="0">
                <a:solidFill>
                  <a:srgbClr val="102536"/>
                </a:solidFill>
              </a:defRPr>
            </a:pPr>
            <a:r>
              <a:rPr sz="615" b="0">
                <a:solidFill>
                  <a:srgbClr val="102536"/>
                </a:solidFill>
              </a:rPr>
              <a:t>• A estimação usa o pacote survey para proporções, médias, totais e taxas.</a:t>
            </a:r>
          </a:p>
          <a:p xmlns:a="http://schemas.openxmlformats.org/drawingml/2006/main">
            <a:pPr algn="l">
              <a:defRPr sz="615" b="0">
                <a:solidFill>
                  <a:srgbClr val="102536"/>
                </a:solidFill>
              </a:defRPr>
            </a:pPr>
            <a:r>
              <a:rPr sz="615" b="0">
                <a:solidFill>
                  <a:srgbClr val="102536"/>
                </a:solidFill>
              </a:rPr>
              <a:t>• As taxas por 100 mil reescalam proporções ponderadas sem descartar a incerteza do desenho complexo.</a:t>
            </a:r>
          </a:p>
          <a:p xmlns:a="http://schemas.openxmlformats.org/drawingml/2006/main">
            <a:pPr algn="l">
              <a:defRPr sz="615" b="0">
                <a:solidFill>
                  <a:srgbClr val="102536"/>
                </a:solidFill>
              </a:defRPr>
            </a:pPr>
            <a:r>
              <a:rPr sz="615" b="0">
                <a:solidFill>
                  <a:srgbClr val="102536"/>
                </a:solidFill>
              </a:rPr>
              <a:t>• PSUs solitárias e domínios pequenos exigem escolhas explícitas de inferência.</a:t>
            </a:r>
          </a:p>
        </p:txBody>
      </p:sp>
      <p:sp>
        <p:nvSpPr>
          <p:cNvPr id="22" name="classic-formula-box">
            <a:extLst xmlns:a="http://schemas.openxmlformats.org/drawingml/2006/main">
              <a:ext uri="{FF2B5EF4-FFF2-40B4-BE49-F238E27FC236}">
                <a16:creationId xmlns:a16="http://schemas.microsoft.com/office/drawing/2014/main" id="{11B1DD67-BFC9-4948-B937-9867A86B2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9105900"/>
            <a:ext cx="28702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23" name="classic-formula-title">
            <a:extLst xmlns:a="http://schemas.openxmlformats.org/drawingml/2006/main">
              <a:ext uri="{FF2B5EF4-FFF2-40B4-BE49-F238E27FC236}">
                <a16:creationId xmlns:a16="http://schemas.microsoft.com/office/drawing/2014/main" id="{3D8E2A95-5051-4162-83D2-3F68892C0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9163050"/>
            <a:ext cx="2870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53F59"/>
                </a:solidFill>
              </a:defRPr>
            </a:pPr>
            <a:r>
              <a:rPr sz="900" b="1">
                <a:solidFill>
                  <a:srgbClr val="153F59"/>
                </a:solidFill>
              </a:rPr>
              <a:t>Estimadores e fórmulas</a:t>
            </a:r>
          </a:p>
        </p:txBody>
      </p:sp>
      <p:sp>
        <p:nvSpPr>
          <p:cNvPr id="24" name="classic-formula">
            <a:extLst xmlns:a="http://schemas.openxmlformats.org/drawingml/2006/main">
              <a:ext uri="{FF2B5EF4-FFF2-40B4-BE49-F238E27FC236}">
                <a16:creationId xmlns:a16="http://schemas.microsoft.com/office/drawing/2014/main" id="{C64CFEA4-4DE8-42F0-A73C-F39167FDA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372600"/>
            <a:ext cx="26797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p̂ = Σᵢ wᵢyᵢ / Σᵢ wᵢ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wᵢ = peso amostral; yᵢ = indicador binário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% = 100 × p̂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taxa₁₀₀k = 100000 × p̂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IC₉₅%(p̂) = survey::svyciprop(method = "beta")</a:t>
            </a:r>
          </a:p>
        </p:txBody>
      </p:sp>
      <p:sp>
        <p:nvSpPr>
          <p:cNvPr id="25" name="prev-metric">
            <a:extLst xmlns:a="http://schemas.openxmlformats.org/drawingml/2006/main">
              <a:ext uri="{FF2B5EF4-FFF2-40B4-BE49-F238E27FC236}">
                <a16:creationId xmlns:a16="http://schemas.microsoft.com/office/drawing/2014/main" id="{B2259B38-22A9-4AA1-83A3-FD2CFEA7C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7400" y="2343150"/>
            <a:ext cx="28702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26" name="prev-metric-title">
            <a:extLst xmlns:a="http://schemas.openxmlformats.org/drawingml/2006/main">
              <a:ext uri="{FF2B5EF4-FFF2-40B4-BE49-F238E27FC236}">
                <a16:creationId xmlns:a16="http://schemas.microsoft.com/office/drawing/2014/main" id="{BF81DC33-60B7-4E6A-9548-3197EB6F5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3125" y="2419350"/>
            <a:ext cx="269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3F59"/>
                </a:solidFill>
              </a:defRPr>
            </a:pPr>
            <a:r>
              <a:rPr sz="675" b="1">
                <a:solidFill>
                  <a:srgbClr val="153F59"/>
                </a:solidFill>
              </a:rPr>
              <a:t>Prevalência nacional</a:t>
            </a:r>
          </a:p>
        </p:txBody>
      </p:sp>
      <p:sp>
        <p:nvSpPr>
          <p:cNvPr id="27" name="prev-metric-value">
            <a:extLst xmlns:a="http://schemas.openxmlformats.org/drawingml/2006/main">
              <a:ext uri="{FF2B5EF4-FFF2-40B4-BE49-F238E27FC236}">
                <a16:creationId xmlns:a16="http://schemas.microsoft.com/office/drawing/2014/main" id="{A149F8BB-ED56-4955-B217-A09E9DF3E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3125" y="2609850"/>
            <a:ext cx="269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3F59"/>
                </a:solidFill>
              </a:defRPr>
            </a:pPr>
            <a:r>
              <a:rPr sz="1050" b="1">
                <a:solidFill>
                  <a:srgbClr val="153F59"/>
                </a:solidFill>
              </a:rPr>
              <a:t>4,41%→5,40%</a:t>
            </a:r>
          </a:p>
        </p:txBody>
      </p:sp>
      <p:sp>
        <p:nvSpPr>
          <p:cNvPr id="28" name="prev-metric-note">
            <a:extLst xmlns:a="http://schemas.openxmlformats.org/drawingml/2006/main">
              <a:ext uri="{FF2B5EF4-FFF2-40B4-BE49-F238E27FC236}">
                <a16:creationId xmlns:a16="http://schemas.microsoft.com/office/drawing/2014/main" id="{8D4B18BA-D32B-434D-B4B7-6FC7E839B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3125" y="2876550"/>
            <a:ext cx="269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33" b="0">
                <a:solidFill>
                  <a:srgbClr val="102536"/>
                </a:solidFill>
              </a:defRPr>
            </a:pPr>
            <a:r>
              <a:rPr sz="533" b="0">
                <a:solidFill>
                  <a:srgbClr val="102536"/>
                </a:solidFill>
              </a:rPr>
              <a:t>Diagnóstico médico de asma aumentou com IC95% sem sobreposição.</a:t>
            </a:r>
          </a:p>
        </p:txBody>
      </p:sp>
      <p:sp>
        <p:nvSpPr>
          <p:cNvPr id="29" name="crisis-metric">
            <a:extLst xmlns:a="http://schemas.openxmlformats.org/drawingml/2006/main">
              <a:ext uri="{FF2B5EF4-FFF2-40B4-BE49-F238E27FC236}">
                <a16:creationId xmlns:a16="http://schemas.microsoft.com/office/drawing/2014/main" id="{C956AFD2-9386-42EC-AD63-017EF1E3C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7400" y="3371850"/>
            <a:ext cx="28702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30" name="crisis-metric-title">
            <a:extLst xmlns:a="http://schemas.openxmlformats.org/drawingml/2006/main">
              <a:ext uri="{FF2B5EF4-FFF2-40B4-BE49-F238E27FC236}">
                <a16:creationId xmlns:a16="http://schemas.microsoft.com/office/drawing/2014/main" id="{D146AFAC-8782-45BD-91F6-5CEE9E76F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3125" y="3448050"/>
            <a:ext cx="269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3F59"/>
                </a:solidFill>
              </a:defRPr>
            </a:pPr>
            <a:r>
              <a:rPr sz="675" b="1">
                <a:solidFill>
                  <a:srgbClr val="153F59"/>
                </a:solidFill>
              </a:rPr>
              <a:t>Crises em 12 meses</a:t>
            </a:r>
          </a:p>
        </p:txBody>
      </p:sp>
      <p:sp>
        <p:nvSpPr>
          <p:cNvPr id="31" name="crisis-metric-value">
            <a:extLst xmlns:a="http://schemas.openxmlformats.org/drawingml/2006/main">
              <a:ext uri="{FF2B5EF4-FFF2-40B4-BE49-F238E27FC236}">
                <a16:creationId xmlns:a16="http://schemas.microsoft.com/office/drawing/2014/main" id="{B2812567-2600-478D-B126-86DE8538B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3125" y="3638550"/>
            <a:ext cx="269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3F59"/>
                </a:solidFill>
              </a:defRPr>
            </a:pPr>
            <a:r>
              <a:rPr sz="1050" b="1">
                <a:solidFill>
                  <a:srgbClr val="153F59"/>
                </a:solidFill>
              </a:rPr>
              <a:t>38,3%→37,7%</a:t>
            </a:r>
          </a:p>
        </p:txBody>
      </p:sp>
      <p:sp>
        <p:nvSpPr>
          <p:cNvPr id="32" name="crisis-metric-note">
            <a:extLst xmlns:a="http://schemas.openxmlformats.org/drawingml/2006/main">
              <a:ext uri="{FF2B5EF4-FFF2-40B4-BE49-F238E27FC236}">
                <a16:creationId xmlns:a16="http://schemas.microsoft.com/office/drawing/2014/main" id="{CFAEBCC5-292D-499E-ABED-06E341746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3125" y="3905250"/>
            <a:ext cx="269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33" b="0">
                <a:solidFill>
                  <a:srgbClr val="102536"/>
                </a:solidFill>
              </a:defRPr>
            </a:pPr>
            <a:r>
              <a:rPr sz="533" b="0">
                <a:solidFill>
                  <a:srgbClr val="102536"/>
                </a:solidFill>
              </a:rPr>
              <a:t>Estabilidade aproximada, sugerindo controle clínico insuficiente.</a:t>
            </a:r>
          </a:p>
        </p:txBody>
      </p:sp>
      <p:sp>
        <p:nvSpPr>
          <p:cNvPr id="33" name="chart-prev-caption">
            <a:extLst xmlns:a="http://schemas.openxmlformats.org/drawingml/2006/main">
              <a:ext uri="{FF2B5EF4-FFF2-40B4-BE49-F238E27FC236}">
                <a16:creationId xmlns:a16="http://schemas.microsoft.com/office/drawing/2014/main" id="{D496721A-CE55-4174-9DAD-A9D5FDBD7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7400" y="4419600"/>
            <a:ext cx="287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Figura 1: Prevalência (%) de diagnóstico médico de asma por UF e Brasil, PNS 2013 e 2019.</a:t>
            </a:r>
          </a:p>
        </p:txBody>
      </p:sp>
      <p:sp>
        <p:nvSpPr>
          <p:cNvPr id="34" name="chart-prev-frame">
            <a:extLst xmlns:a="http://schemas.openxmlformats.org/drawingml/2006/main">
              <a:ext uri="{FF2B5EF4-FFF2-40B4-BE49-F238E27FC236}">
                <a16:creationId xmlns:a16="http://schemas.microsoft.com/office/drawing/2014/main" id="{9D3252E1-7713-4E8C-A76A-849FD0F80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7400" y="4667250"/>
            <a:ext cx="28702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0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aeb26abdec4344"/>
          <a:stretch xmlns:a="http://schemas.openxmlformats.org/drawingml/2006/main"/>
        </p:blipFill>
        <p:spPr>
          <a:xfrm xmlns:a="http://schemas.openxmlformats.org/drawingml/2006/main">
            <a:off x="3384550" y="5313098"/>
            <a:ext cx="2755900" cy="803804"/>
          </a:xfrm>
          <a:prstGeom xmlns:a="http://schemas.openxmlformats.org/drawingml/2006/main" prst="rect">
            <a:avLst/>
          </a:prstGeom>
        </p:spPr>
      </p:pic>
      <p:sp>
        <p:nvSpPr>
          <p:cNvPr id="36" name="chart-crisis-caption">
            <a:extLst xmlns:a="http://schemas.openxmlformats.org/drawingml/2006/main">
              <a:ext uri="{FF2B5EF4-FFF2-40B4-BE49-F238E27FC236}">
                <a16:creationId xmlns:a16="http://schemas.microsoft.com/office/drawing/2014/main" id="{EE472ED2-9DF7-4C5E-8410-600400FEB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7400" y="6896100"/>
            <a:ext cx="287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Figura 2: Prevalência (%) de crise de asma nos últimos 12 meses por UF e Brasil, PNS 2013 e 2019.</a:t>
            </a:r>
          </a:p>
        </p:txBody>
      </p:sp>
      <p:sp>
        <p:nvSpPr>
          <p:cNvPr id="37" name="chart-crisis-frame">
            <a:extLst xmlns:a="http://schemas.openxmlformats.org/drawingml/2006/main">
              <a:ext uri="{FF2B5EF4-FFF2-40B4-BE49-F238E27FC236}">
                <a16:creationId xmlns:a16="http://schemas.microsoft.com/office/drawing/2014/main" id="{15FC6490-4F5B-489B-8431-E19C22053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7400" y="7143750"/>
            <a:ext cx="28702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2f0b921fba4c71"/>
          <a:stretch xmlns:a="http://schemas.openxmlformats.org/drawingml/2006/main"/>
        </p:blipFill>
        <p:spPr>
          <a:xfrm xmlns:a="http://schemas.openxmlformats.org/drawingml/2006/main">
            <a:off x="3384550" y="7789598"/>
            <a:ext cx="2755900" cy="803804"/>
          </a:xfrm>
          <a:prstGeom xmlns:a="http://schemas.openxmlformats.org/drawingml/2006/main" prst="rect">
            <a:avLst/>
          </a:prstGeom>
        </p:spPr>
      </p:pic>
      <p:sp>
        <p:nvSpPr>
          <p:cNvPr id="39" name="5-Resultados e interpretação-box">
            <a:extLst xmlns:a="http://schemas.openxmlformats.org/drawingml/2006/main">
              <a:ext uri="{FF2B5EF4-FFF2-40B4-BE49-F238E27FC236}">
                <a16:creationId xmlns:a16="http://schemas.microsoft.com/office/drawing/2014/main" id="{31A860AF-BC1C-45ED-B888-03E566F3F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7400" y="9372600"/>
            <a:ext cx="2870200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40" name="5-Resultados e interpretação-head">
            <a:extLst xmlns:a="http://schemas.openxmlformats.org/drawingml/2006/main">
              <a:ext uri="{FF2B5EF4-FFF2-40B4-BE49-F238E27FC236}">
                <a16:creationId xmlns:a16="http://schemas.microsoft.com/office/drawing/2014/main" id="{E6D65FD5-767D-40D3-90E2-B6E9E57C0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7400" y="9372600"/>
            <a:ext cx="2870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</p:sp>
      <p:sp>
        <p:nvSpPr>
          <p:cNvPr id="41" name="5-Resultados e interpretação-title">
            <a:extLst xmlns:a="http://schemas.openxmlformats.org/drawingml/2006/main">
              <a:ext uri="{FF2B5EF4-FFF2-40B4-BE49-F238E27FC236}">
                <a16:creationId xmlns:a16="http://schemas.microsoft.com/office/drawing/2014/main" id="{1B562EF4-3124-4169-ABAF-95ABC81BB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3600" y="9420225"/>
            <a:ext cx="2717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5. Resultados e interpretação</a:t>
            </a:r>
          </a:p>
        </p:txBody>
      </p:sp>
      <p:sp>
        <p:nvSpPr>
          <p:cNvPr id="42" name="5-Resultados e interpretação-body">
            <a:extLst xmlns:a="http://schemas.openxmlformats.org/drawingml/2006/main">
              <a:ext uri="{FF2B5EF4-FFF2-40B4-BE49-F238E27FC236}">
                <a16:creationId xmlns:a16="http://schemas.microsoft.com/office/drawing/2014/main" id="{80295579-21C8-4DB8-B9C4-768E3FAB5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2650" y="9715500"/>
            <a:ext cx="267970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55" b="0">
                <a:solidFill>
                  <a:srgbClr val="102536"/>
                </a:solidFill>
              </a:defRPr>
            </a:pPr>
            <a:r>
              <a:rPr sz="555" b="0">
                <a:solidFill>
                  <a:srgbClr val="102536"/>
                </a:solidFill>
              </a:rPr>
              <a:t>• Diagnóstico médico de asma: 4,41% em 2013 para 5,40% em 2019, com ICs sem sobreposição.</a:t>
            </a:r>
          </a:p>
          <a:p xmlns:a="http://schemas.openxmlformats.org/drawingml/2006/main">
            <a:pPr algn="l">
              <a:defRPr sz="555" b="0">
                <a:solidFill>
                  <a:srgbClr val="102536"/>
                </a:solidFill>
              </a:defRPr>
            </a:pPr>
            <a:r>
              <a:rPr sz="555" b="0">
                <a:solidFill>
                  <a:srgbClr val="102536"/>
                </a:solidFill>
              </a:rPr>
              <a:t>• Crises nos últimos 12 meses: 38,3% para 37,7%, indicando estabilidade aproximada.</a:t>
            </a:r>
          </a:p>
          <a:p xmlns:a="http://schemas.openxmlformats.org/drawingml/2006/main">
            <a:pPr algn="l">
              <a:defRPr sz="555" b="0">
                <a:solidFill>
                  <a:srgbClr val="102536"/>
                </a:solidFill>
              </a:defRPr>
            </a:pPr>
            <a:r>
              <a:rPr sz="555" b="0">
                <a:solidFill>
                  <a:srgbClr val="102536"/>
                </a:solidFill>
              </a:rPr>
              <a:t>• Uso de medicamento oral/bombinha entre asmáticos: 81,5% para 64,4%; leitura exige cautela por denominador e IC95%.</a:t>
            </a:r>
          </a:p>
          <a:p xmlns:a="http://schemas.openxmlformats.org/drawingml/2006/main">
            <a:pPr algn="l">
              <a:defRPr sz="555" b="0">
                <a:solidFill>
                  <a:srgbClr val="102536"/>
                </a:solidFill>
              </a:defRPr>
            </a:pPr>
            <a:r>
              <a:rPr sz="555" b="0">
                <a:solidFill>
                  <a:srgbClr val="102536"/>
                </a:solidFill>
              </a:rPr>
              <a:t>• Tabagismo caiu em várias UFs; a taxa nacional citada foi de 14.650 para 12.151 por 100 mil.</a:t>
            </a:r>
          </a:p>
        </p:txBody>
      </p:sp>
      <p:sp>
        <p:nvSpPr>
          <p:cNvPr id="43" name="meds-metric">
            <a:extLst xmlns:a="http://schemas.openxmlformats.org/drawingml/2006/main">
              <a:ext uri="{FF2B5EF4-FFF2-40B4-BE49-F238E27FC236}">
                <a16:creationId xmlns:a16="http://schemas.microsoft.com/office/drawing/2014/main" id="{1A03FF11-60E9-40B9-9980-E62F9CCFA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2343150"/>
            <a:ext cx="28702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44" name="meds-metric-title">
            <a:extLst xmlns:a="http://schemas.openxmlformats.org/drawingml/2006/main">
              <a:ext uri="{FF2B5EF4-FFF2-40B4-BE49-F238E27FC236}">
                <a16:creationId xmlns:a16="http://schemas.microsoft.com/office/drawing/2014/main" id="{6C3BF613-C6BA-4AD3-AD88-1A8AC886F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5725" y="2419350"/>
            <a:ext cx="269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3F59"/>
                </a:solidFill>
              </a:defRPr>
            </a:pPr>
            <a:r>
              <a:rPr sz="675" b="1">
                <a:solidFill>
                  <a:srgbClr val="153F59"/>
                </a:solidFill>
              </a:rPr>
              <a:t>Medicamentos</a:t>
            </a:r>
          </a:p>
        </p:txBody>
      </p:sp>
      <p:sp>
        <p:nvSpPr>
          <p:cNvPr id="45" name="meds-metric-value">
            <a:extLst xmlns:a="http://schemas.openxmlformats.org/drawingml/2006/main">
              <a:ext uri="{FF2B5EF4-FFF2-40B4-BE49-F238E27FC236}">
                <a16:creationId xmlns:a16="http://schemas.microsoft.com/office/drawing/2014/main" id="{5CFC1700-2AA0-462D-8F33-13D051FD3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5725" y="2609850"/>
            <a:ext cx="269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3F59"/>
                </a:solidFill>
              </a:defRPr>
            </a:pPr>
            <a:r>
              <a:rPr sz="1050" b="1">
                <a:solidFill>
                  <a:srgbClr val="153F59"/>
                </a:solidFill>
              </a:rPr>
              <a:t>81,5%→64,4%</a:t>
            </a:r>
          </a:p>
        </p:txBody>
      </p:sp>
      <p:sp>
        <p:nvSpPr>
          <p:cNvPr id="46" name="meds-metric-note">
            <a:extLst xmlns:a="http://schemas.openxmlformats.org/drawingml/2006/main">
              <a:ext uri="{FF2B5EF4-FFF2-40B4-BE49-F238E27FC236}">
                <a16:creationId xmlns:a16="http://schemas.microsoft.com/office/drawing/2014/main" id="{7201DA57-A1F7-4897-B3AF-08924B008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5725" y="2876550"/>
            <a:ext cx="269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33" b="0">
                <a:solidFill>
                  <a:srgbClr val="102536"/>
                </a:solidFill>
              </a:defRPr>
            </a:pPr>
            <a:r>
              <a:rPr sz="533" b="0">
                <a:solidFill>
                  <a:srgbClr val="102536"/>
                </a:solidFill>
              </a:rPr>
              <a:t>Queda percentual entre asmáticos; inferência depende do IC95% e denominador.</a:t>
            </a:r>
          </a:p>
        </p:txBody>
      </p:sp>
      <p:sp>
        <p:nvSpPr>
          <p:cNvPr id="47" name="chart-meds-caption">
            <a:extLst xmlns:a="http://schemas.openxmlformats.org/drawingml/2006/main">
              <a:ext uri="{FF2B5EF4-FFF2-40B4-BE49-F238E27FC236}">
                <a16:creationId xmlns:a16="http://schemas.microsoft.com/office/drawing/2014/main" id="{2819273C-3FB8-4016-A727-20D961EC0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3371850"/>
            <a:ext cx="287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Figura 3: Uso de medicamento oral ou bombinha entre pessoas com diagnóstico médico de asma por UF e Brasil.</a:t>
            </a:r>
          </a:p>
        </p:txBody>
      </p:sp>
      <p:sp>
        <p:nvSpPr>
          <p:cNvPr id="48" name="chart-meds-frame">
            <a:extLst xmlns:a="http://schemas.openxmlformats.org/drawingml/2006/main">
              <a:ext uri="{FF2B5EF4-FFF2-40B4-BE49-F238E27FC236}">
                <a16:creationId xmlns:a16="http://schemas.microsoft.com/office/drawing/2014/main" id="{DFD06D86-2121-4F5F-AA2C-2C56DFE5F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3619500"/>
            <a:ext cx="28702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2871ac30974878"/>
          <a:stretch xmlns:a="http://schemas.openxmlformats.org/drawingml/2006/main"/>
        </p:blipFill>
        <p:spPr>
          <a:xfrm xmlns:a="http://schemas.openxmlformats.org/drawingml/2006/main">
            <a:off x="6407150" y="4265348"/>
            <a:ext cx="2755900" cy="803804"/>
          </a:xfrm>
          <a:prstGeom xmlns:a="http://schemas.openxmlformats.org/drawingml/2006/main" prst="rect">
            <a:avLst/>
          </a:prstGeom>
        </p:spPr>
      </p:pic>
      <p:sp>
        <p:nvSpPr>
          <p:cNvPr id="50" name="chart-smoke-caption">
            <a:extLst xmlns:a="http://schemas.openxmlformats.org/drawingml/2006/main">
              <a:ext uri="{FF2B5EF4-FFF2-40B4-BE49-F238E27FC236}">
                <a16:creationId xmlns:a16="http://schemas.microsoft.com/office/drawing/2014/main" id="{8ECEE54D-7D74-405A-A1EE-8BAF4CC98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5848350"/>
            <a:ext cx="287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Figura 4: Taxa de fumantes ativos por 100 mil habitantes por UF, PNS 2013 e 2019.</a:t>
            </a:r>
          </a:p>
        </p:txBody>
      </p:sp>
      <p:sp>
        <p:nvSpPr>
          <p:cNvPr id="51" name="chart-smoke-frame">
            <a:extLst xmlns:a="http://schemas.openxmlformats.org/drawingml/2006/main">
              <a:ext uri="{FF2B5EF4-FFF2-40B4-BE49-F238E27FC236}">
                <a16:creationId xmlns:a16="http://schemas.microsoft.com/office/drawing/2014/main" id="{FED9C36A-B556-4EEC-9945-8234BCB59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6096000"/>
            <a:ext cx="28702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5753c662c54cc2"/>
          <a:stretch xmlns:a="http://schemas.openxmlformats.org/drawingml/2006/main"/>
        </p:blipFill>
        <p:spPr>
          <a:xfrm xmlns:a="http://schemas.openxmlformats.org/drawingml/2006/main">
            <a:off x="6407150" y="6741848"/>
            <a:ext cx="2755900" cy="803804"/>
          </a:xfrm>
          <a:prstGeom xmlns:a="http://schemas.openxmlformats.org/drawingml/2006/main" prst="rect">
            <a:avLst/>
          </a:prstGeom>
        </p:spPr>
      </p:pic>
      <p:sp>
        <p:nvSpPr>
          <p:cNvPr id="53" name="6-IC beta e leitura dos gráficos-box">
            <a:extLst xmlns:a="http://schemas.openxmlformats.org/drawingml/2006/main">
              <a:ext uri="{FF2B5EF4-FFF2-40B4-BE49-F238E27FC236}">
                <a16:creationId xmlns:a16="http://schemas.microsoft.com/office/drawing/2014/main" id="{2B20BF40-8776-4A6D-96B6-6FAEB73E0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8324850"/>
            <a:ext cx="287020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54" name="6-IC beta e leitura dos gráficos-head">
            <a:extLst xmlns:a="http://schemas.openxmlformats.org/drawingml/2006/main">
              <a:ext uri="{FF2B5EF4-FFF2-40B4-BE49-F238E27FC236}">
                <a16:creationId xmlns:a16="http://schemas.microsoft.com/office/drawing/2014/main" id="{BF73CE2F-E387-4247-8749-B8788B40B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8324850"/>
            <a:ext cx="2870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</p:sp>
      <p:sp>
        <p:nvSpPr>
          <p:cNvPr id="55" name="6-IC beta e leitura dos gráficos-title">
            <a:extLst xmlns:a="http://schemas.openxmlformats.org/drawingml/2006/main">
              <a:ext uri="{FF2B5EF4-FFF2-40B4-BE49-F238E27FC236}">
                <a16:creationId xmlns:a16="http://schemas.microsoft.com/office/drawing/2014/main" id="{C4153177-97FE-4E06-9904-4E225B3CF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6200" y="8372475"/>
            <a:ext cx="2717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6. IC beta e leitura dos gráficos</a:t>
            </a:r>
          </a:p>
        </p:txBody>
      </p:sp>
      <p:sp>
        <p:nvSpPr>
          <p:cNvPr id="56" name="6-IC beta e leitura dos gráficos-body">
            <a:extLst xmlns:a="http://schemas.openxmlformats.org/drawingml/2006/main">
              <a:ext uri="{FF2B5EF4-FFF2-40B4-BE49-F238E27FC236}">
                <a16:creationId xmlns:a16="http://schemas.microsoft.com/office/drawing/2014/main" id="{9E94327C-EB62-4BFB-BA2B-BAE487064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5250" y="8667750"/>
            <a:ext cx="26797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63" b="0">
                <a:solidFill>
                  <a:srgbClr val="102536"/>
                </a:solidFill>
              </a:defRPr>
            </a:pPr>
            <a:r>
              <a:rPr sz="563" b="0">
                <a:solidFill>
                  <a:srgbClr val="102536"/>
                </a:solidFill>
              </a:rPr>
              <a:t>• O intervalo de Wald pode apresentar cobertura instável em proporções baixas/altas ou domínios com poucos eventos.</a:t>
            </a:r>
          </a:p>
          <a:p xmlns:a="http://schemas.openxmlformats.org/drawingml/2006/main">
            <a:pPr algn="l">
              <a:defRPr sz="563" b="0">
                <a:solidFill>
                  <a:srgbClr val="102536"/>
                </a:solidFill>
              </a:defRPr>
            </a:pPr>
            <a:r>
              <a:rPr sz="563" b="0">
                <a:solidFill>
                  <a:srgbClr val="102536"/>
                </a:solidFill>
              </a:rPr>
              <a:t>• O IC beta por survey::svyciprop(method = "beta") respeita a escala 0-1 e reduz o risco de limites impossíveis.</a:t>
            </a:r>
          </a:p>
          <a:p xmlns:a="http://schemas.openxmlformats.org/drawingml/2006/main">
            <a:pPr algn="l">
              <a:defRPr sz="563" b="0">
                <a:solidFill>
                  <a:srgbClr val="102536"/>
                </a:solidFill>
              </a:defRPr>
            </a:pPr>
            <a:r>
              <a:rPr sz="563" b="0">
                <a:solidFill>
                  <a:srgbClr val="102536"/>
                </a:solidFill>
              </a:rPr>
              <a:t>• A comparação entre anos/UFs foi interpretada por magnitude e sobreposição dos IC95%, não apenas pela altura das barras.</a:t>
            </a:r>
          </a:p>
        </p:txBody>
      </p:sp>
      <p:sp>
        <p:nvSpPr>
          <p:cNvPr id="57" name="7-Discussão e implicações-box">
            <a:extLst xmlns:a="http://schemas.openxmlformats.org/drawingml/2006/main">
              <a:ext uri="{FF2B5EF4-FFF2-40B4-BE49-F238E27FC236}">
                <a16:creationId xmlns:a16="http://schemas.microsoft.com/office/drawing/2014/main" id="{CEB8A8A8-5EE9-485C-954E-53CBB2CF5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9848850"/>
            <a:ext cx="287020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58" name="7-Discussão e implicações-head">
            <a:extLst xmlns:a="http://schemas.openxmlformats.org/drawingml/2006/main">
              <a:ext uri="{FF2B5EF4-FFF2-40B4-BE49-F238E27FC236}">
                <a16:creationId xmlns:a16="http://schemas.microsoft.com/office/drawing/2014/main" id="{D5813CC8-3AA8-4BAA-A8BA-E7838C58B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9848850"/>
            <a:ext cx="2870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</p:sp>
      <p:sp>
        <p:nvSpPr>
          <p:cNvPr id="59" name="7-Discussão e implicações-title">
            <a:extLst xmlns:a="http://schemas.openxmlformats.org/drawingml/2006/main">
              <a:ext uri="{FF2B5EF4-FFF2-40B4-BE49-F238E27FC236}">
                <a16:creationId xmlns:a16="http://schemas.microsoft.com/office/drawing/2014/main" id="{F2ABA913-5DE0-4BAB-9007-8F50808A6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6200" y="9896475"/>
            <a:ext cx="2717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7. Discussão e implicações</a:t>
            </a:r>
          </a:p>
        </p:txBody>
      </p:sp>
      <p:sp>
        <p:nvSpPr>
          <p:cNvPr id="60" name="7-Discussão e implicações-body">
            <a:extLst xmlns:a="http://schemas.openxmlformats.org/drawingml/2006/main">
              <a:ext uri="{FF2B5EF4-FFF2-40B4-BE49-F238E27FC236}">
                <a16:creationId xmlns:a16="http://schemas.microsoft.com/office/drawing/2014/main" id="{C3544457-8F4C-4FF9-8819-E36FD6BAD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5250" y="10191750"/>
            <a:ext cx="2679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78" b="0">
                <a:solidFill>
                  <a:srgbClr val="102536"/>
                </a:solidFill>
              </a:defRPr>
            </a:pPr>
            <a:r>
              <a:rPr sz="578" b="0">
                <a:solidFill>
                  <a:srgbClr val="102536"/>
                </a:solidFill>
              </a:rPr>
              <a:t>• O aumento do diagnóstico pode refletir maior ocorrência, melhor acesso ao diagnóstico ou ambos.</a:t>
            </a:r>
          </a:p>
          <a:p xmlns:a="http://schemas.openxmlformats.org/drawingml/2006/main">
            <a:pPr algn="l">
              <a:defRPr sz="578" b="0">
                <a:solidFill>
                  <a:srgbClr val="102536"/>
                </a:solidFill>
              </a:defRPr>
            </a:pPr>
            <a:r>
              <a:rPr sz="578" b="0">
                <a:solidFill>
                  <a:srgbClr val="102536"/>
                </a:solidFill>
              </a:rPr>
              <a:t>• A estabilidade das crises sugere que o manejo clínico não melhorou na mesma proporção.</a:t>
            </a:r>
          </a:p>
          <a:p xmlns:a="http://schemas.openxmlformats.org/drawingml/2006/main">
            <a:pPr algn="l">
              <a:defRPr sz="578" b="0">
                <a:solidFill>
                  <a:srgbClr val="102536"/>
                </a:solidFill>
              </a:defRPr>
            </a:pPr>
            <a:r>
              <a:rPr sz="578" b="0">
                <a:solidFill>
                  <a:srgbClr val="102536"/>
                </a:solidFill>
              </a:rPr>
              <a:t>• O controle da asma depende de acesso farmacológico, seguimento clínico, educação, controle de exposições e intervenções não farmacológicas.</a:t>
            </a:r>
          </a:p>
        </p:txBody>
      </p:sp>
      <p:sp>
        <p:nvSpPr>
          <p:cNvPr id="61" name="8-ETL, OMOP e OHDSI-box">
            <a:extLst xmlns:a="http://schemas.openxmlformats.org/drawingml/2006/main">
              <a:ext uri="{FF2B5EF4-FFF2-40B4-BE49-F238E27FC236}">
                <a16:creationId xmlns:a16="http://schemas.microsoft.com/office/drawing/2014/main" id="{E073B945-15D5-405E-8576-606247D0D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0572750"/>
            <a:ext cx="5892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62" name="8-ETL, OMOP e OHDSI-head">
            <a:extLst xmlns:a="http://schemas.openxmlformats.org/drawingml/2006/main">
              <a:ext uri="{FF2B5EF4-FFF2-40B4-BE49-F238E27FC236}">
                <a16:creationId xmlns:a16="http://schemas.microsoft.com/office/drawing/2014/main" id="{E949AC35-BE33-419D-94CB-424A2616A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0572750"/>
            <a:ext cx="5892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</p:sp>
      <p:sp>
        <p:nvSpPr>
          <p:cNvPr id="63" name="8-ETL, OMOP e OHDSI-title">
            <a:extLst xmlns:a="http://schemas.openxmlformats.org/drawingml/2006/main">
              <a:ext uri="{FF2B5EF4-FFF2-40B4-BE49-F238E27FC236}">
                <a16:creationId xmlns:a16="http://schemas.microsoft.com/office/drawing/2014/main" id="{C85D5FA0-B423-4686-AF05-428290F3B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0620375"/>
            <a:ext cx="574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8. ETL, OMOP e OHDSI</a:t>
            </a:r>
          </a:p>
        </p:txBody>
      </p:sp>
      <p:sp>
        <p:nvSpPr>
          <p:cNvPr id="64" name="8-ETL, OMOP e OHDSI-body">
            <a:extLst xmlns:a="http://schemas.openxmlformats.org/drawingml/2006/main">
              <a:ext uri="{FF2B5EF4-FFF2-40B4-BE49-F238E27FC236}">
                <a16:creationId xmlns:a16="http://schemas.microsoft.com/office/drawing/2014/main" id="{9398AE56-5BC1-4171-B574-1BD5A38A3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915650"/>
            <a:ext cx="57023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70" b="0">
                <a:solidFill>
                  <a:srgbClr val="102536"/>
                </a:solidFill>
              </a:defRPr>
            </a:pPr>
            <a:r>
              <a:rPr sz="570" b="0">
                <a:solidFill>
                  <a:srgbClr val="102536"/>
                </a:solidFill>
              </a:rPr>
              <a:t>• O fluxo analítico segue lógica ETL: extração dos microdados, transformação de variáveis e carga de tabelas analíticas reprodutíveis.</a:t>
            </a:r>
          </a:p>
          <a:p xmlns:a="http://schemas.openxmlformats.org/drawingml/2006/main">
            <a:pPr algn="l">
              <a:defRPr sz="570" b="0">
                <a:solidFill>
                  <a:srgbClr val="102536"/>
                </a:solidFill>
              </a:defRPr>
            </a:pPr>
            <a:r>
              <a:rPr sz="570" b="0">
                <a:solidFill>
                  <a:srgbClr val="102536"/>
                </a:solidFill>
              </a:rPr>
              <a:t>• A PNS não é base clínica longitudinal, mas pode atuar como camada populacional de referência.</a:t>
            </a:r>
          </a:p>
          <a:p xmlns:a="http://schemas.openxmlformats.org/drawingml/2006/main">
            <a:pPr algn="l">
              <a:defRPr sz="570" b="0">
                <a:solidFill>
                  <a:srgbClr val="102536"/>
                </a:solidFill>
              </a:defRPr>
            </a:pPr>
            <a:r>
              <a:rPr sz="570" b="0">
                <a:solidFill>
                  <a:srgbClr val="102536"/>
                </a:solidFill>
              </a:rPr>
              <a:t>• OMOP/OHDSI oferece princípios de padronização, vocabulários e reprodutibilidade para comparação futura com bases assistenciais.</a:t>
            </a:r>
          </a:p>
        </p:txBody>
      </p:sp>
      <p:sp>
        <p:nvSpPr>
          <p:cNvPr id="65" name="9-Conclusões-box">
            <a:extLst xmlns:a="http://schemas.openxmlformats.org/drawingml/2006/main">
              <a:ext uri="{FF2B5EF4-FFF2-40B4-BE49-F238E27FC236}">
                <a16:creationId xmlns:a16="http://schemas.microsoft.com/office/drawing/2014/main" id="{1986314C-B29A-4757-8E3E-B808AE06A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11182350"/>
            <a:ext cx="1714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66" name="9-Conclusões-head">
            <a:extLst xmlns:a="http://schemas.openxmlformats.org/drawingml/2006/main">
              <a:ext uri="{FF2B5EF4-FFF2-40B4-BE49-F238E27FC236}">
                <a16:creationId xmlns:a16="http://schemas.microsoft.com/office/drawing/2014/main" id="{36C44138-8016-4283-BCF3-7A31BC0F2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11182350"/>
            <a:ext cx="1714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</p:sp>
      <p:sp>
        <p:nvSpPr>
          <p:cNvPr id="67" name="9-Conclusões-title">
            <a:extLst xmlns:a="http://schemas.openxmlformats.org/drawingml/2006/main">
              <a:ext uri="{FF2B5EF4-FFF2-40B4-BE49-F238E27FC236}">
                <a16:creationId xmlns:a16="http://schemas.microsoft.com/office/drawing/2014/main" id="{DE183939-2799-4FCD-9BA5-6DB10ACFE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6200" y="11229975"/>
            <a:ext cx="1562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9. Conclusões</a:t>
            </a:r>
          </a:p>
        </p:txBody>
      </p:sp>
      <p:sp>
        <p:nvSpPr>
          <p:cNvPr id="68" name="9-Conclusões-body">
            <a:extLst xmlns:a="http://schemas.openxmlformats.org/drawingml/2006/main">
              <a:ext uri="{FF2B5EF4-FFF2-40B4-BE49-F238E27FC236}">
                <a16:creationId xmlns:a16="http://schemas.microsoft.com/office/drawing/2014/main" id="{6A8C882F-E3A9-4A3E-AF1B-500F68B12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5250" y="11525250"/>
            <a:ext cx="1524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40" b="0">
                <a:solidFill>
                  <a:srgbClr val="102536"/>
                </a:solidFill>
              </a:defRPr>
            </a:pPr>
            <a:r>
              <a:rPr sz="540" b="0">
                <a:solidFill>
                  <a:srgbClr val="102536"/>
                </a:solidFill>
              </a:rPr>
              <a:t>• A implementação correta do plano amostral é condição para estimativas válidas.</a:t>
            </a:r>
          </a:p>
          <a:p xmlns:a="http://schemas.openxmlformats.org/drawingml/2006/main">
            <a:pPr algn="l">
              <a:defRPr sz="540" b="0">
                <a:solidFill>
                  <a:srgbClr val="102536"/>
                </a:solidFill>
              </a:defRPr>
            </a:pPr>
            <a:r>
              <a:rPr sz="540" b="0">
                <a:solidFill>
                  <a:srgbClr val="102536"/>
                </a:solidFill>
              </a:rPr>
              <a:t>• O Brasil apresentou aumento de diagnóstico, mas não evidência equivalente de melhora no controle.</a:t>
            </a:r>
          </a:p>
          <a:p xmlns:a="http://schemas.openxmlformats.org/drawingml/2006/main">
            <a:pPr algn="l">
              <a:defRPr sz="540" b="0">
                <a:solidFill>
                  <a:srgbClr val="102536"/>
                </a:solidFill>
              </a:defRPr>
            </a:pPr>
            <a:r>
              <a:rPr sz="540" b="0">
                <a:solidFill>
                  <a:srgbClr val="102536"/>
                </a:solidFill>
              </a:rPr>
              <a:t>• Os gráficos por UF devem ser lidos com IC95%, pois várias comparações têm intervalos sobrepostos.</a:t>
            </a:r>
          </a:p>
        </p:txBody>
      </p:sp>
      <p:sp>
        <p:nvSpPr>
          <p:cNvPr id="69" name="references-box">
            <a:extLst xmlns:a="http://schemas.openxmlformats.org/drawingml/2006/main">
              <a:ext uri="{FF2B5EF4-FFF2-40B4-BE49-F238E27FC236}">
                <a16:creationId xmlns:a16="http://schemas.microsoft.com/office/drawing/2014/main" id="{CED45302-75B5-456A-8F6B-8B7D33BC3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1811000"/>
            <a:ext cx="7048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70" name="references-title">
            <a:extLst xmlns:a="http://schemas.openxmlformats.org/drawingml/2006/main">
              <a:ext uri="{FF2B5EF4-FFF2-40B4-BE49-F238E27FC236}">
                <a16:creationId xmlns:a16="http://schemas.microsoft.com/office/drawing/2014/main" id="{9E7AA42D-33E8-4215-BC7F-2DBDE6799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1877675"/>
            <a:ext cx="6896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53F59"/>
                </a:solidFill>
              </a:defRPr>
            </a:pPr>
            <a:r>
              <a:rPr sz="825" b="1">
                <a:solidFill>
                  <a:srgbClr val="153F59"/>
                </a:solidFill>
              </a:rPr>
              <a:t>Referências</a:t>
            </a:r>
          </a:p>
        </p:txBody>
      </p:sp>
      <p:sp>
        <p:nvSpPr>
          <p:cNvPr id="71" name="references-body">
            <a:extLst xmlns:a="http://schemas.openxmlformats.org/drawingml/2006/main">
              <a:ext uri="{FF2B5EF4-FFF2-40B4-BE49-F238E27FC236}">
                <a16:creationId xmlns:a16="http://schemas.microsoft.com/office/drawing/2014/main" id="{1E0CC87E-0294-4AF3-90FF-87A19CA26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2077700"/>
            <a:ext cx="68961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[1] GLOBAL ASTHMA NETWORK. Global Asthma Report 2022. Auckland, New Zealand: Global Asthma Network, 2022. Disponível em: https://globalasthmareport.org/resources/Global_Asthma_Report_2022.pdf. Acesso em: 19 set. 2025.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[2] SOUZA-JÚNIOR, Paulo Roberto Borges de et al. Desenho da amostra da Pesquisa Nacional de Saúde 2013. Epidemiologia e Serviços de Saúde, v. 24, p. 207-216, 2015.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[3] DUBE, I.; SILVA, M. E. L. PNS_2013_2019. GitHub, 2026. Disponível em: https://github.com/ingodube/PNS_2013_2019. Acesso em: 28 mai. 2026.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[4] MENEZES, A. M. B. et al. Prevalência de diagnóstico médico de asma em adultos brasileiros: Pesquisa Nacional de Saúde, 2013. Revista Brasileira de Epidemiologia, São Paulo, v. 18, supl. 2, p. 204-213, 2015.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[5] SEVERE ASTHMA. Non-Pharmacological Interventions for Asthma. Disponível em: https://www.severeasthma.org.au/non-pharmacological-interventions-asthma/. Acesso em: 19 set. 2025.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[6] SANTOS, Felipe Moraes dos et al. Tendência da prevalência de asma autorreferida no Brasil de 2003 a 2013 em adultos e fatores associados à prevalência. Jornal Brasileiro de Pneumologia, v. 44, n. 6, p. 491-497, 2018. doi:10.1590/S1806-37562017000000328.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[7] TO, T. et al. Global asthma prevalence in adults: findings from the cross-sectional world health survey. BMC Public Health, v. 12, art. 204, 2012. doi:10.1186/1471-2458-12-204.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[8] OHDSI. Standardized Data: The OMOP Common Data Model. Disponível em: https://www.ohdsi.org/data-standardization/.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[9] OHDSI. OMOP Common Data Model. Disponível em: https://ohdsi.github.io/CommonDataModel/.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[10] OHDSI. ETL Creation Best Practices. Disponível em: https://www.ohdsi.org/web/wiki/doku.php?id=documentation:etl_best_practices.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[11] LUMLEY, Thomas. Complex Surveys: A Guide to Analysis Using R. Hoboken: Wiley, 2010.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[12] BROWN, Lawrence D.; CAI, T. Tony; DASGUPTA, Anirban. Interval estimation for a binomial proportion. Statistical Science, v. 16, n. 2, p. 101-133, 2001. doi:10.1214/ss/1009213286.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[13] KORN, Edward L.; GRAUBARD, Barry I. Confidence intervals for proportions with small expected number of positive counts estimated from survey data. Survey Methodology, v. 24, n. 2, p. 193-201, 1998.</a:t>
            </a:r>
          </a:p>
        </p:txBody>
      </p:sp>
      <p:sp>
        <p:nvSpPr>
          <p:cNvPr id="72" name="qr-box">
            <a:extLst xmlns:a="http://schemas.openxmlformats.org/drawingml/2006/main">
              <a:ext uri="{FF2B5EF4-FFF2-40B4-BE49-F238E27FC236}">
                <a16:creationId xmlns:a16="http://schemas.microsoft.com/office/drawing/2014/main" id="{443E45EE-F99D-408B-B0A8-3B3EEA4CB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1696700"/>
            <a:ext cx="87630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pic>
        <p:nvPicPr>
          <p:cNvPr id="1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fc303d4b9a4467"/>
          <a:stretch xmlns:a="http://schemas.openxmlformats.org/drawingml/2006/main"/>
        </p:blipFill>
        <p:spPr>
          <a:xfrm xmlns:a="http://schemas.openxmlformats.org/drawingml/2006/main">
            <a:off x="8305800" y="11811000"/>
            <a:ext cx="609600" cy="609600"/>
          </a:xfrm>
          <a:prstGeom xmlns:a="http://schemas.openxmlformats.org/drawingml/2006/main" prst="rect">
            <a:avLst/>
          </a:prstGeom>
        </p:spPr>
      </p:pic>
      <p:sp>
        <p:nvSpPr>
          <p:cNvPr id="74" name="qr-label">
            <a:extLst xmlns:a="http://schemas.openxmlformats.org/drawingml/2006/main">
              <a:ext uri="{FF2B5EF4-FFF2-40B4-BE49-F238E27FC236}">
                <a16:creationId xmlns:a16="http://schemas.microsoft.com/office/drawing/2014/main" id="{C389BB44-EF90-44F2-A7FC-149AEC770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2496800"/>
            <a:ext cx="7239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88" b="1">
                <a:solidFill>
                  <a:srgbClr val="153F59"/>
                </a:solidFill>
              </a:defRPr>
            </a:pPr>
            <a:r>
              <a:rPr sz="488" b="1">
                <a:solidFill>
                  <a:srgbClr val="153F59"/>
                </a:solidFill>
              </a:rPr>
              <a:t>Relatório metodológico, códigos e gráficos reprodutíveis</a:t>
            </a:r>
          </a:p>
          <a:p xmlns:a="http://schemas.openxmlformats.org/drawingml/2006/main">
            <a:pPr algn="ctr">
              <a:defRPr sz="488" b="1">
                <a:solidFill>
                  <a:srgbClr val="153F59"/>
                </a:solidFill>
              </a:defRPr>
            </a:pPr>
            <a:r>
              <a:rPr sz="488" b="1">
                <a:solidFill>
                  <a:srgbClr val="153F59"/>
                </a:solidFill>
              </a:rPr>
              <a:t>https://ingodube.github.io/PNS_2013_2019/metodologia.html</a:t>
            </a:r>
          </a:p>
        </p:txBody>
      </p:sp>
    </p:spTree>
    <p:extLst>
      <p:ext uri="{BB962C8B-B14F-4D97-AF65-F5344CB8AC3E}">
        <p14:creationId xmlns:p14="http://schemas.microsoft.com/office/powerpoint/2010/main" val="173647760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2026-07-21T21:28:39.1460000Z</dcterms:created>
  <dcterms:modified xsi:type="dcterms:W3CDTF">2026-07-21T21:28:39.1460000Z</dcterms:modified>
</coreProperties>
</file>