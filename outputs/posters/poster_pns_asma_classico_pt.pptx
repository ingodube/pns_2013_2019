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f5cd81a15e430b" /><Relationship Type="http://schemas.openxmlformats.org/officeDocument/2006/relationships/extended-properties" Target="/docProps/app.xml" Id="Ra12ee078cea44907" /><Relationship Type="http://schemas.openxmlformats.org/officeDocument/2006/relationships/officeDocument" Target="/ppt/presentation.xml" Id="Raae3d4b29f7e41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5274431c494d40"/>
  </p:sldMasterIdLst>
  <p:notesMasterIdLst>
    <p:notesMasterId xmlns:r="http://schemas.openxmlformats.org/officeDocument/2006/relationships" r:id="R26c75ca183c34e9d"/>
  </p:notesMasterIdLst>
  <p:sldIdLst>
    <p:sldId xmlns:r="http://schemas.openxmlformats.org/officeDocument/2006/relationships" id="256" r:id="Rbe39bd60b6184c7c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7b55a965f34207" /><Relationship Type="http://schemas.openxmlformats.org/officeDocument/2006/relationships/slideMaster" Target="/ppt/slideMasters/slideMaster1.xml" Id="Rc35274431c494d40" /><Relationship Type="http://schemas.openxmlformats.org/officeDocument/2006/relationships/notesMaster" Target="/ppt/notesMasters/notesMaster1.xml" Id="R26c75ca183c34e9d" /><Relationship Type="http://schemas.openxmlformats.org/officeDocument/2006/relationships/presProps" Target="/ppt/presProps.xml" Id="Rcc9fa79f38564f04" /><Relationship Type="http://schemas.openxmlformats.org/officeDocument/2006/relationships/tableStyles" Target="/ppt/tableStyles.xml" Id="R523e995e7ad7420a" /><Relationship Type="http://schemas.openxmlformats.org/officeDocument/2006/relationships/slide" Target="/ppt/slides/slide1.xml" Id="Rbe39bd60b6184c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26d69bfd724a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ae48672a4340d4" /><Relationship Type="http://schemas.openxmlformats.org/officeDocument/2006/relationships/notesMaster" Target="/ppt/notesMasters/notesMaster1.xml" Id="Ree40e7a7284940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f7e71c803143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5b7a0237ce4473" /><Relationship Type="http://schemas.openxmlformats.org/officeDocument/2006/relationships/slideLayout" Target="/ppt/slideLayouts/slideLayout1.xml" Id="R4dcbbb19f3f44c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cbbb19f3f44c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3c281f333445b" /><Relationship Type="http://schemas.openxmlformats.org/officeDocument/2006/relationships/image" Target="/ppt/media/image.png" Id="R1429425cb2d1409d" /><Relationship Type="http://schemas.openxmlformats.org/officeDocument/2006/relationships/image" Target="/ppt/media/image2.png" Id="Rcc4cd98013f04969" /><Relationship Type="http://schemas.openxmlformats.org/officeDocument/2006/relationships/image" Target="/ppt/media/image3.png" Id="Rc5ee106bdc8840a7" /><Relationship Type="http://schemas.openxmlformats.org/officeDocument/2006/relationships/image" Target="/ppt/media/image4.png" Id="Ra921f0394562494d" /><Relationship Type="http://schemas.openxmlformats.org/officeDocument/2006/relationships/image" Target="/ppt/media/image5.png" Id="Rb9ee1f8a78ad4467" /><Relationship Type="http://schemas.openxmlformats.org/officeDocument/2006/relationships/image" Target="/ppt/media/image6.png" Id="R366cd52e6f0447dc" /><Relationship Type="http://schemas.openxmlformats.org/officeDocument/2006/relationships/image" Target="/ppt/media/image7.png" Id="R3d0a40feb29b41c2" /><Relationship Type="http://schemas.openxmlformats.org/officeDocument/2006/relationships/image" Target="/ppt/media/image8.png" Id="Raaf4693416e241bd" /><Relationship Type="http://schemas.openxmlformats.org/officeDocument/2006/relationships/notesSlide" Target="/ppt/notesSlides/notesSlide1.xml" Id="Re000178ca9b24f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29425cb2d1409d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4cd98013f04969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ee106bdc8840a7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classic-title">
            <a:extLst xmlns:a="http://schemas.openxmlformats.org/drawingml/2006/main">
              <a:ext uri="{FF2B5EF4-FFF2-40B4-BE49-F238E27FC236}">
                <a16:creationId xmlns:a16="http://schemas.microsoft.com/office/drawing/2014/main" id="{71E95C51-1CB0-47AF-9B54-551E6AB1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classic-authors">
            <a:extLst xmlns:a="http://schemas.openxmlformats.org/drawingml/2006/main">
              <a:ext uri="{FF2B5EF4-FFF2-40B4-BE49-F238E27FC236}">
                <a16:creationId xmlns:a16="http://schemas.microsoft.com/office/drawing/2014/main" id="{6D68FC52-34CA-45B9-8257-378AF730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1-Introdução-box">
            <a:extLst xmlns:a="http://schemas.openxmlformats.org/drawingml/2006/main">
              <a:ext uri="{FF2B5EF4-FFF2-40B4-BE49-F238E27FC236}">
                <a16:creationId xmlns:a16="http://schemas.microsoft.com/office/drawing/2014/main" id="{AB2C4DBD-71F6-45D9-A1ED-EB1BE3E9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" name="1-Introdução-head">
            <a:extLst xmlns:a="http://schemas.openxmlformats.org/drawingml/2006/main">
              <a:ext uri="{FF2B5EF4-FFF2-40B4-BE49-F238E27FC236}">
                <a16:creationId xmlns:a16="http://schemas.microsoft.com/office/drawing/2014/main" id="{3E27B655-2DC9-42BD-AD61-DA92239B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8" name="1-Introdução-title">
            <a:extLst xmlns:a="http://schemas.openxmlformats.org/drawingml/2006/main">
              <a:ext uri="{FF2B5EF4-FFF2-40B4-BE49-F238E27FC236}">
                <a16:creationId xmlns:a16="http://schemas.microsoft.com/office/drawing/2014/main" id="{E624A60D-8158-4323-9485-9025557A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907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Introdução</a:t>
            </a:r>
          </a:p>
        </p:txBody>
      </p:sp>
      <p:sp>
        <p:nvSpPr>
          <p:cNvPr id="9" name="1-Introdução-body">
            <a:extLst xmlns:a="http://schemas.openxmlformats.org/drawingml/2006/main">
              <a:ext uri="{FF2B5EF4-FFF2-40B4-BE49-F238E27FC236}">
                <a16:creationId xmlns:a16="http://schemas.microsoft.com/office/drawing/2014/main" id="{7EEAE0D2-17C7-427C-9EBE-529F70D7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26797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Indicadores epidemiológicos resumem frequência, distribuição e evolução de eventos de saúde.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Na asma, prevalência, uso de medicamentos, absenteísmo e dias perdidos ajudam a distinguir carga clínica, manejo e efeitos sobre trabalho.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A PNS é um inquérito domiciliar populacional com desenho amostral complexo; por isso, estimativas válidas dependem de pesos, estratos e conglomerados.</a:t>
            </a:r>
          </a:p>
        </p:txBody>
      </p:sp>
      <p:sp>
        <p:nvSpPr>
          <p:cNvPr id="10" name="2-Objetivos-box">
            <a:extLst xmlns:a="http://schemas.openxmlformats.org/drawingml/2006/main">
              <a:ext uri="{FF2B5EF4-FFF2-40B4-BE49-F238E27FC236}">
                <a16:creationId xmlns:a16="http://schemas.microsoft.com/office/drawing/2014/main" id="{984379F4-B829-4837-A5FD-8154337D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1" name="2-Objetivos-head">
            <a:extLst xmlns:a="http://schemas.openxmlformats.org/drawingml/2006/main">
              <a:ext uri="{FF2B5EF4-FFF2-40B4-BE49-F238E27FC236}">
                <a16:creationId xmlns:a16="http://schemas.microsoft.com/office/drawing/2014/main" id="{7305C25D-31CC-49FC-BE26-6CAC5138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2" name="2-Objetivos-title">
            <a:extLst xmlns:a="http://schemas.openxmlformats.org/drawingml/2006/main">
              <a:ext uri="{FF2B5EF4-FFF2-40B4-BE49-F238E27FC236}">
                <a16:creationId xmlns:a16="http://schemas.microsoft.com/office/drawing/2014/main" id="{78DBD1C5-621C-4D27-BE1A-0DE4AB98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86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Objetivos</a:t>
            </a:r>
          </a:p>
        </p:txBody>
      </p:sp>
      <p:sp>
        <p:nvSpPr>
          <p:cNvPr id="13" name="2-Objetivos-body">
            <a:extLst xmlns:a="http://schemas.openxmlformats.org/drawingml/2006/main">
              <a:ext uri="{FF2B5EF4-FFF2-40B4-BE49-F238E27FC236}">
                <a16:creationId xmlns:a16="http://schemas.microsoft.com/office/drawing/2014/main" id="{BB6FC541-32AD-4972-98C4-ED3B2475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267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Implementar no R o plano amostral da PNS 2013 e 2019.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Estimar diagnóstico médico de asma, crise nos últimos 12 meses, uso de medicamento oral/bombinha, tabagismo, desembolso, absenteísmo, dias perdidos e renda.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Comparar Brasil e UFs por estimativas pontuais, IC95% beta, magnitude e sobreposição dos intervalos.</a:t>
            </a:r>
          </a:p>
        </p:txBody>
      </p:sp>
      <p:sp>
        <p:nvSpPr>
          <p:cNvPr id="14" name="3-Dados e indicadores-box">
            <a:extLst xmlns:a="http://schemas.openxmlformats.org/drawingml/2006/main">
              <a:ext uri="{FF2B5EF4-FFF2-40B4-BE49-F238E27FC236}">
                <a16:creationId xmlns:a16="http://schemas.microsoft.com/office/drawing/2014/main" id="{89937819-C93E-486C-B51E-5F8AC13F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3-Dados e indicadores-head">
            <a:extLst xmlns:a="http://schemas.openxmlformats.org/drawingml/2006/main">
              <a:ext uri="{FF2B5EF4-FFF2-40B4-BE49-F238E27FC236}">
                <a16:creationId xmlns:a16="http://schemas.microsoft.com/office/drawing/2014/main" id="{C8DE8867-E8F3-45C7-9B13-1BDB3621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6" name="3-Dados e indicadores-title">
            <a:extLst xmlns:a="http://schemas.openxmlformats.org/drawingml/2006/main">
              <a:ext uri="{FF2B5EF4-FFF2-40B4-BE49-F238E27FC236}">
                <a16:creationId xmlns:a16="http://schemas.microsoft.com/office/drawing/2014/main" id="{B0A35ED4-4E34-4A3F-9B32-4B538F9F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86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Dados e indicadores</a:t>
            </a:r>
          </a:p>
        </p:txBody>
      </p:sp>
      <p:sp>
        <p:nvSpPr>
          <p:cNvPr id="17" name="3-Dados e indicadores-body">
            <a:extLst xmlns:a="http://schemas.openxmlformats.org/drawingml/2006/main">
              <a:ext uri="{FF2B5EF4-FFF2-40B4-BE49-F238E27FC236}">
                <a16:creationId xmlns:a16="http://schemas.microsoft.com/office/drawing/2014/main" id="{0E12E79B-0DF7-4D81-B35B-AF15CAB6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4-Plano amostral-box">
            <a:extLst xmlns:a="http://schemas.openxmlformats.org/drawingml/2006/main">
              <a:ext uri="{FF2B5EF4-FFF2-40B4-BE49-F238E27FC236}">
                <a16:creationId xmlns:a16="http://schemas.microsoft.com/office/drawing/2014/main" id="{63FA882C-B879-41F0-B8EF-EC5F86EC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4-Plano amostral-head">
            <a:extLst xmlns:a="http://schemas.openxmlformats.org/drawingml/2006/main">
              <a:ext uri="{FF2B5EF4-FFF2-40B4-BE49-F238E27FC236}">
                <a16:creationId xmlns:a16="http://schemas.microsoft.com/office/drawing/2014/main" id="{A148F3DC-D063-4E2D-822B-1C31E043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20" name="4-Plano amostral-title">
            <a:extLst xmlns:a="http://schemas.openxmlformats.org/drawingml/2006/main">
              <a:ext uri="{FF2B5EF4-FFF2-40B4-BE49-F238E27FC236}">
                <a16:creationId xmlns:a16="http://schemas.microsoft.com/office/drawing/2014/main" id="{53C63CE1-6CE7-4846-A80B-AEC81A5B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210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Plano amostral</a:t>
            </a:r>
          </a:p>
        </p:txBody>
      </p:sp>
      <p:sp>
        <p:nvSpPr>
          <p:cNvPr id="21" name="4-Plano amostral-body">
            <a:extLst xmlns:a="http://schemas.openxmlformats.org/drawingml/2006/main">
              <a:ext uri="{FF2B5EF4-FFF2-40B4-BE49-F238E27FC236}">
                <a16:creationId xmlns:a16="http://schemas.microsoft.com/office/drawing/2014/main" id="{F2D1E69E-AB1C-4832-814F-FDCF2F47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505700"/>
            <a:ext cx="26797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22" name="classic-formula-box">
            <a:extLst xmlns:a="http://schemas.openxmlformats.org/drawingml/2006/main">
              <a:ext uri="{FF2B5EF4-FFF2-40B4-BE49-F238E27FC236}">
                <a16:creationId xmlns:a16="http://schemas.microsoft.com/office/drawing/2014/main" id="{57D05FFB-7DD6-421E-AFC0-09D9719F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05900"/>
            <a:ext cx="2870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3" name="classic-formula-title">
            <a:extLst xmlns:a="http://schemas.openxmlformats.org/drawingml/2006/main">
              <a:ext uri="{FF2B5EF4-FFF2-40B4-BE49-F238E27FC236}">
                <a16:creationId xmlns:a16="http://schemas.microsoft.com/office/drawing/2014/main" id="{DE134DC2-49C3-485E-BCEA-55C2DABF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63050"/>
            <a:ext cx="2870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24" name="classic-formula">
            <a:extLst xmlns:a="http://schemas.openxmlformats.org/drawingml/2006/main">
              <a:ext uri="{FF2B5EF4-FFF2-40B4-BE49-F238E27FC236}">
                <a16:creationId xmlns:a16="http://schemas.microsoft.com/office/drawing/2014/main" id="{C1614553-3B11-4814-B400-18043FB0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372600"/>
            <a:ext cx="2679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25" name="prev-metric">
            <a:extLst xmlns:a="http://schemas.openxmlformats.org/drawingml/2006/main">
              <a:ext uri="{FF2B5EF4-FFF2-40B4-BE49-F238E27FC236}">
                <a16:creationId xmlns:a16="http://schemas.microsoft.com/office/drawing/2014/main" id="{255A12DF-D79F-4387-8813-036C2B7A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6" name="prev-metric-title">
            <a:extLst xmlns:a="http://schemas.openxmlformats.org/drawingml/2006/main">
              <a:ext uri="{FF2B5EF4-FFF2-40B4-BE49-F238E27FC236}">
                <a16:creationId xmlns:a16="http://schemas.microsoft.com/office/drawing/2014/main" id="{4EA40E9A-925E-426B-940F-5F4E007A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diagnóstico</a:t>
            </a:r>
          </a:p>
        </p:txBody>
      </p:sp>
      <p:sp>
        <p:nvSpPr>
          <p:cNvPr id="27" name="prev-metric-value">
            <a:extLst xmlns:a="http://schemas.openxmlformats.org/drawingml/2006/main">
              <a:ext uri="{FF2B5EF4-FFF2-40B4-BE49-F238E27FC236}">
                <a16:creationId xmlns:a16="http://schemas.microsoft.com/office/drawing/2014/main" id="{8ABB9010-5E87-4FDD-9865-CC112250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8" name="prev-metric-note">
            <a:extLst xmlns:a="http://schemas.openxmlformats.org/drawingml/2006/main">
              <a:ext uri="{FF2B5EF4-FFF2-40B4-BE49-F238E27FC236}">
                <a16:creationId xmlns:a16="http://schemas.microsoft.com/office/drawing/2014/main" id="{E3A82923-55FD-45A9-914D-1C44D341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Aumento do diagnóstico médico de asma, com IC95% sem sobreposição.</a:t>
            </a:r>
          </a:p>
        </p:txBody>
      </p:sp>
      <p:sp>
        <p:nvSpPr>
          <p:cNvPr id="29" name="crisis-metric">
            <a:extLst xmlns:a="http://schemas.openxmlformats.org/drawingml/2006/main">
              <a:ext uri="{FF2B5EF4-FFF2-40B4-BE49-F238E27FC236}">
                <a16:creationId xmlns:a16="http://schemas.microsoft.com/office/drawing/2014/main" id="{9AC74D9B-B790-4765-BD2E-ECD21DB8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33718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0" name="crisis-metric-title">
            <a:extLst xmlns:a="http://schemas.openxmlformats.org/drawingml/2006/main">
              <a:ext uri="{FF2B5EF4-FFF2-40B4-BE49-F238E27FC236}">
                <a16:creationId xmlns:a16="http://schemas.microsoft.com/office/drawing/2014/main" id="{83348651-6D61-4937-925A-D8AF6A1A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4480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trabalho</a:t>
            </a:r>
          </a:p>
        </p:txBody>
      </p:sp>
      <p:sp>
        <p:nvSpPr>
          <p:cNvPr id="31" name="crisis-metric-value">
            <a:extLst xmlns:a="http://schemas.openxmlformats.org/drawingml/2006/main">
              <a:ext uri="{FF2B5EF4-FFF2-40B4-BE49-F238E27FC236}">
                <a16:creationId xmlns:a16="http://schemas.microsoft.com/office/drawing/2014/main" id="{E9A59CC7-68C8-4963-80BA-D770372A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6385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15,2%; 4,8 dias</a:t>
            </a:r>
          </a:p>
        </p:txBody>
      </p:sp>
      <p:sp>
        <p:nvSpPr>
          <p:cNvPr id="32" name="crisis-metric-note">
            <a:extLst xmlns:a="http://schemas.openxmlformats.org/drawingml/2006/main">
              <a:ext uri="{FF2B5EF4-FFF2-40B4-BE49-F238E27FC236}">
                <a16:creationId xmlns:a16="http://schemas.microsoft.com/office/drawing/2014/main" id="{F896AE32-B596-481B-9D97-7D7A2800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9052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Motivos respiratórios: absenteísmo e perda média de dias úteis.</a:t>
            </a:r>
          </a:p>
        </p:txBody>
      </p:sp>
      <p:sp>
        <p:nvSpPr>
          <p:cNvPr id="33" name="chart-prev-caption">
            <a:extLst xmlns:a="http://schemas.openxmlformats.org/drawingml/2006/main">
              <a:ext uri="{FF2B5EF4-FFF2-40B4-BE49-F238E27FC236}">
                <a16:creationId xmlns:a16="http://schemas.microsoft.com/office/drawing/2014/main" id="{154A5B43-2E9D-4FF0-9DF1-C9C7DE5A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4196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4" name="chart-prev-frame">
            <a:extLst xmlns:a="http://schemas.openxmlformats.org/drawingml/2006/main">
              <a:ext uri="{FF2B5EF4-FFF2-40B4-BE49-F238E27FC236}">
                <a16:creationId xmlns:a16="http://schemas.microsoft.com/office/drawing/2014/main" id="{12906E0D-247E-49BF-89C3-81C1D317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6672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1f0394562494d"/>
          <a:stretch xmlns:a="http://schemas.openxmlformats.org/drawingml/2006/main"/>
        </p:blipFill>
        <p:spPr>
          <a:xfrm xmlns:a="http://schemas.openxmlformats.org/drawingml/2006/main">
            <a:off x="3387790" y="47244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6" name="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06DE07B8-2C3F-4F74-96A0-0B7E6845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68961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Absenteísmo por motivo de saúde no Brasil, com destaque para causas respiratórias, PNS 2019.</a:t>
            </a:r>
          </a:p>
        </p:txBody>
      </p:sp>
      <p:sp>
        <p:nvSpPr>
          <p:cNvPr id="37" name="chart-crisis-frame">
            <a:extLst xmlns:a="http://schemas.openxmlformats.org/drawingml/2006/main">
              <a:ext uri="{FF2B5EF4-FFF2-40B4-BE49-F238E27FC236}">
                <a16:creationId xmlns:a16="http://schemas.microsoft.com/office/drawing/2014/main" id="{50DD855C-F825-449B-95A8-48E75BCC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71437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e1f8a78ad4467"/>
          <a:stretch xmlns:a="http://schemas.openxmlformats.org/drawingml/2006/main"/>
        </p:blipFill>
        <p:spPr>
          <a:xfrm xmlns:a="http://schemas.openxmlformats.org/drawingml/2006/main">
            <a:off x="3387790" y="72009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9" name="5-Discussão-box">
            <a:extLst xmlns:a="http://schemas.openxmlformats.org/drawingml/2006/main">
              <a:ext uri="{FF2B5EF4-FFF2-40B4-BE49-F238E27FC236}">
                <a16:creationId xmlns:a16="http://schemas.microsoft.com/office/drawing/2014/main" id="{C3BEC3C5-4D8E-4F22-8F22-23AAE582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0" name="5-Discussão-head">
            <a:extLst xmlns:a="http://schemas.openxmlformats.org/drawingml/2006/main">
              <a:ext uri="{FF2B5EF4-FFF2-40B4-BE49-F238E27FC236}">
                <a16:creationId xmlns:a16="http://schemas.microsoft.com/office/drawing/2014/main" id="{051903AE-0955-448C-AC6B-E4B32661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41" name="5-Discussão-title">
            <a:extLst xmlns:a="http://schemas.openxmlformats.org/drawingml/2006/main">
              <a:ext uri="{FF2B5EF4-FFF2-40B4-BE49-F238E27FC236}">
                <a16:creationId xmlns:a16="http://schemas.microsoft.com/office/drawing/2014/main" id="{6CF9E2FB-C577-4574-94FF-43A65105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9420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Discussão</a:t>
            </a:r>
          </a:p>
        </p:txBody>
      </p:sp>
      <p:sp>
        <p:nvSpPr>
          <p:cNvPr id="42" name="5-Discussão-body">
            <a:extLst xmlns:a="http://schemas.openxmlformats.org/drawingml/2006/main">
              <a:ext uri="{FF2B5EF4-FFF2-40B4-BE49-F238E27FC236}">
                <a16:creationId xmlns:a16="http://schemas.microsoft.com/office/drawing/2014/main" id="{4A217904-FC2C-4B02-A9D7-5439EAA0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650" y="9715500"/>
            <a:ext cx="267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72" b="0">
                <a:solidFill>
                  <a:srgbClr val="102536"/>
                </a:solidFill>
              </a:defRPr>
            </a:pPr>
            <a:r>
              <a:rPr sz="472" b="0">
                <a:solidFill>
                  <a:srgbClr val="102536"/>
                </a:solidFill>
              </a:rPr>
              <a:t>• Diagnóstico de asma aumentou no Brasil; motivos respiratórios somam 15,2% do absenteísmo por saúde.</a:t>
            </a:r>
          </a:p>
          <a:p xmlns:a="http://schemas.openxmlformats.org/drawingml/2006/main">
            <a:pPr algn="l">
              <a:defRPr sz="472" b="0">
                <a:solidFill>
                  <a:srgbClr val="102536"/>
                </a:solidFill>
              </a:defRPr>
            </a:pPr>
            <a:r>
              <a:rPr sz="472" b="0">
                <a:solidFill>
                  <a:srgbClr val="102536"/>
                </a:solidFill>
              </a:rPr>
              <a:t>• A perda média respiratória foi 4,8 dias, sinalizando custo potencial para produtividade e renda.</a:t>
            </a:r>
          </a:p>
          <a:p xmlns:a="http://schemas.openxmlformats.org/drawingml/2006/main">
            <a:pPr algn="l">
              <a:defRPr sz="472" b="0">
                <a:solidFill>
                  <a:srgbClr val="102536"/>
                </a:solidFill>
              </a:defRPr>
            </a:pPr>
            <a:r>
              <a:rPr sz="472" b="0">
                <a:solidFill>
                  <a:srgbClr val="102536"/>
                </a:solidFill>
              </a:rPr>
              <a:t>• Melhor controle pode reduzir faltas, dias perdidos e demanda por cuidado agudo.</a:t>
            </a:r>
          </a:p>
        </p:txBody>
      </p:sp>
      <p:sp>
        <p:nvSpPr>
          <p:cNvPr id="43" name="meds-metric">
            <a:extLst xmlns:a="http://schemas.openxmlformats.org/drawingml/2006/main">
              <a:ext uri="{FF2B5EF4-FFF2-40B4-BE49-F238E27FC236}">
                <a16:creationId xmlns:a16="http://schemas.microsoft.com/office/drawing/2014/main" id="{24C12171-7D5E-4F29-BAA4-1989626D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4" name="meds-metric-title">
            <a:extLst xmlns:a="http://schemas.openxmlformats.org/drawingml/2006/main">
              <a:ext uri="{FF2B5EF4-FFF2-40B4-BE49-F238E27FC236}">
                <a16:creationId xmlns:a16="http://schemas.microsoft.com/office/drawing/2014/main" id="{B69764B6-C1B9-4D3E-9AE9-E6440687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medicamentos</a:t>
            </a:r>
          </a:p>
        </p:txBody>
      </p:sp>
      <p:sp>
        <p:nvSpPr>
          <p:cNvPr id="45" name="meds-metric-value">
            <a:extLst xmlns:a="http://schemas.openxmlformats.org/drawingml/2006/main">
              <a:ext uri="{FF2B5EF4-FFF2-40B4-BE49-F238E27FC236}">
                <a16:creationId xmlns:a16="http://schemas.microsoft.com/office/drawing/2014/main" id="{C3A3CA06-D144-48C5-8ED8-A8F1581F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46" name="meds-metric-note">
            <a:extLst xmlns:a="http://schemas.openxmlformats.org/drawingml/2006/main">
              <a:ext uri="{FF2B5EF4-FFF2-40B4-BE49-F238E27FC236}">
                <a16:creationId xmlns:a16="http://schemas.microsoft.com/office/drawing/2014/main" id="{56183BB9-F937-4B0C-ABD5-52FAF6C1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Menor proporção de uso entre asmáticos; interpretar com IC95% e perfil dos diagnosticados.</a:t>
            </a:r>
          </a:p>
        </p:txBody>
      </p:sp>
      <p:sp>
        <p:nvSpPr>
          <p:cNvPr id="47" name="chart-meds-caption">
            <a:extLst xmlns:a="http://schemas.openxmlformats.org/drawingml/2006/main">
              <a:ext uri="{FF2B5EF4-FFF2-40B4-BE49-F238E27FC236}">
                <a16:creationId xmlns:a16="http://schemas.microsoft.com/office/drawing/2014/main" id="{B8470D87-A1D0-4545-83E4-17E7568D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3718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8" name="chart-meds-frame">
            <a:extLst xmlns:a="http://schemas.openxmlformats.org/drawingml/2006/main">
              <a:ext uri="{FF2B5EF4-FFF2-40B4-BE49-F238E27FC236}">
                <a16:creationId xmlns:a16="http://schemas.microsoft.com/office/drawing/2014/main" id="{776DA4F3-0F6F-4482-BD16-6E3AC6456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6195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cd52e6f0447dc"/>
          <a:stretch xmlns:a="http://schemas.openxmlformats.org/drawingml/2006/main"/>
        </p:blipFill>
        <p:spPr>
          <a:xfrm xmlns:a="http://schemas.openxmlformats.org/drawingml/2006/main">
            <a:off x="6410390" y="367665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50" name="chart-smoke-caption">
            <a:extLst xmlns:a="http://schemas.openxmlformats.org/drawingml/2006/main">
              <a:ext uri="{FF2B5EF4-FFF2-40B4-BE49-F238E27FC236}">
                <a16:creationId xmlns:a16="http://schemas.microsoft.com/office/drawing/2014/main" id="{CA25F033-7968-4767-8959-6DAD8991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58483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Média de dias perdidos por motivo de saúde no Brasil, com destaque para causas respiratórias, PNS 2019.</a:t>
            </a:r>
          </a:p>
        </p:txBody>
      </p:sp>
      <p:sp>
        <p:nvSpPr>
          <p:cNvPr id="51" name="chart-smoke-frame">
            <a:extLst xmlns:a="http://schemas.openxmlformats.org/drawingml/2006/main">
              <a:ext uri="{FF2B5EF4-FFF2-40B4-BE49-F238E27FC236}">
                <a16:creationId xmlns:a16="http://schemas.microsoft.com/office/drawing/2014/main" id="{F9F2BA56-05AA-457F-88D8-3608889E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60960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0a40feb29b41c2"/>
          <a:stretch xmlns:a="http://schemas.openxmlformats.org/drawingml/2006/main"/>
        </p:blipFill>
        <p:spPr>
          <a:xfrm xmlns:a="http://schemas.openxmlformats.org/drawingml/2006/main">
            <a:off x="6410390" y="615315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53" name="6-IC beta e leitura dos gráficos-box">
            <a:extLst xmlns:a="http://schemas.openxmlformats.org/drawingml/2006/main">
              <a:ext uri="{FF2B5EF4-FFF2-40B4-BE49-F238E27FC236}">
                <a16:creationId xmlns:a16="http://schemas.microsoft.com/office/drawing/2014/main" id="{F71F85BE-6170-4850-89EE-55A6E7FF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4" name="6-IC beta e leitura dos gráficos-head">
            <a:extLst xmlns:a="http://schemas.openxmlformats.org/drawingml/2006/main">
              <a:ext uri="{FF2B5EF4-FFF2-40B4-BE49-F238E27FC236}">
                <a16:creationId xmlns:a16="http://schemas.microsoft.com/office/drawing/2014/main" id="{7407054B-2A06-488E-A9D4-C763E816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5" name="6-IC beta e leitura dos gráficos-title">
            <a:extLst xmlns:a="http://schemas.openxmlformats.org/drawingml/2006/main">
              <a:ext uri="{FF2B5EF4-FFF2-40B4-BE49-F238E27FC236}">
                <a16:creationId xmlns:a16="http://schemas.microsoft.com/office/drawing/2014/main" id="{6F9B3CB1-8D40-4B23-91B9-92AAC75C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8372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IC beta e leitura dos gráficos</a:t>
            </a:r>
          </a:p>
        </p:txBody>
      </p:sp>
      <p:sp>
        <p:nvSpPr>
          <p:cNvPr id="56" name="6-IC beta e leitura dos gráficos-body">
            <a:extLst xmlns:a="http://schemas.openxmlformats.org/drawingml/2006/main">
              <a:ext uri="{FF2B5EF4-FFF2-40B4-BE49-F238E27FC236}">
                <a16:creationId xmlns:a16="http://schemas.microsoft.com/office/drawing/2014/main" id="{52A87A28-79CD-4D23-9F2E-28D84778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866775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57" name="7-Impacto econômico-box">
            <a:extLst xmlns:a="http://schemas.openxmlformats.org/drawingml/2006/main">
              <a:ext uri="{FF2B5EF4-FFF2-40B4-BE49-F238E27FC236}">
                <a16:creationId xmlns:a16="http://schemas.microsoft.com/office/drawing/2014/main" id="{46BFBD7A-D5C7-4BC6-9DF7-157923B1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8" name="7-Impacto econômico-head">
            <a:extLst xmlns:a="http://schemas.openxmlformats.org/drawingml/2006/main">
              <a:ext uri="{FF2B5EF4-FFF2-40B4-BE49-F238E27FC236}">
                <a16:creationId xmlns:a16="http://schemas.microsoft.com/office/drawing/2014/main" id="{1B85F1C8-8E60-401C-9429-32A1D2E8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9" name="7-Impacto econômico-title">
            <a:extLst xmlns:a="http://schemas.openxmlformats.org/drawingml/2006/main">
              <a:ext uri="{FF2B5EF4-FFF2-40B4-BE49-F238E27FC236}">
                <a16:creationId xmlns:a16="http://schemas.microsoft.com/office/drawing/2014/main" id="{74BACE42-DC1D-4149-8F4A-1C858305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9896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Impacto econômico</a:t>
            </a:r>
          </a:p>
        </p:txBody>
      </p:sp>
      <p:sp>
        <p:nvSpPr>
          <p:cNvPr id="60" name="7-Impacto econômico-body">
            <a:extLst xmlns:a="http://schemas.openxmlformats.org/drawingml/2006/main">
              <a:ext uri="{FF2B5EF4-FFF2-40B4-BE49-F238E27FC236}">
                <a16:creationId xmlns:a16="http://schemas.microsoft.com/office/drawing/2014/main" id="{5008D7FB-55D8-4AD9-8A68-89A076F6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0191750"/>
            <a:ext cx="267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4" b="0">
                <a:solidFill>
                  <a:srgbClr val="102536"/>
                </a:solidFill>
              </a:defRPr>
            </a:pPr>
            <a:r>
              <a:rPr sz="544" b="0">
                <a:solidFill>
                  <a:srgbClr val="102536"/>
                </a:solidFill>
              </a:rPr>
              <a:t>• A asma mal controlada pode reduzir produtividade por faltas, limitação funcional e demanda por cuidado agudo.</a:t>
            </a:r>
          </a:p>
          <a:p xmlns:a="http://schemas.openxmlformats.org/drawingml/2006/main">
            <a:pPr algn="l">
              <a:defRPr sz="544" b="0">
                <a:solidFill>
                  <a:srgbClr val="102536"/>
                </a:solidFill>
              </a:defRPr>
            </a:pPr>
            <a:r>
              <a:rPr sz="544" b="0">
                <a:solidFill>
                  <a:srgbClr val="102536"/>
                </a:solidFill>
              </a:rPr>
              <a:t>• A leitura econômica reforça políticas de diagnóstico, acesso a medicamentos e acompanhamento clínico.</a:t>
            </a:r>
          </a:p>
        </p:txBody>
      </p:sp>
      <p:sp>
        <p:nvSpPr>
          <p:cNvPr id="61" name="8-ETL, OMOP e OHDSI-box">
            <a:extLst xmlns:a="http://schemas.openxmlformats.org/drawingml/2006/main">
              <a:ext uri="{FF2B5EF4-FFF2-40B4-BE49-F238E27FC236}">
                <a16:creationId xmlns:a16="http://schemas.microsoft.com/office/drawing/2014/main" id="{62E1B3D4-7ECC-46D3-8DC4-DE4B66F6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8-ETL, OMOP e OHDSI-head">
            <a:extLst xmlns:a="http://schemas.openxmlformats.org/drawingml/2006/main">
              <a:ext uri="{FF2B5EF4-FFF2-40B4-BE49-F238E27FC236}">
                <a16:creationId xmlns:a16="http://schemas.microsoft.com/office/drawing/2014/main" id="{ACB1ACDB-7C7C-4F39-81D1-E5A16C6F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3" name="8-ETL, OMOP e OHDSI-title">
            <a:extLst xmlns:a="http://schemas.openxmlformats.org/drawingml/2006/main">
              <a:ext uri="{FF2B5EF4-FFF2-40B4-BE49-F238E27FC236}">
                <a16:creationId xmlns:a16="http://schemas.microsoft.com/office/drawing/2014/main" id="{A47C1FA1-41AD-47A6-90BA-A1F47869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620375"/>
            <a:ext cx="574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8. ETL, OMOP e OHDSI</a:t>
            </a:r>
          </a:p>
        </p:txBody>
      </p:sp>
      <p:sp>
        <p:nvSpPr>
          <p:cNvPr id="64" name="8-ETL, OMOP e OHDSI-body">
            <a:extLst xmlns:a="http://schemas.openxmlformats.org/drawingml/2006/main">
              <a:ext uri="{FF2B5EF4-FFF2-40B4-BE49-F238E27FC236}">
                <a16:creationId xmlns:a16="http://schemas.microsoft.com/office/drawing/2014/main" id="{5AB6D578-9ADA-42B3-B88E-D6596A7C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15650"/>
            <a:ext cx="5702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65" name="9-Conclusões-box">
            <a:extLst xmlns:a="http://schemas.openxmlformats.org/drawingml/2006/main">
              <a:ext uri="{FF2B5EF4-FFF2-40B4-BE49-F238E27FC236}">
                <a16:creationId xmlns:a16="http://schemas.microsoft.com/office/drawing/2014/main" id="{D98745C6-26F7-4923-BA1C-0962196A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9-Conclusões-head">
            <a:extLst xmlns:a="http://schemas.openxmlformats.org/drawingml/2006/main">
              <a:ext uri="{FF2B5EF4-FFF2-40B4-BE49-F238E27FC236}">
                <a16:creationId xmlns:a16="http://schemas.microsoft.com/office/drawing/2014/main" id="{D0A74FA3-7EEE-440F-8775-EC90A12A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7" name="9-Conclusões-title">
            <a:extLst xmlns:a="http://schemas.openxmlformats.org/drawingml/2006/main">
              <a:ext uri="{FF2B5EF4-FFF2-40B4-BE49-F238E27FC236}">
                <a16:creationId xmlns:a16="http://schemas.microsoft.com/office/drawing/2014/main" id="{9FFC5BF5-059E-4DE8-AF7A-846D0713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12299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9. Conclusões</a:t>
            </a:r>
          </a:p>
        </p:txBody>
      </p:sp>
      <p:sp>
        <p:nvSpPr>
          <p:cNvPr id="68" name="9-Conclusões-body">
            <a:extLst xmlns:a="http://schemas.openxmlformats.org/drawingml/2006/main">
              <a:ext uri="{FF2B5EF4-FFF2-40B4-BE49-F238E27FC236}">
                <a16:creationId xmlns:a16="http://schemas.microsoft.com/office/drawing/2014/main" id="{81755CEB-67EE-44B8-B567-C7371A54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1525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 asma deve ser tratada como problema clínico e econômico, pois pode afetar produtividade, renda e força de trabalho.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Os resultados de absenteísmo são respiratórios agregados; não devem ser lidos como estimativa isolada de asma.</a:t>
            </a:r>
          </a:p>
        </p:txBody>
      </p:sp>
      <p:sp>
        <p:nvSpPr>
          <p:cNvPr id="69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A360AE3D-4455-47B0-9324-B930CB50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704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0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C8894CE8-DDFC-4240-8113-B47EE3DE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877675"/>
            <a:ext cx="689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71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CACC05A6-FC0C-4B7D-883E-58707F9A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077700"/>
            <a:ext cx="6896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72" name="qr-box">
            <a:extLst xmlns:a="http://schemas.openxmlformats.org/drawingml/2006/main">
              <a:ext uri="{FF2B5EF4-FFF2-40B4-BE49-F238E27FC236}">
                <a16:creationId xmlns:a16="http://schemas.microsoft.com/office/drawing/2014/main" id="{7B140C84-DD46-40CF-BF09-F3B28E2D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696700"/>
            <a:ext cx="8763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4693416e241bd"/>
          <a:stretch xmlns:a="http://schemas.openxmlformats.org/drawingml/2006/main"/>
        </p:blipFill>
        <p:spPr>
          <a:xfrm xmlns:a="http://schemas.openxmlformats.org/drawingml/2006/main">
            <a:off x="8305800" y="1181100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74" name="qr-label">
            <a:extLst xmlns:a="http://schemas.openxmlformats.org/drawingml/2006/main">
              <a:ext uri="{FF2B5EF4-FFF2-40B4-BE49-F238E27FC236}">
                <a16:creationId xmlns:a16="http://schemas.microsoft.com/office/drawing/2014/main" id="{96F46899-06C1-4543-A8D6-973D2337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249680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</p:spTree>
    <p:extLst>
      <p:ext uri="{BB962C8B-B14F-4D97-AF65-F5344CB8AC3E}">
        <p14:creationId xmlns:p14="http://schemas.microsoft.com/office/powerpoint/2010/main" val="1374996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2026-07-21T22:06:30.5600000Z</dcterms:created>
  <dcterms:modified xsi:type="dcterms:W3CDTF">2026-07-21T22:06:30.5600000Z</dcterms:modified>
</coreProperties>
</file>