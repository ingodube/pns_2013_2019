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6696a75a049448c" /><Relationship Type="http://schemas.openxmlformats.org/officeDocument/2006/relationships/extended-properties" Target="/docProps/app.xml" Id="R2eb771387e7f4561" /><Relationship Type="http://schemas.openxmlformats.org/officeDocument/2006/relationships/officeDocument" Target="/ppt/presentation.xml" Id="R1390fa591e90471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85f383a17ba4606"/>
  </p:sldMasterIdLst>
  <p:notesMasterIdLst>
    <p:notesMasterId xmlns:r="http://schemas.openxmlformats.org/officeDocument/2006/relationships" r:id="R43a6f7d69ce1436e"/>
  </p:notesMasterIdLst>
  <p:sldIdLst>
    <p:sldId xmlns:r="http://schemas.openxmlformats.org/officeDocument/2006/relationships" id="256" r:id="R28998fc1fd7641ab"/>
  </p:sldIdLst>
  <p:sldSz cx="9525000" cy="1346835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3d43dc286164d9e" /><Relationship Type="http://schemas.openxmlformats.org/officeDocument/2006/relationships/slideMaster" Target="/ppt/slideMasters/slideMaster1.xml" Id="R485f383a17ba4606" /><Relationship Type="http://schemas.openxmlformats.org/officeDocument/2006/relationships/notesMaster" Target="/ppt/notesMasters/notesMaster1.xml" Id="R43a6f7d69ce1436e" /><Relationship Type="http://schemas.openxmlformats.org/officeDocument/2006/relationships/presProps" Target="/ppt/presProps.xml" Id="Re44ba9f5a8ce46d5" /><Relationship Type="http://schemas.openxmlformats.org/officeDocument/2006/relationships/tableStyles" Target="/ppt/tableStyles.xml" Id="R20ee23932f7e4e4f" /><Relationship Type="http://schemas.openxmlformats.org/officeDocument/2006/relationships/slide" Target="/ppt/slides/slide1.xml" Id="R28998fc1fd7641a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87431efb21c4dc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8e2126df8eb4138" /><Relationship Type="http://schemas.openxmlformats.org/officeDocument/2006/relationships/notesMaster" Target="/ppt/notesMasters/notesMaster1.xml" Id="Ra41ce246004044d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76e8b0cad2469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67c46a0110343db" /><Relationship Type="http://schemas.openxmlformats.org/officeDocument/2006/relationships/slideLayout" Target="/ppt/slideLayouts/slideLayout1.xml" Id="R05321fe84af5428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5321fe84af5428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70b1a53cd44ece" /><Relationship Type="http://schemas.openxmlformats.org/officeDocument/2006/relationships/image" Target="/ppt/media/image.png" Id="R5d45e9aff9964db1" /><Relationship Type="http://schemas.openxmlformats.org/officeDocument/2006/relationships/image" Target="/ppt/media/image2.png" Id="R07d3230c0ac64dbe" /><Relationship Type="http://schemas.openxmlformats.org/officeDocument/2006/relationships/image" Target="/ppt/media/image3.png" Id="R61da29146dda4c29" /><Relationship Type="http://schemas.openxmlformats.org/officeDocument/2006/relationships/image" Target="/ppt/media/image4.png" Id="Rd002a5dbc0124d50" /><Relationship Type="http://schemas.openxmlformats.org/officeDocument/2006/relationships/image" Target="/ppt/media/image5.png" Id="R9e9ebe5e615a4793" /><Relationship Type="http://schemas.openxmlformats.org/officeDocument/2006/relationships/image" Target="/ppt/media/image6.png" Id="R8485dd780b75493f" /><Relationship Type="http://schemas.openxmlformats.org/officeDocument/2006/relationships/image" Target="/ppt/media/image7.png" Id="R2f573fb99fd94b20" /><Relationship Type="http://schemas.openxmlformats.org/officeDocument/2006/relationships/image" Target="/ppt/media/image8.png" Id="R4d6b61fe35544142" /><Relationship Type="http://schemas.openxmlformats.org/officeDocument/2006/relationships/notesSlide" Target="/ppt/notesSlides/notesSlide1.xml" Id="R645f3a05585f47e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45e9aff9964db1"/>
          <a:srcRect xmlns:a="http://schemas.openxmlformats.org/drawingml/2006/main" l="0" t="38622" r="0" b="386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000" cy="1219200"/>
          </a:xfrm>
          <a:prstGeom xmlns:a="http://schemas.openxmlformats.org/drawingml/2006/main" prst="rect">
            <a:avLst/>
          </a:prstGeom>
        </p:spPr>
      </p:pic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d3230c0ac64dbe"/>
          <a:stretch xmlns:a="http://schemas.openxmlformats.org/drawingml/2006/main"/>
        </p:blipFill>
        <p:spPr>
          <a:xfrm xmlns:a="http://schemas.openxmlformats.org/drawingml/2006/main">
            <a:off x="323850" y="265374"/>
            <a:ext cx="2952750" cy="612252"/>
          </a:xfrm>
          <a:prstGeom xmlns:a="http://schemas.openxmlformats.org/drawingml/2006/main" prst="rect">
            <a:avLst/>
          </a:prstGeom>
        </p:spPr>
      </p:pic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da29146dda4c29"/>
          <a:stretch xmlns:a="http://schemas.openxmlformats.org/drawingml/2006/main"/>
        </p:blipFill>
        <p:spPr>
          <a:xfrm xmlns:a="http://schemas.openxmlformats.org/drawingml/2006/main">
            <a:off x="3905250" y="425056"/>
            <a:ext cx="4953000" cy="311937"/>
          </a:xfrm>
          <a:prstGeom xmlns:a="http://schemas.openxmlformats.org/drawingml/2006/main" prst="rect">
            <a:avLst/>
          </a:prstGeom>
        </p:spPr>
      </p:pic>
      <p:sp>
        <p:nvSpPr>
          <p:cNvPr id="4" name="classic-title">
            <a:extLst xmlns:a="http://schemas.openxmlformats.org/drawingml/2006/main">
              <a:ext uri="{FF2B5EF4-FFF2-40B4-BE49-F238E27FC236}">
                <a16:creationId xmlns:a16="http://schemas.microsoft.com/office/drawing/2014/main" id="{3CEFDD33-23D4-4F2C-9E5D-FCFEA1B60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352550"/>
            <a:ext cx="8839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53F59"/>
                </a:solidFill>
              </a:defRPr>
            </a:pPr>
            <a:r>
              <a:rPr sz="1875" b="1">
                <a:solidFill>
                  <a:srgbClr val="153F59"/>
                </a:solidFill>
              </a:rPr>
              <a:t>Implementação do Plano Amostral da Pesquisa Nacional de Saúde no R: um estudo de caso sobre a asma no Brasil</a:t>
            </a:r>
          </a:p>
        </p:txBody>
      </p:sp>
      <p:sp>
        <p:nvSpPr>
          <p:cNvPr id="5" name="classic-authors">
            <a:extLst xmlns:a="http://schemas.openxmlformats.org/drawingml/2006/main">
              <a:ext uri="{FF2B5EF4-FFF2-40B4-BE49-F238E27FC236}">
                <a16:creationId xmlns:a16="http://schemas.microsoft.com/office/drawing/2014/main" id="{D6BF324A-50A9-473F-9F67-66A3D8558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" y="1962150"/>
            <a:ext cx="8839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4F6372"/>
                </a:solidFill>
              </a:defRPr>
            </a:pPr>
            <a:r>
              <a:rPr sz="825" b="0">
                <a:solidFill>
                  <a:srgbClr val="4F6372"/>
                </a:solidFill>
              </a:rPr>
              <a:t>I. Dube; M. E. L. Silva | Gerenciamento de dados observacionais</a:t>
            </a:r>
          </a:p>
        </p:txBody>
      </p:sp>
      <p:sp>
        <p:nvSpPr>
          <p:cNvPr id="6" name="1-Introdução-box">
            <a:extLst xmlns:a="http://schemas.openxmlformats.org/drawingml/2006/main">
              <a:ext uri="{FF2B5EF4-FFF2-40B4-BE49-F238E27FC236}">
                <a16:creationId xmlns:a16="http://schemas.microsoft.com/office/drawing/2014/main" id="{9C2BC44B-1BBB-4577-A536-8397C7631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343150"/>
            <a:ext cx="28702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7" name="1-Introdução-head">
            <a:extLst xmlns:a="http://schemas.openxmlformats.org/drawingml/2006/main">
              <a:ext uri="{FF2B5EF4-FFF2-40B4-BE49-F238E27FC236}">
                <a16:creationId xmlns:a16="http://schemas.microsoft.com/office/drawing/2014/main" id="{217AFD17-B33E-4378-85C9-5B2A73539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34315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8" name="1-Introdução-title">
            <a:extLst xmlns:a="http://schemas.openxmlformats.org/drawingml/2006/main">
              <a:ext uri="{FF2B5EF4-FFF2-40B4-BE49-F238E27FC236}">
                <a16:creationId xmlns:a16="http://schemas.microsoft.com/office/drawing/2014/main" id="{91F82BF8-69B1-4CD0-88F1-555AF639F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9077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1. Introdução</a:t>
            </a:r>
          </a:p>
        </p:txBody>
      </p:sp>
      <p:sp>
        <p:nvSpPr>
          <p:cNvPr id="9" name="1-Introdução-body">
            <a:extLst xmlns:a="http://schemas.openxmlformats.org/drawingml/2006/main">
              <a:ext uri="{FF2B5EF4-FFF2-40B4-BE49-F238E27FC236}">
                <a16:creationId xmlns:a16="http://schemas.microsoft.com/office/drawing/2014/main" id="{5062CD32-8255-4D7C-9FC5-A5E04C40A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86050"/>
            <a:ext cx="26797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53" b="0">
                <a:solidFill>
                  <a:srgbClr val="102536"/>
                </a:solidFill>
              </a:defRPr>
            </a:pPr>
            <a:r>
              <a:rPr sz="653" b="0">
                <a:solidFill>
                  <a:srgbClr val="102536"/>
                </a:solidFill>
              </a:rPr>
              <a:t>• Indicadores epidemiológicos resumem frequência, distribuição e evolução de eventos de saúde.</a:t>
            </a:r>
          </a:p>
          <a:p xmlns:a="http://schemas.openxmlformats.org/drawingml/2006/main">
            <a:pPr algn="l">
              <a:defRPr sz="653" b="0">
                <a:solidFill>
                  <a:srgbClr val="102536"/>
                </a:solidFill>
              </a:defRPr>
            </a:pPr>
            <a:r>
              <a:rPr sz="653" b="0">
                <a:solidFill>
                  <a:srgbClr val="102536"/>
                </a:solidFill>
              </a:rPr>
              <a:t>• Na asma, prevalência, crises, uso de medicamentos e tabagismo ajudam a distinguir carga da doença, acesso diagnóstico, manejo clínico e fatores de risco.</a:t>
            </a:r>
          </a:p>
          <a:p xmlns:a="http://schemas.openxmlformats.org/drawingml/2006/main">
            <a:pPr algn="l">
              <a:defRPr sz="653" b="0">
                <a:solidFill>
                  <a:srgbClr val="102536"/>
                </a:solidFill>
              </a:defRPr>
            </a:pPr>
            <a:r>
              <a:rPr sz="653" b="0">
                <a:solidFill>
                  <a:srgbClr val="102536"/>
                </a:solidFill>
              </a:rPr>
              <a:t>• A PNS é um inquérito domiciliar populacional com desenho amostral complexo; por isso, estimativas válidas dependem de pesos, estratos e conglomerados.</a:t>
            </a:r>
          </a:p>
        </p:txBody>
      </p:sp>
      <p:sp>
        <p:nvSpPr>
          <p:cNvPr id="10" name="2-Objetivos-box">
            <a:extLst xmlns:a="http://schemas.openxmlformats.org/drawingml/2006/main">
              <a:ext uri="{FF2B5EF4-FFF2-40B4-BE49-F238E27FC236}">
                <a16:creationId xmlns:a16="http://schemas.microsoft.com/office/drawing/2014/main" id="{C68948FE-B8EF-409C-98EB-75036E7DD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4038600"/>
            <a:ext cx="28702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1" name="2-Objetivos-head">
            <a:extLst xmlns:a="http://schemas.openxmlformats.org/drawingml/2006/main">
              <a:ext uri="{FF2B5EF4-FFF2-40B4-BE49-F238E27FC236}">
                <a16:creationId xmlns:a16="http://schemas.microsoft.com/office/drawing/2014/main" id="{3D43581C-90A6-4C2D-8777-9972A8479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403860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12" name="2-Objetivos-title">
            <a:extLst xmlns:a="http://schemas.openxmlformats.org/drawingml/2006/main">
              <a:ext uri="{FF2B5EF4-FFF2-40B4-BE49-F238E27FC236}">
                <a16:creationId xmlns:a16="http://schemas.microsoft.com/office/drawing/2014/main" id="{F4ABF4C4-1B4E-4E13-A553-1CD8D6F4C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08622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2. Objetivos</a:t>
            </a:r>
          </a:p>
        </p:txBody>
      </p:sp>
      <p:sp>
        <p:nvSpPr>
          <p:cNvPr id="13" name="2-Objetivos-body">
            <a:extLst xmlns:a="http://schemas.openxmlformats.org/drawingml/2006/main">
              <a:ext uri="{FF2B5EF4-FFF2-40B4-BE49-F238E27FC236}">
                <a16:creationId xmlns:a16="http://schemas.microsoft.com/office/drawing/2014/main" id="{FFE57C59-11C9-4E31-A53B-B7A642C74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81500"/>
            <a:ext cx="26797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102536"/>
                </a:solidFill>
              </a:defRPr>
            </a:pPr>
            <a:r>
              <a:rPr sz="638" b="0">
                <a:solidFill>
                  <a:srgbClr val="102536"/>
                </a:solidFill>
              </a:rPr>
              <a:t>• Implementar no R o plano amostral da PNS 2013 e 2019.</a:t>
            </a:r>
          </a:p>
          <a:p xmlns:a="http://schemas.openxmlformats.org/drawingml/2006/main">
            <a:pPr algn="l">
              <a:defRPr sz="638" b="0">
                <a:solidFill>
                  <a:srgbClr val="102536"/>
                </a:solidFill>
              </a:defRPr>
            </a:pPr>
            <a:r>
              <a:rPr sz="638" b="0">
                <a:solidFill>
                  <a:srgbClr val="102536"/>
                </a:solidFill>
              </a:rPr>
              <a:t>• Estimar diagnóstico médico de asma, crise nos últimos 12 meses, uso de medicamento oral/bombinha, tabagismo, desembolso, absenteísmo, dias perdidos e renda.</a:t>
            </a:r>
          </a:p>
          <a:p xmlns:a="http://schemas.openxmlformats.org/drawingml/2006/main">
            <a:pPr algn="l">
              <a:defRPr sz="638" b="0">
                <a:solidFill>
                  <a:srgbClr val="102536"/>
                </a:solidFill>
              </a:defRPr>
            </a:pPr>
            <a:r>
              <a:rPr sz="638" b="0">
                <a:solidFill>
                  <a:srgbClr val="102536"/>
                </a:solidFill>
              </a:rPr>
              <a:t>• Comparar Brasil e UFs por estimativas pontuais, IC95% beta, magnitude e sobreposição dos intervalos.</a:t>
            </a:r>
          </a:p>
        </p:txBody>
      </p:sp>
      <p:sp>
        <p:nvSpPr>
          <p:cNvPr id="14" name="3-Dados e indicadores-box">
            <a:extLst xmlns:a="http://schemas.openxmlformats.org/drawingml/2006/main">
              <a:ext uri="{FF2B5EF4-FFF2-40B4-BE49-F238E27FC236}">
                <a16:creationId xmlns:a16="http://schemas.microsoft.com/office/drawing/2014/main" id="{77D73195-2BEC-4576-BEE0-B1F2A8576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638800"/>
            <a:ext cx="28702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5" name="3-Dados e indicadores-head">
            <a:extLst xmlns:a="http://schemas.openxmlformats.org/drawingml/2006/main">
              <a:ext uri="{FF2B5EF4-FFF2-40B4-BE49-F238E27FC236}">
                <a16:creationId xmlns:a16="http://schemas.microsoft.com/office/drawing/2014/main" id="{4A70F7FC-9F23-4500-8DBC-761BB991D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63880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16" name="3-Dados e indicadores-title">
            <a:extLst xmlns:a="http://schemas.openxmlformats.org/drawingml/2006/main">
              <a:ext uri="{FF2B5EF4-FFF2-40B4-BE49-F238E27FC236}">
                <a16:creationId xmlns:a16="http://schemas.microsoft.com/office/drawing/2014/main" id="{6AA92D8A-B0E6-4C95-8CFF-37EB14714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68642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3. Dados e indicadores</a:t>
            </a:r>
          </a:p>
        </p:txBody>
      </p:sp>
      <p:sp>
        <p:nvSpPr>
          <p:cNvPr id="17" name="3-Dados e indicadores-body">
            <a:extLst xmlns:a="http://schemas.openxmlformats.org/drawingml/2006/main">
              <a:ext uri="{FF2B5EF4-FFF2-40B4-BE49-F238E27FC236}">
                <a16:creationId xmlns:a16="http://schemas.microsoft.com/office/drawing/2014/main" id="{017FA7DC-1FEE-4613-B6C8-CA4480274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81700"/>
            <a:ext cx="26797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102536"/>
                </a:solidFill>
              </a:defRPr>
            </a:pPr>
            <a:r>
              <a:rPr sz="645" b="0">
                <a:solidFill>
                  <a:srgbClr val="102536"/>
                </a:solidFill>
              </a:rPr>
              <a:t>• Unidade analítica: morador selecionado da PNS.</a:t>
            </a:r>
          </a:p>
          <a:p xmlns:a="http://schemas.openxmlformats.org/drawingml/2006/main">
            <a:pPr algn="l">
              <a:defRPr sz="645" b="0">
                <a:solidFill>
                  <a:srgbClr val="102536"/>
                </a:solidFill>
              </a:defRPr>
            </a:pPr>
            <a:r>
              <a:rPr sz="645" b="0">
                <a:solidFill>
                  <a:srgbClr val="102536"/>
                </a:solidFill>
              </a:rPr>
              <a:t>• Variáveis centrais: Q074 diagnóstico médico de asma; Q076 crise recente; Q07701/Q07704/Q07708 uso de medicamento; P050 tabagismo.</a:t>
            </a:r>
          </a:p>
          <a:p xmlns:a="http://schemas.openxmlformats.org/drawingml/2006/main">
            <a:pPr algn="l">
              <a:defRPr sz="645" b="0">
                <a:solidFill>
                  <a:srgbClr val="102536"/>
                </a:solidFill>
              </a:defRPr>
            </a:pPr>
            <a:r>
              <a:rPr sz="645" b="0">
                <a:solidFill>
                  <a:srgbClr val="102536"/>
                </a:solidFill>
              </a:rPr>
              <a:t>• Denominadores variam conforme o indicador: população geral, pessoas com asma, pessoas com asma e crise ou conjunto de respostas válidas.</a:t>
            </a:r>
          </a:p>
        </p:txBody>
      </p:sp>
      <p:sp>
        <p:nvSpPr>
          <p:cNvPr id="18" name="4-Plano amostral-box">
            <a:extLst xmlns:a="http://schemas.openxmlformats.org/drawingml/2006/main">
              <a:ext uri="{FF2B5EF4-FFF2-40B4-BE49-F238E27FC236}">
                <a16:creationId xmlns:a16="http://schemas.microsoft.com/office/drawing/2014/main" id="{5EB14AB3-063E-4025-865C-9ACAE889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7162800"/>
            <a:ext cx="28702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19" name="4-Plano amostral-head">
            <a:extLst xmlns:a="http://schemas.openxmlformats.org/drawingml/2006/main">
              <a:ext uri="{FF2B5EF4-FFF2-40B4-BE49-F238E27FC236}">
                <a16:creationId xmlns:a16="http://schemas.microsoft.com/office/drawing/2014/main" id="{0DF884EA-09DE-4F17-883D-3AA211634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716280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20" name="4-Plano amostral-title">
            <a:extLst xmlns:a="http://schemas.openxmlformats.org/drawingml/2006/main">
              <a:ext uri="{FF2B5EF4-FFF2-40B4-BE49-F238E27FC236}">
                <a16:creationId xmlns:a16="http://schemas.microsoft.com/office/drawing/2014/main" id="{9FFAECF5-03A2-426B-95AC-F9AFEF611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21042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4. Plano amostral</a:t>
            </a:r>
          </a:p>
        </p:txBody>
      </p:sp>
      <p:sp>
        <p:nvSpPr>
          <p:cNvPr id="21" name="4-Plano amostral-body">
            <a:extLst xmlns:a="http://schemas.openxmlformats.org/drawingml/2006/main">
              <a:ext uri="{FF2B5EF4-FFF2-40B4-BE49-F238E27FC236}">
                <a16:creationId xmlns:a16="http://schemas.microsoft.com/office/drawing/2014/main" id="{030F4884-0678-446A-B716-24E39DCA6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505700"/>
            <a:ext cx="2679700" cy="1390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15" b="0">
                <a:solidFill>
                  <a:srgbClr val="102536"/>
                </a:solidFill>
              </a:defRPr>
            </a:pPr>
            <a:r>
              <a:rPr sz="615" b="0">
                <a:solidFill>
                  <a:srgbClr val="102536"/>
                </a:solidFill>
              </a:rPr>
              <a:t>• O desenho foi construído com PNSIBGE::pns_design(), preservando UPA/PSU, estratos e peso calibrado do morador selecionado.</a:t>
            </a:r>
          </a:p>
          <a:p xmlns:a="http://schemas.openxmlformats.org/drawingml/2006/main">
            <a:pPr algn="l">
              <a:defRPr sz="615" b="0">
                <a:solidFill>
                  <a:srgbClr val="102536"/>
                </a:solidFill>
              </a:defRPr>
            </a:pPr>
            <a:r>
              <a:rPr sz="615" b="0">
                <a:solidFill>
                  <a:srgbClr val="102536"/>
                </a:solidFill>
              </a:rPr>
              <a:t>• A estimação usa o pacote survey para proporções, médias, totais e taxas.</a:t>
            </a:r>
          </a:p>
          <a:p xmlns:a="http://schemas.openxmlformats.org/drawingml/2006/main">
            <a:pPr algn="l">
              <a:defRPr sz="615" b="0">
                <a:solidFill>
                  <a:srgbClr val="102536"/>
                </a:solidFill>
              </a:defRPr>
            </a:pPr>
            <a:r>
              <a:rPr sz="615" b="0">
                <a:solidFill>
                  <a:srgbClr val="102536"/>
                </a:solidFill>
              </a:rPr>
              <a:t>• As taxas por 100 mil reescalam proporções ponderadas sem descartar a incerteza do desenho complexo.</a:t>
            </a:r>
          </a:p>
          <a:p xmlns:a="http://schemas.openxmlformats.org/drawingml/2006/main">
            <a:pPr algn="l">
              <a:defRPr sz="615" b="0">
                <a:solidFill>
                  <a:srgbClr val="102536"/>
                </a:solidFill>
              </a:defRPr>
            </a:pPr>
            <a:r>
              <a:rPr sz="615" b="0">
                <a:solidFill>
                  <a:srgbClr val="102536"/>
                </a:solidFill>
              </a:rPr>
              <a:t>• PSUs solitárias e domínios pequenos exigem escolhas explícitas de inferência.</a:t>
            </a:r>
          </a:p>
        </p:txBody>
      </p:sp>
      <p:sp>
        <p:nvSpPr>
          <p:cNvPr id="22" name="classic-formula-box">
            <a:extLst xmlns:a="http://schemas.openxmlformats.org/drawingml/2006/main">
              <a:ext uri="{FF2B5EF4-FFF2-40B4-BE49-F238E27FC236}">
                <a16:creationId xmlns:a16="http://schemas.microsoft.com/office/drawing/2014/main" id="{9D5CB3A3-5E7E-4318-BDF2-9340AD58E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9105900"/>
            <a:ext cx="28702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sp>
        <p:nvSpPr>
          <p:cNvPr id="23" name="classic-formula-title">
            <a:extLst xmlns:a="http://schemas.openxmlformats.org/drawingml/2006/main">
              <a:ext uri="{FF2B5EF4-FFF2-40B4-BE49-F238E27FC236}">
                <a16:creationId xmlns:a16="http://schemas.microsoft.com/office/drawing/2014/main" id="{558DF772-C461-4967-B9AD-08136A3F1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9163050"/>
            <a:ext cx="2870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53F59"/>
                </a:solidFill>
              </a:defRPr>
            </a:pPr>
            <a:r>
              <a:rPr sz="900" b="1">
                <a:solidFill>
                  <a:srgbClr val="153F59"/>
                </a:solidFill>
              </a:rPr>
              <a:t>Estimadores e fórmulas</a:t>
            </a:r>
          </a:p>
        </p:txBody>
      </p:sp>
      <p:sp>
        <p:nvSpPr>
          <p:cNvPr id="24" name="classic-formula">
            <a:extLst xmlns:a="http://schemas.openxmlformats.org/drawingml/2006/main">
              <a:ext uri="{FF2B5EF4-FFF2-40B4-BE49-F238E27FC236}">
                <a16:creationId xmlns:a16="http://schemas.microsoft.com/office/drawing/2014/main" id="{C2B4039A-8F4B-4D7C-99B1-5B5E3E025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372600"/>
            <a:ext cx="26797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p̂ = Σᵢ wᵢyᵢ / Σᵢ wᵢ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wᵢ = peso amostral; yᵢ = indicador binário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% = 100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taxa₁₀₀k = 100000 × p̂</a:t>
            </a:r>
          </a:p>
          <a:p xmlns:a="http://schemas.openxmlformats.org/drawingml/2006/main">
            <a:pPr algn="ctr">
              <a:defRPr sz="788" b="0">
                <a:solidFill>
                  <a:srgbClr val="102536"/>
                </a:solidFill>
              </a:defRPr>
            </a:pPr>
            <a:r>
              <a:rPr sz="788" b="0">
                <a:solidFill>
                  <a:srgbClr val="102536"/>
                </a:solidFill>
              </a:rPr>
              <a:t>IC₉₅%(p̂) = survey::svyciprop(method = "beta")</a:t>
            </a:r>
          </a:p>
        </p:txBody>
      </p:sp>
      <p:sp>
        <p:nvSpPr>
          <p:cNvPr id="25" name="prev-metric">
            <a:extLst xmlns:a="http://schemas.openxmlformats.org/drawingml/2006/main">
              <a:ext uri="{FF2B5EF4-FFF2-40B4-BE49-F238E27FC236}">
                <a16:creationId xmlns:a16="http://schemas.microsoft.com/office/drawing/2014/main" id="{B97D082B-AECB-410F-BF18-4D1F2D223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2343150"/>
            <a:ext cx="2870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26" name="prev-metric-title">
            <a:extLst xmlns:a="http://schemas.openxmlformats.org/drawingml/2006/main">
              <a:ext uri="{FF2B5EF4-FFF2-40B4-BE49-F238E27FC236}">
                <a16:creationId xmlns:a16="http://schemas.microsoft.com/office/drawing/2014/main" id="{C27F82D4-F8FF-4B4B-88A6-FEA331078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2419350"/>
            <a:ext cx="269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Prevalência nacional</a:t>
            </a:r>
          </a:p>
        </p:txBody>
      </p:sp>
      <p:sp>
        <p:nvSpPr>
          <p:cNvPr id="27" name="prev-metric-value">
            <a:extLst xmlns:a="http://schemas.openxmlformats.org/drawingml/2006/main">
              <a:ext uri="{FF2B5EF4-FFF2-40B4-BE49-F238E27FC236}">
                <a16:creationId xmlns:a16="http://schemas.microsoft.com/office/drawing/2014/main" id="{E7933279-3272-43A8-A90E-86AC2D1C8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2609850"/>
            <a:ext cx="269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4,41%→5,40%</a:t>
            </a:r>
          </a:p>
        </p:txBody>
      </p:sp>
      <p:sp>
        <p:nvSpPr>
          <p:cNvPr id="28" name="prev-metric-note">
            <a:extLst xmlns:a="http://schemas.openxmlformats.org/drawingml/2006/main">
              <a:ext uri="{FF2B5EF4-FFF2-40B4-BE49-F238E27FC236}">
                <a16:creationId xmlns:a16="http://schemas.microsoft.com/office/drawing/2014/main" id="{D06F52B2-7C64-4123-8EB6-5271CC1F0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2876550"/>
            <a:ext cx="269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Diagnóstico médico de asma aumentou com IC95% sem sobreposição.</a:t>
            </a:r>
          </a:p>
        </p:txBody>
      </p:sp>
      <p:sp>
        <p:nvSpPr>
          <p:cNvPr id="29" name="crisis-metric">
            <a:extLst xmlns:a="http://schemas.openxmlformats.org/drawingml/2006/main">
              <a:ext uri="{FF2B5EF4-FFF2-40B4-BE49-F238E27FC236}">
                <a16:creationId xmlns:a16="http://schemas.microsoft.com/office/drawing/2014/main" id="{BA5609E1-0910-4DC7-A620-8AE0A00A9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3371850"/>
            <a:ext cx="2870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30" name="crisis-metric-title">
            <a:extLst xmlns:a="http://schemas.openxmlformats.org/drawingml/2006/main">
              <a:ext uri="{FF2B5EF4-FFF2-40B4-BE49-F238E27FC236}">
                <a16:creationId xmlns:a16="http://schemas.microsoft.com/office/drawing/2014/main" id="{9BB48FAC-A5D3-4468-B303-8353D9301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3448050"/>
            <a:ext cx="269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Crises em 12 meses</a:t>
            </a:r>
          </a:p>
        </p:txBody>
      </p:sp>
      <p:sp>
        <p:nvSpPr>
          <p:cNvPr id="31" name="crisis-metric-value">
            <a:extLst xmlns:a="http://schemas.openxmlformats.org/drawingml/2006/main">
              <a:ext uri="{FF2B5EF4-FFF2-40B4-BE49-F238E27FC236}">
                <a16:creationId xmlns:a16="http://schemas.microsoft.com/office/drawing/2014/main" id="{DB76F699-65E3-47F8-AE4E-13FCF63B2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3638550"/>
            <a:ext cx="269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38,3%→37,7%</a:t>
            </a:r>
          </a:p>
        </p:txBody>
      </p:sp>
      <p:sp>
        <p:nvSpPr>
          <p:cNvPr id="32" name="crisis-metric-note">
            <a:extLst xmlns:a="http://schemas.openxmlformats.org/drawingml/2006/main">
              <a:ext uri="{FF2B5EF4-FFF2-40B4-BE49-F238E27FC236}">
                <a16:creationId xmlns:a16="http://schemas.microsoft.com/office/drawing/2014/main" id="{B0829431-037E-4FA6-8881-568B0AE21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125" y="3905250"/>
            <a:ext cx="269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Estabilidade aproximada, sugerindo controle clínico insuficiente.</a:t>
            </a:r>
          </a:p>
        </p:txBody>
      </p:sp>
      <p:sp>
        <p:nvSpPr>
          <p:cNvPr id="33" name="chart-prev-caption">
            <a:extLst xmlns:a="http://schemas.openxmlformats.org/drawingml/2006/main">
              <a:ext uri="{FF2B5EF4-FFF2-40B4-BE49-F238E27FC236}">
                <a16:creationId xmlns:a16="http://schemas.microsoft.com/office/drawing/2014/main" id="{2A2F889D-AAC1-464A-8521-A652C787E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4419600"/>
            <a:ext cx="287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1: Prevalência (%) de diagnóstico médico de asma por UF e Brasil, PNS 2013 e 2019.</a:t>
            </a:r>
          </a:p>
        </p:txBody>
      </p:sp>
      <p:sp>
        <p:nvSpPr>
          <p:cNvPr id="34" name="chart-prev-frame">
            <a:extLst xmlns:a="http://schemas.openxmlformats.org/drawingml/2006/main">
              <a:ext uri="{FF2B5EF4-FFF2-40B4-BE49-F238E27FC236}">
                <a16:creationId xmlns:a16="http://schemas.microsoft.com/office/drawing/2014/main" id="{074FCE56-0C6F-4FBA-A4D6-9CB3C630B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4667250"/>
            <a:ext cx="2870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0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02a5dbc0124d50"/>
          <a:stretch xmlns:a="http://schemas.openxmlformats.org/drawingml/2006/main"/>
        </p:blipFill>
        <p:spPr>
          <a:xfrm xmlns:a="http://schemas.openxmlformats.org/drawingml/2006/main">
            <a:off x="3387790" y="4724400"/>
            <a:ext cx="2749420" cy="1981200"/>
          </a:xfrm>
          <a:prstGeom xmlns:a="http://schemas.openxmlformats.org/drawingml/2006/main" prst="rect">
            <a:avLst/>
          </a:prstGeom>
        </p:spPr>
      </p:pic>
      <p:sp>
        <p:nvSpPr>
          <p:cNvPr id="36" name="chart-crisis-caption">
            <a:extLst xmlns:a="http://schemas.openxmlformats.org/drawingml/2006/main">
              <a:ext uri="{FF2B5EF4-FFF2-40B4-BE49-F238E27FC236}">
                <a16:creationId xmlns:a16="http://schemas.microsoft.com/office/drawing/2014/main" id="{DC7372DC-A4E1-4898-A481-B4D227509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6896100"/>
            <a:ext cx="287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2: Prevalência (%) de crise de asma nos últimos 12 meses por UF e Brasil, PNS 2013 e 2019.</a:t>
            </a:r>
          </a:p>
        </p:txBody>
      </p:sp>
      <p:sp>
        <p:nvSpPr>
          <p:cNvPr id="37" name="chart-crisis-frame">
            <a:extLst xmlns:a="http://schemas.openxmlformats.org/drawingml/2006/main">
              <a:ext uri="{FF2B5EF4-FFF2-40B4-BE49-F238E27FC236}">
                <a16:creationId xmlns:a16="http://schemas.microsoft.com/office/drawing/2014/main" id="{5F1C9EE0-3C84-4639-97F6-A440EAE52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7143750"/>
            <a:ext cx="2870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9ebe5e615a4793"/>
          <a:stretch xmlns:a="http://schemas.openxmlformats.org/drawingml/2006/main"/>
        </p:blipFill>
        <p:spPr>
          <a:xfrm xmlns:a="http://schemas.openxmlformats.org/drawingml/2006/main">
            <a:off x="3387790" y="7200900"/>
            <a:ext cx="2749420" cy="1981200"/>
          </a:xfrm>
          <a:prstGeom xmlns:a="http://schemas.openxmlformats.org/drawingml/2006/main" prst="rect">
            <a:avLst/>
          </a:prstGeom>
        </p:spPr>
      </p:pic>
      <p:sp>
        <p:nvSpPr>
          <p:cNvPr id="39" name="5-Resultados e interpretação-box">
            <a:extLst xmlns:a="http://schemas.openxmlformats.org/drawingml/2006/main">
              <a:ext uri="{FF2B5EF4-FFF2-40B4-BE49-F238E27FC236}">
                <a16:creationId xmlns:a16="http://schemas.microsoft.com/office/drawing/2014/main" id="{E814F3F1-FB89-4F6F-9F3F-1CAFDB732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9372600"/>
            <a:ext cx="2870200" cy="1962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40" name="5-Resultados e interpretação-head">
            <a:extLst xmlns:a="http://schemas.openxmlformats.org/drawingml/2006/main">
              <a:ext uri="{FF2B5EF4-FFF2-40B4-BE49-F238E27FC236}">
                <a16:creationId xmlns:a16="http://schemas.microsoft.com/office/drawing/2014/main" id="{A624F017-CB90-47BB-9565-B1C87F24C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7400" y="937260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41" name="5-Resultados e interpretação-title">
            <a:extLst xmlns:a="http://schemas.openxmlformats.org/drawingml/2006/main">
              <a:ext uri="{FF2B5EF4-FFF2-40B4-BE49-F238E27FC236}">
                <a16:creationId xmlns:a16="http://schemas.microsoft.com/office/drawing/2014/main" id="{B547C739-CD8C-4BB4-BDD6-3C64A2BEE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3600" y="942022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5. Resultados e interpretação</a:t>
            </a:r>
          </a:p>
        </p:txBody>
      </p:sp>
      <p:sp>
        <p:nvSpPr>
          <p:cNvPr id="42" name="5-Resultados e interpretação-body">
            <a:extLst xmlns:a="http://schemas.openxmlformats.org/drawingml/2006/main">
              <a:ext uri="{FF2B5EF4-FFF2-40B4-BE49-F238E27FC236}">
                <a16:creationId xmlns:a16="http://schemas.microsoft.com/office/drawing/2014/main" id="{018B92E1-1A48-4C5E-A29C-50A1B31A0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2650" y="9715500"/>
            <a:ext cx="267970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55" b="0">
                <a:solidFill>
                  <a:srgbClr val="102536"/>
                </a:solidFill>
              </a:defRPr>
            </a:pPr>
            <a:r>
              <a:rPr sz="555" b="0">
                <a:solidFill>
                  <a:srgbClr val="102536"/>
                </a:solidFill>
              </a:rPr>
              <a:t>• Diagnóstico médico de asma: 4,41% em 2013 para 5,40% em 2019, com ICs sem sobreposição.</a:t>
            </a:r>
          </a:p>
          <a:p xmlns:a="http://schemas.openxmlformats.org/drawingml/2006/main">
            <a:pPr algn="l">
              <a:defRPr sz="555" b="0">
                <a:solidFill>
                  <a:srgbClr val="102536"/>
                </a:solidFill>
              </a:defRPr>
            </a:pPr>
            <a:r>
              <a:rPr sz="555" b="0">
                <a:solidFill>
                  <a:srgbClr val="102536"/>
                </a:solidFill>
              </a:rPr>
              <a:t>• Crises nos últimos 12 meses: 38,3% para 37,7%, indicando estabilidade aproximada.</a:t>
            </a:r>
          </a:p>
          <a:p xmlns:a="http://schemas.openxmlformats.org/drawingml/2006/main">
            <a:pPr algn="l">
              <a:defRPr sz="555" b="0">
                <a:solidFill>
                  <a:srgbClr val="102536"/>
                </a:solidFill>
              </a:defRPr>
            </a:pPr>
            <a:r>
              <a:rPr sz="555" b="0">
                <a:solidFill>
                  <a:srgbClr val="102536"/>
                </a:solidFill>
              </a:rPr>
              <a:t>• Uso de medicamento oral/bombinha entre asmáticos: 81,5% para 64,4%; leitura exige cautela por denominador e IC95%.</a:t>
            </a:r>
          </a:p>
          <a:p xmlns:a="http://schemas.openxmlformats.org/drawingml/2006/main">
            <a:pPr algn="l">
              <a:defRPr sz="555" b="0">
                <a:solidFill>
                  <a:srgbClr val="102536"/>
                </a:solidFill>
              </a:defRPr>
            </a:pPr>
            <a:r>
              <a:rPr sz="555" b="0">
                <a:solidFill>
                  <a:srgbClr val="102536"/>
                </a:solidFill>
              </a:rPr>
              <a:t>• Tabagismo caiu em várias UFs; a taxa nacional citada foi de 14.650 para 12.151 por 100 mil.</a:t>
            </a:r>
          </a:p>
        </p:txBody>
      </p:sp>
      <p:sp>
        <p:nvSpPr>
          <p:cNvPr id="43" name="meds-metric">
            <a:extLst xmlns:a="http://schemas.openxmlformats.org/drawingml/2006/main">
              <a:ext uri="{FF2B5EF4-FFF2-40B4-BE49-F238E27FC236}">
                <a16:creationId xmlns:a16="http://schemas.microsoft.com/office/drawing/2014/main" id="{93298F9D-063A-4993-BFE3-FCA42EB7B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2343150"/>
            <a:ext cx="28702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6FB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44" name="meds-metric-title">
            <a:extLst xmlns:a="http://schemas.openxmlformats.org/drawingml/2006/main">
              <a:ext uri="{FF2B5EF4-FFF2-40B4-BE49-F238E27FC236}">
                <a16:creationId xmlns:a16="http://schemas.microsoft.com/office/drawing/2014/main" id="{9F2BC737-D9E4-4B9A-A20E-3B56B8136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5725" y="2419350"/>
            <a:ext cx="269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3F59"/>
                </a:solidFill>
              </a:defRPr>
            </a:pPr>
            <a:r>
              <a:rPr sz="675" b="1">
                <a:solidFill>
                  <a:srgbClr val="153F59"/>
                </a:solidFill>
              </a:rPr>
              <a:t>Medicamentos</a:t>
            </a:r>
          </a:p>
        </p:txBody>
      </p:sp>
      <p:sp>
        <p:nvSpPr>
          <p:cNvPr id="45" name="meds-metric-value">
            <a:extLst xmlns:a="http://schemas.openxmlformats.org/drawingml/2006/main">
              <a:ext uri="{FF2B5EF4-FFF2-40B4-BE49-F238E27FC236}">
                <a16:creationId xmlns:a16="http://schemas.microsoft.com/office/drawing/2014/main" id="{ED0F78A5-1977-408A-918D-17D314778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5725" y="2609850"/>
            <a:ext cx="269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53F59"/>
                </a:solidFill>
              </a:defRPr>
            </a:pPr>
            <a:r>
              <a:rPr sz="1050" b="1">
                <a:solidFill>
                  <a:srgbClr val="153F59"/>
                </a:solidFill>
              </a:rPr>
              <a:t>81,5%→64,4%</a:t>
            </a:r>
          </a:p>
        </p:txBody>
      </p:sp>
      <p:sp>
        <p:nvSpPr>
          <p:cNvPr id="46" name="meds-metric-note">
            <a:extLst xmlns:a="http://schemas.openxmlformats.org/drawingml/2006/main">
              <a:ext uri="{FF2B5EF4-FFF2-40B4-BE49-F238E27FC236}">
                <a16:creationId xmlns:a16="http://schemas.microsoft.com/office/drawing/2014/main" id="{FFAFDD47-C328-43E4-B06C-F8136D66C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5725" y="2876550"/>
            <a:ext cx="269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33" b="0">
                <a:solidFill>
                  <a:srgbClr val="102536"/>
                </a:solidFill>
              </a:defRPr>
            </a:pPr>
            <a:r>
              <a:rPr sz="533" b="0">
                <a:solidFill>
                  <a:srgbClr val="102536"/>
                </a:solidFill>
              </a:rPr>
              <a:t>Queda percentual entre asmáticos; inferência depende do IC95% e denominador.</a:t>
            </a:r>
          </a:p>
        </p:txBody>
      </p:sp>
      <p:sp>
        <p:nvSpPr>
          <p:cNvPr id="47" name="chart-meds-caption">
            <a:extLst xmlns:a="http://schemas.openxmlformats.org/drawingml/2006/main">
              <a:ext uri="{FF2B5EF4-FFF2-40B4-BE49-F238E27FC236}">
                <a16:creationId xmlns:a16="http://schemas.microsoft.com/office/drawing/2014/main" id="{C85E6E46-7B91-46D4-AC1F-DC8CBAA3D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3371850"/>
            <a:ext cx="287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3: Uso de medicamento oral ou bombinha entre pessoas com diagnóstico médico de asma por UF e Brasil.</a:t>
            </a:r>
          </a:p>
        </p:txBody>
      </p:sp>
      <p:sp>
        <p:nvSpPr>
          <p:cNvPr id="48" name="chart-meds-frame">
            <a:extLst xmlns:a="http://schemas.openxmlformats.org/drawingml/2006/main">
              <a:ext uri="{FF2B5EF4-FFF2-40B4-BE49-F238E27FC236}">
                <a16:creationId xmlns:a16="http://schemas.microsoft.com/office/drawing/2014/main" id="{ED7C7E40-590A-44B8-B9E0-195C07027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3619500"/>
            <a:ext cx="2870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85dd780b75493f"/>
          <a:stretch xmlns:a="http://schemas.openxmlformats.org/drawingml/2006/main"/>
        </p:blipFill>
        <p:spPr>
          <a:xfrm xmlns:a="http://schemas.openxmlformats.org/drawingml/2006/main">
            <a:off x="6410390" y="3676650"/>
            <a:ext cx="2749420" cy="1981200"/>
          </a:xfrm>
          <a:prstGeom xmlns:a="http://schemas.openxmlformats.org/drawingml/2006/main" prst="rect">
            <a:avLst/>
          </a:prstGeom>
        </p:spPr>
      </p:pic>
      <p:sp>
        <p:nvSpPr>
          <p:cNvPr id="50" name="chart-smoke-caption">
            <a:extLst xmlns:a="http://schemas.openxmlformats.org/drawingml/2006/main">
              <a:ext uri="{FF2B5EF4-FFF2-40B4-BE49-F238E27FC236}">
                <a16:creationId xmlns:a16="http://schemas.microsoft.com/office/drawing/2014/main" id="{C0E9C70C-BCF3-4616-90E8-EDFF942B1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5848350"/>
            <a:ext cx="2870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1">
                <a:solidFill>
                  <a:srgbClr val="153F59"/>
                </a:solidFill>
              </a:defRPr>
            </a:pPr>
            <a:r>
              <a:rPr sz="660" b="1">
                <a:solidFill>
                  <a:srgbClr val="153F59"/>
                </a:solidFill>
              </a:rPr>
              <a:t>Figura 4: Taxa de fumantes ativos por 100 mil habitantes por UF, PNS 2013 e 2019.</a:t>
            </a:r>
          </a:p>
        </p:txBody>
      </p:sp>
      <p:sp>
        <p:nvSpPr>
          <p:cNvPr id="51" name="chart-smoke-frame">
            <a:extLst xmlns:a="http://schemas.openxmlformats.org/drawingml/2006/main">
              <a:ext uri="{FF2B5EF4-FFF2-40B4-BE49-F238E27FC236}">
                <a16:creationId xmlns:a16="http://schemas.microsoft.com/office/drawing/2014/main" id="{AC8FBB02-1DD1-4A67-A10D-99424466E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6096000"/>
            <a:ext cx="2870200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pic>
        <p:nvPicPr>
          <p:cNvPr id="1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573fb99fd94b20"/>
          <a:stretch xmlns:a="http://schemas.openxmlformats.org/drawingml/2006/main"/>
        </p:blipFill>
        <p:spPr>
          <a:xfrm xmlns:a="http://schemas.openxmlformats.org/drawingml/2006/main">
            <a:off x="6410390" y="6153150"/>
            <a:ext cx="2749420" cy="1981200"/>
          </a:xfrm>
          <a:prstGeom xmlns:a="http://schemas.openxmlformats.org/drawingml/2006/main" prst="rect">
            <a:avLst/>
          </a:prstGeom>
        </p:spPr>
      </p:pic>
      <p:sp>
        <p:nvSpPr>
          <p:cNvPr id="53" name="6-IC beta e leitura dos gráficos-box">
            <a:extLst xmlns:a="http://schemas.openxmlformats.org/drawingml/2006/main">
              <a:ext uri="{FF2B5EF4-FFF2-40B4-BE49-F238E27FC236}">
                <a16:creationId xmlns:a16="http://schemas.microsoft.com/office/drawing/2014/main" id="{2579545C-F0ED-41D6-8D9F-31BDA194B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8324850"/>
            <a:ext cx="287020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54" name="6-IC beta e leitura dos gráficos-head">
            <a:extLst xmlns:a="http://schemas.openxmlformats.org/drawingml/2006/main">
              <a:ext uri="{FF2B5EF4-FFF2-40B4-BE49-F238E27FC236}">
                <a16:creationId xmlns:a16="http://schemas.microsoft.com/office/drawing/2014/main" id="{5322A895-244F-4416-8A72-AED948E3D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832485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55" name="6-IC beta e leitura dos gráficos-title">
            <a:extLst xmlns:a="http://schemas.openxmlformats.org/drawingml/2006/main">
              <a:ext uri="{FF2B5EF4-FFF2-40B4-BE49-F238E27FC236}">
                <a16:creationId xmlns:a16="http://schemas.microsoft.com/office/drawing/2014/main" id="{2108266F-B4C0-402C-9988-C5C371D5C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837247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6. IC beta e leitura dos gráficos</a:t>
            </a:r>
          </a:p>
        </p:txBody>
      </p:sp>
      <p:sp>
        <p:nvSpPr>
          <p:cNvPr id="56" name="6-IC beta e leitura dos gráficos-body">
            <a:extLst xmlns:a="http://schemas.openxmlformats.org/drawingml/2006/main">
              <a:ext uri="{FF2B5EF4-FFF2-40B4-BE49-F238E27FC236}">
                <a16:creationId xmlns:a16="http://schemas.microsoft.com/office/drawing/2014/main" id="{912D0E11-1652-4743-BA66-F502B3E50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8667750"/>
            <a:ext cx="26797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63" b="0">
                <a:solidFill>
                  <a:srgbClr val="102536"/>
                </a:solidFill>
              </a:defRPr>
            </a:pPr>
            <a:r>
              <a:rPr sz="563" b="0">
                <a:solidFill>
                  <a:srgbClr val="102536"/>
                </a:solidFill>
              </a:rPr>
              <a:t>• O intervalo de Wald pode apresentar cobertura instável em proporções baixas/altas ou domínios com poucos eventos.</a:t>
            </a:r>
          </a:p>
          <a:p xmlns:a="http://schemas.openxmlformats.org/drawingml/2006/main">
            <a:pPr algn="l">
              <a:defRPr sz="563" b="0">
                <a:solidFill>
                  <a:srgbClr val="102536"/>
                </a:solidFill>
              </a:defRPr>
            </a:pPr>
            <a:r>
              <a:rPr sz="563" b="0">
                <a:solidFill>
                  <a:srgbClr val="102536"/>
                </a:solidFill>
              </a:rPr>
              <a:t>• O IC beta por survey::svyciprop(method = "beta") respeita a escala 0-1 e reduz o risco de limites impossíveis.</a:t>
            </a:r>
          </a:p>
          <a:p xmlns:a="http://schemas.openxmlformats.org/drawingml/2006/main">
            <a:pPr algn="l">
              <a:defRPr sz="563" b="0">
                <a:solidFill>
                  <a:srgbClr val="102536"/>
                </a:solidFill>
              </a:defRPr>
            </a:pPr>
            <a:r>
              <a:rPr sz="563" b="0">
                <a:solidFill>
                  <a:srgbClr val="102536"/>
                </a:solidFill>
              </a:rPr>
              <a:t>• A comparação entre anos/UFs foi interpretada por magnitude e sobreposição dos IC95%, não apenas pela altura das barras.</a:t>
            </a:r>
          </a:p>
        </p:txBody>
      </p:sp>
      <p:sp>
        <p:nvSpPr>
          <p:cNvPr id="57" name="7-Discussão e implicações-box">
            <a:extLst xmlns:a="http://schemas.openxmlformats.org/drawingml/2006/main">
              <a:ext uri="{FF2B5EF4-FFF2-40B4-BE49-F238E27FC236}">
                <a16:creationId xmlns:a16="http://schemas.microsoft.com/office/drawing/2014/main" id="{0AB1B157-21D8-4522-81B6-59F0AF8FD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9848850"/>
            <a:ext cx="2870200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58" name="7-Discussão e implicações-head">
            <a:extLst xmlns:a="http://schemas.openxmlformats.org/drawingml/2006/main">
              <a:ext uri="{FF2B5EF4-FFF2-40B4-BE49-F238E27FC236}">
                <a16:creationId xmlns:a16="http://schemas.microsoft.com/office/drawing/2014/main" id="{D5921DB7-1BB3-42CF-91F4-1DF9AD140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9848850"/>
            <a:ext cx="2870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59" name="7-Discussão e implicações-title">
            <a:extLst xmlns:a="http://schemas.openxmlformats.org/drawingml/2006/main">
              <a:ext uri="{FF2B5EF4-FFF2-40B4-BE49-F238E27FC236}">
                <a16:creationId xmlns:a16="http://schemas.microsoft.com/office/drawing/2014/main" id="{F21B05A7-CBEE-461A-9219-E4A9298EE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9896475"/>
            <a:ext cx="271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7. Discussão e implicações</a:t>
            </a:r>
          </a:p>
        </p:txBody>
      </p:sp>
      <p:sp>
        <p:nvSpPr>
          <p:cNvPr id="60" name="7-Discussão e implicações-body">
            <a:extLst xmlns:a="http://schemas.openxmlformats.org/drawingml/2006/main">
              <a:ext uri="{FF2B5EF4-FFF2-40B4-BE49-F238E27FC236}">
                <a16:creationId xmlns:a16="http://schemas.microsoft.com/office/drawing/2014/main" id="{0C1A4329-D237-4544-A771-D837945D3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10191750"/>
            <a:ext cx="2679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78" b="0">
                <a:solidFill>
                  <a:srgbClr val="102536"/>
                </a:solidFill>
              </a:defRPr>
            </a:pPr>
            <a:r>
              <a:rPr sz="578" b="0">
                <a:solidFill>
                  <a:srgbClr val="102536"/>
                </a:solidFill>
              </a:rPr>
              <a:t>• O aumento do diagnóstico pode refletir maior ocorrência, melhor acesso ao diagnóstico ou ambos.</a:t>
            </a:r>
          </a:p>
          <a:p xmlns:a="http://schemas.openxmlformats.org/drawingml/2006/main">
            <a:pPr algn="l">
              <a:defRPr sz="578" b="0">
                <a:solidFill>
                  <a:srgbClr val="102536"/>
                </a:solidFill>
              </a:defRPr>
            </a:pPr>
            <a:r>
              <a:rPr sz="578" b="0">
                <a:solidFill>
                  <a:srgbClr val="102536"/>
                </a:solidFill>
              </a:rPr>
              <a:t>• A estabilidade das crises sugere que o manejo clínico não melhorou na mesma proporção.</a:t>
            </a:r>
          </a:p>
          <a:p xmlns:a="http://schemas.openxmlformats.org/drawingml/2006/main">
            <a:pPr algn="l">
              <a:defRPr sz="578" b="0">
                <a:solidFill>
                  <a:srgbClr val="102536"/>
                </a:solidFill>
              </a:defRPr>
            </a:pPr>
            <a:r>
              <a:rPr sz="578" b="0">
                <a:solidFill>
                  <a:srgbClr val="102536"/>
                </a:solidFill>
              </a:rPr>
              <a:t>• O controle da asma depende de acesso farmacológico, seguimento clínico, educação, controle de exposições e intervenções não farmacológicas.</a:t>
            </a:r>
          </a:p>
        </p:txBody>
      </p:sp>
      <p:sp>
        <p:nvSpPr>
          <p:cNvPr id="61" name="8-ETL, OMOP e OHDSI-box">
            <a:extLst xmlns:a="http://schemas.openxmlformats.org/drawingml/2006/main">
              <a:ext uri="{FF2B5EF4-FFF2-40B4-BE49-F238E27FC236}">
                <a16:creationId xmlns:a16="http://schemas.microsoft.com/office/drawing/2014/main" id="{B76C75BA-8031-440C-A5ED-2D686C49C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0572750"/>
            <a:ext cx="58928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62" name="8-ETL, OMOP e OHDSI-head">
            <a:extLst xmlns:a="http://schemas.openxmlformats.org/drawingml/2006/main">
              <a:ext uri="{FF2B5EF4-FFF2-40B4-BE49-F238E27FC236}">
                <a16:creationId xmlns:a16="http://schemas.microsoft.com/office/drawing/2014/main" id="{4F242274-4B32-4FAC-9700-0A57778B1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0572750"/>
            <a:ext cx="58928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63" name="8-ETL, OMOP e OHDSI-title">
            <a:extLst xmlns:a="http://schemas.openxmlformats.org/drawingml/2006/main">
              <a:ext uri="{FF2B5EF4-FFF2-40B4-BE49-F238E27FC236}">
                <a16:creationId xmlns:a16="http://schemas.microsoft.com/office/drawing/2014/main" id="{47F2A48E-5E0F-407B-84FB-251E1DA63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620375"/>
            <a:ext cx="574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8. ETL, OMOP e OHDSI</a:t>
            </a:r>
          </a:p>
        </p:txBody>
      </p:sp>
      <p:sp>
        <p:nvSpPr>
          <p:cNvPr id="64" name="8-ETL, OMOP e OHDSI-body">
            <a:extLst xmlns:a="http://schemas.openxmlformats.org/drawingml/2006/main">
              <a:ext uri="{FF2B5EF4-FFF2-40B4-BE49-F238E27FC236}">
                <a16:creationId xmlns:a16="http://schemas.microsoft.com/office/drawing/2014/main" id="{E7CBF768-E47D-47BB-955A-91BF55742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915650"/>
            <a:ext cx="5702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70" b="0">
                <a:solidFill>
                  <a:srgbClr val="102536"/>
                </a:solidFill>
              </a:defRPr>
            </a:pPr>
            <a:r>
              <a:rPr sz="570" b="0">
                <a:solidFill>
                  <a:srgbClr val="102536"/>
                </a:solidFill>
              </a:rPr>
              <a:t>• O fluxo analítico segue lógica ETL: extração dos microdados, transformação de variáveis e carga de tabelas analíticas reprodutíveis.</a:t>
            </a:r>
          </a:p>
          <a:p xmlns:a="http://schemas.openxmlformats.org/drawingml/2006/main">
            <a:pPr algn="l">
              <a:defRPr sz="570" b="0">
                <a:solidFill>
                  <a:srgbClr val="102536"/>
                </a:solidFill>
              </a:defRPr>
            </a:pPr>
            <a:r>
              <a:rPr sz="570" b="0">
                <a:solidFill>
                  <a:srgbClr val="102536"/>
                </a:solidFill>
              </a:rPr>
              <a:t>• A PNS não é base clínica longitudinal, mas pode atuar como camada populacional de referência.</a:t>
            </a:r>
          </a:p>
          <a:p xmlns:a="http://schemas.openxmlformats.org/drawingml/2006/main">
            <a:pPr algn="l">
              <a:defRPr sz="570" b="0">
                <a:solidFill>
                  <a:srgbClr val="102536"/>
                </a:solidFill>
              </a:defRPr>
            </a:pPr>
            <a:r>
              <a:rPr sz="570" b="0">
                <a:solidFill>
                  <a:srgbClr val="102536"/>
                </a:solidFill>
              </a:rPr>
              <a:t>• OMOP/OHDSI oferece princípios de padronização, vocabulários e reprodutibilidade para comparação futura com bases assistenciais.</a:t>
            </a:r>
          </a:p>
        </p:txBody>
      </p:sp>
      <p:sp>
        <p:nvSpPr>
          <p:cNvPr id="65" name="9-Conclusões-box">
            <a:extLst xmlns:a="http://schemas.openxmlformats.org/drawingml/2006/main">
              <a:ext uri="{FF2B5EF4-FFF2-40B4-BE49-F238E27FC236}">
                <a16:creationId xmlns:a16="http://schemas.microsoft.com/office/drawing/2014/main" id="{8B02537B-7BEE-4BEE-9C2E-805736CE7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11182350"/>
            <a:ext cx="1714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66" name="9-Conclusões-head">
            <a:extLst xmlns:a="http://schemas.openxmlformats.org/drawingml/2006/main">
              <a:ext uri="{FF2B5EF4-FFF2-40B4-BE49-F238E27FC236}">
                <a16:creationId xmlns:a16="http://schemas.microsoft.com/office/drawing/2014/main" id="{9A71E3DD-C8F9-4726-8AFD-C5509F56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0000" y="1118235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F59"/>
          </a:solidFill>
          <a:ln xmlns:a="http://schemas.openxmlformats.org/drawingml/2006/main" w="9525">
            <a:solidFill>
              <a:srgbClr val="153F59"/>
            </a:solidFill>
            <a:prstDash val="solid"/>
          </a:ln>
        </p:spPr>
      </p:sp>
      <p:sp>
        <p:nvSpPr>
          <p:cNvPr id="67" name="9-Conclusões-title">
            <a:extLst xmlns:a="http://schemas.openxmlformats.org/drawingml/2006/main">
              <a:ext uri="{FF2B5EF4-FFF2-40B4-BE49-F238E27FC236}">
                <a16:creationId xmlns:a16="http://schemas.microsoft.com/office/drawing/2014/main" id="{DA5979E4-E141-45C5-BEAE-CA5F4CC7F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6200" y="11229975"/>
            <a:ext cx="1562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FFF"/>
                </a:solidFill>
              </a:defRPr>
            </a:pPr>
            <a:r>
              <a:rPr sz="900" b="1">
                <a:solidFill>
                  <a:srgbClr val="FFFFFF"/>
                </a:solidFill>
              </a:rPr>
              <a:t>9. Conclusões</a:t>
            </a:r>
          </a:p>
        </p:txBody>
      </p:sp>
      <p:sp>
        <p:nvSpPr>
          <p:cNvPr id="68" name="9-Conclusões-body">
            <a:extLst xmlns:a="http://schemas.openxmlformats.org/drawingml/2006/main">
              <a:ext uri="{FF2B5EF4-FFF2-40B4-BE49-F238E27FC236}">
                <a16:creationId xmlns:a16="http://schemas.microsoft.com/office/drawing/2014/main" id="{C303E395-7D49-47DC-A303-7D6F8D835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5250" y="11525250"/>
            <a:ext cx="1524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A implementação correta do plano amostral é condição para estimativas válidas.</a:t>
            </a:r>
          </a:p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O Brasil apresentou aumento de diagnóstico, mas não evidência equivalente de melhora no controle.</a:t>
            </a:r>
          </a:p>
          <a:p xmlns:a="http://schemas.openxmlformats.org/drawingml/2006/main">
            <a:pPr algn="l">
              <a:defRPr sz="540" b="0">
                <a:solidFill>
                  <a:srgbClr val="102536"/>
                </a:solidFill>
              </a:defRPr>
            </a:pPr>
            <a:r>
              <a:rPr sz="540" b="0">
                <a:solidFill>
                  <a:srgbClr val="102536"/>
                </a:solidFill>
              </a:rPr>
              <a:t>• Os gráficos por UF devem ser lidos com IC95%, pois várias comparações têm intervalos sobrepostos.</a:t>
            </a:r>
          </a:p>
        </p:txBody>
      </p:sp>
      <p:sp>
        <p:nvSpPr>
          <p:cNvPr id="69" name="references-box">
            <a:extLst xmlns:a="http://schemas.openxmlformats.org/drawingml/2006/main">
              <a:ext uri="{FF2B5EF4-FFF2-40B4-BE49-F238E27FC236}">
                <a16:creationId xmlns:a16="http://schemas.microsoft.com/office/drawing/2014/main" id="{2F66C23F-6D00-48B7-865F-AE29E0FF8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1811000"/>
            <a:ext cx="7048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D0DF"/>
            </a:solidFill>
            <a:prstDash val="solid"/>
          </a:ln>
        </p:spPr>
      </p:sp>
      <p:sp>
        <p:nvSpPr>
          <p:cNvPr id="70" name="references-title">
            <a:extLst xmlns:a="http://schemas.openxmlformats.org/drawingml/2006/main">
              <a:ext uri="{FF2B5EF4-FFF2-40B4-BE49-F238E27FC236}">
                <a16:creationId xmlns:a16="http://schemas.microsoft.com/office/drawing/2014/main" id="{FAAD0526-B5DF-47EF-A0A3-600FE2361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877675"/>
            <a:ext cx="6896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153F59"/>
                </a:solidFill>
              </a:defRPr>
            </a:pPr>
            <a:r>
              <a:rPr sz="825" b="1">
                <a:solidFill>
                  <a:srgbClr val="153F59"/>
                </a:solidFill>
              </a:rPr>
              <a:t>Referências</a:t>
            </a:r>
          </a:p>
        </p:txBody>
      </p:sp>
      <p:sp>
        <p:nvSpPr>
          <p:cNvPr id="71" name="references-body">
            <a:extLst xmlns:a="http://schemas.openxmlformats.org/drawingml/2006/main">
              <a:ext uri="{FF2B5EF4-FFF2-40B4-BE49-F238E27FC236}">
                <a16:creationId xmlns:a16="http://schemas.microsoft.com/office/drawing/2014/main" id="{423E4F03-22A9-4156-A057-D16B0CB1B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077700"/>
            <a:ext cx="68961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[1] GLOBAL ASTHMA NETWORK. Global Asthma Report 2022. Auckland, New Zealand: Global Asthma Network, 2022. Disponível em: https://globalasthmareport.org/resources/Global_Asthma_Report_2022.pdf. Acesso em: 19 set. 2025.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[2] SOUZA-JÚNIOR, Paulo Roberto Borges de et al. Desenho da amostra da Pesquisa Nacional de Saúde 2013. Epidemiologia e Serviços de Saúde, v. 24, p. 207-216, 2015.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[3] DUBE, I.; SILVA, M. E. L. PNS_2013_2019. GitHub, 2026. Disponível em: https://github.com/ingodube/PNS_2013_2019. Acesso em: 28 mai. 2026.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[4] MENEZES, A. M. B. et al. Prevalência de diagnóstico médico de asma em adultos brasileiros: Pesquisa Nacional de Saúde, 2013. Revista Brasileira de Epidemiologia, São Paulo, v. 18, supl. 2, p. 204-213, 2015.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[5] SEVERE ASTHMA. Non-Pharmacological Interventions for Asthma. Disponível em: https://www.severeasthma.org.au/non-pharmacological-interventions-asthma/. Acesso em: 19 set. 2025.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[6] SANTOS, Felipe Moraes dos et al. Tendência da prevalência de asma autorreferida no Brasil de 2003 a 2013 em adultos e fatores associados à prevalência. Jornal Brasileiro de Pneumologia, v. 44, n. 6, p. 491-497, 2018. doi:10.1590/S1806-37562017000000328.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[7] TO, T. et al. Global asthma prevalence in adults: findings from the cross-sectional world health survey. BMC Public Health, v. 12, art. 204, 2012. doi:10.1186/1471-2458-12-204.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[8] OHDSI. Standardized Data: The OMOP Common Data Model. Disponível em: https://www.ohdsi.org/data-standardization/.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[9] OHDSI. OMOP Common Data Model. Disponível em: https://ohdsi.github.io/CommonDataModel/.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[10] OHDSI. ETL Creation Best Practices. Disponível em: https://www.ohdsi.org/web/wiki/doku.php?id=documentation:etl_best_practices.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[11] LUMLEY, Thomas. Complex Surveys: A Guide to Analysis Using R. Hoboken: Wiley, 2010.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[12] BROWN, Lawrence D.; CAI, T. Tony; DASGUPTA, Anirban. Interval estimation for a binomial proportion. Statistical Science, v. 16, n. 2, p. 101-133, 2001. doi:10.1214/ss/1009213286.</a:t>
            </a:r>
          </a:p>
          <a:p xmlns:a="http://schemas.openxmlformats.org/drawingml/2006/main">
            <a:pPr algn="l">
              <a:defRPr sz="338" b="0">
                <a:solidFill>
                  <a:srgbClr val="102536"/>
                </a:solidFill>
              </a:defRPr>
            </a:pPr>
            <a:r>
              <a:rPr sz="338" b="0">
                <a:solidFill>
                  <a:srgbClr val="102536"/>
                </a:solidFill>
              </a:rPr>
              <a:t>[13] KORN, Edward L.; GRAUBARD, Barry I. Confidence intervals for proportions with small expected number of positive counts estimated from survey data. Survey Methodology, v. 24, n. 2, p. 193-201, 1998.</a:t>
            </a:r>
          </a:p>
        </p:txBody>
      </p:sp>
      <p:sp>
        <p:nvSpPr>
          <p:cNvPr id="72" name="qr-box">
            <a:extLst xmlns:a="http://schemas.openxmlformats.org/drawingml/2006/main">
              <a:ext uri="{FF2B5EF4-FFF2-40B4-BE49-F238E27FC236}">
                <a16:creationId xmlns:a16="http://schemas.microsoft.com/office/drawing/2014/main" id="{DA1DA441-E317-4981-AC67-770D93BF3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1696700"/>
            <a:ext cx="876300" cy="1371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F5673"/>
            </a:solidFill>
            <a:prstDash val="solid"/>
          </a:ln>
        </p:spPr>
      </p:sp>
      <p:pic>
        <p:nvPicPr>
          <p:cNvPr id="1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6b61fe35544142"/>
          <a:stretch xmlns:a="http://schemas.openxmlformats.org/drawingml/2006/main"/>
        </p:blipFill>
        <p:spPr>
          <a:xfrm xmlns:a="http://schemas.openxmlformats.org/drawingml/2006/main">
            <a:off x="8305800" y="11811000"/>
            <a:ext cx="609600" cy="609600"/>
          </a:xfrm>
          <a:prstGeom xmlns:a="http://schemas.openxmlformats.org/drawingml/2006/main" prst="rect">
            <a:avLst/>
          </a:prstGeom>
        </p:spPr>
      </p:pic>
      <p:sp>
        <p:nvSpPr>
          <p:cNvPr id="74" name="qr-label">
            <a:extLst xmlns:a="http://schemas.openxmlformats.org/drawingml/2006/main">
              <a:ext uri="{FF2B5EF4-FFF2-40B4-BE49-F238E27FC236}">
                <a16:creationId xmlns:a16="http://schemas.microsoft.com/office/drawing/2014/main" id="{72641250-725E-4502-AC69-5B5FE7C7B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2496800"/>
            <a:ext cx="723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Relatório metodológico, códigos e gráficos reprodutíveis</a:t>
            </a:r>
          </a:p>
          <a:p xmlns:a="http://schemas.openxmlformats.org/drawingml/2006/main">
            <a:pPr algn="ctr">
              <a:defRPr sz="488" b="1">
                <a:solidFill>
                  <a:srgbClr val="153F59"/>
                </a:solidFill>
              </a:defRPr>
            </a:pPr>
            <a:r>
              <a:rPr sz="488" b="1">
                <a:solidFill>
                  <a:srgbClr val="153F59"/>
                </a:solidFill>
              </a:rPr>
              <a:t>https://ingodube.github.io/PNS_2013_2019/metodologia.html</a:t>
            </a:r>
          </a:p>
        </p:txBody>
      </p:sp>
    </p:spTree>
    <p:extLst>
      <p:ext uri="{BB962C8B-B14F-4D97-AF65-F5344CB8AC3E}">
        <p14:creationId xmlns:p14="http://schemas.microsoft.com/office/powerpoint/2010/main" val="174383492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2026-07-21T21:42:06.4600000Z</dcterms:created>
  <dcterms:modified xsi:type="dcterms:W3CDTF">2026-07-21T21:42:06.4600000Z</dcterms:modified>
</coreProperties>
</file>