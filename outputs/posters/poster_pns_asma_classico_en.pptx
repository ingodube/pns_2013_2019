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52c75e684cc4dd1" /><Relationship Type="http://schemas.openxmlformats.org/officeDocument/2006/relationships/extended-properties" Target="/docProps/app.xml" Id="R1315f71ba06a4c2b" /><Relationship Type="http://schemas.openxmlformats.org/officeDocument/2006/relationships/officeDocument" Target="/ppt/presentation.xml" Id="Rb4736faa67f74c3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feb026d4d274a2b"/>
  </p:sldMasterIdLst>
  <p:notesMasterIdLst>
    <p:notesMasterId xmlns:r="http://schemas.openxmlformats.org/officeDocument/2006/relationships" r:id="R8a28798d16fa4952"/>
  </p:notesMasterIdLst>
  <p:sldIdLst>
    <p:sldId xmlns:r="http://schemas.openxmlformats.org/officeDocument/2006/relationships" id="256" r:id="R5d99dac80fec4426"/>
  </p:sldIdLst>
  <p:sldSz cx="43200638" cy="32399288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b7440334d2a493e" /><Relationship Type="http://schemas.openxmlformats.org/officeDocument/2006/relationships/slideMaster" Target="/ppt/slideMasters/slideMaster1.xml" Id="R6feb026d4d274a2b" /><Relationship Type="http://schemas.openxmlformats.org/officeDocument/2006/relationships/notesMaster" Target="/ppt/notesMasters/notesMaster1.xml" Id="R8a28798d16fa4952" /><Relationship Type="http://schemas.openxmlformats.org/officeDocument/2006/relationships/presProps" Target="/ppt/presProps.xml" Id="R716c37ba77e14903" /><Relationship Type="http://schemas.openxmlformats.org/officeDocument/2006/relationships/viewProps" Target="/ppt/viewProps.xml" Id="R60a807acd89048cc" /><Relationship Type="http://schemas.openxmlformats.org/officeDocument/2006/relationships/tableStyles" Target="/ppt/tableStyles.xml" Id="Rf99fe154f5c54368" /><Relationship Type="http://schemas.openxmlformats.org/officeDocument/2006/relationships/slide" Target="/ppt/slides/slide1.xml" Id="R5d99dac80fec442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0b07d8a6fb3427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Tema do Office 2013 - 2022">
  <a:themeElements>
    <a:clrScheme name="Tema do Office 2013 - 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o Office 2013 - 2022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 2013 - 2022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b1d7b3605c54410" /><Relationship Type="http://schemas.openxmlformats.org/officeDocument/2006/relationships/notesMaster" Target="/ppt/notesMasters/notesMaster1.xml" Id="R1c7c7dfb51a9403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77eb4871cef427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87d9ff597c492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b28330a326a4a4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6adec82a62142f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58ee523c834801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98615cd072146e4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bcf727f602440e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7e347fbe0c042fa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baa29d78d404383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74123aee21e45e9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b692f9c97e044b8" /></Relationships>
</file>

<file path=ppt/slideLayouts/slideLayout1.xml><?xml version="1.0" encoding="utf-8"?>
<p:sldLayout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044B61C-58CC-404E-8B79-73ACA15877A4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3240048" y="5302386"/>
            <a:ext cx="36720542" cy="11279752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28346"/>
            </a:lvl1pPr>
          </a:lstStyle>
          <a:p xmlns:a="http://schemas.openxmlformats.org/drawingml/2006/main">
            <a:r>
              <a:t>Clique para editar o título Mestre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F16E7B78-FAC1-4019-971F-AD8EFD92BD4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5400080" y="17017128"/>
            <a:ext cx="32400479" cy="7822326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11338"/>
            </a:lvl1pPr>
            <a:lvl2pPr marL="2159950" indent="0" algn="ctr">
              <a:buNone/>
              <a:defRPr sz="9449"/>
            </a:lvl2pPr>
            <a:lvl3pPr marL="4319900" indent="0" algn="ctr">
              <a:buNone/>
              <a:defRPr sz="8504"/>
            </a:lvl3pPr>
            <a:lvl4pPr marL="6479850" indent="0" algn="ctr">
              <a:buNone/>
              <a:defRPr sz="7559"/>
            </a:lvl4pPr>
            <a:lvl5pPr marL="8639800" indent="0" algn="ctr">
              <a:buNone/>
              <a:defRPr sz="7559"/>
            </a:lvl5pPr>
            <a:lvl6pPr marL="10799750" indent="0" algn="ctr">
              <a:buNone/>
              <a:defRPr sz="7559"/>
            </a:lvl6pPr>
            <a:lvl7pPr marL="12959700" indent="0" algn="ctr">
              <a:buNone/>
              <a:defRPr sz="7559"/>
            </a:lvl7pPr>
            <a:lvl8pPr marL="15119650" indent="0" algn="ctr">
              <a:buNone/>
              <a:defRPr sz="7559"/>
            </a:lvl8pPr>
            <a:lvl9pPr marL="17279600" indent="0" algn="ctr">
              <a:buNone/>
              <a:defRPr sz="7559"/>
            </a:lvl9pPr>
          </a:lstStyle>
          <a:p xmlns:a="http://schemas.openxmlformats.org/drawingml/2006/main">
            <a:r>
              <a:t>Clique para editar o estilo do subtítulo Mestre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D159BCD-FA78-432A-BA5B-18C075445E6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0C26614-57AF-074D-8AD9-0394D3A3EFD8}" type="datetimeFigureOut">
              <a:t>14/07/2026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9D735CB-9225-49D3-84FB-9BF8981436A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CA3E59E-0E9D-497E-862A-662188FD29D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1862CEE-FB07-9E4D-99E4-130DC746C819}" type="slidenum">
              <a:t>‹nº›</a:t>
            </a:fld>
          </a:p>
        </p:txBody>
      </p:sp>
      <p:sp>
        <p:nvSpPr>
          <p:cNvPr id="9" name="Retângulo 8">
            <a:extLst xmlns:a="http://schemas.openxmlformats.org/drawingml/2006/main">
              <a:ext uri="{FF2B5EF4-FFF2-40B4-BE49-F238E27FC236}">
                <a16:creationId xmlns:a16="http://schemas.microsoft.com/office/drawing/2014/main" id="{9B614290-5D00-AF15-AB7B-44A2F006B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0587" y="4554684"/>
            <a:ext cx="43221225" cy="27844604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F2680D4-6172-42A4-8161-D3D07815A97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Clique para editar o título Mestre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2D3AA6-6667-4B1C-88E2-F1FEE8AD199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Clique para editar os estilos de texto Mestres</a:t>
            </a:r>
          </a:p>
          <a:p xmlns:a="http://schemas.openxmlformats.org/drawingml/2006/main">
            <a:pPr>
              <a:buNone/>
            </a:pPr>
            <a:r>
              <a:t>Segundo nível</a:t>
            </a:r>
          </a:p>
          <a:p xmlns:a="http://schemas.openxmlformats.org/drawingml/2006/main">
            <a:pPr>
              <a:buNone/>
            </a:pPr>
            <a:r>
              <a:t>Terceiro nível</a:t>
            </a:r>
          </a:p>
          <a:p xmlns:a="http://schemas.openxmlformats.org/drawingml/2006/main">
            <a:pPr>
              <a:buNone/>
            </a:pPr>
            <a:r>
              <a:t>Quarto nível</a:t>
            </a:r>
          </a:p>
          <a:p xmlns:a="http://schemas.openxmlformats.org/drawingml/2006/main">
            <a:pPr>
              <a:buNone/>
            </a:pPr>
            <a:r>
              <a:t>Quinto nível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3FEFB63-B879-4E84-8D9A-98FC4DA5CBE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0C26614-57AF-074D-8AD9-0394D3A3EFD8}" type="datetimeFigureOut">
              <a:t>14/07/2026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53C9533-341D-4DB0-8E26-3426CC5C1FB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060F006-786E-410C-81E0-1EB45C67970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1862CEE-FB07-9E4D-99E4-130DC746C819}" type="slidenum">
              <a:t>‹nº›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AA5A488-8AC2-48CB-A62B-1B14CBF76C1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947546" y="8077332"/>
            <a:ext cx="37260550" cy="13477201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28346"/>
            </a:lvl1pPr>
          </a:lstStyle>
          <a:p xmlns:a="http://schemas.openxmlformats.org/drawingml/2006/main">
            <a:r>
              <a:t>Clique para editar o título Mestre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89B7565-D4FE-4C69-B861-E2A4BFCC883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2947546" y="21682033"/>
            <a:ext cx="37260550" cy="708734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1338">
                <a:solidFill>
                  <a:schemeClr val="tx1"/>
                </a:solidFill>
              </a:defRPr>
            </a:lvl1pPr>
            <a:lvl2pPr marL="2159950" indent="0">
              <a:buNone/>
              <a:defRPr sz="9449">
                <a:solidFill>
                  <a:schemeClr val="tx1">
                    <a:tint val="75000"/>
                  </a:schemeClr>
                </a:solidFill>
              </a:defRPr>
            </a:lvl2pPr>
            <a:lvl3pPr marL="4319900" indent="0">
              <a:buNone/>
              <a:defRPr sz="8504">
                <a:solidFill>
                  <a:schemeClr val="tx1">
                    <a:tint val="75000"/>
                  </a:schemeClr>
                </a:solidFill>
              </a:defRPr>
            </a:lvl3pPr>
            <a:lvl4pPr marL="6479850" indent="0">
              <a:buNone/>
              <a:defRPr sz="7559">
                <a:solidFill>
                  <a:schemeClr val="tx1">
                    <a:tint val="75000"/>
                  </a:schemeClr>
                </a:solidFill>
              </a:defRPr>
            </a:lvl4pPr>
            <a:lvl5pPr marL="8639800" indent="0">
              <a:buNone/>
              <a:defRPr sz="7559">
                <a:solidFill>
                  <a:schemeClr val="tx1">
                    <a:tint val="75000"/>
                  </a:schemeClr>
                </a:solidFill>
              </a:defRPr>
            </a:lvl5pPr>
            <a:lvl6pPr marL="10799750" indent="0">
              <a:buNone/>
              <a:defRPr sz="7559">
                <a:solidFill>
                  <a:schemeClr val="tx1">
                    <a:tint val="75000"/>
                  </a:schemeClr>
                </a:solidFill>
              </a:defRPr>
            </a:lvl6pPr>
            <a:lvl7pPr marL="12959700" indent="0">
              <a:buNone/>
              <a:defRPr sz="7559">
                <a:solidFill>
                  <a:schemeClr val="tx1">
                    <a:tint val="75000"/>
                  </a:schemeClr>
                </a:solidFill>
              </a:defRPr>
            </a:lvl7pPr>
            <a:lvl8pPr marL="15119650" indent="0">
              <a:buNone/>
              <a:defRPr sz="7559">
                <a:solidFill>
                  <a:schemeClr val="tx1">
                    <a:tint val="75000"/>
                  </a:schemeClr>
                </a:solidFill>
              </a:defRPr>
            </a:lvl8pPr>
            <a:lvl9pPr marL="17279600" indent="0">
              <a:buNone/>
              <a:defRPr sz="7559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>
              <a:buNone/>
            </a:pPr>
            <a:r>
              <a:t>Clique para editar os estilos de texto Mestres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FE6E215-93CF-4AC0-B792-321AB1BA211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0C26614-57AF-074D-8AD9-0394D3A3EFD8}" type="datetimeFigureOut">
              <a:t>14/07/2026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D626B2E-D7A9-427E-A7E9-74C303D274F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DDD1569-232C-427D-9155-EFDEC4BA673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1862CEE-FB07-9E4D-99E4-130DC746C819}" type="slidenum">
              <a:t>‹nº›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8BA46C4-FD80-46CC-B783-30972B953B1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Clique para editar o título Mestre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5577EDE-1B30-4143-8992-F1FF6B65C60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2970044" y="8624810"/>
            <a:ext cx="18360271" cy="20557051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Clique para editar os estilos de texto Mestres</a:t>
            </a:r>
          </a:p>
          <a:p xmlns:a="http://schemas.openxmlformats.org/drawingml/2006/main">
            <a:pPr>
              <a:buNone/>
            </a:pPr>
            <a:r>
              <a:t>Segundo nível</a:t>
            </a:r>
          </a:p>
          <a:p xmlns:a="http://schemas.openxmlformats.org/drawingml/2006/main">
            <a:pPr>
              <a:buNone/>
            </a:pPr>
            <a:r>
              <a:t>Terceiro nível</a:t>
            </a:r>
          </a:p>
          <a:p xmlns:a="http://schemas.openxmlformats.org/drawingml/2006/main">
            <a:pPr>
              <a:buNone/>
            </a:pPr>
            <a:r>
              <a:t>Quarto nível</a:t>
            </a:r>
          </a:p>
          <a:p xmlns:a="http://schemas.openxmlformats.org/drawingml/2006/main">
            <a:pPr>
              <a:buNone/>
            </a:pPr>
            <a:r>
              <a:t>Quinto nível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D84D511-D72C-4712-B18D-83EC6F45880C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21870323" y="8624810"/>
            <a:ext cx="18360271" cy="20557051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Clique para editar os estilos de texto Mestres</a:t>
            </a:r>
          </a:p>
          <a:p xmlns:a="http://schemas.openxmlformats.org/drawingml/2006/main">
            <a:pPr>
              <a:buNone/>
            </a:pPr>
            <a:r>
              <a:t>Segundo nível</a:t>
            </a:r>
          </a:p>
          <a:p xmlns:a="http://schemas.openxmlformats.org/drawingml/2006/main">
            <a:pPr>
              <a:buNone/>
            </a:pPr>
            <a:r>
              <a:t>Terceiro nível</a:t>
            </a:r>
          </a:p>
          <a:p xmlns:a="http://schemas.openxmlformats.org/drawingml/2006/main">
            <a:pPr>
              <a:buNone/>
            </a:pPr>
            <a:r>
              <a:t>Quarto nível</a:t>
            </a:r>
          </a:p>
          <a:p xmlns:a="http://schemas.openxmlformats.org/drawingml/2006/main">
            <a:pPr>
              <a:buNone/>
            </a:pPr>
            <a:r>
              <a:t>Quinto nível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B9BF1619-F9B4-4C82-908C-3E8842F6C3E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0C26614-57AF-074D-8AD9-0394D3A3EFD8}" type="datetimeFigureOut">
              <a:t>14/07/2026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200EB7E-599B-470D-BABD-7C149D98F9C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E75B817-C3D8-449E-9F03-B872E8D6992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1862CEE-FB07-9E4D-99E4-130DC746C819}" type="slidenum">
              <a:t>‹nº›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42F4595-63FF-402D-A28E-753C2BACF5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975671" y="1724969"/>
            <a:ext cx="37260550" cy="626236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Clique para editar o título Mestre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CD37097-8731-4D42-ABE1-5CA79400971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2975675" y="7942328"/>
            <a:ext cx="18275892" cy="38924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11338" b="1"/>
            </a:lvl1pPr>
            <a:lvl2pPr marL="2159950" indent="0">
              <a:buNone/>
              <a:defRPr sz="9449" b="1"/>
            </a:lvl2pPr>
            <a:lvl3pPr marL="4319900" indent="0">
              <a:buNone/>
              <a:defRPr sz="8504" b="1"/>
            </a:lvl3pPr>
            <a:lvl4pPr marL="6479850" indent="0">
              <a:buNone/>
              <a:defRPr sz="7559" b="1"/>
            </a:lvl4pPr>
            <a:lvl5pPr marL="8639800" indent="0">
              <a:buNone/>
              <a:defRPr sz="7559" b="1"/>
            </a:lvl5pPr>
            <a:lvl6pPr marL="10799750" indent="0">
              <a:buNone/>
              <a:defRPr sz="7559" b="1"/>
            </a:lvl6pPr>
            <a:lvl7pPr marL="12959700" indent="0">
              <a:buNone/>
              <a:defRPr sz="7559" b="1"/>
            </a:lvl7pPr>
            <a:lvl8pPr marL="15119650" indent="0">
              <a:buNone/>
              <a:defRPr sz="7559" b="1"/>
            </a:lvl8pPr>
            <a:lvl9pPr marL="17279600" indent="0">
              <a:buNone/>
              <a:defRPr sz="7559" b="1"/>
            </a:lvl9pPr>
          </a:lstStyle>
          <a:p xmlns:a="http://schemas.openxmlformats.org/drawingml/2006/main">
            <a:pPr>
              <a:buNone/>
            </a:pPr>
            <a:r>
              <a:t>Clique para editar os estilos de texto Mestres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537844AF-E5A6-4A8D-A37F-A4B65FB05A71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2975675" y="11834740"/>
            <a:ext cx="18275892" cy="1740712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Clique para editar os estilos de texto Mestres</a:t>
            </a:r>
          </a:p>
          <a:p xmlns:a="http://schemas.openxmlformats.org/drawingml/2006/main">
            <a:pPr>
              <a:buNone/>
            </a:pPr>
            <a:r>
              <a:t>Segundo nível</a:t>
            </a:r>
          </a:p>
          <a:p xmlns:a="http://schemas.openxmlformats.org/drawingml/2006/main">
            <a:pPr>
              <a:buNone/>
            </a:pPr>
            <a:r>
              <a:t>Terceiro nível</a:t>
            </a:r>
          </a:p>
          <a:p xmlns:a="http://schemas.openxmlformats.org/drawingml/2006/main">
            <a:pPr>
              <a:buNone/>
            </a:pPr>
            <a:r>
              <a:t>Quarto nível</a:t>
            </a:r>
          </a:p>
          <a:p xmlns:a="http://schemas.openxmlformats.org/drawingml/2006/main">
            <a:pPr>
              <a:buNone/>
            </a:pPr>
            <a:r>
              <a:t>Quinto nível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A470A067-3DF0-4CFB-9153-13434395EAE6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21870325" y="7942328"/>
            <a:ext cx="18365898" cy="38924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11338" b="1"/>
            </a:lvl1pPr>
            <a:lvl2pPr marL="2159950" indent="0">
              <a:buNone/>
              <a:defRPr sz="9449" b="1"/>
            </a:lvl2pPr>
            <a:lvl3pPr marL="4319900" indent="0">
              <a:buNone/>
              <a:defRPr sz="8504" b="1"/>
            </a:lvl3pPr>
            <a:lvl4pPr marL="6479850" indent="0">
              <a:buNone/>
              <a:defRPr sz="7559" b="1"/>
            </a:lvl4pPr>
            <a:lvl5pPr marL="8639800" indent="0">
              <a:buNone/>
              <a:defRPr sz="7559" b="1"/>
            </a:lvl5pPr>
            <a:lvl6pPr marL="10799750" indent="0">
              <a:buNone/>
              <a:defRPr sz="7559" b="1"/>
            </a:lvl6pPr>
            <a:lvl7pPr marL="12959700" indent="0">
              <a:buNone/>
              <a:defRPr sz="7559" b="1"/>
            </a:lvl7pPr>
            <a:lvl8pPr marL="15119650" indent="0">
              <a:buNone/>
              <a:defRPr sz="7559" b="1"/>
            </a:lvl8pPr>
            <a:lvl9pPr marL="17279600" indent="0">
              <a:buNone/>
              <a:defRPr sz="7559" b="1"/>
            </a:lvl9pPr>
          </a:lstStyle>
          <a:p xmlns:a="http://schemas.openxmlformats.org/drawingml/2006/main">
            <a:pPr>
              <a:buNone/>
            </a:pPr>
            <a:r>
              <a:t>Clique para editar os estilos de texto Mestres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DE345070-0781-4649-AA41-DF0D71D3B7DF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21870325" y="11834740"/>
            <a:ext cx="18365898" cy="1740712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Clique para editar os estilos de texto Mestres</a:t>
            </a:r>
          </a:p>
          <a:p xmlns:a="http://schemas.openxmlformats.org/drawingml/2006/main">
            <a:pPr>
              <a:buNone/>
            </a:pPr>
            <a:r>
              <a:t>Segundo nível</a:t>
            </a:r>
          </a:p>
          <a:p xmlns:a="http://schemas.openxmlformats.org/drawingml/2006/main">
            <a:pPr>
              <a:buNone/>
            </a:pPr>
            <a:r>
              <a:t>Terceiro nível</a:t>
            </a:r>
          </a:p>
          <a:p xmlns:a="http://schemas.openxmlformats.org/drawingml/2006/main">
            <a:pPr>
              <a:buNone/>
            </a:pPr>
            <a:r>
              <a:t>Quarto nível</a:t>
            </a:r>
          </a:p>
          <a:p xmlns:a="http://schemas.openxmlformats.org/drawingml/2006/main">
            <a:pPr>
              <a:buNone/>
            </a:pPr>
            <a:r>
              <a:t>Quinto nível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7A6B8524-198E-488D-B94A-1F9B7FD559D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0C26614-57AF-074D-8AD9-0394D3A3EFD8}" type="datetimeFigureOut">
              <a:t>14/07/2026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64B35D70-9CAF-494A-9C79-44F66758884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53709E17-CE2E-414C-885C-47477AC5817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1862CEE-FB07-9E4D-99E4-130DC746C819}" type="slidenum">
              <a:t>‹nº›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9BD4150-8413-4342-93F2-D3CDA7AB2C0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Clique para editar o título Mestre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B2B4CE4F-46B7-4480-96FB-09562FD644F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0C26614-57AF-074D-8AD9-0394D3A3EFD8}" type="datetimeFigureOut">
              <a:t>14/07/2026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C575D196-763F-497F-9468-53023B4D196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0A209F5E-F08C-4F62-97F6-CEF5C3E9A60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1862CEE-FB07-9E4D-99E4-130DC746C819}" type="slidenum">
              <a:t>‹nº›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074A2BE0-939E-4177-ABBF-7A9176209FD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0C26614-57AF-074D-8AD9-0394D3A3EFD8}" type="datetimeFigureOut">
              <a:t>14/07/2026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E1559C0B-B86F-461B-B448-2D4DADB2202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0ABBBE93-9FAC-435A-B474-376CF185AF1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1862CEE-FB07-9E4D-99E4-130DC746C819}" type="slidenum">
              <a:t>‹nº›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7171D92-0C2E-482A-96B5-5E026A2DEAE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975671" y="2159952"/>
            <a:ext cx="13933330" cy="7559834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15118"/>
            </a:lvl1pPr>
          </a:lstStyle>
          <a:p xmlns:a="http://schemas.openxmlformats.org/drawingml/2006/main">
            <a:r>
              <a:t>Clique para editar o título Mestre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52903F9-4EB7-4634-AAA6-1BEC8D42A12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8365898" y="4664905"/>
            <a:ext cx="21870323" cy="23024494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5118"/>
            </a:lvl1pPr>
            <a:lvl2pPr>
              <a:buNone/>
              <a:defRPr sz="13228"/>
            </a:lvl2pPr>
            <a:lvl3pPr>
              <a:buNone/>
              <a:defRPr sz="11338"/>
            </a:lvl3pPr>
            <a:lvl4pPr>
              <a:buNone/>
              <a:defRPr sz="9449"/>
            </a:lvl4pPr>
            <a:lvl5pPr>
              <a:buNone/>
              <a:defRPr sz="9449"/>
            </a:lvl5pPr>
            <a:lvl6pPr>
              <a:buNone/>
              <a:defRPr sz="9449"/>
            </a:lvl6pPr>
            <a:lvl7pPr>
              <a:buNone/>
              <a:defRPr sz="9449"/>
            </a:lvl7pPr>
            <a:lvl8pPr>
              <a:buNone/>
              <a:defRPr sz="9449"/>
            </a:lvl8pPr>
            <a:lvl9pPr>
              <a:buNone/>
              <a:defRPr sz="9449"/>
            </a:lvl9pPr>
          </a:lstStyle>
          <a:p xmlns:a="http://schemas.openxmlformats.org/drawingml/2006/main">
            <a:pPr>
              <a:buNone/>
            </a:pPr>
            <a:r>
              <a:t>Clique para editar os estilos de texto Mestres</a:t>
            </a:r>
          </a:p>
          <a:p xmlns:a="http://schemas.openxmlformats.org/drawingml/2006/main">
            <a:pPr>
              <a:buNone/>
            </a:pPr>
            <a:r>
              <a:t>Segundo nível</a:t>
            </a:r>
          </a:p>
          <a:p xmlns:a="http://schemas.openxmlformats.org/drawingml/2006/main">
            <a:pPr>
              <a:buNone/>
            </a:pPr>
            <a:r>
              <a:t>Terceiro nível</a:t>
            </a:r>
          </a:p>
          <a:p xmlns:a="http://schemas.openxmlformats.org/drawingml/2006/main">
            <a:pPr>
              <a:buNone/>
            </a:pPr>
            <a:r>
              <a:t>Quarto nível</a:t>
            </a:r>
          </a:p>
          <a:p xmlns:a="http://schemas.openxmlformats.org/drawingml/2006/main">
            <a:pPr>
              <a:buNone/>
            </a:pPr>
            <a:r>
              <a:t>Quinto nível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A71A7242-900D-46C5-9C1B-BA5E13B5D71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75671" y="9719786"/>
            <a:ext cx="13933330" cy="1800710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7559"/>
            </a:lvl1pPr>
            <a:lvl2pPr marL="2159950" indent="0">
              <a:buNone/>
              <a:defRPr sz="6614"/>
            </a:lvl2pPr>
            <a:lvl3pPr marL="4319900" indent="0">
              <a:buNone/>
              <a:defRPr sz="5669"/>
            </a:lvl3pPr>
            <a:lvl4pPr marL="6479850" indent="0">
              <a:buNone/>
              <a:defRPr sz="4724"/>
            </a:lvl4pPr>
            <a:lvl5pPr marL="8639800" indent="0">
              <a:buNone/>
              <a:defRPr sz="4724"/>
            </a:lvl5pPr>
            <a:lvl6pPr marL="10799750" indent="0">
              <a:buNone/>
              <a:defRPr sz="4724"/>
            </a:lvl6pPr>
            <a:lvl7pPr marL="12959700" indent="0">
              <a:buNone/>
              <a:defRPr sz="4724"/>
            </a:lvl7pPr>
            <a:lvl8pPr marL="15119650" indent="0">
              <a:buNone/>
              <a:defRPr sz="4724"/>
            </a:lvl8pPr>
            <a:lvl9pPr marL="17279600" indent="0">
              <a:buNone/>
              <a:defRPr sz="4724"/>
            </a:lvl9pPr>
          </a:lstStyle>
          <a:p xmlns:a="http://schemas.openxmlformats.org/drawingml/2006/main">
            <a:pPr>
              <a:buNone/>
            </a:pPr>
            <a:r>
              <a:t>Clique para editar os estilos de texto Mestres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4DF9CD70-B66A-465A-9082-DE52A9566E6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0C26614-57AF-074D-8AD9-0394D3A3EFD8}" type="datetimeFigureOut">
              <a:t>14/07/2026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4BBF8C94-89A9-4C13-B2C7-8EB53828C17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464CFC90-336D-46F6-A52C-6C76DCD07A1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1862CEE-FB07-9E4D-99E4-130DC746C819}" type="slidenum">
              <a:t>‹nº›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526B746-82B5-42F2-A22F-F59D4450670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975671" y="2159952"/>
            <a:ext cx="13933330" cy="7559834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15118"/>
            </a:lvl1pPr>
          </a:lstStyle>
          <a:p xmlns:a="http://schemas.openxmlformats.org/drawingml/2006/main">
            <a:r>
              <a:t>Clique para editar o título Mestre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F86A214D-1E56-4D1A-B593-4FED1C3C38AA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8365898" y="4664905"/>
            <a:ext cx="21870323" cy="23024494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15118"/>
            </a:lvl1pPr>
            <a:lvl2pPr marL="2159950" indent="0">
              <a:buNone/>
              <a:defRPr sz="13228"/>
            </a:lvl2pPr>
            <a:lvl3pPr marL="4319900" indent="0">
              <a:buNone/>
              <a:defRPr sz="11338"/>
            </a:lvl3pPr>
            <a:lvl4pPr marL="6479850" indent="0">
              <a:buNone/>
              <a:defRPr sz="9449"/>
            </a:lvl4pPr>
            <a:lvl5pPr marL="8639800" indent="0">
              <a:buNone/>
              <a:defRPr sz="9449"/>
            </a:lvl5pPr>
            <a:lvl6pPr marL="10799750" indent="0">
              <a:buNone/>
              <a:defRPr sz="9449"/>
            </a:lvl6pPr>
            <a:lvl7pPr marL="12959700" indent="0">
              <a:buNone/>
              <a:defRPr sz="9449"/>
            </a:lvl7pPr>
            <a:lvl8pPr marL="15119650" indent="0">
              <a:buNone/>
              <a:defRPr sz="9449"/>
            </a:lvl8pPr>
            <a:lvl9pPr marL="17279600" indent="0">
              <a:buNone/>
              <a:defRPr sz="9449"/>
            </a:lvl9pPr>
          </a:lstStyle>
          <a:p xmlns:a="http://schemas.openxmlformats.org/drawingml/2006/main">
            <a:r>
              <a:t>Clique no ícone para adicionar uma imagem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D44DA688-0E85-4FD6-ADF2-75FE5F7B37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75671" y="9719786"/>
            <a:ext cx="13933330" cy="1800710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7559"/>
            </a:lvl1pPr>
            <a:lvl2pPr marL="2159950" indent="0">
              <a:buNone/>
              <a:defRPr sz="6614"/>
            </a:lvl2pPr>
            <a:lvl3pPr marL="4319900" indent="0">
              <a:buNone/>
              <a:defRPr sz="5669"/>
            </a:lvl3pPr>
            <a:lvl4pPr marL="6479850" indent="0">
              <a:buNone/>
              <a:defRPr sz="4724"/>
            </a:lvl4pPr>
            <a:lvl5pPr marL="8639800" indent="0">
              <a:buNone/>
              <a:defRPr sz="4724"/>
            </a:lvl5pPr>
            <a:lvl6pPr marL="10799750" indent="0">
              <a:buNone/>
              <a:defRPr sz="4724"/>
            </a:lvl6pPr>
            <a:lvl7pPr marL="12959700" indent="0">
              <a:buNone/>
              <a:defRPr sz="4724"/>
            </a:lvl7pPr>
            <a:lvl8pPr marL="15119650" indent="0">
              <a:buNone/>
              <a:defRPr sz="4724"/>
            </a:lvl8pPr>
            <a:lvl9pPr marL="17279600" indent="0">
              <a:buNone/>
              <a:defRPr sz="4724"/>
            </a:lvl9pPr>
          </a:lstStyle>
          <a:p xmlns:a="http://schemas.openxmlformats.org/drawingml/2006/main">
            <a:pPr>
              <a:buNone/>
            </a:pPr>
            <a:r>
              <a:t>Clique para editar os estilos de texto Mestres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112DEEC7-409A-4B4C-AF0A-30D2005FD2D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0C26614-57AF-074D-8AD9-0394D3A3EFD8}" type="datetimeFigureOut">
              <a:t>14/07/2026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3F880C9-3DF8-4F51-B271-8F859C376D9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404A3F1A-D261-43BA-9B5B-47CFF84F165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1862CEE-FB07-9E4D-99E4-130DC746C819}" type="slidenum">
              <a:t>‹nº›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3D07AB6-C59B-420C-8D9C-6DEF695AC3E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Clique para editar o título Mestre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2BF033B-2B6B-4701-A30C-CD6CD39BD97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Clique para editar os estilos de texto Mestres</a:t>
            </a:r>
          </a:p>
          <a:p xmlns:a="http://schemas.openxmlformats.org/drawingml/2006/main">
            <a:pPr>
              <a:buNone/>
            </a:pPr>
            <a:r>
              <a:t>Segundo nível</a:t>
            </a:r>
          </a:p>
          <a:p xmlns:a="http://schemas.openxmlformats.org/drawingml/2006/main">
            <a:pPr>
              <a:buNone/>
            </a:pPr>
            <a:r>
              <a:t>Terceiro nível</a:t>
            </a:r>
          </a:p>
          <a:p xmlns:a="http://schemas.openxmlformats.org/drawingml/2006/main">
            <a:pPr>
              <a:buNone/>
            </a:pPr>
            <a:r>
              <a:t>Quarto nível</a:t>
            </a:r>
          </a:p>
          <a:p xmlns:a="http://schemas.openxmlformats.org/drawingml/2006/main">
            <a:pPr>
              <a:buNone/>
            </a:pPr>
            <a:r>
              <a:t>Quinto nível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2BA60F6-E1FB-41B0-9FC2-26C92B135C9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0C26614-57AF-074D-8AD9-0394D3A3EFD8}" type="datetimeFigureOut">
              <a:t>14/07/2026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445A009-338D-4BC8-B042-ACE78CA18C4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AB24AD0-A6DB-434A-BA21-F066C0C38A0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1862CEE-FB07-9E4D-99E4-130DC746C819}" type="slidenum">
              <a:t>‹nº›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4C519F44-7FD8-4B61-A21E-4F43546567B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0915459" y="1724962"/>
            <a:ext cx="9315138" cy="27456899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Clique para editar o título Mestre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68DF63F1-B2E0-44EF-9134-A4A5F97F4A4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2970046" y="1724962"/>
            <a:ext cx="27405405" cy="27456899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Clique para editar os estilos de texto Mestres</a:t>
            </a:r>
          </a:p>
          <a:p xmlns:a="http://schemas.openxmlformats.org/drawingml/2006/main">
            <a:pPr>
              <a:buNone/>
            </a:pPr>
            <a:r>
              <a:t>Segundo nível</a:t>
            </a:r>
          </a:p>
          <a:p xmlns:a="http://schemas.openxmlformats.org/drawingml/2006/main">
            <a:pPr>
              <a:buNone/>
            </a:pPr>
            <a:r>
              <a:t>Terceiro nível</a:t>
            </a:r>
          </a:p>
          <a:p xmlns:a="http://schemas.openxmlformats.org/drawingml/2006/main">
            <a:pPr>
              <a:buNone/>
            </a:pPr>
            <a:r>
              <a:t>Quarto nível</a:t>
            </a:r>
          </a:p>
          <a:p xmlns:a="http://schemas.openxmlformats.org/drawingml/2006/main">
            <a:pPr>
              <a:buNone/>
            </a:pPr>
            <a:r>
              <a:t>Quinto nível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462626E-7A17-4327-8647-396BB6D6586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0C26614-57AF-074D-8AD9-0394D3A3EFD8}" type="datetimeFigureOut">
              <a:t>14/07/2026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B706BDB-7D30-4F68-A979-591EDC698D3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7468B38-8271-4A17-8F4D-319A4D70094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1862CEE-FB07-9E4D-99E4-130DC746C819}" type="slidenum">
              <a:t>‹nº›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dc9e0584a6642fe" /><Relationship Type="http://schemas.openxmlformats.org/officeDocument/2006/relationships/slideLayout" Target="/ppt/slideLayouts/slideLayout1.xml" Id="Ra055ab9d59904320" /><Relationship Type="http://schemas.openxmlformats.org/officeDocument/2006/relationships/slideLayout" Target="/ppt/slideLayouts/slideLayout2.xml" Id="R4ab0e4b665dc4ea7" /><Relationship Type="http://schemas.openxmlformats.org/officeDocument/2006/relationships/slideLayout" Target="/ppt/slideLayouts/slideLayout3.xml" Id="Rdea450b0433f4742" /><Relationship Type="http://schemas.openxmlformats.org/officeDocument/2006/relationships/slideLayout" Target="/ppt/slideLayouts/slideLayout4.xml" Id="R9eb89f3a72654f66" /><Relationship Type="http://schemas.openxmlformats.org/officeDocument/2006/relationships/slideLayout" Target="/ppt/slideLayouts/slideLayout5.xml" Id="R112ad0da08d94d37" /><Relationship Type="http://schemas.openxmlformats.org/officeDocument/2006/relationships/slideLayout" Target="/ppt/slideLayouts/slideLayout6.xml" Id="Rf7e6db91019046d5" /><Relationship Type="http://schemas.openxmlformats.org/officeDocument/2006/relationships/slideLayout" Target="/ppt/slideLayouts/slideLayout7.xml" Id="Rcb4767ff9a1c43a8" /><Relationship Type="http://schemas.openxmlformats.org/officeDocument/2006/relationships/slideLayout" Target="/ppt/slideLayouts/slideLayout8.xml" Id="R2a2ddb5140cd4e6f" /><Relationship Type="http://schemas.openxmlformats.org/officeDocument/2006/relationships/slideLayout" Target="/ppt/slideLayouts/slideLayout9.xml" Id="R3b7292dcbaa643d8" /><Relationship Type="http://schemas.openxmlformats.org/officeDocument/2006/relationships/slideLayout" Target="/ppt/slideLayouts/slideLayout10.xml" Id="Rb52071772efa4a8a" /><Relationship Type="http://schemas.openxmlformats.org/officeDocument/2006/relationships/slideLayout" Target="/ppt/slideLayouts/slideLayout11.xml" Id="R382bb84142304ba5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EB7A1C97-C2C2-4214-AFE6-E63C4D9EBBB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970044" y="1724969"/>
            <a:ext cx="37260550" cy="626236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Clique para editar o título Mestre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D68DFA77-124D-46C1-9342-6ACC9D30488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2970044" y="8624810"/>
            <a:ext cx="37260550" cy="2055705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Clique para editar os estilos de texto Mestres</a:t>
            </a:r>
          </a:p>
          <a:p xmlns:a="http://schemas.openxmlformats.org/drawingml/2006/main">
            <a:pPr>
              <a:buNone/>
            </a:pPr>
            <a:r>
              <a:t>Segundo nível</a:t>
            </a:r>
          </a:p>
          <a:p xmlns:a="http://schemas.openxmlformats.org/drawingml/2006/main">
            <a:pPr>
              <a:buNone/>
            </a:pPr>
            <a:r>
              <a:t>Terceiro nível</a:t>
            </a:r>
          </a:p>
          <a:p xmlns:a="http://schemas.openxmlformats.org/drawingml/2006/main">
            <a:pPr>
              <a:buNone/>
            </a:pPr>
            <a:r>
              <a:t>Quarto nível</a:t>
            </a:r>
          </a:p>
          <a:p xmlns:a="http://schemas.openxmlformats.org/drawingml/2006/main">
            <a:pPr>
              <a:buNone/>
            </a:pPr>
            <a:r>
              <a:t>Quinto nível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C4932AA-72A1-432C-B799-54A18804356B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2970044" y="30029347"/>
            <a:ext cx="9720144" cy="172496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5669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10C26614-57AF-074D-8AD9-0394D3A3EFD8}" type="datetimeFigureOut">
              <a:t>14/07/2026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6946C68-081B-4230-BAA7-8BC6B06D0DD7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310212" y="30029347"/>
            <a:ext cx="14580215" cy="172496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5669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51F2D71-CDC4-4804-B54E-30FBDFF9082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30510450" y="30029347"/>
            <a:ext cx="9720144" cy="172496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5669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D1862CEE-FB07-9E4D-99E4-130DC746C819}" type="slidenum">
              <a:t>‹nº›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055ab9d59904320"/>
    <p:sldLayoutId xmlns:r="http://schemas.openxmlformats.org/officeDocument/2006/relationships" id="2147483650" r:id="R4ab0e4b665dc4ea7"/>
    <p:sldLayoutId xmlns:r="http://schemas.openxmlformats.org/officeDocument/2006/relationships" id="2147483651" r:id="Rdea450b0433f4742"/>
    <p:sldLayoutId xmlns:r="http://schemas.openxmlformats.org/officeDocument/2006/relationships" id="2147483652" r:id="R9eb89f3a72654f66"/>
    <p:sldLayoutId xmlns:r="http://schemas.openxmlformats.org/officeDocument/2006/relationships" id="2147483653" r:id="R112ad0da08d94d37"/>
    <p:sldLayoutId xmlns:r="http://schemas.openxmlformats.org/officeDocument/2006/relationships" id="2147483654" r:id="Rf7e6db91019046d5"/>
    <p:sldLayoutId xmlns:r="http://schemas.openxmlformats.org/officeDocument/2006/relationships" id="2147483655" r:id="Rcb4767ff9a1c43a8"/>
    <p:sldLayoutId xmlns:r="http://schemas.openxmlformats.org/officeDocument/2006/relationships" id="2147483656" r:id="R2a2ddb5140cd4e6f"/>
    <p:sldLayoutId xmlns:r="http://schemas.openxmlformats.org/officeDocument/2006/relationships" id="2147483657" r:id="R3b7292dcbaa643d8"/>
    <p:sldLayoutId xmlns:r="http://schemas.openxmlformats.org/officeDocument/2006/relationships" id="2147483658" r:id="Rb52071772efa4a8a"/>
    <p:sldLayoutId xmlns:r="http://schemas.openxmlformats.org/officeDocument/2006/relationships" id="2147483659" r:id="R382bb84142304ba5"/>
  </p:sldLayoutIdLst>
  <p:txStyles>
    <p:titleStyle>
      <a:lvl1pPr xmlns:a="http://schemas.openxmlformats.org/drawingml/2006/main" algn="l" defTabSz="4319900">
        <a:lnSpc>
          <a:spcPct val="90000"/>
        </a:lnSpc>
        <a:spcBef>
          <a:spcPct val="0"/>
        </a:spcBef>
        <a:buNone/>
        <a:defRPr sz="20787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1079975" indent="-1079975" algn="l" defTabSz="4319900">
        <a:lnSpc>
          <a:spcPct val="90000"/>
        </a:lnSpc>
        <a:spcBef>
          <a:spcPts val="4724"/>
        </a:spcBef>
        <a:buFont typeface="Arial"/>
        <a:buChar char="•"/>
        <a:defRPr sz="13228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3239925" indent="-1079975" algn="l" defTabSz="4319900">
        <a:lnSpc>
          <a:spcPct val="90000"/>
        </a:lnSpc>
        <a:spcBef>
          <a:spcPts val="2362"/>
        </a:spcBef>
        <a:buFont typeface="Arial"/>
        <a:buChar char="•"/>
        <a:defRPr sz="11338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5399875" indent="-1079975" algn="l" defTabSz="4319900">
        <a:lnSpc>
          <a:spcPct val="90000"/>
        </a:lnSpc>
        <a:spcBef>
          <a:spcPts val="2362"/>
        </a:spcBef>
        <a:buFont typeface="Arial"/>
        <a:buChar char="•"/>
        <a:defRPr sz="9449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7559825" indent="-1079975" algn="l" defTabSz="4319900">
        <a:lnSpc>
          <a:spcPct val="90000"/>
        </a:lnSpc>
        <a:spcBef>
          <a:spcPts val="2362"/>
        </a:spcBef>
        <a:buFont typeface="Arial"/>
        <a:buChar char="•"/>
        <a:defRPr sz="8504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9719775" indent="-1079975" algn="l" defTabSz="4319900">
        <a:lnSpc>
          <a:spcPct val="90000"/>
        </a:lnSpc>
        <a:spcBef>
          <a:spcPts val="2362"/>
        </a:spcBef>
        <a:buFont typeface="Arial"/>
        <a:buChar char="•"/>
        <a:defRPr sz="8504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11879725" indent="-1079975" algn="l" defTabSz="4319900">
        <a:lnSpc>
          <a:spcPct val="90000"/>
        </a:lnSpc>
        <a:spcBef>
          <a:spcPts val="2362"/>
        </a:spcBef>
        <a:buFont typeface="Arial"/>
        <a:buChar char="•"/>
        <a:defRPr sz="8504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14039675" indent="-1079975" algn="l" defTabSz="4319900">
        <a:lnSpc>
          <a:spcPct val="90000"/>
        </a:lnSpc>
        <a:spcBef>
          <a:spcPts val="2362"/>
        </a:spcBef>
        <a:buFont typeface="Arial"/>
        <a:buChar char="•"/>
        <a:defRPr sz="8504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16199625" indent="-1079975" algn="l" defTabSz="4319900">
        <a:lnSpc>
          <a:spcPct val="90000"/>
        </a:lnSpc>
        <a:spcBef>
          <a:spcPts val="2362"/>
        </a:spcBef>
        <a:buFont typeface="Arial"/>
        <a:buChar char="•"/>
        <a:defRPr sz="8504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18359575" indent="-1079975" algn="l" defTabSz="4319900">
        <a:lnSpc>
          <a:spcPct val="90000"/>
        </a:lnSpc>
        <a:spcBef>
          <a:spcPts val="2362"/>
        </a:spcBef>
        <a:buFont typeface="Arial"/>
        <a:buChar char="•"/>
        <a:defRPr sz="8504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319900">
        <a:buNone/>
        <a:defRPr sz="8504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2159950" algn="l" defTabSz="4319900">
        <a:buNone/>
        <a:defRPr sz="8504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4319900" algn="l" defTabSz="4319900">
        <a:buNone/>
        <a:defRPr sz="8504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6479850" algn="l" defTabSz="4319900">
        <a:buNone/>
        <a:defRPr sz="8504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8639800" algn="l" defTabSz="4319900">
        <a:buNone/>
        <a:defRPr sz="8504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10799750" algn="l" defTabSz="4319900">
        <a:buNone/>
        <a:defRPr sz="8504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12959700" algn="l" defTabSz="4319900">
        <a:buNone/>
        <a:defRPr sz="8504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15119650" algn="l" defTabSz="4319900">
        <a:buNone/>
        <a:defRPr sz="8504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17279600" algn="l" defTabSz="4319900">
        <a:buNone/>
        <a:defRPr sz="8504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Tema do Office 2013 - 2022">
  <a:themeElements>
    <a:clrScheme name="Tema do Office 2013 - 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o Office 2013 - 2022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 2013 - 2022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0c8c3fb4a74b9e" /><Relationship Type="http://schemas.openxmlformats.org/officeDocument/2006/relationships/image" Target="/ppt/media/image.png" Id="R92a6a4354c494ac2" /><Relationship Type="http://schemas.openxmlformats.org/officeDocument/2006/relationships/image" Target="/ppt/media/image2.png" Id="R5e1ee536de09402a" /><Relationship Type="http://schemas.openxmlformats.org/officeDocument/2006/relationships/image" Target="/ppt/media/image3.png" Id="Rf68f1039f77b468b" /><Relationship Type="http://schemas.openxmlformats.org/officeDocument/2006/relationships/image" Target="/ppt/media/image4.png" Id="R74faf17efef34079" /><Relationship Type="http://schemas.openxmlformats.org/officeDocument/2006/relationships/image" Target="/ppt/media/image5.png" Id="Rac080a698a904d49" /><Relationship Type="http://schemas.openxmlformats.org/officeDocument/2006/relationships/image" Target="/ppt/media/image6.png" Id="R54b955d7ea1f4f19" /><Relationship Type="http://schemas.openxmlformats.org/officeDocument/2006/relationships/image" Target="/ppt/media/image7.png" Id="Rb38f6300ddc549e8" /><Relationship Type="http://schemas.openxmlformats.org/officeDocument/2006/relationships/notesSlide" Target="/ppt/notesSlides/notesSlide1.xml" Id="Re8c1c26a16f449a5" /></Relationships>
</file>

<file path=ppt/slides/slide1.xml><?xml version="1.0" encoding="utf-8"?>
<p:sld xmlns:a="http://schemas.openxmlformats.org/drawingml/2006/main" xmlns:ns2="http://schemas.openxmlformats.org/officeDocument/2006/relationships" xmlns:ns3="http://schemas.microsoft.com/office/drawing/2014/main" xmlns:ns4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pic>
        <p:nvPicPr>
          <p:cNvPr id="87" name="Imagem 3"/>
          <p:cNvPicPr>
            <a:picLocks noChangeAspect="1"/>
          </p:cNvPicPr>
          <p:nvPr/>
        </p:nvPicPr>
        <p:blipFill>
          <a:blip ns2:embed="R92a6a4354c494ac2"/>
          <a:srcRect l="0" t="41985" r="50251" b="34197"/>
          <a:stretch/>
        </p:blipFill>
        <p:spPr>
          <a:xfrm rot="0" flipH="1" flipV="0">
            <a:off x="17442037" y="0"/>
            <a:ext cx="17548975" cy="4696690"/>
          </a:xfrm>
          <a:prstGeom prst="rect">
            <a:avLst/>
          </a:prstGeom>
        </p:spPr>
      </p:pic>
      <p:pic>
        <p:nvPicPr>
          <p:cNvPr id="88" name="Imagem 7"/>
          <p:cNvPicPr>
            <a:picLocks noChangeAspect="1"/>
          </p:cNvPicPr>
          <p:nvPr/>
        </p:nvPicPr>
        <p:blipFill>
          <a:blip ns2:embed="R92a6a4354c494ac2"/>
          <a:srcRect l="0" t="0" r="0" b="0"/>
          <a:stretch/>
        </p:blipFill>
        <p:spPr>
          <a:xfrm rot="0" flipH="0" flipV="0">
            <a:off x="34816366" y="0"/>
            <a:ext cx="8384272" cy="4696690"/>
          </a:xfrm>
          <a:prstGeom prst="rect">
            <a:avLst/>
          </a:prstGeom>
        </p:spPr>
      </p:pic>
      <p:pic>
        <p:nvPicPr>
          <p:cNvPr id="89" name="Imagem 12"/>
          <p:cNvPicPr>
            <a:picLocks noChangeAspect="1"/>
          </p:cNvPicPr>
          <p:nvPr/>
        </p:nvPicPr>
        <p:blipFill>
          <a:blip ns2:embed="R92a6a4354c494ac2"/>
          <a:srcRect l="0" t="41985" r="50251" b="34197"/>
          <a:stretch/>
        </p:blipFill>
        <p:spPr>
          <a:xfrm rot="10800000" flipH="1" flipV="0">
            <a:off x="0" y="0"/>
            <a:ext cx="17548975" cy="4696690"/>
          </a:xfrm>
          <a:prstGeom prst="rect">
            <a:avLst/>
          </a:prstGeom>
        </p:spPr>
      </p:pic>
      <p:pic>
        <p:nvPicPr>
          <p:cNvPr id="90" name="Imagem 1"/>
          <p:cNvPicPr>
            <a:picLocks noChangeAspect="1"/>
          </p:cNvPicPr>
          <p:nvPr/>
        </p:nvPicPr>
        <p:blipFill>
          <a:blip ns2:embed="R5e1ee536de09402a"/>
          <a:stretch>
            <a:fillRect l="0" t="0" r="0" b="0"/>
          </a:stretch>
        </p:blipFill>
        <p:spPr>
          <a:xfrm>
            <a:off x="1104806" y="872837"/>
            <a:ext cx="12528492" cy="2767312"/>
          </a:xfrm>
          <a:prstGeom prst="rect">
            <a:avLst/>
          </a:prstGeom>
        </p:spPr>
      </p:pic>
      <p:sp>
        <p:nvSpPr>
          <p:cNvPr id="5" name="CustomShape 2">
            <a:extLst>
              <a:ext uri="{FF2B5EF4-FFF2-40B4-BE49-F238E27FC236}">
                <ns3:creationId id="{97065EEA-1F97-B0AB-DB63-C703872D214C}"/>
              </a:ext>
            </a:extLst>
          </p:cNvPr>
          <p:cNvSpPr>
            <a:spLocks noGrp="1"/>
          </p:cNvSpPr>
          <p:nvPr/>
        </p:nvSpPr>
        <p:spPr>
          <a:xfrm>
            <a:off x="1104806" y="6598088"/>
            <a:ext cx="9653040" cy="912960"/>
          </a:xfrm>
          <a:prstGeom prst="rect">
            <a:avLst/>
          </a:prstGeom>
          <a:solidFill>
            <a:srgbClr val="1C425B"/>
          </a:solidFill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5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INTRODUCTION</a:t>
            </a:r>
          </a:p>
        </p:txBody>
      </p:sp>
      <p:sp>
        <p:nvSpPr>
          <p:cNvPr id="6" name="CustomShape 3">
            <a:extLst>
              <a:ext uri="{FF2B5EF4-FFF2-40B4-BE49-F238E27FC236}">
                <ns3:creationId id="{48DB915D-16AC-E3B6-FAA3-E37C175959BE}"/>
              </a:ext>
            </a:extLst>
          </p:cNvPr>
          <p:cNvSpPr>
            <a:spLocks noGrp="1"/>
          </p:cNvSpPr>
          <p:nvPr/>
        </p:nvSpPr>
        <p:spPr>
          <a:xfrm>
            <a:off x="11615726" y="6598088"/>
            <a:ext cx="9662400" cy="912960"/>
          </a:xfrm>
          <a:prstGeom prst="rect">
            <a:avLst/>
          </a:prstGeom>
          <a:solidFill>
            <a:srgbClr val="1C425B"/>
          </a:solidFill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5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OBJECTIVE</a:t>
            </a:r>
          </a:p>
        </p:txBody>
      </p:sp>
      <p:sp>
        <p:nvSpPr>
          <p:cNvPr id="7" name="CustomShape 4">
            <a:extLst>
              <a:ext uri="{FF2B5EF4-FFF2-40B4-BE49-F238E27FC236}">
                <ns3:creationId id="{7132C9E5-17D9-B264-0383-B2207A7F61D8}"/>
              </a:ext>
            </a:extLst>
          </p:cNvPr>
          <p:cNvSpPr>
            <a:spLocks noGrp="1"/>
          </p:cNvSpPr>
          <p:nvPr/>
        </p:nvSpPr>
        <p:spPr>
          <a:xfrm>
            <a:off x="22079126" y="6598088"/>
            <a:ext cx="9771840" cy="912960"/>
          </a:xfrm>
          <a:prstGeom prst="rect">
            <a:avLst/>
          </a:prstGeom>
          <a:solidFill>
            <a:srgbClr val="1C425B"/>
          </a:solidFill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5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JUSTIFICATION</a:t>
            </a:r>
          </a:p>
        </p:txBody>
      </p:sp>
      <p:sp>
        <p:nvSpPr>
          <p:cNvPr id="9" name="CustomShape 5">
            <a:extLst>
              <a:ext uri="{FF2B5EF4-FFF2-40B4-BE49-F238E27FC236}">
                <ns3:creationId id="{406CF098-4E00-65B3-A2A1-8BB69B132374}"/>
              </a:ext>
            </a:extLst>
          </p:cNvPr>
          <p:cNvSpPr>
            <a:spLocks noGrp="1"/>
          </p:cNvSpPr>
          <p:nvPr/>
        </p:nvSpPr>
        <p:spPr>
          <a:xfrm>
            <a:off x="32586446" y="6598088"/>
            <a:ext cx="9653040" cy="912960"/>
          </a:xfrm>
          <a:prstGeom prst="rect">
            <a:avLst/>
          </a:prstGeom>
          <a:solidFill>
            <a:srgbClr val="1C425B"/>
          </a:solidFill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5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METHODOLOGY</a:t>
            </a:r>
          </a:p>
        </p:txBody>
      </p:sp>
      <p:sp>
        <p:nvSpPr>
          <p:cNvPr id="12" name="CustomShape 7">
            <a:extLst>
              <a:ext uri="{FF2B5EF4-FFF2-40B4-BE49-F238E27FC236}">
                <ns3:creationId id="{46F6B3F1-1DAC-2C19-6C8C-4906F4C63E42}"/>
              </a:ext>
            </a:extLst>
          </p:cNvPr>
          <p:cNvSpPr>
            <a:spLocks noGrp="1"/>
          </p:cNvSpPr>
          <p:nvPr/>
        </p:nvSpPr>
        <p:spPr>
          <a:xfrm>
            <a:off x="32586446" y="8174528"/>
            <a:ext cx="9653040" cy="9416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wrap="square">
            <a:spAutoFit/>
          </a:bodyPr>
          <a:lstStyle/>
          <a:p>
            <a:r>
              <a:rPr sz="1300" b="1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• Source: PNS 2013/2019; selected</a:t>
            </a:r>
            <a:endParaRPr/>
          </a:p>
          <a:p>
            <a:r>
              <a:rPr sz="13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resident; Q074, Q076,</a:t>
            </a:r>
            <a:endParaRPr/>
          </a:p>
          <a:p>
            <a:r>
              <a:rPr sz="13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Q07701/Q07704/Q07708, P050 and</a:t>
            </a:r>
            <a:endParaRPr/>
          </a:p>
          <a:p>
            <a:r>
              <a:rPr sz="13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complementary modules.</a:t>
            </a:r>
            <a:endParaRPr/>
          </a:p>
          <a:p>
            <a:r>
              <a:rPr sz="13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• Design: `PNSIBGE::pns_design()` includes</a:t>
            </a:r>
            <a:endParaRPr/>
          </a:p>
          <a:p>
            <a:r>
              <a:rPr sz="13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PSU, strata and calibrated weights.</a:t>
            </a:r>
            <a:endParaRPr/>
          </a:p>
          <a:p>
            <a:r>
              <a:rPr sz="13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• Estimation: `survey` for proportions,</a:t>
            </a:r>
            <a:endParaRPr/>
          </a:p>
          <a:p>
            <a:r>
              <a:rPr sz="13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means, totals and rates; lonely PSUs</a:t>
            </a:r>
            <a:endParaRPr/>
          </a:p>
          <a:p>
            <a:r>
              <a:rPr sz="13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handled through design options.</a:t>
            </a:r>
            <a:endParaRPr/>
          </a:p>
          <a:p>
            <a:r>
              <a:rPr sz="13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• 95% CI: `svyciprop(method = "beta")`,</a:t>
            </a:r>
            <a:endParaRPr/>
          </a:p>
          <a:p>
            <a:r>
              <a:rPr sz="13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suited to proportions, states and</a:t>
            </a:r>
            <a:endParaRPr/>
          </a:p>
          <a:p>
            <a:r>
              <a:rPr sz="13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small-event subgroups.</a:t>
            </a:r>
            <a:endParaRPr/>
          </a:p>
        </p:txBody>
      </p:sp>
      <p:sp>
        <p:nvSpPr>
          <p:cNvPr id="15" name="CustomShape 8">
            <a:extLst>
              <a:ext uri="{FF2B5EF4-FFF2-40B4-BE49-F238E27FC236}">
                <ns3:creationId id="{4C49EDB1-E810-9E0B-42AE-0BB4D2F8F777}"/>
              </a:ext>
            </a:extLst>
          </p:cNvPr>
          <p:cNvSpPr>
            <a:spLocks noGrp="1"/>
          </p:cNvSpPr>
          <p:nvPr/>
        </p:nvSpPr>
        <p:spPr>
          <a:xfrm>
            <a:off x="1104806" y="8174528"/>
            <a:ext cx="9653040" cy="9416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wrap="square">
            <a:spAutoFit/>
          </a:bodyPr>
          <a:lstStyle/>
          <a:p>
            <a:r>
              <a:rPr sz="1300" b="1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• Epidemiological indicators summarize</a:t>
            </a:r>
            <a:endParaRPr/>
          </a:p>
          <a:p>
            <a:r>
              <a:rPr sz="13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frequency, distribution and change in</a:t>
            </a:r>
            <a:endParaRPr/>
          </a:p>
          <a:p>
            <a:r>
              <a:rPr sz="13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health events.</a:t>
            </a:r>
            <a:endParaRPr/>
          </a:p>
          <a:p>
            <a:r>
              <a:rPr sz="13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• For asthma, prevalence, attacks,</a:t>
            </a:r>
            <a:endParaRPr/>
          </a:p>
          <a:p>
            <a:r>
              <a:rPr sz="13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medication and smoking separate disease</a:t>
            </a:r>
            <a:endParaRPr/>
          </a:p>
          <a:p>
            <a:r>
              <a:rPr sz="13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burden, diagnostic access, management</a:t>
            </a:r>
            <a:endParaRPr/>
          </a:p>
          <a:p>
            <a:r>
              <a:rPr sz="13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and risk factors.</a:t>
            </a:r>
            <a:endParaRPr/>
          </a:p>
          <a:p>
            <a:r>
              <a:rPr sz="13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• PNS has complex sampling; ignoring PSU,</a:t>
            </a:r>
            <a:endParaRPr/>
          </a:p>
          <a:p>
            <a:r>
              <a:rPr sz="13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strata and weights distorts variances,</a:t>
            </a:r>
            <a:endParaRPr/>
          </a:p>
          <a:p>
            <a:r>
              <a:rPr sz="13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CIs and state comparisons.</a:t>
            </a:r>
            <a:endParaRPr/>
          </a:p>
          <a:p>
            <a:r>
              <a:rPr sz="13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• The study converts individual responses</a:t>
            </a:r>
            <a:endParaRPr/>
          </a:p>
          <a:p>
            <a:r>
              <a:rPr sz="13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into reproducible population evidence</a:t>
            </a:r>
            <a:endParaRPr/>
          </a:p>
          <a:p>
            <a:r>
              <a:rPr sz="13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for surveillance and policy.</a:t>
            </a:r>
            <a:endParaRPr/>
          </a:p>
        </p:txBody>
      </p:sp>
      <p:sp>
        <p:nvSpPr>
          <p:cNvPr id="16" name="CustomShape 9">
            <a:extLst>
              <a:ext uri="{FF2B5EF4-FFF2-40B4-BE49-F238E27FC236}">
                <ns3:creationId id="{65D3F8EB-7D4A-E5C1-86CC-E56DD6393A42}"/>
              </a:ext>
            </a:extLst>
          </p:cNvPr>
          <p:cNvSpPr>
            <a:spLocks noGrp="1"/>
          </p:cNvSpPr>
          <p:nvPr/>
        </p:nvSpPr>
        <p:spPr>
          <a:xfrm>
            <a:off x="11555246" y="8174528"/>
            <a:ext cx="9653040" cy="9416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wrap="square">
            <a:spAutoFit/>
          </a:bodyPr>
          <a:lstStyle/>
          <a:p>
            <a:r>
              <a:rPr sz="1300" b="1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• Implement the 2013 and 2019 PNS sampling</a:t>
            </a:r>
            <a:endParaRPr/>
          </a:p>
          <a:p>
            <a:r>
              <a:rPr sz="13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design in R for the selected resident.</a:t>
            </a:r>
            <a:endParaRPr/>
          </a:p>
          <a:p>
            <a:r>
              <a:rPr sz="13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• Estimate physician-diagnosed asthma,</a:t>
            </a:r>
            <a:endParaRPr/>
          </a:p>
          <a:p>
            <a:r>
              <a:rPr sz="13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12-month attack, oral/inhaler</a:t>
            </a:r>
            <a:endParaRPr/>
          </a:p>
          <a:p>
            <a:r>
              <a:rPr sz="13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medication, smoking and complementary</a:t>
            </a:r>
            <a:endParaRPr/>
          </a:p>
          <a:p>
            <a:r>
              <a:rPr sz="13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indicators.</a:t>
            </a:r>
            <a:endParaRPr/>
          </a:p>
          <a:p>
            <a:r>
              <a:rPr sz="13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• Compare Brazil and states by point</a:t>
            </a:r>
            <a:endParaRPr/>
          </a:p>
          <a:p>
            <a:r>
              <a:rPr sz="13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estimate, beta 95% CI, magnitude and</a:t>
            </a:r>
            <a:endParaRPr/>
          </a:p>
          <a:p>
            <a:r>
              <a:rPr sz="13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interval overlap.</a:t>
            </a:r>
            <a:endParaRPr/>
          </a:p>
          <a:p>
            <a:r>
              <a:rPr sz="13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• Provide code, tables, figures and the</a:t>
            </a:r>
            <a:endParaRPr/>
          </a:p>
          <a:p>
            <a:r>
              <a:rPr sz="13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methodological report for audit and</a:t>
            </a:r>
            <a:endParaRPr/>
          </a:p>
          <a:p>
            <a:r>
              <a:rPr sz="13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reproduction.</a:t>
            </a:r>
            <a:endParaRPr/>
          </a:p>
        </p:txBody>
      </p:sp>
      <p:sp>
        <p:nvSpPr>
          <p:cNvPr id="17" name="CustomShape 10">
            <a:extLst>
              <a:ext uri="{FF2B5EF4-FFF2-40B4-BE49-F238E27FC236}">
                <ns3:creationId id="{A24DE532-511C-BC83-1589-77636C1DAD94}"/>
              </a:ext>
            </a:extLst>
          </p:cNvPr>
          <p:cNvSpPr>
            <a:spLocks noGrp="1"/>
          </p:cNvSpPr>
          <p:nvPr/>
        </p:nvSpPr>
        <p:spPr>
          <a:xfrm>
            <a:off x="22070846" y="8174528"/>
            <a:ext cx="9653040" cy="9416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wrap="square">
            <a:spAutoFit/>
          </a:bodyPr>
          <a:lstStyle/>
          <a:p>
            <a:r>
              <a:rPr sz="1300" b="1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• The diagnosis increase may indicate</a:t>
            </a:r>
            <a:endParaRPr/>
          </a:p>
          <a:p>
            <a:r>
              <a:rPr sz="13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higher occurrence, better diagnostic</a:t>
            </a:r>
            <a:endParaRPr/>
          </a:p>
          <a:p>
            <a:r>
              <a:rPr sz="13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access or both.</a:t>
            </a:r>
            <a:endParaRPr/>
          </a:p>
          <a:p>
            <a:r>
              <a:rPr sz="13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• Attacks and medication evaluate whether</a:t>
            </a:r>
            <a:endParaRPr/>
          </a:p>
          <a:p>
            <a:r>
              <a:rPr sz="13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diagnosis growth came with better</a:t>
            </a:r>
            <a:endParaRPr/>
          </a:p>
          <a:p>
            <a:r>
              <a:rPr sz="13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disease control.</a:t>
            </a:r>
            <a:endParaRPr/>
          </a:p>
          <a:p>
            <a:r>
              <a:rPr sz="13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• Rates per 100,000 separate total</a:t>
            </a:r>
            <a:endParaRPr/>
          </a:p>
          <a:p>
            <a:r>
              <a:rPr sz="13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population burden from proportions among</a:t>
            </a:r>
            <a:endParaRPr/>
          </a:p>
          <a:p>
            <a:r>
              <a:rPr sz="13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diagnosed people.</a:t>
            </a:r>
            <a:endParaRPr/>
          </a:p>
          <a:p>
            <a:r>
              <a:rPr sz="13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• ETL documents extraction,</a:t>
            </a:r>
            <a:endParaRPr/>
          </a:p>
          <a:p>
            <a:r>
              <a:rPr sz="13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transformation, denominators and</a:t>
            </a:r>
            <a:endParaRPr/>
          </a:p>
          <a:p>
            <a:r>
              <a:rPr sz="13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outputs; OMOP/OHDSI guides</a:t>
            </a:r>
            <a:endParaRPr/>
          </a:p>
          <a:p>
            <a:r>
              <a:rPr sz="13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standardization and interoperability.</a:t>
            </a:r>
            <a:endParaRPr/>
          </a:p>
        </p:txBody>
      </p:sp>
      <p:pic>
        <p:nvPicPr>
          <p:cNvPr id="99" name="Imagem 22"/>
          <p:cNvPicPr>
            <a:picLocks noChangeAspect="1"/>
          </p:cNvPicPr>
          <p:nvPr/>
        </p:nvPicPr>
        <p:blipFill>
          <a:blip ns2:embed="Rf68f1039f77b468b"/>
          <a:stretch>
            <a:fillRect l="0" t="0" r="0" b="0"/>
          </a:stretch>
        </p:blipFill>
        <p:spPr>
          <a:xfrm>
            <a:off x="16844210" y="1861013"/>
            <a:ext cx="23547763" cy="1483024"/>
          </a:xfrm>
          <a:prstGeom prst="rect">
            <a:avLst/>
          </a:prstGeom>
        </p:spPr>
      </p:pic>
      <p:sp>
        <p:nvSpPr>
          <p:cNvPr id="28" name="poster-title">
            <a:extLst>
              <a:ext uri="{FF2B5EF4-FFF2-40B4-BE49-F238E27FC236}">
                <ns3:creationId id="{A0CC36A0-5086-4A9C-8A25-CD894F699C28}"/>
              </a:ext>
            </a:extLst>
          </p:cNvPr>
          <p:cNvSpPr>
            <a:spLocks noGrp="1"/>
          </p:cNvSpPr>
          <p:nvPr/>
        </p:nvSpPr>
        <p:spPr>
          <a:xfrm>
            <a:off x="1095375" y="4953000"/>
            <a:ext cx="314325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/>
          <a:lstStyle/>
          <a:p>
            <a:r>
              <a:rPr sz="1500" b="1" i="0">
                <a:solidFill>
                  <a:srgbClr val="1C425B"/>
                </a:solidFill>
                <a:latin typeface="Calibri"/>
                <a:ea typeface="Calibri"/>
                <a:cs typeface="Calibri"/>
              </a:rPr>
              <a:t>Implementing the PNS sampling design in R: asthma in Brazil, 2013-2019</a:t>
            </a:r>
            <a:endParaRPr/>
          </a:p>
        </p:txBody>
      </p:sp>
      <p:sp>
        <p:nvSpPr>
          <p:cNvPr id="29" name="poster-authors">
            <a:extLst>
              <a:ext uri="{FF2B5EF4-FFF2-40B4-BE49-F238E27FC236}">
                <ns3:creationId id="{692C2025-6F3C-483D-B06B-F1D5925F3BD5}"/>
              </a:ext>
            </a:extLst>
          </p:cNvPr>
          <p:cNvSpPr>
            <a:spLocks noGrp="1"/>
          </p:cNvSpPr>
          <p:nvPr/>
        </p:nvSpPr>
        <p:spPr>
          <a:xfrm>
            <a:off x="1095375" y="5857875"/>
            <a:ext cx="31432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00" b="0" i="0">
                <a:solidFill>
                  <a:srgbClr val="5A5A5A"/>
                </a:solidFill>
              </a:defRPr>
            </a:pPr>
            <a:r>
              <a:rPr sz="1800" b="0" i="0">
                <a:solidFill>
                  <a:srgbClr val="5A5A5A"/>
                </a:solidFill>
                <a:latin typeface="Calibri"/>
                <a:ea typeface="Calibri"/>
                <a:cs typeface="Calibri"/>
              </a:rPr>
              <a:t>I. Dube; M. E. L. Silva | Observational data management</a:t>
            </a:r>
          </a:p>
        </p:txBody>
      </p:sp>
      <p:sp>
        <p:nvSpPr>
          <p:cNvPr id="73" name="section-METHODOLOGY - ESTIMATORS">
            <a:extLst>
              <a:ext uri="{FF2B5EF4-FFF2-40B4-BE49-F238E27FC236}">
                <ns3:creationId id="{CFC3F683-FD42-45E1-A63B-B3E7EDF0EB47}"/>
              </a:ext>
            </a:extLst>
          </p:cNvPr>
          <p:cNvSpPr>
            <a:spLocks noGrp="1"/>
          </p:cNvSpPr>
          <p:nvPr/>
        </p:nvSpPr>
        <p:spPr>
          <a:xfrm>
            <a:off x="1095375" y="11382375"/>
            <a:ext cx="20097750" cy="857250"/>
          </a:xfrm>
          <a:prstGeom prst="rect">
            <a:avLst/>
          </a:prstGeom>
          <a:solidFill>
            <a:srgbClr val="1C425B"/>
          </a:solidFill>
          <a:ln w="0">
            <a:solidFill>
              <a:srgbClr val="1C425B"/>
            </a:solidFill>
            <a:prstDash val="solid"/>
          </a:ln>
        </p:spPr>
      </p:sp>
      <p:sp>
        <p:nvSpPr>
          <p:cNvPr id="74" name="section-label-METHODOLOGY - ESTIMATORS">
            <a:extLst>
              <a:ext uri="{FF2B5EF4-FFF2-40B4-BE49-F238E27FC236}">
                <ns3:creationId id="{6E6097E0-E32E-4523-9EBA-E09854F59366}"/>
              </a:ext>
            </a:extLst>
          </p:cNvPr>
          <p:cNvSpPr>
            <a:spLocks noGrp="1"/>
          </p:cNvSpPr>
          <p:nvPr/>
        </p:nvSpPr>
        <p:spPr>
          <a:xfrm>
            <a:off x="1095375" y="11477625"/>
            <a:ext cx="2009775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250" b="1" i="0">
                <a:solidFill>
                  <a:srgbClr val="FFFFFF"/>
                </a:solidFill>
              </a:defRPr>
            </a:pPr>
            <a:r>
              <a:rPr sz="22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METHODOLOGY - ESTIMATORS</a:t>
            </a:r>
          </a:p>
        </p:txBody>
      </p:sp>
      <p:sp>
        <p:nvSpPr>
          <p:cNvPr id="75" name="method-detail-classic">
            <a:extLst>
              <a:ext uri="{FF2B5EF4-FFF2-40B4-BE49-F238E27FC236}">
                <ns3:creationId id="{F5E5917A-3E97-4CAA-BFFC-D5EE88A457B8}"/>
              </a:ext>
            </a:extLst>
          </p:cNvPr>
          <p:cNvSpPr>
            <a:spLocks noGrp="1"/>
          </p:cNvSpPr>
          <p:nvPr/>
        </p:nvSpPr>
        <p:spPr>
          <a:xfrm>
            <a:off x="1190625" y="12300000"/>
            <a:ext cx="19907250" cy="35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/>
          <a:lstStyle/>
          <a:p>
            <a:r>
              <a:rPr sz="1019" b="1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• Analytical ETL: extract microdata, select variables, recode binary outcomes, define</a:t>
            </a:r>
            <a:endParaRPr/>
          </a:p>
          <a:p>
            <a:r>
              <a:rPr sz="1019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valid denominators and generate `df_*.csv`/`df_*.xlsx`.</a:t>
            </a:r>
            <a:endParaRPr/>
          </a:p>
          <a:p>
            <a:r>
              <a:rPr sz="1019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• Indicators: asthma diagnosis; recent attack; medication among people with asthma;</a:t>
            </a:r>
            <a:endParaRPr/>
          </a:p>
          <a:p>
            <a:r>
              <a:rPr sz="1019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medication among people with attack; population medication rate; smokers per 100,000;</a:t>
            </a:r>
            <a:endParaRPr/>
          </a:p>
          <a:p>
            <a:r>
              <a:rPr sz="1019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Farmácia Popular/out-of-pocket payment; absenteeism, lost days and deflated income.</a:t>
            </a:r>
            <a:endParaRPr/>
          </a:p>
          <a:p>
            <a:r>
              <a:rPr sz="1019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• The beta CI respects the 0-1 scale and avoids Wald weaknesses for extreme proportions</a:t>
            </a:r>
            <a:endParaRPr/>
          </a:p>
          <a:p>
            <a:r>
              <a:rPr sz="1019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or small domains.</a:t>
            </a:r>
            <a:endParaRPr/>
          </a:p>
          <a:p>
            <a:r>
              <a:rPr sz="1019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• Interpretation: consider magnitude, direction, denominator and 95% CI overlap; bar</a:t>
            </a:r>
            <a:endParaRPr/>
          </a:p>
          <a:p>
            <a:r>
              <a:rPr sz="1019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height alone is insufficient.</a:t>
            </a:r>
            <a:endParaRPr/>
          </a:p>
        </p:txBody>
      </p:sp>
      <p:sp>
        <p:nvSpPr>
          <p:cNvPr id="76" name="section-READING THE RESULTS">
            <a:extLst>
              <a:ext uri="{FF2B5EF4-FFF2-40B4-BE49-F238E27FC236}">
                <ns3:creationId id="{7AC056C2-F59A-4399-B0C4-A696A64C1482}"/>
              </a:ext>
            </a:extLst>
          </p:cNvPr>
          <p:cNvSpPr>
            <a:spLocks noGrp="1"/>
          </p:cNvSpPr>
          <p:nvPr/>
        </p:nvSpPr>
        <p:spPr>
          <a:xfrm>
            <a:off x="22078950" y="11382375"/>
            <a:ext cx="20173950" cy="857250"/>
          </a:xfrm>
          <a:prstGeom prst="rect">
            <a:avLst/>
          </a:prstGeom>
          <a:solidFill>
            <a:srgbClr val="1C425B"/>
          </a:solidFill>
          <a:ln w="0">
            <a:solidFill>
              <a:srgbClr val="1C425B"/>
            </a:solidFill>
            <a:prstDash val="solid"/>
          </a:ln>
        </p:spPr>
      </p:sp>
      <p:sp>
        <p:nvSpPr>
          <p:cNvPr id="77" name="section-label-READING THE RESULTS">
            <a:extLst>
              <a:ext uri="{FF2B5EF4-FFF2-40B4-BE49-F238E27FC236}">
                <ns3:creationId id="{1F22A5DD-414B-476D-8B73-BEFF12E0A1A3}"/>
              </a:ext>
            </a:extLst>
          </p:cNvPr>
          <p:cNvSpPr>
            <a:spLocks noGrp="1"/>
          </p:cNvSpPr>
          <p:nvPr/>
        </p:nvSpPr>
        <p:spPr>
          <a:xfrm>
            <a:off x="22078950" y="11477625"/>
            <a:ext cx="2017395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250" b="1" i="0">
                <a:solidFill>
                  <a:srgbClr val="FFFFFF"/>
                </a:solidFill>
              </a:defRPr>
            </a:pPr>
            <a:r>
              <a:rPr sz="22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READING THE RESULTS</a:t>
            </a:r>
          </a:p>
        </p:txBody>
      </p:sp>
      <p:sp>
        <p:nvSpPr>
          <p:cNvPr id="78" name="analysis-detail-classic">
            <a:extLst>
              <a:ext uri="{FF2B5EF4-FFF2-40B4-BE49-F238E27FC236}">
                <ns3:creationId id="{B213A8E8-6A9D-47B3-AE14-B7E979E2D6AD}"/>
              </a:ext>
            </a:extLst>
          </p:cNvPr>
          <p:cNvSpPr>
            <a:spLocks noGrp="1"/>
          </p:cNvSpPr>
          <p:nvPr/>
        </p:nvSpPr>
        <p:spPr>
          <a:xfrm>
            <a:off x="22174200" y="12430125"/>
            <a:ext cx="19907250" cy="409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/>
          <a:lstStyle/>
          <a:p>
            <a:r>
              <a:rPr sz="900" b="1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• National physician-diagnosed asthma prevalence: 4.41% in 2013 to 5.40% in 2019;</a:t>
            </a:r>
            <a:endParaRPr/>
          </a:p>
          <a:p>
            <a:r>
              <a:rPr sz="9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non-overlapping CIs indicate statistically relevant growth.</a:t>
            </a:r>
            <a:endParaRPr/>
          </a:p>
          <a:p>
            <a:r>
              <a:rPr sz="9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• States: Rio Grande do Sul remained among the highest prevalences; Espírito Santo and</a:t>
            </a:r>
            <a:endParaRPr/>
          </a:p>
          <a:p>
            <a:r>
              <a:rPr sz="9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Amapá stand out; Bahia, Rondônia and Mato Grosso were among the lowest levels in</a:t>
            </a:r>
            <a:endParaRPr/>
          </a:p>
          <a:p>
            <a:r>
              <a:rPr sz="9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2019. Overlapping CIs limit inference in several states.</a:t>
            </a:r>
            <a:endParaRPr/>
          </a:p>
          <a:p>
            <a:r>
              <a:rPr sz="9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• Attacks in 12 months: 38.3% to 37.7%; stability suggests more diagnosis did not</a:t>
            </a:r>
            <a:endParaRPr/>
          </a:p>
          <a:p>
            <a:r>
              <a:rPr sz="9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translate into proportional improvement in control.</a:t>
            </a:r>
            <a:endParaRPr/>
          </a:p>
          <a:p>
            <a:r>
              <a:rPr sz="9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• Oral/inhaler medication among people with asthma: 81.5% to 64.4%; reading requires</a:t>
            </a:r>
            <a:endParaRPr/>
          </a:p>
          <a:p>
            <a:r>
              <a:rPr sz="9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caution because of denominator, 95% CI and the distinction between diagnosed-person</a:t>
            </a:r>
            <a:endParaRPr/>
          </a:p>
          <a:p>
            <a:r>
              <a:rPr sz="9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proportion and population rate.</a:t>
            </a:r>
            <a:endParaRPr/>
          </a:p>
          <a:p>
            <a:r>
              <a:rPr sz="9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• Smoking declined in several states; the national rate cited changed from 14,650 to</a:t>
            </a:r>
            <a:endParaRPr/>
          </a:p>
          <a:p>
            <a:r>
              <a:rPr sz="9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12,151 per 100,000, insufficient by itself to explain the diagnosis increase.</a:t>
            </a:r>
            <a:endParaRPr/>
          </a:p>
          <a:p>
            <a:r>
              <a:rPr sz="9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• Implication: asthma management requires medication access, clinical follow-up,</a:t>
            </a:r>
            <a:endParaRPr/>
          </a:p>
          <a:p>
            <a:r>
              <a:rPr sz="9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education, exposure control and non-pharmacological interventions.</a:t>
            </a:r>
            <a:endParaRPr/>
          </a:p>
        </p:txBody>
      </p:sp>
      <p:sp>
        <p:nvSpPr>
          <p:cNvPr id="79" name="references-compact-classic">
            <a:extLst>
              <a:ext uri="{FF2B5EF4-FFF2-40B4-BE49-F238E27FC236}">
                <ns3:creationId id="{7EC50D04-C9C4-4C8A-A647-FA02AC0CE47F}"/>
              </a:ext>
            </a:extLst>
          </p:cNvPr>
          <p:cNvSpPr>
            <a:spLocks noGrp="1"/>
          </p:cNvSpPr>
          <p:nvPr/>
        </p:nvSpPr>
        <p:spPr>
          <a:xfrm>
            <a:off x="20150000" y="29190000"/>
            <a:ext cx="18400000" cy="31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/>
          <a:lstStyle/>
          <a:p>
            <a:r>
              <a:rPr sz="500" b="1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[1] GLOBAL ASTHMA NETWORK. Global Asthma Report 2022. Auckland, New Zealand: Global Asthma Network, 2022. Disponível em:</a:t>
            </a:r>
            <a:endParaRPr/>
          </a:p>
          <a:p>
            <a:r>
              <a:rPr sz="5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  https://globalasthmareport.org/resources/Global_Asthma_Report_2022.pdf. Acesso em: 19 set. 2025.</a:t>
            </a:r>
            <a:endParaRPr/>
          </a:p>
          <a:p>
            <a:r>
              <a:rPr sz="5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[2] SOUZA-JÚNIOR, Paulo Roberto Borges de et al. Desenho da amostra da Pesquisa Nacional de Saúde 2013. Epidemiologia e Serviços</a:t>
            </a:r>
            <a:endParaRPr/>
          </a:p>
          <a:p>
            <a:r>
              <a:rPr sz="5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  de Saúde, v. 24, p. 207-216, 2015.</a:t>
            </a:r>
            <a:endParaRPr/>
          </a:p>
          <a:p>
            <a:r>
              <a:rPr sz="5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[3] DUBE, I.; SILVA, M. E. L. PNS_2013_2019. GitHub, 2026. Disponível em: https://github.com/ingodube/PNS_2013_2019. Acesso em: 28</a:t>
            </a:r>
            <a:endParaRPr/>
          </a:p>
          <a:p>
            <a:r>
              <a:rPr sz="5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  mai. 2026.</a:t>
            </a:r>
            <a:endParaRPr/>
          </a:p>
          <a:p>
            <a:r>
              <a:rPr sz="5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[4] MENEZES, A. M. B. et al. Prevalência de diagnóstico médico de asma em adultos brasileiros: Pesquisa Nacional de Saúde, 2013.</a:t>
            </a:r>
            <a:endParaRPr/>
          </a:p>
          <a:p>
            <a:r>
              <a:rPr sz="5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  Revista Brasileira de Epidemiologia, São Paulo, v. 18, supl. 2, p. 204-213, 2015.</a:t>
            </a:r>
            <a:endParaRPr/>
          </a:p>
          <a:p>
            <a:r>
              <a:rPr sz="5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[5] SEVERE ASTHMA. Non-Pharmacological Interventions for Asthma. Disponível em:</a:t>
            </a:r>
            <a:endParaRPr/>
          </a:p>
          <a:p>
            <a:r>
              <a:rPr sz="5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  https://www.severeasthma.org.au/non-pharmacological-interventions-asthma/. Acesso em: 19 set. 2025.</a:t>
            </a:r>
            <a:endParaRPr/>
          </a:p>
          <a:p>
            <a:r>
              <a:rPr sz="5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[6] SANTOS, Felipe Moraes dos et al. Tendência da prevalência de asma autorreferida no Brasil de 2003 a 2013 em adultos e fatores</a:t>
            </a:r>
            <a:endParaRPr/>
          </a:p>
          <a:p>
            <a:r>
              <a:rPr sz="5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  associados à prevalência. Jornal Brasileiro de Pneumologia, v. 44, n. 6, p. 491-497, 2018.</a:t>
            </a:r>
            <a:endParaRPr/>
          </a:p>
          <a:p>
            <a:r>
              <a:rPr sz="5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  doi:10.1590/S1806-37562017000000328.</a:t>
            </a:r>
            <a:endParaRPr/>
          </a:p>
          <a:p>
            <a:r>
              <a:rPr sz="5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[7] TO, T. et al. Global asthma prevalence in adults: findings from the cross-sectional world health survey. BMC Public Health, v.</a:t>
            </a:r>
            <a:endParaRPr/>
          </a:p>
          <a:p>
            <a:r>
              <a:rPr sz="5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  12, art. 204, 2012. doi:10.1186/1471-2458-12-204.</a:t>
            </a:r>
            <a:endParaRPr/>
          </a:p>
          <a:p>
            <a:r>
              <a:rPr sz="5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[8] OHDSI. Standardized Data: The OMOP Common Data Model. Disponível em: https://www.ohdsi.org/data-standardization/.</a:t>
            </a:r>
            <a:endParaRPr/>
          </a:p>
          <a:p>
            <a:r>
              <a:rPr sz="5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[9] OHDSI. OMOP Common Data Model. Disponível em: https://ohdsi.github.io/CommonDataModel/.</a:t>
            </a:r>
            <a:endParaRPr/>
          </a:p>
          <a:p>
            <a:r>
              <a:rPr sz="5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[10] OHDSI. ETL Creation Best Practices. Disponível em:</a:t>
            </a:r>
            <a:endParaRPr/>
          </a:p>
          <a:p>
            <a:r>
              <a:rPr sz="5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  https://www.ohdsi.org/web/wiki/doku.php?id=documentation:etl_best_practices.</a:t>
            </a:r>
            <a:endParaRPr/>
          </a:p>
          <a:p>
            <a:r>
              <a:rPr sz="5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[11] LUMLEY, Thomas. Complex Surveys: A Guide to Analysis Using R. Hoboken: Wiley, 2010.</a:t>
            </a:r>
            <a:endParaRPr/>
          </a:p>
          <a:p>
            <a:r>
              <a:rPr sz="5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[12] BROWN, Lawrence D.; CAI, T. Tony; DASGUPTA, Anirban. Interval estimation for a binomial proportion. Statistical Science, v.</a:t>
            </a:r>
            <a:endParaRPr/>
          </a:p>
          <a:p>
            <a:r>
              <a:rPr sz="5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  16, n. 2, p. 101-133, 2001. doi:10.1214/ss/1009213286.</a:t>
            </a:r>
            <a:endParaRPr/>
          </a:p>
          <a:p>
            <a:r>
              <a:rPr sz="5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[13] KORN, Edward L.; GRAUBARD, Barry I. Confidence intervals for proportions with small expected number of positive counts</a:t>
            </a:r>
            <a:endParaRPr/>
          </a:p>
          <a:p>
            <a:r>
              <a:rPr sz="5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   estimated from survey data. Survey Methodology, v. 24, n. 2, p. 193-201, 1998.</a:t>
            </a:r>
            <a:endParaRPr/>
          </a:p>
        </p:txBody>
      </p:sp>
      <p:sp>
        <p:nvSpPr>
          <p:cNvPr id="80" name="section-PLOTS EXPORTED FROM THE R CODE">
            <a:extLst>
              <a:ext uri="{FF2B5EF4-FFF2-40B4-BE49-F238E27FC236}">
                <ns3:creationId id="{E3CF9961-D363-4902-A8B6-F868F346E294}"/>
              </a:ext>
            </a:extLst>
          </p:cNvPr>
          <p:cNvSpPr>
            <a:spLocks noGrp="1"/>
          </p:cNvSpPr>
          <p:nvPr/>
        </p:nvSpPr>
        <p:spPr>
          <a:xfrm>
            <a:off x="1095375" y="16954500"/>
            <a:ext cx="41148000" cy="857250"/>
          </a:xfrm>
          <a:prstGeom prst="rect">
            <a:avLst/>
          </a:prstGeom>
          <a:solidFill>
            <a:srgbClr val="1C425B"/>
          </a:solidFill>
          <a:ln w="0">
            <a:solidFill>
              <a:srgbClr val="1C425B"/>
            </a:solidFill>
            <a:prstDash val="solid"/>
          </a:ln>
        </p:spPr>
      </p:sp>
      <p:sp>
        <p:nvSpPr>
          <p:cNvPr id="81" name="section-label-PLOTS EXPORTED FROM THE R CODE">
            <a:extLst>
              <a:ext uri="{FF2B5EF4-FFF2-40B4-BE49-F238E27FC236}">
                <ns3:creationId id="{8455B684-4458-4E86-8E47-69BFBAA9B4D6}"/>
              </a:ext>
            </a:extLst>
          </p:cNvPr>
          <p:cNvSpPr>
            <a:spLocks noGrp="1"/>
          </p:cNvSpPr>
          <p:nvPr/>
        </p:nvSpPr>
        <p:spPr>
          <a:xfrm>
            <a:off x="1095375" y="17049750"/>
            <a:ext cx="411480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250" b="1" i="0">
                <a:solidFill>
                  <a:srgbClr val="FFFFFF"/>
                </a:solidFill>
              </a:defRPr>
            </a:pPr>
            <a:r>
              <a:rPr sz="22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PLOTS EXPORTED FROM THE R CODE</a:t>
            </a:r>
          </a:p>
        </p:txBody>
      </p:sp>
      <p:pic>
        <p:nvPicPr>
          <p:cNvPr id="111" name=""/>
          <p:cNvPicPr>
            <a:picLocks noChangeAspect="1"/>
          </p:cNvPicPr>
          <p:nvPr/>
        </p:nvPicPr>
        <p:blipFill>
          <a:blip ns2:embed="R74faf17efef34079"/>
          <a:stretch/>
        </p:blipFill>
        <p:spPr>
          <a:xfrm>
            <a:off x="1319893" y="18097500"/>
            <a:ext cx="19267714" cy="5619750"/>
          </a:xfrm>
          <a:prstGeom prst="rect">
            <a:avLst/>
          </a:prstGeom>
        </p:spPr>
      </p:pic>
      <p:pic>
        <p:nvPicPr>
          <p:cNvPr id="112" name=""/>
          <p:cNvPicPr>
            <a:picLocks noChangeAspect="1"/>
          </p:cNvPicPr>
          <p:nvPr/>
        </p:nvPicPr>
        <p:blipFill>
          <a:blip ns2:embed="Rac080a698a904d49"/>
          <a:stretch/>
        </p:blipFill>
        <p:spPr>
          <a:xfrm>
            <a:off x="22751143" y="18097500"/>
            <a:ext cx="19267714" cy="5619750"/>
          </a:xfrm>
          <a:prstGeom prst="rect">
            <a:avLst/>
          </a:prstGeom>
        </p:spPr>
      </p:pic>
      <p:pic>
        <p:nvPicPr>
          <p:cNvPr id="113" name=""/>
          <p:cNvPicPr>
            <a:picLocks noChangeAspect="1"/>
          </p:cNvPicPr>
          <p:nvPr/>
        </p:nvPicPr>
        <p:blipFill>
          <a:blip ns2:embed="R54b955d7ea1f4f19"/>
          <a:stretch/>
        </p:blipFill>
        <p:spPr>
          <a:xfrm>
            <a:off x="1319893" y="24098250"/>
            <a:ext cx="19267714" cy="5619750"/>
          </a:xfrm>
          <a:prstGeom prst="rect">
            <a:avLst/>
          </a:prstGeom>
        </p:spPr>
      </p:pic>
      <p:pic>
        <p:nvPicPr>
          <p:cNvPr id="114" name=""/>
          <p:cNvPicPr>
            <a:picLocks noChangeAspect="1"/>
          </p:cNvPicPr>
          <p:nvPr/>
        </p:nvPicPr>
        <p:blipFill>
          <a:blip ns2:embed="Rb38f6300ddc549e8"/>
          <a:stretch/>
        </p:blipFill>
        <p:spPr>
          <a:xfrm>
            <a:off x="22751143" y="24098250"/>
            <a:ext cx="19267714" cy="5619750"/>
          </a:xfrm>
          <a:prstGeom prst="rect">
            <a:avLst/>
          </a:prstGeom>
        </p:spPr>
      </p:pic>
      <p:sp>
        <p:nvSpPr>
          <p:cNvPr id="86" name="chart-caption-classic">
            <a:extLst>
              <a:ext uri="{FF2B5EF4-FFF2-40B4-BE49-F238E27FC236}">
                <ns3:creationId id="{B636EB6F-7F30-4B69-92DF-8D920586EB46}"/>
              </a:ext>
            </a:extLst>
          </p:cNvPr>
          <p:cNvSpPr>
            <a:spLocks noGrp="1"/>
          </p:cNvSpPr>
          <p:nvPr/>
        </p:nvSpPr>
        <p:spPr>
          <a:xfrm>
            <a:off x="1095375" y="29860875"/>
            <a:ext cx="21050250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/>
          <a:lstStyle/>
          <a:p>
            <a:r>
              <a:rPr sz="700" b="1" i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• Figures exported from the R code: `geom_col`, `geom_errorbar`, `coord_flip`, beta 95% CIs</a:t>
            </a:r>
            <a:endParaRPr/>
          </a:p>
          <a:p>
            <a:r>
              <a:rPr sz="700" b="0" i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  and original palette.</a:t>
            </a:r>
            <a:endParaRPr/>
          </a:p>
          <a:p>
            <a:r>
              <a:rPr sz="700" b="0" i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• Bars = weighted estimates; whiskers = complex-design uncertainty. States with overlapping</a:t>
            </a:r>
            <a:endParaRPr/>
          </a:p>
          <a:p>
            <a:r>
              <a:rPr sz="700" b="0" i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  95% CIs require cautious reading.</a:t>
            </a:r>
            <a:endParaRPr/>
          </a:p>
        </p:txBody>
      </p:sp>
      <p:sp>
        <p:nvSpPr>
          <p:cNvPr id="115" name="formula-box-classic-en"/>
          <p:cNvSpPr txBox="1"/>
          <p:nvPr/>
        </p:nvSpPr>
        <p:spPr>
          <a:xfrm>
            <a:off x="1190625" y="15630000"/>
            <a:ext cx="19907250" cy="1250000"/>
          </a:xfrm>
          <a:prstGeom prst="rect">
            <a:avLst/>
          </a:prstGeom>
          <a:solidFill>
            <a:srgbClr val="F2F7FB"/>
          </a:solidFill>
          <a:ln w="19050">
            <a:solidFill>
              <a:srgbClr val="1F4E79"/>
            </a:solidFill>
          </a:ln>
        </p:spPr>
        <p:txBody>
          <a:bodyPr wrap="square" lIns="91440" rIns="91440" tIns="91440" bIns="91440" anchor="ctr"/>
          <a:lstStyle/>
          <a:p>
            <a:pPr algn="ctr"/>
            <a:r>
              <a:rPr lang="pt-BR" sz="800" b="1">
                <a:latin typeface="Cambria Math"/>
              </a:rPr>
              <a:t>ESTIMATORS AND NOTATION</a:t>
            </a:r>
            <a:endParaRPr/>
          </a:p>
          <a:p>
            <a:pPr algn="ctr"/>
            <a:r>
              <a:rPr lang="pt-BR" sz="800" b="0">
                <a:latin typeface="Cambria Math"/>
              </a:rPr>
              <a:t>Weighted proportion: p̂ = Σᵢ wᵢyᵢ / Σᵢ wᵢ</a:t>
            </a:r>
            <a:endParaRPr/>
          </a:p>
          <a:p>
            <a:pPr algn="ctr"/>
            <a:r>
              <a:rPr lang="pt-BR" sz="800" b="0">
                <a:latin typeface="Cambria Math"/>
              </a:rPr>
              <a:t>wᵢ = sampling weight; yᵢ = binary event</a:t>
            </a:r>
            <a:endParaRPr/>
          </a:p>
          <a:p>
            <a:pPr algn="ctr"/>
            <a:r>
              <a:rPr lang="pt-BR" sz="800" b="0">
                <a:latin typeface="Cambria Math"/>
              </a:rPr>
              <a:t>Percentage: % = 100 × p̂</a:t>
            </a:r>
            <a:endParaRPr/>
          </a:p>
          <a:p>
            <a:pPr algn="ctr"/>
            <a:r>
              <a:rPr lang="pt-BR" sz="800" b="0">
                <a:latin typeface="Cambria Math"/>
              </a:rPr>
              <a:t>Population rate: rate₁₀₀k = 100000 × p̂</a:t>
            </a:r>
            <a:endParaRPr/>
          </a:p>
          <a:p>
            <a:pPr algn="ctr"/>
            <a:r>
              <a:rPr lang="pt-BR" sz="800" b="0">
                <a:latin typeface="Cambria Math"/>
              </a:rPr>
              <a:t>Applied interval: CI₉₅%(p̂) = survey::svyciprop(method = "beta")</a:t>
            </a:r>
            <a:endParaRPr/>
          </a:p>
        </p:txBody>
      </p:sp>
      <p:sp>
        <p:nvSpPr>
          <p:cNvPr id="116" name="qr-placeholder-classic-en"/>
          <p:cNvSpPr txBox="1"/>
          <p:nvPr/>
        </p:nvSpPr>
        <p:spPr>
          <a:xfrm>
            <a:off x="38930000" y="29250000"/>
            <a:ext cx="3150000" cy="285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4E79"/>
            </a:solidFill>
          </a:ln>
        </p:spPr>
        <p:txBody>
          <a:bodyPr wrap="square" lIns="91440" rIns="91440" tIns="91440" bIns="91440" anchor="ctr"/>
          <a:lstStyle/>
          <a:p>
            <a:pPr algn="ctr"/>
            <a:r>
              <a:rPr lang="pt-BR" sz="680" b="1">
                <a:latin typeface="Aptos"/>
              </a:rPr>
              <a:t>QR CODE</a:t>
            </a:r>
            <a:endParaRPr/>
          </a:p>
          <a:p>
            <a:pPr algn="ctr"/>
            <a:r>
              <a:rPr lang="pt-BR" sz="680" b="0">
                <a:latin typeface="Aptos"/>
              </a:rPr>
              <a:t>Methodological report</a:t>
            </a:r>
            <a:endParaRPr/>
          </a:p>
          <a:p>
            <a:pPr algn="ctr"/>
            <a:r>
              <a:rPr lang="pt-BR" sz="680" b="0">
                <a:latin typeface="Aptos"/>
              </a:rPr>
              <a:t>https://ingodube.github.io/PNS_2013_2019/metodologia.html</a:t>
            </a:r>
            <a:endParaRPr/>
          </a:p>
        </p:txBody>
      </p:sp>
      <p:sp>
        <p:nvSpPr>
          <p:cNvPr id="117" name="chart-caption-above-classic-en-1"/>
          <p:cNvSpPr txBox="1"/>
          <p:nvPr/>
        </p:nvSpPr>
        <p:spPr>
          <a:xfrm>
            <a:off x="1319893" y="17730000"/>
            <a:ext cx="19267714" cy="33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76200" rIns="76200" tIns="76200" bIns="76200" anchor="t"/>
          <a:lstStyle/>
          <a:p>
            <a:pPr algn="ctr"/>
            <a:r>
              <a:rPr lang="pt-BR" sz="680" b="1"/>
              <a:t>Figure 1: Physician-diagnosed asthma prevalence by state, PNS 2013 and 2019.</a:t>
            </a:r>
            <a:endParaRPr/>
          </a:p>
        </p:txBody>
      </p:sp>
      <p:sp>
        <p:nvSpPr>
          <p:cNvPr id="118" name="chart-caption-above-classic-en-2"/>
          <p:cNvSpPr txBox="1"/>
          <p:nvPr/>
        </p:nvSpPr>
        <p:spPr>
          <a:xfrm>
            <a:off x="22751143" y="17730000"/>
            <a:ext cx="19267714" cy="33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76200" rIns="76200" tIns="76200" bIns="76200" anchor="t"/>
          <a:lstStyle/>
          <a:p>
            <a:pPr algn="ctr"/>
            <a:r>
              <a:rPr lang="pt-BR" sz="680" b="1"/>
              <a:t>Figure 2: Asthma attacks in the previous 12 months among diagnosed people, PNS 2013 and 2019.</a:t>
            </a:r>
            <a:endParaRPr/>
          </a:p>
        </p:txBody>
      </p:sp>
      <p:sp>
        <p:nvSpPr>
          <p:cNvPr id="119" name="chart-caption-above-classic-en-3"/>
          <p:cNvSpPr txBox="1"/>
          <p:nvPr/>
        </p:nvSpPr>
        <p:spPr>
          <a:xfrm>
            <a:off x="1319893" y="23725000"/>
            <a:ext cx="19267714" cy="33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76200" rIns="76200" tIns="76200" bIns="76200" anchor="t"/>
          <a:lstStyle/>
          <a:p>
            <a:pPr algn="ctr"/>
            <a:r>
              <a:rPr lang="pt-BR" sz="680" b="1"/>
              <a:t>Figure 3: Oral medication or inhaler use among people with asthma, PNS 2013 and 2019.</a:t>
            </a:r>
            <a:endParaRPr/>
          </a:p>
        </p:txBody>
      </p:sp>
      <p:sp>
        <p:nvSpPr>
          <p:cNvPr id="120" name="chart-caption-above-classic-en-4"/>
          <p:cNvSpPr txBox="1"/>
          <p:nvPr/>
        </p:nvSpPr>
        <p:spPr>
          <a:xfrm>
            <a:off x="22751143" y="23725000"/>
            <a:ext cx="19267714" cy="33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76200" rIns="76200" tIns="76200" bIns="76200" anchor="t"/>
          <a:lstStyle/>
          <a:p>
            <a:pPr algn="ctr"/>
            <a:r>
              <a:rPr lang="pt-BR" sz="680" b="1"/>
              <a:t>Figure 4: Population rate of current smokers per 100,000 inhabitants, PNS 2013 and 2019.</a:t>
            </a:r>
            <a:endParaRPr/>
          </a:p>
        </p:txBody>
      </p:sp>
    </p:spTree>
    <p:extLst>
      <p:ext uri="{BB962C8B-B14F-4D97-AF65-F5344CB8AC3E}">
        <ns4:creationId val="654859156"/>
      </p:ext>
    </p:extLst>
  </p:cSld>
</p:sld>
</file>

<file path=ppt/theme/theme1.xml><?xml version="1.0" encoding="utf-8"?>
<a:theme xmlns:a="http://schemas.openxmlformats.org/drawingml/2006/main" name="Tema do Office 2013 - 2022">
  <a:themeElements>
    <a:clrScheme name="Tema do Office 2013 - 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o Office 2013 - 2022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 2013 - 2022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2026-07-21T12:19:11.8950000Z</dcterms:created>
  <dcterms:modified xsi:type="dcterms:W3CDTF">2026-07-21T12:19:11.8950000Z</dcterms:modified>
</coreProperties>
</file>