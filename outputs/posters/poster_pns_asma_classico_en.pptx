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eb2b6427854490" /><Relationship Type="http://schemas.openxmlformats.org/officeDocument/2006/relationships/extended-properties" Target="/docProps/app.xml" Id="Rd29d4f4f2d934287" /><Relationship Type="http://schemas.openxmlformats.org/officeDocument/2006/relationships/officeDocument" Target="/ppt/presentation.xml" Id="Ra96137e64bfc4a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7426a0ac824ce8"/>
  </p:sldMasterIdLst>
  <p:notesMasterIdLst>
    <p:notesMasterId xmlns:r="http://schemas.openxmlformats.org/officeDocument/2006/relationships" r:id="R6374eed4585547b0"/>
  </p:notesMasterIdLst>
  <p:sldIdLst>
    <p:sldId xmlns:r="http://schemas.openxmlformats.org/officeDocument/2006/relationships" id="256" r:id="R6f4bdc7da59e414d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44e9efd8704b13" /><Relationship Type="http://schemas.openxmlformats.org/officeDocument/2006/relationships/slideMaster" Target="/ppt/slideMasters/slideMaster1.xml" Id="Rd57426a0ac824ce8" /><Relationship Type="http://schemas.openxmlformats.org/officeDocument/2006/relationships/notesMaster" Target="/ppt/notesMasters/notesMaster1.xml" Id="R6374eed4585547b0" /><Relationship Type="http://schemas.openxmlformats.org/officeDocument/2006/relationships/presProps" Target="/ppt/presProps.xml" Id="Re7b44d2a66754e50" /><Relationship Type="http://schemas.openxmlformats.org/officeDocument/2006/relationships/tableStyles" Target="/ppt/tableStyles.xml" Id="R2518cd458a11414b" /><Relationship Type="http://schemas.openxmlformats.org/officeDocument/2006/relationships/slide" Target="/ppt/slides/slide1.xml" Id="R6f4bdc7da59e41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20f3fa1135048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0e6ec0dd514c00" /><Relationship Type="http://schemas.openxmlformats.org/officeDocument/2006/relationships/notesMaster" Target="/ppt/notesMasters/notesMaster1.xml" Id="R954e367ee61445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9678aab21841c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f2233735314cdd" /><Relationship Type="http://schemas.openxmlformats.org/officeDocument/2006/relationships/slideLayout" Target="/ppt/slideLayouts/slideLayout1.xml" Id="R5a92b3f67f1049e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a92b3f67f1049e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a7ae8646d44a38" /><Relationship Type="http://schemas.openxmlformats.org/officeDocument/2006/relationships/image" Target="/ppt/media/image.png" Id="Rfc4aed48359b456b" /><Relationship Type="http://schemas.openxmlformats.org/officeDocument/2006/relationships/image" Target="/ppt/media/image2.png" Id="R075ffd0c56a445c2" /><Relationship Type="http://schemas.openxmlformats.org/officeDocument/2006/relationships/image" Target="/ppt/media/image3.png" Id="R9142d174a78a4bed" /><Relationship Type="http://schemas.openxmlformats.org/officeDocument/2006/relationships/image" Target="/ppt/media/image4.png" Id="R301bb8b3853a4c73" /><Relationship Type="http://schemas.openxmlformats.org/officeDocument/2006/relationships/image" Target="/ppt/media/image5.png" Id="R8c28228802cf4fa9" /><Relationship Type="http://schemas.openxmlformats.org/officeDocument/2006/relationships/image" Target="/ppt/media/image6.png" Id="R7aed54e2ebec42da" /><Relationship Type="http://schemas.openxmlformats.org/officeDocument/2006/relationships/image" Target="/ppt/media/image7.png" Id="Rccdfb0793fec4d4f" /><Relationship Type="http://schemas.openxmlformats.org/officeDocument/2006/relationships/image" Target="/ppt/media/image8.png" Id="Radf0f6386cd54fd6" /><Relationship Type="http://schemas.openxmlformats.org/officeDocument/2006/relationships/notesSlide" Target="/ppt/notesSlides/notesSlide1.xml" Id="R5def303440bb45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4aed48359b456b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5ffd0c56a445c2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42d174a78a4bed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classic-title">
            <a:extLst xmlns:a="http://schemas.openxmlformats.org/drawingml/2006/main">
              <a:ext uri="{FF2B5EF4-FFF2-40B4-BE49-F238E27FC236}">
                <a16:creationId xmlns:a16="http://schemas.microsoft.com/office/drawing/2014/main" id="{5F431656-3658-4CE3-BE77-BCCCB78A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Implementing the National Health Survey Sampling Design in R: a case study on asthma in Brazil</a:t>
            </a:r>
          </a:p>
        </p:txBody>
      </p:sp>
      <p:sp>
        <p:nvSpPr>
          <p:cNvPr id="5" name="classic-authors">
            <a:extLst xmlns:a="http://schemas.openxmlformats.org/drawingml/2006/main">
              <a:ext uri="{FF2B5EF4-FFF2-40B4-BE49-F238E27FC236}">
                <a16:creationId xmlns:a16="http://schemas.microsoft.com/office/drawing/2014/main" id="{0073896C-1FEA-462E-B695-0EA02D6D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Observational data management</a:t>
            </a:r>
          </a:p>
        </p:txBody>
      </p:sp>
      <p:sp>
        <p:nvSpPr>
          <p:cNvPr id="6" name="1-Introduction-box">
            <a:extLst xmlns:a="http://schemas.openxmlformats.org/drawingml/2006/main">
              <a:ext uri="{FF2B5EF4-FFF2-40B4-BE49-F238E27FC236}">
                <a16:creationId xmlns:a16="http://schemas.microsoft.com/office/drawing/2014/main" id="{1377DB2F-65F1-481C-8E22-B39795FA8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343150"/>
            <a:ext cx="2870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7" name="1-Introduction-head">
            <a:extLst xmlns:a="http://schemas.openxmlformats.org/drawingml/2006/main">
              <a:ext uri="{FF2B5EF4-FFF2-40B4-BE49-F238E27FC236}">
                <a16:creationId xmlns:a16="http://schemas.microsoft.com/office/drawing/2014/main" id="{C2AFE87F-F8AA-4A24-96F5-B7F3D809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3431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8" name="1-Introduction-title">
            <a:extLst xmlns:a="http://schemas.openxmlformats.org/drawingml/2006/main">
              <a:ext uri="{FF2B5EF4-FFF2-40B4-BE49-F238E27FC236}">
                <a16:creationId xmlns:a16="http://schemas.microsoft.com/office/drawing/2014/main" id="{0544C84D-792B-42A9-9BFB-CF6750C3C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907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Introduction</a:t>
            </a:r>
          </a:p>
        </p:txBody>
      </p:sp>
      <p:sp>
        <p:nvSpPr>
          <p:cNvPr id="9" name="1-Introduction-body">
            <a:extLst xmlns:a="http://schemas.openxmlformats.org/drawingml/2006/main">
              <a:ext uri="{FF2B5EF4-FFF2-40B4-BE49-F238E27FC236}">
                <a16:creationId xmlns:a16="http://schemas.microsoft.com/office/drawing/2014/main" id="{95CDEE0A-2FDA-4A55-A6E0-E3FA46B2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86050"/>
            <a:ext cx="26797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Epidemiological indicators summarize frequency, distribution and change in health events.</a:t>
            </a:r>
          </a:p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In asthma, prevalence, attacks, medication use and smoking help separate disease burden, diagnostic access, clinical management and risk factors.</a:t>
            </a:r>
          </a:p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PNS is a population-based household survey with a complex sampling design; valid estimates require weights, strata and clusters.</a:t>
            </a:r>
          </a:p>
        </p:txBody>
      </p:sp>
      <p:sp>
        <p:nvSpPr>
          <p:cNvPr id="10" name="2-Objectives-box">
            <a:extLst xmlns:a="http://schemas.openxmlformats.org/drawingml/2006/main">
              <a:ext uri="{FF2B5EF4-FFF2-40B4-BE49-F238E27FC236}">
                <a16:creationId xmlns:a16="http://schemas.microsoft.com/office/drawing/2014/main" id="{69980493-EB0F-44C4-BFFB-92DBEFED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038600"/>
            <a:ext cx="2870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1" name="2-Objectives-head">
            <a:extLst xmlns:a="http://schemas.openxmlformats.org/drawingml/2006/main">
              <a:ext uri="{FF2B5EF4-FFF2-40B4-BE49-F238E27FC236}">
                <a16:creationId xmlns:a16="http://schemas.microsoft.com/office/drawing/2014/main" id="{67F71AA9-95F3-48D1-B186-301B49040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0386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12" name="2-Objectives-title">
            <a:extLst xmlns:a="http://schemas.openxmlformats.org/drawingml/2006/main">
              <a:ext uri="{FF2B5EF4-FFF2-40B4-BE49-F238E27FC236}">
                <a16:creationId xmlns:a16="http://schemas.microsoft.com/office/drawing/2014/main" id="{A2AC13C5-7AC7-40A0-83AD-8A809BCE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862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Objectives</a:t>
            </a:r>
          </a:p>
        </p:txBody>
      </p:sp>
      <p:sp>
        <p:nvSpPr>
          <p:cNvPr id="13" name="2-Objectives-body">
            <a:extLst xmlns:a="http://schemas.openxmlformats.org/drawingml/2006/main">
              <a:ext uri="{FF2B5EF4-FFF2-40B4-BE49-F238E27FC236}">
                <a16:creationId xmlns:a16="http://schemas.microsoft.com/office/drawing/2014/main" id="{47EB8FE4-9A20-4E76-ADE8-0B5E80694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2679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Implement the 2013 and 2019 PNS sampling design in R.</a:t>
            </a:r>
          </a:p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Estimate physician-diagnosed asthma, attacks in the previous 12 months, oral/inhaler medication use, smoking, out-of-pocket payment, absenteeism, lost days and income.</a:t>
            </a:r>
          </a:p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Compare Brazil and states using point estimates, beta 95% CIs, magnitude and interval overlap.</a:t>
            </a:r>
          </a:p>
        </p:txBody>
      </p:sp>
      <p:sp>
        <p:nvSpPr>
          <p:cNvPr id="14" name="3-Data and indicators-box">
            <a:extLst xmlns:a="http://schemas.openxmlformats.org/drawingml/2006/main">
              <a:ext uri="{FF2B5EF4-FFF2-40B4-BE49-F238E27FC236}">
                <a16:creationId xmlns:a16="http://schemas.microsoft.com/office/drawing/2014/main" id="{D25837DD-6944-4DD0-A50E-B6B17096C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638800"/>
            <a:ext cx="2870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3-Data and indicators-head">
            <a:extLst xmlns:a="http://schemas.openxmlformats.org/drawingml/2006/main">
              <a:ext uri="{FF2B5EF4-FFF2-40B4-BE49-F238E27FC236}">
                <a16:creationId xmlns:a16="http://schemas.microsoft.com/office/drawing/2014/main" id="{511F4C8B-E147-42B8-ABBA-3761FDFA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6388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16" name="3-Data and indicators-title">
            <a:extLst xmlns:a="http://schemas.openxmlformats.org/drawingml/2006/main">
              <a:ext uri="{FF2B5EF4-FFF2-40B4-BE49-F238E27FC236}">
                <a16:creationId xmlns:a16="http://schemas.microsoft.com/office/drawing/2014/main" id="{19BF9F7B-918E-4953-A80C-852FA22C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6864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Data and indicators</a:t>
            </a:r>
          </a:p>
        </p:txBody>
      </p:sp>
      <p:sp>
        <p:nvSpPr>
          <p:cNvPr id="17" name="3-Data and indicators-body">
            <a:extLst xmlns:a="http://schemas.openxmlformats.org/drawingml/2006/main">
              <a:ext uri="{FF2B5EF4-FFF2-40B4-BE49-F238E27FC236}">
                <a16:creationId xmlns:a16="http://schemas.microsoft.com/office/drawing/2014/main" id="{F8F5B830-1331-4DF4-B665-D696AB79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2679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Analytical unit: selected resident from PNS.</a:t>
            </a:r>
          </a:p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Core variables: Q074 physician-diagnosed asthma; Q076 recent attack; Q07701/Q07704/Q07708 medication use; P050 smoking.</a:t>
            </a:r>
          </a:p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Denominators vary by indicator: general population, people with asthma, people with asthma and attack, or valid responses.</a:t>
            </a:r>
          </a:p>
        </p:txBody>
      </p:sp>
      <p:sp>
        <p:nvSpPr>
          <p:cNvPr id="18" name="4-Sampling design-box">
            <a:extLst xmlns:a="http://schemas.openxmlformats.org/drawingml/2006/main">
              <a:ext uri="{FF2B5EF4-FFF2-40B4-BE49-F238E27FC236}">
                <a16:creationId xmlns:a16="http://schemas.microsoft.com/office/drawing/2014/main" id="{41AC5313-D00D-4396-B580-F6E7CB270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162800"/>
            <a:ext cx="28702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4-Sampling design-head">
            <a:extLst xmlns:a="http://schemas.openxmlformats.org/drawingml/2006/main">
              <a:ext uri="{FF2B5EF4-FFF2-40B4-BE49-F238E27FC236}">
                <a16:creationId xmlns:a16="http://schemas.microsoft.com/office/drawing/2014/main" id="{25C6E703-7FED-479E-BBFD-EED82F48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1628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20" name="4-Sampling design-title">
            <a:extLst xmlns:a="http://schemas.openxmlformats.org/drawingml/2006/main">
              <a:ext uri="{FF2B5EF4-FFF2-40B4-BE49-F238E27FC236}">
                <a16:creationId xmlns:a16="http://schemas.microsoft.com/office/drawing/2014/main" id="{8EA8C06D-2F0F-4559-9C30-84550D4D0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2104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Sampling design</a:t>
            </a:r>
          </a:p>
        </p:txBody>
      </p:sp>
      <p:sp>
        <p:nvSpPr>
          <p:cNvPr id="21" name="4-Sampling design-body">
            <a:extLst xmlns:a="http://schemas.openxmlformats.org/drawingml/2006/main">
              <a:ext uri="{FF2B5EF4-FFF2-40B4-BE49-F238E27FC236}">
                <a16:creationId xmlns:a16="http://schemas.microsoft.com/office/drawing/2014/main" id="{8BBE7488-2551-460F-B38B-55AE8FAFD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505700"/>
            <a:ext cx="26797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The design was built with PNSIBGE::pns_design(), preserving PSU, strata and calibrated selected-resident weights.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Estimation uses the survey package for proportions, means, totals and rates.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Rates per 100,000 rescale weighted proportions while preserving uncertainty from the complex design.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Lonely PSUs and small domains require explicit inferential choices.</a:t>
            </a:r>
          </a:p>
        </p:txBody>
      </p:sp>
      <p:sp>
        <p:nvSpPr>
          <p:cNvPr id="22" name="classic-formula-box">
            <a:extLst xmlns:a="http://schemas.openxmlformats.org/drawingml/2006/main">
              <a:ext uri="{FF2B5EF4-FFF2-40B4-BE49-F238E27FC236}">
                <a16:creationId xmlns:a16="http://schemas.microsoft.com/office/drawing/2014/main" id="{C6DE3371-E6A5-4A8E-BD88-59592848D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9105900"/>
            <a:ext cx="28702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3" name="classic-formula-title">
            <a:extLst xmlns:a="http://schemas.openxmlformats.org/drawingml/2006/main">
              <a:ext uri="{FF2B5EF4-FFF2-40B4-BE49-F238E27FC236}">
                <a16:creationId xmlns:a16="http://schemas.microsoft.com/office/drawing/2014/main" id="{63C778E5-F808-4EF8-96B2-FEFCAD14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9163050"/>
            <a:ext cx="2870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Estimators and formulas</a:t>
            </a:r>
          </a:p>
        </p:txBody>
      </p:sp>
      <p:sp>
        <p:nvSpPr>
          <p:cNvPr id="24" name="classic-formula">
            <a:extLst xmlns:a="http://schemas.openxmlformats.org/drawingml/2006/main">
              <a:ext uri="{FF2B5EF4-FFF2-40B4-BE49-F238E27FC236}">
                <a16:creationId xmlns:a16="http://schemas.microsoft.com/office/drawing/2014/main" id="{003DEF2E-78BA-47B2-846A-F0FDF202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372600"/>
            <a:ext cx="26797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sampling weight; yᵢ = binary indicator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rate₁₀₀k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CI₉₅%(p̂) = survey::svyciprop(method = "beta")</a:t>
            </a:r>
          </a:p>
        </p:txBody>
      </p:sp>
      <p:sp>
        <p:nvSpPr>
          <p:cNvPr id="25" name="prev-metric">
            <a:extLst xmlns:a="http://schemas.openxmlformats.org/drawingml/2006/main">
              <a:ext uri="{FF2B5EF4-FFF2-40B4-BE49-F238E27FC236}">
                <a16:creationId xmlns:a16="http://schemas.microsoft.com/office/drawing/2014/main" id="{CB703F16-2625-46CA-AB4E-F279EE504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23431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6" name="prev-metric-title">
            <a:extLst xmlns:a="http://schemas.openxmlformats.org/drawingml/2006/main">
              <a:ext uri="{FF2B5EF4-FFF2-40B4-BE49-F238E27FC236}">
                <a16:creationId xmlns:a16="http://schemas.microsoft.com/office/drawing/2014/main" id="{E4EB352B-8374-4321-8353-AF351670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4193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National prevalence</a:t>
            </a:r>
          </a:p>
        </p:txBody>
      </p:sp>
      <p:sp>
        <p:nvSpPr>
          <p:cNvPr id="27" name="prev-metric-value">
            <a:extLst xmlns:a="http://schemas.openxmlformats.org/drawingml/2006/main">
              <a:ext uri="{FF2B5EF4-FFF2-40B4-BE49-F238E27FC236}">
                <a16:creationId xmlns:a16="http://schemas.microsoft.com/office/drawing/2014/main" id="{2592A6C1-C144-4147-8111-D9E55321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6098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4.41%→5.40%</a:t>
            </a:r>
          </a:p>
        </p:txBody>
      </p:sp>
      <p:sp>
        <p:nvSpPr>
          <p:cNvPr id="28" name="prev-metric-note">
            <a:extLst xmlns:a="http://schemas.openxmlformats.org/drawingml/2006/main">
              <a:ext uri="{FF2B5EF4-FFF2-40B4-BE49-F238E27FC236}">
                <a16:creationId xmlns:a16="http://schemas.microsoft.com/office/drawing/2014/main" id="{C95FDF37-8C8B-4FB0-AC7D-2C79D88A8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8765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Physician-diagnosed asthma increased with non-overlapping 95% CIs.</a:t>
            </a:r>
          </a:p>
        </p:txBody>
      </p:sp>
      <p:sp>
        <p:nvSpPr>
          <p:cNvPr id="29" name="crisis-metric">
            <a:extLst xmlns:a="http://schemas.openxmlformats.org/drawingml/2006/main">
              <a:ext uri="{FF2B5EF4-FFF2-40B4-BE49-F238E27FC236}">
                <a16:creationId xmlns:a16="http://schemas.microsoft.com/office/drawing/2014/main" id="{CE7B99A7-C125-4025-A1E3-80FFD038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33718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0" name="crisis-metric-title">
            <a:extLst xmlns:a="http://schemas.openxmlformats.org/drawingml/2006/main">
              <a:ext uri="{FF2B5EF4-FFF2-40B4-BE49-F238E27FC236}">
                <a16:creationId xmlns:a16="http://schemas.microsoft.com/office/drawing/2014/main" id="{0D5CA9F8-DA51-4380-9B29-0C6D7044F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4480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12-month attacks</a:t>
            </a:r>
          </a:p>
        </p:txBody>
      </p:sp>
      <p:sp>
        <p:nvSpPr>
          <p:cNvPr id="31" name="crisis-metric-value">
            <a:extLst xmlns:a="http://schemas.openxmlformats.org/drawingml/2006/main">
              <a:ext uri="{FF2B5EF4-FFF2-40B4-BE49-F238E27FC236}">
                <a16:creationId xmlns:a16="http://schemas.microsoft.com/office/drawing/2014/main" id="{A16D39EE-6A70-4CF7-9CB0-6B31AF17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6385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38.3%→37.7%</a:t>
            </a:r>
          </a:p>
        </p:txBody>
      </p:sp>
      <p:sp>
        <p:nvSpPr>
          <p:cNvPr id="32" name="crisis-metric-note">
            <a:extLst xmlns:a="http://schemas.openxmlformats.org/drawingml/2006/main">
              <a:ext uri="{FF2B5EF4-FFF2-40B4-BE49-F238E27FC236}">
                <a16:creationId xmlns:a16="http://schemas.microsoft.com/office/drawing/2014/main" id="{29AC69EF-007A-4ECA-8DE8-71C8B78C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9052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Approximate stability, suggesting insufficient disease control.</a:t>
            </a:r>
          </a:p>
        </p:txBody>
      </p:sp>
      <p:sp>
        <p:nvSpPr>
          <p:cNvPr id="33" name="chart-prev-caption">
            <a:extLst xmlns:a="http://schemas.openxmlformats.org/drawingml/2006/main">
              <a:ext uri="{FF2B5EF4-FFF2-40B4-BE49-F238E27FC236}">
                <a16:creationId xmlns:a16="http://schemas.microsoft.com/office/drawing/2014/main" id="{8A0F99F7-744B-44DF-A890-723D1934C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441960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1: Physician-diagnosed asthma prevalence (%) by state and Brazil, PNS 2013 and 2019.</a:t>
            </a:r>
          </a:p>
        </p:txBody>
      </p:sp>
      <p:sp>
        <p:nvSpPr>
          <p:cNvPr id="34" name="chart-prev-frame">
            <a:extLst xmlns:a="http://schemas.openxmlformats.org/drawingml/2006/main">
              <a:ext uri="{FF2B5EF4-FFF2-40B4-BE49-F238E27FC236}">
                <a16:creationId xmlns:a16="http://schemas.microsoft.com/office/drawing/2014/main" id="{E4770F09-94FB-4D7E-9016-95CC79136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466725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1bb8b3853a4c73"/>
          <a:stretch xmlns:a="http://schemas.openxmlformats.org/drawingml/2006/main"/>
        </p:blipFill>
        <p:spPr>
          <a:xfrm xmlns:a="http://schemas.openxmlformats.org/drawingml/2006/main">
            <a:off x="3387790" y="472440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36" name="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83236B61-B6BC-4DA2-B119-43BD1F213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689610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2: Asthma attacks in the previous 12 months (%) by state and Brazil, PNS 2013 and 2019.</a:t>
            </a:r>
          </a:p>
        </p:txBody>
      </p:sp>
      <p:sp>
        <p:nvSpPr>
          <p:cNvPr id="37" name="chart-crisis-frame">
            <a:extLst xmlns:a="http://schemas.openxmlformats.org/drawingml/2006/main">
              <a:ext uri="{FF2B5EF4-FFF2-40B4-BE49-F238E27FC236}">
                <a16:creationId xmlns:a16="http://schemas.microsoft.com/office/drawing/2014/main" id="{682F7BA2-B78D-4EEC-9F79-F3B1D5AF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714375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8228802cf4fa9"/>
          <a:stretch xmlns:a="http://schemas.openxmlformats.org/drawingml/2006/main"/>
        </p:blipFill>
        <p:spPr>
          <a:xfrm xmlns:a="http://schemas.openxmlformats.org/drawingml/2006/main">
            <a:off x="3387790" y="720090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39" name="5-Results and interpretation-box">
            <a:extLst xmlns:a="http://schemas.openxmlformats.org/drawingml/2006/main">
              <a:ext uri="{FF2B5EF4-FFF2-40B4-BE49-F238E27FC236}">
                <a16:creationId xmlns:a16="http://schemas.microsoft.com/office/drawing/2014/main" id="{1173D15C-2060-48DF-82F2-2BFD2D37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9372600"/>
            <a:ext cx="28702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0" name="5-Results and interpretation-head">
            <a:extLst xmlns:a="http://schemas.openxmlformats.org/drawingml/2006/main">
              <a:ext uri="{FF2B5EF4-FFF2-40B4-BE49-F238E27FC236}">
                <a16:creationId xmlns:a16="http://schemas.microsoft.com/office/drawing/2014/main" id="{E8B12DF9-FAA9-4C25-8A3A-4F795B71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93726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41" name="5-Results and interpretation-title">
            <a:extLst xmlns:a="http://schemas.openxmlformats.org/drawingml/2006/main">
              <a:ext uri="{FF2B5EF4-FFF2-40B4-BE49-F238E27FC236}">
                <a16:creationId xmlns:a16="http://schemas.microsoft.com/office/drawing/2014/main" id="{525DC13C-146C-47D8-AF5F-7E50BA58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0" y="94202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Results and interpretation</a:t>
            </a:r>
          </a:p>
        </p:txBody>
      </p:sp>
      <p:sp>
        <p:nvSpPr>
          <p:cNvPr id="42" name="5-Results and interpretation-body">
            <a:extLst xmlns:a="http://schemas.openxmlformats.org/drawingml/2006/main">
              <a:ext uri="{FF2B5EF4-FFF2-40B4-BE49-F238E27FC236}">
                <a16:creationId xmlns:a16="http://schemas.microsoft.com/office/drawing/2014/main" id="{61D21BA1-7236-49C6-9B59-D1C9CA6F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2650" y="9715500"/>
            <a:ext cx="26797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Physician-diagnosed asthma: 4.41% in 2013 to 5.40% in 2019, with non-overlapping CIs.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Attacks in the previous 12 months: 38.3% to 37.7%, indicating approximate stability.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Oral/inhaler medication use among people with asthma: 81.5% to 64.4%; reading requires denominator and CI caution.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Smoking declined in several states; the national rate cited changed from 14,650 to 12,151 per 100,000.</a:t>
            </a:r>
          </a:p>
        </p:txBody>
      </p:sp>
      <p:sp>
        <p:nvSpPr>
          <p:cNvPr id="43" name="meds-metric">
            <a:extLst xmlns:a="http://schemas.openxmlformats.org/drawingml/2006/main">
              <a:ext uri="{FF2B5EF4-FFF2-40B4-BE49-F238E27FC236}">
                <a16:creationId xmlns:a16="http://schemas.microsoft.com/office/drawing/2014/main" id="{3C86BEBC-6C8E-4ADB-8AB9-656B9A98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23431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4" name="meds-metric-title">
            <a:extLst xmlns:a="http://schemas.openxmlformats.org/drawingml/2006/main">
              <a:ext uri="{FF2B5EF4-FFF2-40B4-BE49-F238E27FC236}">
                <a16:creationId xmlns:a16="http://schemas.microsoft.com/office/drawing/2014/main" id="{3F20A1BA-1F39-4E40-958C-D041C096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4193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Medication</a:t>
            </a:r>
          </a:p>
        </p:txBody>
      </p:sp>
      <p:sp>
        <p:nvSpPr>
          <p:cNvPr id="45" name="meds-metric-value">
            <a:extLst xmlns:a="http://schemas.openxmlformats.org/drawingml/2006/main">
              <a:ext uri="{FF2B5EF4-FFF2-40B4-BE49-F238E27FC236}">
                <a16:creationId xmlns:a16="http://schemas.microsoft.com/office/drawing/2014/main" id="{91E0FDBE-17E3-41F7-B64A-1FFFDC65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6098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81.5%→64.4%</a:t>
            </a:r>
          </a:p>
        </p:txBody>
      </p:sp>
      <p:sp>
        <p:nvSpPr>
          <p:cNvPr id="46" name="meds-metric-note">
            <a:extLst xmlns:a="http://schemas.openxmlformats.org/drawingml/2006/main">
              <a:ext uri="{FF2B5EF4-FFF2-40B4-BE49-F238E27FC236}">
                <a16:creationId xmlns:a16="http://schemas.microsoft.com/office/drawing/2014/main" id="{72647CCB-030D-4205-9E32-60CBBAF7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8765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Lower proportion among people with asthma; inference depends on 95% CI and denominator.</a:t>
            </a:r>
          </a:p>
        </p:txBody>
      </p:sp>
      <p:sp>
        <p:nvSpPr>
          <p:cNvPr id="47" name="chart-meds-caption">
            <a:extLst xmlns:a="http://schemas.openxmlformats.org/drawingml/2006/main">
              <a:ext uri="{FF2B5EF4-FFF2-40B4-BE49-F238E27FC236}">
                <a16:creationId xmlns:a16="http://schemas.microsoft.com/office/drawing/2014/main" id="{C7A70351-504E-41A7-A408-8C00F1D4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337185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3: Oral medication or inhaler use among people with physician-diagnosed asthma by state and Brazil.</a:t>
            </a:r>
          </a:p>
        </p:txBody>
      </p:sp>
      <p:sp>
        <p:nvSpPr>
          <p:cNvPr id="48" name="chart-meds-frame">
            <a:extLst xmlns:a="http://schemas.openxmlformats.org/drawingml/2006/main">
              <a:ext uri="{FF2B5EF4-FFF2-40B4-BE49-F238E27FC236}">
                <a16:creationId xmlns:a16="http://schemas.microsoft.com/office/drawing/2014/main" id="{F1C15067-9494-46CD-8658-6726A83F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361950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ed54e2ebec42da"/>
          <a:stretch xmlns:a="http://schemas.openxmlformats.org/drawingml/2006/main"/>
        </p:blipFill>
        <p:spPr>
          <a:xfrm xmlns:a="http://schemas.openxmlformats.org/drawingml/2006/main">
            <a:off x="6410390" y="367665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50" name="chart-smoke-caption">
            <a:extLst xmlns:a="http://schemas.openxmlformats.org/drawingml/2006/main">
              <a:ext uri="{FF2B5EF4-FFF2-40B4-BE49-F238E27FC236}">
                <a16:creationId xmlns:a16="http://schemas.microsoft.com/office/drawing/2014/main" id="{E2C82A8C-E1F1-4CA5-B9BB-AB8E0D92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584835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4: Current smokers per 100,000 inhabitants by state, PNS 2013 and 2019.</a:t>
            </a:r>
          </a:p>
        </p:txBody>
      </p:sp>
      <p:sp>
        <p:nvSpPr>
          <p:cNvPr id="51" name="chart-smoke-frame">
            <a:extLst xmlns:a="http://schemas.openxmlformats.org/drawingml/2006/main">
              <a:ext uri="{FF2B5EF4-FFF2-40B4-BE49-F238E27FC236}">
                <a16:creationId xmlns:a16="http://schemas.microsoft.com/office/drawing/2014/main" id="{04F31219-59B5-4AF2-880C-D1D9BC657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609600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dfb0793fec4d4f"/>
          <a:stretch xmlns:a="http://schemas.openxmlformats.org/drawingml/2006/main"/>
        </p:blipFill>
        <p:spPr>
          <a:xfrm xmlns:a="http://schemas.openxmlformats.org/drawingml/2006/main">
            <a:off x="6410390" y="615315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53" name="6-Beta CI and chart reading-box">
            <a:extLst xmlns:a="http://schemas.openxmlformats.org/drawingml/2006/main">
              <a:ext uri="{FF2B5EF4-FFF2-40B4-BE49-F238E27FC236}">
                <a16:creationId xmlns:a16="http://schemas.microsoft.com/office/drawing/2014/main" id="{8867B644-F1DE-4B03-A5EA-4D3B90D0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8324850"/>
            <a:ext cx="2870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4" name="6-Beta CI and chart reading-head">
            <a:extLst xmlns:a="http://schemas.openxmlformats.org/drawingml/2006/main">
              <a:ext uri="{FF2B5EF4-FFF2-40B4-BE49-F238E27FC236}">
                <a16:creationId xmlns:a16="http://schemas.microsoft.com/office/drawing/2014/main" id="{5E04AA62-661E-459D-AD11-7BD9346B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83248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55" name="6-Beta CI and chart reading-title">
            <a:extLst xmlns:a="http://schemas.openxmlformats.org/drawingml/2006/main">
              <a:ext uri="{FF2B5EF4-FFF2-40B4-BE49-F238E27FC236}">
                <a16:creationId xmlns:a16="http://schemas.microsoft.com/office/drawing/2014/main" id="{7C813ABF-98AA-4FBB-B0A8-88F9402B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83724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Beta CI and chart reading</a:t>
            </a:r>
          </a:p>
        </p:txBody>
      </p:sp>
      <p:sp>
        <p:nvSpPr>
          <p:cNvPr id="56" name="6-Beta CI and chart reading-body">
            <a:extLst xmlns:a="http://schemas.openxmlformats.org/drawingml/2006/main">
              <a:ext uri="{FF2B5EF4-FFF2-40B4-BE49-F238E27FC236}">
                <a16:creationId xmlns:a16="http://schemas.microsoft.com/office/drawing/2014/main" id="{6597AECA-D9CF-45D5-85FD-6695CEF2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8667750"/>
            <a:ext cx="2679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Wald intervals can have unstable coverage for low/high proportions or domains with few events.</a:t>
            </a:r>
          </a:p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The beta CI from survey::svyciprop(method = "beta") respects the 0-1 scale and reduces impossible limits.</a:t>
            </a:r>
          </a:p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Year/state comparisons were interpreted through magnitude and 95% CI overlap, not bar height alone.</a:t>
            </a:r>
          </a:p>
        </p:txBody>
      </p:sp>
      <p:sp>
        <p:nvSpPr>
          <p:cNvPr id="57" name="7-Discussion and implications-box">
            <a:extLst xmlns:a="http://schemas.openxmlformats.org/drawingml/2006/main">
              <a:ext uri="{FF2B5EF4-FFF2-40B4-BE49-F238E27FC236}">
                <a16:creationId xmlns:a16="http://schemas.microsoft.com/office/drawing/2014/main" id="{F2A2F906-BF08-41F7-93DE-31B5E8C3E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9848850"/>
            <a:ext cx="28702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8" name="7-Discussion and implications-head">
            <a:extLst xmlns:a="http://schemas.openxmlformats.org/drawingml/2006/main">
              <a:ext uri="{FF2B5EF4-FFF2-40B4-BE49-F238E27FC236}">
                <a16:creationId xmlns:a16="http://schemas.microsoft.com/office/drawing/2014/main" id="{910DBD68-ABDD-446D-B5D3-D69DE2CF6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98488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59" name="7-Discussion and implications-title">
            <a:extLst xmlns:a="http://schemas.openxmlformats.org/drawingml/2006/main">
              <a:ext uri="{FF2B5EF4-FFF2-40B4-BE49-F238E27FC236}">
                <a16:creationId xmlns:a16="http://schemas.microsoft.com/office/drawing/2014/main" id="{C1B3D27B-8E3D-4236-8E5A-F6396A22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98964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7. Discussion and implications</a:t>
            </a:r>
          </a:p>
        </p:txBody>
      </p:sp>
      <p:sp>
        <p:nvSpPr>
          <p:cNvPr id="60" name="7-Discussion and implications-body">
            <a:extLst xmlns:a="http://schemas.openxmlformats.org/drawingml/2006/main">
              <a:ext uri="{FF2B5EF4-FFF2-40B4-BE49-F238E27FC236}">
                <a16:creationId xmlns:a16="http://schemas.microsoft.com/office/drawing/2014/main" id="{558FFE49-954C-4D78-9E9D-57DAA095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10191750"/>
            <a:ext cx="2679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8" b="0">
                <a:solidFill>
                  <a:srgbClr val="102536"/>
                </a:solidFill>
              </a:defRPr>
            </a:pPr>
            <a:r>
              <a:rPr sz="578" b="0">
                <a:solidFill>
                  <a:srgbClr val="102536"/>
                </a:solidFill>
              </a:rPr>
              <a:t>• The diagnosis increase may reflect higher occurrence, better diagnostic access or both.</a:t>
            </a:r>
          </a:p>
          <a:p xmlns:a="http://schemas.openxmlformats.org/drawingml/2006/main">
            <a:pPr algn="l">
              <a:defRPr sz="578" b="0">
                <a:solidFill>
                  <a:srgbClr val="102536"/>
                </a:solidFill>
              </a:defRPr>
            </a:pPr>
            <a:r>
              <a:rPr sz="578" b="0">
                <a:solidFill>
                  <a:srgbClr val="102536"/>
                </a:solidFill>
              </a:rPr>
              <a:t>• Stable attacks suggest clinical management did not improve proportionally.</a:t>
            </a:r>
          </a:p>
          <a:p xmlns:a="http://schemas.openxmlformats.org/drawingml/2006/main">
            <a:pPr algn="l">
              <a:defRPr sz="578" b="0">
                <a:solidFill>
                  <a:srgbClr val="102536"/>
                </a:solidFill>
              </a:defRPr>
            </a:pPr>
            <a:r>
              <a:rPr sz="578" b="0">
                <a:solidFill>
                  <a:srgbClr val="102536"/>
                </a:solidFill>
              </a:rPr>
              <a:t>• Asthma control depends on medication access, clinical follow-up, education, exposure control and non-pharmacological interventions.</a:t>
            </a:r>
          </a:p>
        </p:txBody>
      </p:sp>
      <p:sp>
        <p:nvSpPr>
          <p:cNvPr id="61" name="8-ETL, OMOP and OHDSI-box">
            <a:extLst xmlns:a="http://schemas.openxmlformats.org/drawingml/2006/main">
              <a:ext uri="{FF2B5EF4-FFF2-40B4-BE49-F238E27FC236}">
                <a16:creationId xmlns:a16="http://schemas.microsoft.com/office/drawing/2014/main" id="{E6DB3855-ACAF-4315-A7BB-887F993A5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0572750"/>
            <a:ext cx="5892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2" name="8-ETL, OMOP and OHDSI-head">
            <a:extLst xmlns:a="http://schemas.openxmlformats.org/drawingml/2006/main">
              <a:ext uri="{FF2B5EF4-FFF2-40B4-BE49-F238E27FC236}">
                <a16:creationId xmlns:a16="http://schemas.microsoft.com/office/drawing/2014/main" id="{27555DE4-BFC9-4539-AB05-E1106DF74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0572750"/>
            <a:ext cx="5892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63" name="8-ETL, OMOP and OHDSI-title">
            <a:extLst xmlns:a="http://schemas.openxmlformats.org/drawingml/2006/main">
              <a:ext uri="{FF2B5EF4-FFF2-40B4-BE49-F238E27FC236}">
                <a16:creationId xmlns:a16="http://schemas.microsoft.com/office/drawing/2014/main" id="{FF69A9A8-6CED-49FA-A52A-7997B6E29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620375"/>
            <a:ext cx="574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8. ETL, OMOP and OHDSI</a:t>
            </a:r>
          </a:p>
        </p:txBody>
      </p:sp>
      <p:sp>
        <p:nvSpPr>
          <p:cNvPr id="64" name="8-ETL, OMOP and OHDSI-body">
            <a:extLst xmlns:a="http://schemas.openxmlformats.org/drawingml/2006/main">
              <a:ext uri="{FF2B5EF4-FFF2-40B4-BE49-F238E27FC236}">
                <a16:creationId xmlns:a16="http://schemas.microsoft.com/office/drawing/2014/main" id="{A3B187D7-B498-4AB0-8352-A2A4185D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915650"/>
            <a:ext cx="5702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The analytical workflow follows ETL logic: extract microdata, transform variables and load reproducible analytical tables.</a:t>
            </a:r>
          </a:p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PNS is not a longitudinal clinical database, but it can act as a population reference layer.</a:t>
            </a:r>
          </a:p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OMOP/OHDSI offers principles for standardization, vocabularies and reproducibility for future comparison with health-care databases.</a:t>
            </a:r>
          </a:p>
        </p:txBody>
      </p:sp>
      <p:sp>
        <p:nvSpPr>
          <p:cNvPr id="65" name="9-Conclusions-box">
            <a:extLst xmlns:a="http://schemas.openxmlformats.org/drawingml/2006/main">
              <a:ext uri="{FF2B5EF4-FFF2-40B4-BE49-F238E27FC236}">
                <a16:creationId xmlns:a16="http://schemas.microsoft.com/office/drawing/2014/main" id="{D831C47F-236B-4A9A-A5E1-746BB9F1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1118235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6" name="9-Conclusions-head">
            <a:extLst xmlns:a="http://schemas.openxmlformats.org/drawingml/2006/main">
              <a:ext uri="{FF2B5EF4-FFF2-40B4-BE49-F238E27FC236}">
                <a16:creationId xmlns:a16="http://schemas.microsoft.com/office/drawing/2014/main" id="{4D107024-DB95-4770-8677-361C5F6B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111823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67" name="9-Conclusions-title">
            <a:extLst xmlns:a="http://schemas.openxmlformats.org/drawingml/2006/main">
              <a:ext uri="{FF2B5EF4-FFF2-40B4-BE49-F238E27FC236}">
                <a16:creationId xmlns:a16="http://schemas.microsoft.com/office/drawing/2014/main" id="{2CC9A875-5380-48D0-A371-3B2DDBB9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11229975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9. Conclusions</a:t>
            </a:r>
          </a:p>
        </p:txBody>
      </p:sp>
      <p:sp>
        <p:nvSpPr>
          <p:cNvPr id="68" name="9-Conclusions-body">
            <a:extLst xmlns:a="http://schemas.openxmlformats.org/drawingml/2006/main">
              <a:ext uri="{FF2B5EF4-FFF2-40B4-BE49-F238E27FC236}">
                <a16:creationId xmlns:a16="http://schemas.microsoft.com/office/drawing/2014/main" id="{7FD30094-AA70-41A8-B9DE-C4E1E91FF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1152525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Correct implementation of the sampling design is required for valid estimates.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Brazil showed increased diagnosis, but not equivalent evidence of improved control.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State-level charts must be read with 95% CIs because many comparisons have overlapping intervals.</a:t>
            </a:r>
          </a:p>
        </p:txBody>
      </p:sp>
      <p:sp>
        <p:nvSpPr>
          <p:cNvPr id="69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D2CAA9F6-B227-4CFE-9B31-8F7D8F9C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811000"/>
            <a:ext cx="7048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70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F4FCCC3F-C4AC-44D5-A7AC-848D83E6B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877675"/>
            <a:ext cx="689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References</a:t>
            </a:r>
          </a:p>
        </p:txBody>
      </p:sp>
      <p:sp>
        <p:nvSpPr>
          <p:cNvPr id="71" name="references-body">
            <a:extLst xmlns:a="http://schemas.openxmlformats.org/drawingml/2006/main">
              <a:ext uri="{FF2B5EF4-FFF2-40B4-BE49-F238E27FC236}">
                <a16:creationId xmlns:a16="http://schemas.microsoft.com/office/drawing/2014/main" id="{43E2EEC6-C583-49CE-90BD-C20615EE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077700"/>
            <a:ext cx="68961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  <p:sp>
        <p:nvSpPr>
          <p:cNvPr id="72" name="qr-box">
            <a:extLst xmlns:a="http://schemas.openxmlformats.org/drawingml/2006/main">
              <a:ext uri="{FF2B5EF4-FFF2-40B4-BE49-F238E27FC236}">
                <a16:creationId xmlns:a16="http://schemas.microsoft.com/office/drawing/2014/main" id="{F1008704-6C31-4D8D-B683-E815FB4A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1696700"/>
            <a:ext cx="8763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f0f6386cd54fd6"/>
          <a:stretch xmlns:a="http://schemas.openxmlformats.org/drawingml/2006/main"/>
        </p:blipFill>
        <p:spPr>
          <a:xfrm xmlns:a="http://schemas.openxmlformats.org/drawingml/2006/main">
            <a:off x="8305800" y="11811000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74" name="qr-label">
            <a:extLst xmlns:a="http://schemas.openxmlformats.org/drawingml/2006/main">
              <a:ext uri="{FF2B5EF4-FFF2-40B4-BE49-F238E27FC236}">
                <a16:creationId xmlns:a16="http://schemas.microsoft.com/office/drawing/2014/main" id="{A9716E5B-13CB-475F-A999-66887DA7C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2496800"/>
            <a:ext cx="723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Methodological report, reproducible code and figures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</p:spTree>
    <p:extLst>
      <p:ext uri="{BB962C8B-B14F-4D97-AF65-F5344CB8AC3E}">
        <p14:creationId xmlns:p14="http://schemas.microsoft.com/office/powerpoint/2010/main" val="3235384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2026-07-21T21:42:08.8760000Z</dcterms:created>
  <dcterms:modified xsi:type="dcterms:W3CDTF">2026-07-21T21:42:08.8760000Z</dcterms:modified>
</coreProperties>
</file>