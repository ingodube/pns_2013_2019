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11fb0d22324a82" /><Relationship Type="http://schemas.openxmlformats.org/officeDocument/2006/relationships/extended-properties" Target="/docProps/app.xml" Id="Re03146c999cd4441" /><Relationship Type="http://schemas.openxmlformats.org/officeDocument/2006/relationships/officeDocument" Target="/ppt/presentation.xml" Id="R5a666da9d6a54c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cb9672094c4289"/>
  </p:sldMasterIdLst>
  <p:notesMasterIdLst>
    <p:notesMasterId xmlns:r="http://schemas.openxmlformats.org/officeDocument/2006/relationships" r:id="R9f2b7d81921b4ace"/>
  </p:notesMasterIdLst>
  <p:sldIdLst>
    <p:sldId xmlns:r="http://schemas.openxmlformats.org/officeDocument/2006/relationships" id="256" r:id="R42337bd5c0e9496d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4f2200160c42f7" /><Relationship Type="http://schemas.openxmlformats.org/officeDocument/2006/relationships/slideMaster" Target="/ppt/slideMasters/slideMaster1.xml" Id="Rcbcb9672094c4289" /><Relationship Type="http://schemas.openxmlformats.org/officeDocument/2006/relationships/notesMaster" Target="/ppt/notesMasters/notesMaster1.xml" Id="R9f2b7d81921b4ace" /><Relationship Type="http://schemas.openxmlformats.org/officeDocument/2006/relationships/presProps" Target="/ppt/presProps.xml" Id="Rd5b615415b8e45dd" /><Relationship Type="http://schemas.openxmlformats.org/officeDocument/2006/relationships/tableStyles" Target="/ppt/tableStyles.xml" Id="R3ad7dcbdbaab4160" /><Relationship Type="http://schemas.openxmlformats.org/officeDocument/2006/relationships/slide" Target="/ppt/slides/slide1.xml" Id="R42337bd5c0e949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58a01758da45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415d0d2df8442d" /><Relationship Type="http://schemas.openxmlformats.org/officeDocument/2006/relationships/notesMaster" Target="/ppt/notesMasters/notesMaster1.xml" Id="R197a0347bc2449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9fc590201544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58272fe7364036" /><Relationship Type="http://schemas.openxmlformats.org/officeDocument/2006/relationships/slideLayout" Target="/ppt/slideLayouts/slideLayout1.xml" Id="R2a9aa1be6abe45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9aa1be6abe45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445f8645e4553" /><Relationship Type="http://schemas.openxmlformats.org/officeDocument/2006/relationships/image" Target="/ppt/media/image.png" Id="R3bf9a07775da4eea" /><Relationship Type="http://schemas.openxmlformats.org/officeDocument/2006/relationships/image" Target="/ppt/media/image2.png" Id="R45453a274ccc4203" /><Relationship Type="http://schemas.openxmlformats.org/officeDocument/2006/relationships/image" Target="/ppt/media/image3.png" Id="Rc2feaffbec5a4138" /><Relationship Type="http://schemas.openxmlformats.org/officeDocument/2006/relationships/image" Target="/ppt/media/image4.png" Id="R8b23d6d7b15746d7" /><Relationship Type="http://schemas.openxmlformats.org/officeDocument/2006/relationships/image" Target="/ppt/media/image5.png" Id="Rffc7265042a24dff" /><Relationship Type="http://schemas.openxmlformats.org/officeDocument/2006/relationships/image" Target="/ppt/media/image6.png" Id="R0e9b68bdba684bc5" /><Relationship Type="http://schemas.openxmlformats.org/officeDocument/2006/relationships/image" Target="/ppt/media/image7.png" Id="R4fac9599c99b4c07" /><Relationship Type="http://schemas.openxmlformats.org/officeDocument/2006/relationships/image" Target="/ppt/media/image8.png" Id="R5d1076c6dfe24bad" /><Relationship Type="http://schemas.openxmlformats.org/officeDocument/2006/relationships/notesSlide" Target="/ppt/notesSlides/notesSlide1.xml" Id="R28f6f68f344a44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9a07775da4eea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3a274ccc4203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feaffbec5a4138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494EDFAC-7815-40B5-B5A3-886CC61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AA742C82-50D0-417A-88F1-07C4C75A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1-Introduction-box">
            <a:extLst xmlns:a="http://schemas.openxmlformats.org/drawingml/2006/main">
              <a:ext uri="{FF2B5EF4-FFF2-40B4-BE49-F238E27FC236}">
                <a16:creationId xmlns:a16="http://schemas.microsoft.com/office/drawing/2014/main" id="{16EABA7A-DFD8-406A-A242-02A15C2E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ction-head">
            <a:extLst xmlns:a="http://schemas.openxmlformats.org/drawingml/2006/main">
              <a:ext uri="{FF2B5EF4-FFF2-40B4-BE49-F238E27FC236}">
                <a16:creationId xmlns:a16="http://schemas.microsoft.com/office/drawing/2014/main" id="{97C1424E-557A-4929-B928-2E7D59C7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ction-title">
            <a:extLst xmlns:a="http://schemas.openxmlformats.org/drawingml/2006/main">
              <a:ext uri="{FF2B5EF4-FFF2-40B4-BE49-F238E27FC236}">
                <a16:creationId xmlns:a16="http://schemas.microsoft.com/office/drawing/2014/main" id="{DF78FD89-1292-4620-A9FA-D640C206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9" name="1-Introduction-body">
            <a:extLst xmlns:a="http://schemas.openxmlformats.org/drawingml/2006/main">
              <a:ext uri="{FF2B5EF4-FFF2-40B4-BE49-F238E27FC236}">
                <a16:creationId xmlns:a16="http://schemas.microsoft.com/office/drawing/2014/main" id="{A3F0A901-72D6-48F3-BC44-8AFEDDEF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Epidemiological indicators summarize frequency, distribution and change in health events.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 asthma, prevalence, attacks, medication use and smoking help separate disease burden, diagnostic access, clinical management and risk factors.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PNS is a population-based household survey with a complex sampling design; valid estimates require weights, strata and clusters.</a:t>
            </a:r>
          </a:p>
        </p:txBody>
      </p:sp>
      <p:sp>
        <p:nvSpPr>
          <p:cNvPr id="10" name="2-Objectives-box">
            <a:extLst xmlns:a="http://schemas.openxmlformats.org/drawingml/2006/main">
              <a:ext uri="{FF2B5EF4-FFF2-40B4-BE49-F238E27FC236}">
                <a16:creationId xmlns:a16="http://schemas.microsoft.com/office/drawing/2014/main" id="{0E099E0B-7F24-4239-885F-FFF0AA9E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ctives-head">
            <a:extLst xmlns:a="http://schemas.openxmlformats.org/drawingml/2006/main">
              <a:ext uri="{FF2B5EF4-FFF2-40B4-BE49-F238E27FC236}">
                <a16:creationId xmlns:a16="http://schemas.microsoft.com/office/drawing/2014/main" id="{92627B39-4C25-4653-833E-5A01DAC1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ctives-title">
            <a:extLst xmlns:a="http://schemas.openxmlformats.org/drawingml/2006/main">
              <a:ext uri="{FF2B5EF4-FFF2-40B4-BE49-F238E27FC236}">
                <a16:creationId xmlns:a16="http://schemas.microsoft.com/office/drawing/2014/main" id="{79139914-756B-4733-873D-62CA9D32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Objectives</a:t>
            </a:r>
          </a:p>
        </p:txBody>
      </p:sp>
      <p:sp>
        <p:nvSpPr>
          <p:cNvPr id="13" name="2-Objectives-body">
            <a:extLst xmlns:a="http://schemas.openxmlformats.org/drawingml/2006/main">
              <a:ext uri="{FF2B5EF4-FFF2-40B4-BE49-F238E27FC236}">
                <a16:creationId xmlns:a16="http://schemas.microsoft.com/office/drawing/2014/main" id="{25D42EC0-9F79-42D8-BEBF-7375657B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 the 2013 and 2019 PNS sampling design in R.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Estimate physician-diagnosed asthma, attacks in the previous 12 months, oral/inhaler medication use, smoking, out-of-pocket payment, absenteeism, lost days and income.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Compare Brazil and states using point estimates, beta 95% CIs, magnitude and interval overlap.</a:t>
            </a:r>
          </a:p>
        </p:txBody>
      </p:sp>
      <p:sp>
        <p:nvSpPr>
          <p:cNvPr id="14" name="3-Data and indicators-box">
            <a:extLst xmlns:a="http://schemas.openxmlformats.org/drawingml/2006/main">
              <a:ext uri="{FF2B5EF4-FFF2-40B4-BE49-F238E27FC236}">
                <a16:creationId xmlns:a16="http://schemas.microsoft.com/office/drawing/2014/main" id="{276C63DB-422F-4C6C-9BEE-1FE34700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ta and indicators-head">
            <a:extLst xmlns:a="http://schemas.openxmlformats.org/drawingml/2006/main">
              <a:ext uri="{FF2B5EF4-FFF2-40B4-BE49-F238E27FC236}">
                <a16:creationId xmlns:a16="http://schemas.microsoft.com/office/drawing/2014/main" id="{A5A8F2D0-B160-4B12-80CB-70FF708A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ta and indicators-title">
            <a:extLst xmlns:a="http://schemas.openxmlformats.org/drawingml/2006/main">
              <a:ext uri="{FF2B5EF4-FFF2-40B4-BE49-F238E27FC236}">
                <a16:creationId xmlns:a16="http://schemas.microsoft.com/office/drawing/2014/main" id="{D64AB2C7-3244-4379-932A-D61693B6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Data and indicators</a:t>
            </a:r>
          </a:p>
        </p:txBody>
      </p:sp>
      <p:sp>
        <p:nvSpPr>
          <p:cNvPr id="17" name="3-Data and indicators-body">
            <a:extLst xmlns:a="http://schemas.openxmlformats.org/drawingml/2006/main">
              <a:ext uri="{FF2B5EF4-FFF2-40B4-BE49-F238E27FC236}">
                <a16:creationId xmlns:a16="http://schemas.microsoft.com/office/drawing/2014/main" id="{8C706A12-6387-4648-825A-E2F22FD5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4-Sampling design-box">
            <a:extLst xmlns:a="http://schemas.openxmlformats.org/drawingml/2006/main">
              <a:ext uri="{FF2B5EF4-FFF2-40B4-BE49-F238E27FC236}">
                <a16:creationId xmlns:a16="http://schemas.microsoft.com/office/drawing/2014/main" id="{2606A339-2E05-4DE2-91A1-081F3E90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Sampling design-head">
            <a:extLst xmlns:a="http://schemas.openxmlformats.org/drawingml/2006/main">
              <a:ext uri="{FF2B5EF4-FFF2-40B4-BE49-F238E27FC236}">
                <a16:creationId xmlns:a16="http://schemas.microsoft.com/office/drawing/2014/main" id="{7EFB5372-FF81-4697-8154-3CE1A09A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Sampling design-title">
            <a:extLst xmlns:a="http://schemas.openxmlformats.org/drawingml/2006/main">
              <a:ext uri="{FF2B5EF4-FFF2-40B4-BE49-F238E27FC236}">
                <a16:creationId xmlns:a16="http://schemas.microsoft.com/office/drawing/2014/main" id="{19289E63-A820-4C7B-A252-4F29012C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Sampling design</a:t>
            </a:r>
          </a:p>
        </p:txBody>
      </p:sp>
      <p:sp>
        <p:nvSpPr>
          <p:cNvPr id="21" name="4-Sampling design-body">
            <a:extLst xmlns:a="http://schemas.openxmlformats.org/drawingml/2006/main">
              <a:ext uri="{FF2B5EF4-FFF2-40B4-BE49-F238E27FC236}">
                <a16:creationId xmlns:a16="http://schemas.microsoft.com/office/drawing/2014/main" id="{967611BA-9CCE-4C24-A695-BB593D9E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26CA2E9B-0913-4A9F-9F75-E1850585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A3D6F19D-9E8F-40EB-8C58-443E633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AA719B50-B6F5-4CB7-B7D1-19CD3B43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D08C46F7-253B-448A-B3D7-4766D665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8495BF29-15E5-4AAB-8AF2-002810F8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National prevalence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4E30284F-1E5E-48FE-835E-BA0A0DD6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F6F84951-ADBF-4FF7-A1D3-B39BD01B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Physician-diagnosed asthma increased with non-overlapping 95% CIs.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2631B137-1BC2-4BD3-B1B0-AD523D48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7246EA2D-9D96-4774-88E8-CA9768D5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12-month attacks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A3E2FFDB-45F6-41BA-92C7-E6452821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E6AD24AB-916E-4348-8850-F1E837D5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Approximate stability, suggesting insufficient disease control.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8FADD98F-106D-4951-B780-6B9199EE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B5A829D9-2563-4751-9CDF-019DDDA2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3d6d7b15746d7"/>
          <a:stretch xmlns:a="http://schemas.openxmlformats.org/drawingml/2006/main"/>
        </p:blipFill>
        <p:spPr>
          <a:xfrm xmlns:a="http://schemas.openxmlformats.org/drawingml/2006/main">
            <a:off x="3384550" y="531309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96F9265D-4955-4510-9B42-3943EF50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169A0B57-CBAF-4A01-A9CA-93B9DEA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7265042a24dff"/>
          <a:stretch xmlns:a="http://schemas.openxmlformats.org/drawingml/2006/main"/>
        </p:blipFill>
        <p:spPr>
          <a:xfrm xmlns:a="http://schemas.openxmlformats.org/drawingml/2006/main">
            <a:off x="3384550" y="778959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39" name="5-Results and interpretation-box">
            <a:extLst xmlns:a="http://schemas.openxmlformats.org/drawingml/2006/main">
              <a:ext uri="{FF2B5EF4-FFF2-40B4-BE49-F238E27FC236}">
                <a16:creationId xmlns:a16="http://schemas.microsoft.com/office/drawing/2014/main" id="{3C6C80AF-E91C-4F20-8E7D-8AF43BE3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Results and interpretation-head">
            <a:extLst xmlns:a="http://schemas.openxmlformats.org/drawingml/2006/main">
              <a:ext uri="{FF2B5EF4-FFF2-40B4-BE49-F238E27FC236}">
                <a16:creationId xmlns:a16="http://schemas.microsoft.com/office/drawing/2014/main" id="{846F4F70-4049-4162-A8F4-90F8B314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Results and interpretation-title">
            <a:extLst xmlns:a="http://schemas.openxmlformats.org/drawingml/2006/main">
              <a:ext uri="{FF2B5EF4-FFF2-40B4-BE49-F238E27FC236}">
                <a16:creationId xmlns:a16="http://schemas.microsoft.com/office/drawing/2014/main" id="{6F3F5D3B-6349-44CE-9943-1A415A28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Results and interpretation</a:t>
            </a:r>
          </a:p>
        </p:txBody>
      </p:sp>
      <p:sp>
        <p:nvSpPr>
          <p:cNvPr id="42" name="5-Results and interpretation-body">
            <a:extLst xmlns:a="http://schemas.openxmlformats.org/drawingml/2006/main">
              <a:ext uri="{FF2B5EF4-FFF2-40B4-BE49-F238E27FC236}">
                <a16:creationId xmlns:a16="http://schemas.microsoft.com/office/drawing/2014/main" id="{70722B75-A74B-47E6-8C2E-53628310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Physician-diagnosed asthma: 4.41% in 2013 to 5.40% in 2019, with non-overlapping CIs.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Attacks in the previous 12 months: 38.3% to 37.7%, indicating approximate stability.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Oral/inhaler medication use among people with asthma: 81.5% to 64.4%; reading requires denominator and CI caution.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C30D736F-A2A9-4C41-841A-B0582E37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9031807D-9E32-4A0B-AE18-3F759B4C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Medication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968A277B-9BE2-4792-8D69-1DF9CA0D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3959BB1B-7966-404F-BC8C-03246A32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proportion among people with asthma; inference depends on 95% CI and denominator.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233EA8AC-1189-498A-AB6A-3BAA5BD5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06D9FB92-318C-4E9A-9053-9F63DA8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b68bdba684bc5"/>
          <a:stretch xmlns:a="http://schemas.openxmlformats.org/drawingml/2006/main"/>
        </p:blipFill>
        <p:spPr>
          <a:xfrm xmlns:a="http://schemas.openxmlformats.org/drawingml/2006/main">
            <a:off x="6407150" y="426534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ADFBB0A8-E8CE-4783-BC7D-E0BEF33B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B03FD4A9-28FF-4036-AE3A-EE29E6EF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c9599c99b4c07"/>
          <a:stretch xmlns:a="http://schemas.openxmlformats.org/drawingml/2006/main"/>
        </p:blipFill>
        <p:spPr>
          <a:xfrm xmlns:a="http://schemas.openxmlformats.org/drawingml/2006/main">
            <a:off x="6407150" y="674184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53" name="6-Beta CI and chart reading-box">
            <a:extLst xmlns:a="http://schemas.openxmlformats.org/drawingml/2006/main">
              <a:ext uri="{FF2B5EF4-FFF2-40B4-BE49-F238E27FC236}">
                <a16:creationId xmlns:a16="http://schemas.microsoft.com/office/drawing/2014/main" id="{2168D813-74F9-4824-B1A7-45CBC270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Beta CI and chart reading-head">
            <a:extLst xmlns:a="http://schemas.openxmlformats.org/drawingml/2006/main">
              <a:ext uri="{FF2B5EF4-FFF2-40B4-BE49-F238E27FC236}">
                <a16:creationId xmlns:a16="http://schemas.microsoft.com/office/drawing/2014/main" id="{5EEC6C69-0FE4-4F56-86BE-22A2BA1C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Beta CI and chart reading-title">
            <a:extLst xmlns:a="http://schemas.openxmlformats.org/drawingml/2006/main">
              <a:ext uri="{FF2B5EF4-FFF2-40B4-BE49-F238E27FC236}">
                <a16:creationId xmlns:a16="http://schemas.microsoft.com/office/drawing/2014/main" id="{8FDE33DC-BCA6-445E-B9BC-82F0FA8B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Beta CI and chart reading</a:t>
            </a:r>
          </a:p>
        </p:txBody>
      </p:sp>
      <p:sp>
        <p:nvSpPr>
          <p:cNvPr id="56" name="6-Beta CI and chart reading-body">
            <a:extLst xmlns:a="http://schemas.openxmlformats.org/drawingml/2006/main">
              <a:ext uri="{FF2B5EF4-FFF2-40B4-BE49-F238E27FC236}">
                <a16:creationId xmlns:a16="http://schemas.microsoft.com/office/drawing/2014/main" id="{4B12AF38-89DB-4B25-A35E-867C6B3A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57" name="7-Discussion and implications-box">
            <a:extLst xmlns:a="http://schemas.openxmlformats.org/drawingml/2006/main">
              <a:ext uri="{FF2B5EF4-FFF2-40B4-BE49-F238E27FC236}">
                <a16:creationId xmlns:a16="http://schemas.microsoft.com/office/drawing/2014/main" id="{EDD1FC17-11D8-4E24-A274-CD4DA070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Discussion and implications-head">
            <a:extLst xmlns:a="http://schemas.openxmlformats.org/drawingml/2006/main">
              <a:ext uri="{FF2B5EF4-FFF2-40B4-BE49-F238E27FC236}">
                <a16:creationId xmlns:a16="http://schemas.microsoft.com/office/drawing/2014/main" id="{21134341-A77E-4EFE-AC14-611ADB6E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Discussion and implications-title">
            <a:extLst xmlns:a="http://schemas.openxmlformats.org/drawingml/2006/main">
              <a:ext uri="{FF2B5EF4-FFF2-40B4-BE49-F238E27FC236}">
                <a16:creationId xmlns:a16="http://schemas.microsoft.com/office/drawing/2014/main" id="{28EAFDE0-CEEE-4CE6-B29D-0AC23CA6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Discussion and implications</a:t>
            </a:r>
          </a:p>
        </p:txBody>
      </p:sp>
      <p:sp>
        <p:nvSpPr>
          <p:cNvPr id="60" name="7-Discussion and implications-body">
            <a:extLst xmlns:a="http://schemas.openxmlformats.org/drawingml/2006/main">
              <a:ext uri="{FF2B5EF4-FFF2-40B4-BE49-F238E27FC236}">
                <a16:creationId xmlns:a16="http://schemas.microsoft.com/office/drawing/2014/main" id="{FFF8CA9B-4D22-484A-8368-20EFE57F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Stable attacks suggest clinical management did not improve proportionally.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61" name="8-ETL, OMOP and OHDSI-box">
            <a:extLst xmlns:a="http://schemas.openxmlformats.org/drawingml/2006/main">
              <a:ext uri="{FF2B5EF4-FFF2-40B4-BE49-F238E27FC236}">
                <a16:creationId xmlns:a16="http://schemas.microsoft.com/office/drawing/2014/main" id="{88BB0946-6497-4009-922D-F36A34C6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and OHDSI-head">
            <a:extLst xmlns:a="http://schemas.openxmlformats.org/drawingml/2006/main">
              <a:ext uri="{FF2B5EF4-FFF2-40B4-BE49-F238E27FC236}">
                <a16:creationId xmlns:a16="http://schemas.microsoft.com/office/drawing/2014/main" id="{3D9A634C-6775-498B-9B54-1D1707CD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and OHDSI-title">
            <a:extLst xmlns:a="http://schemas.openxmlformats.org/drawingml/2006/main">
              <a:ext uri="{FF2B5EF4-FFF2-40B4-BE49-F238E27FC236}">
                <a16:creationId xmlns:a16="http://schemas.microsoft.com/office/drawing/2014/main" id="{700E01F2-009B-4CB0-85A6-16054365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and OHDSI</a:t>
            </a:r>
          </a:p>
        </p:txBody>
      </p:sp>
      <p:sp>
        <p:nvSpPr>
          <p:cNvPr id="64" name="8-ETL, OMOP and OHDSI-body">
            <a:extLst xmlns:a="http://schemas.openxmlformats.org/drawingml/2006/main">
              <a:ext uri="{FF2B5EF4-FFF2-40B4-BE49-F238E27FC236}">
                <a16:creationId xmlns:a16="http://schemas.microsoft.com/office/drawing/2014/main" id="{3F081A21-003C-4FD5-A4BD-4C2D6E3F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65" name="9-Conclusions-box">
            <a:extLst xmlns:a="http://schemas.openxmlformats.org/drawingml/2006/main">
              <a:ext uri="{FF2B5EF4-FFF2-40B4-BE49-F238E27FC236}">
                <a16:creationId xmlns:a16="http://schemas.microsoft.com/office/drawing/2014/main" id="{C8426B32-F875-4E5B-8B16-5C30D8D3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ions-head">
            <a:extLst xmlns:a="http://schemas.openxmlformats.org/drawingml/2006/main">
              <a:ext uri="{FF2B5EF4-FFF2-40B4-BE49-F238E27FC236}">
                <a16:creationId xmlns:a16="http://schemas.microsoft.com/office/drawing/2014/main" id="{615C42CA-E645-40D5-AC67-13B61770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ions-title">
            <a:extLst xmlns:a="http://schemas.openxmlformats.org/drawingml/2006/main">
              <a:ext uri="{FF2B5EF4-FFF2-40B4-BE49-F238E27FC236}">
                <a16:creationId xmlns:a16="http://schemas.microsoft.com/office/drawing/2014/main" id="{AFC553AA-F5CC-4EDB-99C6-3595FE8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Conclusions</a:t>
            </a:r>
          </a:p>
        </p:txBody>
      </p:sp>
      <p:sp>
        <p:nvSpPr>
          <p:cNvPr id="68" name="9-Conclusions-body">
            <a:extLst xmlns:a="http://schemas.openxmlformats.org/drawingml/2006/main">
              <a:ext uri="{FF2B5EF4-FFF2-40B4-BE49-F238E27FC236}">
                <a16:creationId xmlns:a16="http://schemas.microsoft.com/office/drawing/2014/main" id="{27CD07D1-5533-47AD-A1D2-F76572F7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5AD09F37-02C1-41EE-BC7F-AB399255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0898327D-61AB-4B69-8107-6F3C2211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4CFF413B-2EE5-410C-B316-1F627599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1D956A99-8C23-4C01-A0F0-0333F3E7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076c6dfe24bad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13824500-2351-4D38-81FF-7B9057A1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11631708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2026-07-21T21:28:41.0390000Z</dcterms:created>
  <dcterms:modified xsi:type="dcterms:W3CDTF">2026-07-21T21:28:41.0390000Z</dcterms:modified>
</coreProperties>
</file>