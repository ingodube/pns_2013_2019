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a3fdc48067418d" /><Relationship Type="http://schemas.openxmlformats.org/officeDocument/2006/relationships/extended-properties" Target="/docProps/app.xml" Id="R187d74b997ea403a" /><Relationship Type="http://schemas.openxmlformats.org/officeDocument/2006/relationships/officeDocument" Target="/ppt/presentation.xml" Id="R8951fe9115554c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cc5b38da25f4654"/>
  </p:sldMasterIdLst>
  <p:notesMasterIdLst>
    <p:notesMasterId xmlns:r="http://schemas.openxmlformats.org/officeDocument/2006/relationships" r:id="Rc7dbf3f9235b4e1e"/>
  </p:notesMasterIdLst>
  <p:sldIdLst>
    <p:sldId xmlns:r="http://schemas.openxmlformats.org/officeDocument/2006/relationships" id="256" r:id="Rb5670a333fed4934"/>
  </p:sldIdLst>
  <p:sldSz cx="9525000" cy="1346835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3302ec3d444b3f" /><Relationship Type="http://schemas.openxmlformats.org/officeDocument/2006/relationships/slideMaster" Target="/ppt/slideMasters/slideMaster1.xml" Id="R4cc5b38da25f4654" /><Relationship Type="http://schemas.openxmlformats.org/officeDocument/2006/relationships/notesMaster" Target="/ppt/notesMasters/notesMaster1.xml" Id="Rc7dbf3f9235b4e1e" /><Relationship Type="http://schemas.openxmlformats.org/officeDocument/2006/relationships/presProps" Target="/ppt/presProps.xml" Id="R48a4e7ee36fb4b94" /><Relationship Type="http://schemas.openxmlformats.org/officeDocument/2006/relationships/tableStyles" Target="/ppt/tableStyles.xml" Id="R699cb96538034c70" /><Relationship Type="http://schemas.openxmlformats.org/officeDocument/2006/relationships/slide" Target="/ppt/slides/slide1.xml" Id="Rb5670a333fed49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c576442057414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6db186ced242d9" /><Relationship Type="http://schemas.openxmlformats.org/officeDocument/2006/relationships/notesMaster" Target="/ppt/notesMasters/notesMaster1.xml" Id="R283ec263037d421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b75d4d965410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288725d4f9c4c44" /><Relationship Type="http://schemas.openxmlformats.org/officeDocument/2006/relationships/slideLayout" Target="/ppt/slideLayouts/slideLayout1.xml" Id="R1950a7fd80b5444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50a7fd80b5444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f9103a04f04aa0" /><Relationship Type="http://schemas.openxmlformats.org/officeDocument/2006/relationships/image" Target="/ppt/media/image.png" Id="Re603665e29c1484f" /><Relationship Type="http://schemas.openxmlformats.org/officeDocument/2006/relationships/image" Target="/ppt/media/image2.png" Id="R770c1e93c8224360" /><Relationship Type="http://schemas.openxmlformats.org/officeDocument/2006/relationships/image" Target="/ppt/media/image3.png" Id="Rae1be7aad46d4090" /><Relationship Type="http://schemas.openxmlformats.org/officeDocument/2006/relationships/image" Target="/ppt/media/image4.png" Id="R083dd2e93b704850" /><Relationship Type="http://schemas.openxmlformats.org/officeDocument/2006/relationships/image" Target="/ppt/media/image5.png" Id="R15cf23d38ee340b9" /><Relationship Type="http://schemas.openxmlformats.org/officeDocument/2006/relationships/image" Target="/ppt/media/image6.png" Id="Rcc8d79da89e74385" /><Relationship Type="http://schemas.openxmlformats.org/officeDocument/2006/relationships/image" Target="/ppt/media/image7.png" Id="Ra5cadbe934904671" /><Relationship Type="http://schemas.openxmlformats.org/officeDocument/2006/relationships/image" Target="/ppt/media/image8.png" Id="R633ba7de210240f1" /><Relationship Type="http://schemas.openxmlformats.org/officeDocument/2006/relationships/notesSlide" Target="/ppt/notesSlides/notesSlide1.xml" Id="Rfd38607d3ecd4d2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03665e29c1484f"/>
          <a:srcRect xmlns:a="http://schemas.openxmlformats.org/drawingml/2006/main" l="0" t="38622" r="0" b="38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525000" cy="1219200"/>
          </a:xfrm>
          <a:prstGeom xmlns:a="http://schemas.openxmlformats.org/drawingml/2006/main" prst="rect">
            <a:avLst/>
          </a:prstGeom>
        </p:spPr>
      </p:pic>
      <p:pic>
        <p:nvPicPr>
          <p:cNvPr id="7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c1e93c8224360"/>
          <a:stretch xmlns:a="http://schemas.openxmlformats.org/drawingml/2006/main"/>
        </p:blipFill>
        <p:spPr>
          <a:xfrm xmlns:a="http://schemas.openxmlformats.org/drawingml/2006/main">
            <a:off x="323850" y="265374"/>
            <a:ext cx="2952750" cy="612252"/>
          </a:xfrm>
          <a:prstGeom xmlns:a="http://schemas.openxmlformats.org/drawingml/2006/main" prst="rect">
            <a:avLst/>
          </a:prstGeom>
        </p:spPr>
      </p:pic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1be7aad46d4090"/>
          <a:stretch xmlns:a="http://schemas.openxmlformats.org/drawingml/2006/main"/>
        </p:blipFill>
        <p:spPr>
          <a:xfrm xmlns:a="http://schemas.openxmlformats.org/drawingml/2006/main">
            <a:off x="3905250" y="425056"/>
            <a:ext cx="4953000" cy="311937"/>
          </a:xfrm>
          <a:prstGeom xmlns:a="http://schemas.openxmlformats.org/drawingml/2006/main" prst="rect">
            <a:avLst/>
          </a:prstGeom>
        </p:spPr>
      </p:pic>
      <p:sp>
        <p:nvSpPr>
          <p:cNvPr id="4" name="classic-title">
            <a:extLst xmlns:a="http://schemas.openxmlformats.org/drawingml/2006/main">
              <a:ext uri="{FF2B5EF4-FFF2-40B4-BE49-F238E27FC236}">
                <a16:creationId xmlns:a16="http://schemas.microsoft.com/office/drawing/2014/main" id="{7C9BF154-223F-4F74-9853-0C8C58FCF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352550"/>
            <a:ext cx="88392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53F59"/>
                </a:solidFill>
              </a:defRPr>
            </a:pPr>
            <a:r>
              <a:rPr sz="1875" b="1">
                <a:solidFill>
                  <a:srgbClr val="153F59"/>
                </a:solidFill>
              </a:rPr>
              <a:t>Implementing the National Health Survey Sampling Design in R: a case study on asthma in Brazil</a:t>
            </a:r>
          </a:p>
        </p:txBody>
      </p:sp>
      <p:sp>
        <p:nvSpPr>
          <p:cNvPr id="5" name="classic-authors">
            <a:extLst xmlns:a="http://schemas.openxmlformats.org/drawingml/2006/main">
              <a:ext uri="{FF2B5EF4-FFF2-40B4-BE49-F238E27FC236}">
                <a16:creationId xmlns:a16="http://schemas.microsoft.com/office/drawing/2014/main" id="{4C5442EE-3D93-482A-804C-89E45E5AD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962150"/>
            <a:ext cx="883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4F6372"/>
                </a:solidFill>
              </a:defRPr>
            </a:pPr>
            <a:r>
              <a:rPr sz="825" b="0">
                <a:solidFill>
                  <a:srgbClr val="4F6372"/>
                </a:solidFill>
              </a:rPr>
              <a:t>I. Dube; M. E. L. Silva | Observational data management</a:t>
            </a:r>
          </a:p>
        </p:txBody>
      </p:sp>
      <p:sp>
        <p:nvSpPr>
          <p:cNvPr id="6" name="1-Introduction-box">
            <a:extLst xmlns:a="http://schemas.openxmlformats.org/drawingml/2006/main">
              <a:ext uri="{FF2B5EF4-FFF2-40B4-BE49-F238E27FC236}">
                <a16:creationId xmlns:a16="http://schemas.microsoft.com/office/drawing/2014/main" id="{C15F6560-3C78-4B21-88D9-8E4BFA2C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43150"/>
            <a:ext cx="2870200" cy="1562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7" name="1-Introduction-head">
            <a:extLst xmlns:a="http://schemas.openxmlformats.org/drawingml/2006/main">
              <a:ext uri="{FF2B5EF4-FFF2-40B4-BE49-F238E27FC236}">
                <a16:creationId xmlns:a16="http://schemas.microsoft.com/office/drawing/2014/main" id="{0368E232-72CE-496C-AD46-4B9E57547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2343150"/>
            <a:ext cx="287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8" name="1-Introduction-title">
            <a:extLst xmlns:a="http://schemas.openxmlformats.org/drawingml/2006/main">
              <a:ext uri="{FF2B5EF4-FFF2-40B4-BE49-F238E27FC236}">
                <a16:creationId xmlns:a16="http://schemas.microsoft.com/office/drawing/2014/main" id="{4B830F6B-89D9-4AC7-9394-BF6D0C6B7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390775"/>
            <a:ext cx="271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1. Introduction</a:t>
            </a:r>
          </a:p>
        </p:txBody>
      </p:sp>
      <p:sp>
        <p:nvSpPr>
          <p:cNvPr id="9" name="1-Introduction-body">
            <a:extLst xmlns:a="http://schemas.openxmlformats.org/drawingml/2006/main">
              <a:ext uri="{FF2B5EF4-FFF2-40B4-BE49-F238E27FC236}">
                <a16:creationId xmlns:a16="http://schemas.microsoft.com/office/drawing/2014/main" id="{7FA8AE28-8018-4367-84B7-0F4A6CB3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86050"/>
            <a:ext cx="26797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53" b="0">
                <a:solidFill>
                  <a:srgbClr val="102536"/>
                </a:solidFill>
              </a:defRPr>
            </a:pPr>
            <a:r>
              <a:rPr sz="653" b="0">
                <a:solidFill>
                  <a:srgbClr val="102536"/>
                </a:solidFill>
              </a:rPr>
              <a:t>• Epidemiological indicators summarize frequency, distribution and change in health events.</a:t>
            </a:r>
          </a:p>
          <a:p xmlns:a="http://schemas.openxmlformats.org/drawingml/2006/main">
            <a:pPr algn="l">
              <a:defRPr sz="653" b="0">
                <a:solidFill>
                  <a:srgbClr val="102536"/>
                </a:solidFill>
              </a:defRPr>
            </a:pPr>
            <a:r>
              <a:rPr sz="653" b="0">
                <a:solidFill>
                  <a:srgbClr val="102536"/>
                </a:solidFill>
              </a:rPr>
              <a:t>• In asthma, prevalence, medication use, absenteeism and lost days help separate clinical burden, management and effects on work.</a:t>
            </a:r>
          </a:p>
          <a:p xmlns:a="http://schemas.openxmlformats.org/drawingml/2006/main">
            <a:pPr algn="l">
              <a:defRPr sz="653" b="0">
                <a:solidFill>
                  <a:srgbClr val="102536"/>
                </a:solidFill>
              </a:defRPr>
            </a:pPr>
            <a:r>
              <a:rPr sz="653" b="0">
                <a:solidFill>
                  <a:srgbClr val="102536"/>
                </a:solidFill>
              </a:rPr>
              <a:t>• PNS is a population-based household survey with a complex sampling design; valid estimates require weights, strata and clusters.</a:t>
            </a:r>
          </a:p>
        </p:txBody>
      </p:sp>
      <p:sp>
        <p:nvSpPr>
          <p:cNvPr id="10" name="2-Objectives-box">
            <a:extLst xmlns:a="http://schemas.openxmlformats.org/drawingml/2006/main">
              <a:ext uri="{FF2B5EF4-FFF2-40B4-BE49-F238E27FC236}">
                <a16:creationId xmlns:a16="http://schemas.microsoft.com/office/drawing/2014/main" id="{E2601E58-6FEE-40E4-B3E0-87519BA15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38600"/>
            <a:ext cx="28702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11" name="2-Objectives-head">
            <a:extLst xmlns:a="http://schemas.openxmlformats.org/drawingml/2006/main">
              <a:ext uri="{FF2B5EF4-FFF2-40B4-BE49-F238E27FC236}">
                <a16:creationId xmlns:a16="http://schemas.microsoft.com/office/drawing/2014/main" id="{21400EFA-1C70-4371-94AF-2CEE5448C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4038600"/>
            <a:ext cx="287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12" name="2-Objectives-title">
            <a:extLst xmlns:a="http://schemas.openxmlformats.org/drawingml/2006/main">
              <a:ext uri="{FF2B5EF4-FFF2-40B4-BE49-F238E27FC236}">
                <a16:creationId xmlns:a16="http://schemas.microsoft.com/office/drawing/2014/main" id="{11A115CE-E140-4EE9-99FD-3FB882DC4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086225"/>
            <a:ext cx="271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2. Objectives</a:t>
            </a:r>
          </a:p>
        </p:txBody>
      </p:sp>
      <p:sp>
        <p:nvSpPr>
          <p:cNvPr id="13" name="2-Objectives-body">
            <a:extLst xmlns:a="http://schemas.openxmlformats.org/drawingml/2006/main">
              <a:ext uri="{FF2B5EF4-FFF2-40B4-BE49-F238E27FC236}">
                <a16:creationId xmlns:a16="http://schemas.microsoft.com/office/drawing/2014/main" id="{CC9BE6D7-2A4C-439B-AE5E-DC2452578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0"/>
            <a:ext cx="2679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102536"/>
                </a:solidFill>
              </a:defRPr>
            </a:pPr>
            <a:r>
              <a:rPr sz="638" b="0">
                <a:solidFill>
                  <a:srgbClr val="102536"/>
                </a:solidFill>
              </a:rPr>
              <a:t>• Implement the 2013 and 2019 PNS sampling design in R.</a:t>
            </a:r>
          </a:p>
          <a:p xmlns:a="http://schemas.openxmlformats.org/drawingml/2006/main">
            <a:pPr algn="l">
              <a:defRPr sz="638" b="0">
                <a:solidFill>
                  <a:srgbClr val="102536"/>
                </a:solidFill>
              </a:defRPr>
            </a:pPr>
            <a:r>
              <a:rPr sz="638" b="0">
                <a:solidFill>
                  <a:srgbClr val="102536"/>
                </a:solidFill>
              </a:rPr>
              <a:t>• Estimate physician-diagnosed asthma, attacks in the previous 12 months, oral/inhaler medication use, smoking, out-of-pocket payment, absenteeism, lost days and income.</a:t>
            </a:r>
          </a:p>
          <a:p xmlns:a="http://schemas.openxmlformats.org/drawingml/2006/main">
            <a:pPr algn="l">
              <a:defRPr sz="638" b="0">
                <a:solidFill>
                  <a:srgbClr val="102536"/>
                </a:solidFill>
              </a:defRPr>
            </a:pPr>
            <a:r>
              <a:rPr sz="638" b="0">
                <a:solidFill>
                  <a:srgbClr val="102536"/>
                </a:solidFill>
              </a:rPr>
              <a:t>• Compare Brazil and states using point estimates, beta 95% CIs, magnitude and interval overlap.</a:t>
            </a:r>
          </a:p>
        </p:txBody>
      </p:sp>
      <p:sp>
        <p:nvSpPr>
          <p:cNvPr id="14" name="3-Data and indicators-box">
            <a:extLst xmlns:a="http://schemas.openxmlformats.org/drawingml/2006/main">
              <a:ext uri="{FF2B5EF4-FFF2-40B4-BE49-F238E27FC236}">
                <a16:creationId xmlns:a16="http://schemas.microsoft.com/office/drawing/2014/main" id="{68E179F6-B616-4873-906D-DF10A5D37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38800"/>
            <a:ext cx="2870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15" name="3-Data and indicators-head">
            <a:extLst xmlns:a="http://schemas.openxmlformats.org/drawingml/2006/main">
              <a:ext uri="{FF2B5EF4-FFF2-40B4-BE49-F238E27FC236}">
                <a16:creationId xmlns:a16="http://schemas.microsoft.com/office/drawing/2014/main" id="{ADB7A46C-D182-4C59-9918-0A5C155FB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5638800"/>
            <a:ext cx="287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16" name="3-Data and indicators-title">
            <a:extLst xmlns:a="http://schemas.openxmlformats.org/drawingml/2006/main">
              <a:ext uri="{FF2B5EF4-FFF2-40B4-BE49-F238E27FC236}">
                <a16:creationId xmlns:a16="http://schemas.microsoft.com/office/drawing/2014/main" id="{FB5B171E-744F-4E9C-9505-5485F8BAD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686425"/>
            <a:ext cx="271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3. Data and indicators</a:t>
            </a:r>
          </a:p>
        </p:txBody>
      </p:sp>
      <p:sp>
        <p:nvSpPr>
          <p:cNvPr id="17" name="3-Data and indicators-body">
            <a:extLst xmlns:a="http://schemas.openxmlformats.org/drawingml/2006/main">
              <a:ext uri="{FF2B5EF4-FFF2-40B4-BE49-F238E27FC236}">
                <a16:creationId xmlns:a16="http://schemas.microsoft.com/office/drawing/2014/main" id="{F8ED97BF-BC98-464F-8D79-17D7C18B2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2679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02536"/>
                </a:solidFill>
              </a:defRPr>
            </a:pPr>
            <a:r>
              <a:rPr sz="645" b="0">
                <a:solidFill>
                  <a:srgbClr val="102536"/>
                </a:solidFill>
              </a:rPr>
              <a:t>• Analytical unit: selected resident from PNS.</a:t>
            </a:r>
          </a:p>
          <a:p xmlns:a="http://schemas.openxmlformats.org/drawingml/2006/main">
            <a:pPr algn="l">
              <a:defRPr sz="645" b="0">
                <a:solidFill>
                  <a:srgbClr val="102536"/>
                </a:solidFill>
              </a:defRPr>
            </a:pPr>
            <a:r>
              <a:rPr sz="645" b="0">
                <a:solidFill>
                  <a:srgbClr val="102536"/>
                </a:solidFill>
              </a:rPr>
              <a:t>• Core variables: Q074 physician-diagnosed asthma; Q076 recent attack; Q07701/Q07704/Q07708 medication use; P050 smoking.</a:t>
            </a:r>
          </a:p>
          <a:p xmlns:a="http://schemas.openxmlformats.org/drawingml/2006/main">
            <a:pPr algn="l">
              <a:defRPr sz="645" b="0">
                <a:solidFill>
                  <a:srgbClr val="102536"/>
                </a:solidFill>
              </a:defRPr>
            </a:pPr>
            <a:r>
              <a:rPr sz="645" b="0">
                <a:solidFill>
                  <a:srgbClr val="102536"/>
                </a:solidFill>
              </a:rPr>
              <a:t>• Denominators vary by indicator: general population, people with asthma, people with asthma and attack, or valid responses.</a:t>
            </a:r>
          </a:p>
        </p:txBody>
      </p:sp>
      <p:sp>
        <p:nvSpPr>
          <p:cNvPr id="18" name="4-Sampling design-box">
            <a:extLst xmlns:a="http://schemas.openxmlformats.org/drawingml/2006/main">
              <a:ext uri="{FF2B5EF4-FFF2-40B4-BE49-F238E27FC236}">
                <a16:creationId xmlns:a16="http://schemas.microsoft.com/office/drawing/2014/main" id="{7FD8824A-61AE-4D53-ADEE-0076920ED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162800"/>
            <a:ext cx="2870200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19" name="4-Sampling design-head">
            <a:extLst xmlns:a="http://schemas.openxmlformats.org/drawingml/2006/main">
              <a:ext uri="{FF2B5EF4-FFF2-40B4-BE49-F238E27FC236}">
                <a16:creationId xmlns:a16="http://schemas.microsoft.com/office/drawing/2014/main" id="{7A2B7F5C-0251-4D72-A8A3-406490DD2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7162800"/>
            <a:ext cx="287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20" name="4-Sampling design-title">
            <a:extLst xmlns:a="http://schemas.openxmlformats.org/drawingml/2006/main">
              <a:ext uri="{FF2B5EF4-FFF2-40B4-BE49-F238E27FC236}">
                <a16:creationId xmlns:a16="http://schemas.microsoft.com/office/drawing/2014/main" id="{F71F7C3D-2D3B-4870-A39E-374C93342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7210425"/>
            <a:ext cx="271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4. Sampling design</a:t>
            </a:r>
          </a:p>
        </p:txBody>
      </p:sp>
      <p:sp>
        <p:nvSpPr>
          <p:cNvPr id="21" name="4-Sampling design-body">
            <a:extLst xmlns:a="http://schemas.openxmlformats.org/drawingml/2006/main">
              <a:ext uri="{FF2B5EF4-FFF2-40B4-BE49-F238E27FC236}">
                <a16:creationId xmlns:a16="http://schemas.microsoft.com/office/drawing/2014/main" id="{DC5DB49B-7726-4B03-ABCB-A6A59E1A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505700"/>
            <a:ext cx="267970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15" b="0">
                <a:solidFill>
                  <a:srgbClr val="102536"/>
                </a:solidFill>
              </a:defRPr>
            </a:pPr>
            <a:r>
              <a:rPr sz="615" b="0">
                <a:solidFill>
                  <a:srgbClr val="102536"/>
                </a:solidFill>
              </a:rPr>
              <a:t>• The design was built with PNSIBGE::pns_design(), preserving PSU, strata and calibrated selected-resident weights.</a:t>
            </a:r>
          </a:p>
          <a:p xmlns:a="http://schemas.openxmlformats.org/drawingml/2006/main">
            <a:pPr algn="l">
              <a:defRPr sz="615" b="0">
                <a:solidFill>
                  <a:srgbClr val="102536"/>
                </a:solidFill>
              </a:defRPr>
            </a:pPr>
            <a:r>
              <a:rPr sz="615" b="0">
                <a:solidFill>
                  <a:srgbClr val="102536"/>
                </a:solidFill>
              </a:rPr>
              <a:t>• Estimation uses the survey package for proportions, means, totals and rates.</a:t>
            </a:r>
          </a:p>
          <a:p xmlns:a="http://schemas.openxmlformats.org/drawingml/2006/main">
            <a:pPr algn="l">
              <a:defRPr sz="615" b="0">
                <a:solidFill>
                  <a:srgbClr val="102536"/>
                </a:solidFill>
              </a:defRPr>
            </a:pPr>
            <a:r>
              <a:rPr sz="615" b="0">
                <a:solidFill>
                  <a:srgbClr val="102536"/>
                </a:solidFill>
              </a:rPr>
              <a:t>• Rates per 100,000 rescale weighted proportions while preserving uncertainty from the complex design.</a:t>
            </a:r>
          </a:p>
          <a:p xmlns:a="http://schemas.openxmlformats.org/drawingml/2006/main">
            <a:pPr algn="l">
              <a:defRPr sz="615" b="0">
                <a:solidFill>
                  <a:srgbClr val="102536"/>
                </a:solidFill>
              </a:defRPr>
            </a:pPr>
            <a:r>
              <a:rPr sz="615" b="0">
                <a:solidFill>
                  <a:srgbClr val="102536"/>
                </a:solidFill>
              </a:rPr>
              <a:t>• Lonely PSUs and small domains require explicit inferential choices.</a:t>
            </a:r>
          </a:p>
        </p:txBody>
      </p:sp>
      <p:sp>
        <p:nvSpPr>
          <p:cNvPr id="22" name="classic-formula-box">
            <a:extLst xmlns:a="http://schemas.openxmlformats.org/drawingml/2006/main">
              <a:ext uri="{FF2B5EF4-FFF2-40B4-BE49-F238E27FC236}">
                <a16:creationId xmlns:a16="http://schemas.microsoft.com/office/drawing/2014/main" id="{19CB154A-381B-4301-BB09-51AE72E03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105900"/>
            <a:ext cx="2870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1F5673"/>
            </a:solidFill>
            <a:prstDash val="solid"/>
          </a:ln>
        </p:spPr>
      </p:sp>
      <p:sp>
        <p:nvSpPr>
          <p:cNvPr id="23" name="classic-formula-title">
            <a:extLst xmlns:a="http://schemas.openxmlformats.org/drawingml/2006/main">
              <a:ext uri="{FF2B5EF4-FFF2-40B4-BE49-F238E27FC236}">
                <a16:creationId xmlns:a16="http://schemas.microsoft.com/office/drawing/2014/main" id="{F3B0562F-48F4-4637-92E4-CF87CBD51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9163050"/>
            <a:ext cx="28702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53F59"/>
                </a:solidFill>
              </a:defRPr>
            </a:pPr>
            <a:r>
              <a:rPr sz="900" b="1">
                <a:solidFill>
                  <a:srgbClr val="153F59"/>
                </a:solidFill>
              </a:rPr>
              <a:t>Estimators and formulas</a:t>
            </a:r>
          </a:p>
        </p:txBody>
      </p:sp>
      <p:sp>
        <p:nvSpPr>
          <p:cNvPr id="24" name="classic-formula">
            <a:extLst xmlns:a="http://schemas.openxmlformats.org/drawingml/2006/main">
              <a:ext uri="{FF2B5EF4-FFF2-40B4-BE49-F238E27FC236}">
                <a16:creationId xmlns:a16="http://schemas.microsoft.com/office/drawing/2014/main" id="{F1BA0F45-B5AF-4CBF-93D6-2C461C507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372600"/>
            <a:ext cx="26797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p̂ = Σᵢ wᵢyᵢ / Σᵢ wᵢ</a:t>
            </a:r>
          </a:p>
          <a:p xmlns:a="http://schemas.openxmlformats.org/drawingml/2006/main">
            <a:pPr algn="ctr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wᵢ = sampling weight; yᵢ = binary indicator</a:t>
            </a:r>
          </a:p>
          <a:p xmlns:a="http://schemas.openxmlformats.org/drawingml/2006/main">
            <a:pPr algn="ctr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% = 100 × p̂</a:t>
            </a:r>
          </a:p>
          <a:p xmlns:a="http://schemas.openxmlformats.org/drawingml/2006/main">
            <a:pPr algn="ctr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rate₁₀₀k = 100000 × p̂</a:t>
            </a:r>
          </a:p>
          <a:p xmlns:a="http://schemas.openxmlformats.org/drawingml/2006/main">
            <a:pPr algn="ctr">
              <a:defRPr sz="788" b="0">
                <a:solidFill>
                  <a:srgbClr val="102536"/>
                </a:solidFill>
              </a:defRPr>
            </a:pPr>
            <a:r>
              <a:rPr sz="788" b="0">
                <a:solidFill>
                  <a:srgbClr val="102536"/>
                </a:solidFill>
              </a:rPr>
              <a:t>CI₉₅%(p̂) = survey::svyciprop(method = "beta")</a:t>
            </a:r>
          </a:p>
        </p:txBody>
      </p:sp>
      <p:sp>
        <p:nvSpPr>
          <p:cNvPr id="25" name="prev-metric">
            <a:extLst xmlns:a="http://schemas.openxmlformats.org/drawingml/2006/main">
              <a:ext uri="{FF2B5EF4-FFF2-40B4-BE49-F238E27FC236}">
                <a16:creationId xmlns:a16="http://schemas.microsoft.com/office/drawing/2014/main" id="{B8F957F0-52AB-4D5A-B3D4-A6F1D48A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2343150"/>
            <a:ext cx="287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26" name="prev-metric-title">
            <a:extLst xmlns:a="http://schemas.openxmlformats.org/drawingml/2006/main">
              <a:ext uri="{FF2B5EF4-FFF2-40B4-BE49-F238E27FC236}">
                <a16:creationId xmlns:a16="http://schemas.microsoft.com/office/drawing/2014/main" id="{03CF7E72-A6B5-4572-A4F5-4B24DC18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2419350"/>
            <a:ext cx="269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3F59"/>
                </a:solidFill>
              </a:defRPr>
            </a:pPr>
            <a:r>
              <a:rPr sz="675" b="1">
                <a:solidFill>
                  <a:srgbClr val="153F59"/>
                </a:solidFill>
              </a:rPr>
              <a:t>Brazil: diagnosis</a:t>
            </a:r>
          </a:p>
        </p:txBody>
      </p:sp>
      <p:sp>
        <p:nvSpPr>
          <p:cNvPr id="27" name="prev-metric-value">
            <a:extLst xmlns:a="http://schemas.openxmlformats.org/drawingml/2006/main">
              <a:ext uri="{FF2B5EF4-FFF2-40B4-BE49-F238E27FC236}">
                <a16:creationId xmlns:a16="http://schemas.microsoft.com/office/drawing/2014/main" id="{3C299F39-0660-40E1-A7A7-7CCB43922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2609850"/>
            <a:ext cx="269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F59"/>
                </a:solidFill>
              </a:defRPr>
            </a:pPr>
            <a:r>
              <a:rPr sz="1050" b="1">
                <a:solidFill>
                  <a:srgbClr val="153F59"/>
                </a:solidFill>
              </a:rPr>
              <a:t>4.41%→5.40%</a:t>
            </a:r>
          </a:p>
        </p:txBody>
      </p:sp>
      <p:sp>
        <p:nvSpPr>
          <p:cNvPr id="28" name="prev-metric-note">
            <a:extLst xmlns:a="http://schemas.openxmlformats.org/drawingml/2006/main">
              <a:ext uri="{FF2B5EF4-FFF2-40B4-BE49-F238E27FC236}">
                <a16:creationId xmlns:a16="http://schemas.microsoft.com/office/drawing/2014/main" id="{CE508BD9-2BBB-41CF-9B0C-7A744CCE3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2876550"/>
            <a:ext cx="269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102536"/>
                </a:solidFill>
              </a:defRPr>
            </a:pPr>
            <a:r>
              <a:rPr sz="533" b="0">
                <a:solidFill>
                  <a:srgbClr val="102536"/>
                </a:solidFill>
              </a:rPr>
              <a:t>Physician-diagnosed asthma increased, with non-overlapping 95% CIs.</a:t>
            </a:r>
          </a:p>
        </p:txBody>
      </p:sp>
      <p:sp>
        <p:nvSpPr>
          <p:cNvPr id="29" name="crisis-metric">
            <a:extLst xmlns:a="http://schemas.openxmlformats.org/drawingml/2006/main">
              <a:ext uri="{FF2B5EF4-FFF2-40B4-BE49-F238E27FC236}">
                <a16:creationId xmlns:a16="http://schemas.microsoft.com/office/drawing/2014/main" id="{454D1B46-AF73-431E-9CAA-AB21BB940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3371850"/>
            <a:ext cx="287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30" name="crisis-metric-title">
            <a:extLst xmlns:a="http://schemas.openxmlformats.org/drawingml/2006/main">
              <a:ext uri="{FF2B5EF4-FFF2-40B4-BE49-F238E27FC236}">
                <a16:creationId xmlns:a16="http://schemas.microsoft.com/office/drawing/2014/main" id="{628B0A5D-9781-4409-807D-D28C4E800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3448050"/>
            <a:ext cx="269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3F59"/>
                </a:solidFill>
              </a:defRPr>
            </a:pPr>
            <a:r>
              <a:rPr sz="675" b="1">
                <a:solidFill>
                  <a:srgbClr val="153F59"/>
                </a:solidFill>
              </a:rPr>
              <a:t>Brazil: work</a:t>
            </a:r>
          </a:p>
        </p:txBody>
      </p:sp>
      <p:sp>
        <p:nvSpPr>
          <p:cNvPr id="31" name="crisis-metric-value">
            <a:extLst xmlns:a="http://schemas.openxmlformats.org/drawingml/2006/main">
              <a:ext uri="{FF2B5EF4-FFF2-40B4-BE49-F238E27FC236}">
                <a16:creationId xmlns:a16="http://schemas.microsoft.com/office/drawing/2014/main" id="{8B93F2AB-6955-48E3-BA99-6E46BC4F5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3638550"/>
            <a:ext cx="269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F59"/>
                </a:solidFill>
              </a:defRPr>
            </a:pPr>
            <a:r>
              <a:rPr sz="1050" b="1">
                <a:solidFill>
                  <a:srgbClr val="153F59"/>
                </a:solidFill>
              </a:rPr>
              <a:t>15.2%; 4.8 days</a:t>
            </a:r>
          </a:p>
        </p:txBody>
      </p:sp>
      <p:sp>
        <p:nvSpPr>
          <p:cNvPr id="32" name="crisis-metric-note">
            <a:extLst xmlns:a="http://schemas.openxmlformats.org/drawingml/2006/main">
              <a:ext uri="{FF2B5EF4-FFF2-40B4-BE49-F238E27FC236}">
                <a16:creationId xmlns:a16="http://schemas.microsoft.com/office/drawing/2014/main" id="{B8A6F01E-D007-4285-BEDA-854499FE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3125" y="3905250"/>
            <a:ext cx="269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102536"/>
                </a:solidFill>
              </a:defRPr>
            </a:pPr>
            <a:r>
              <a:rPr sz="533" b="0">
                <a:solidFill>
                  <a:srgbClr val="102536"/>
                </a:solidFill>
              </a:rPr>
              <a:t>Respiratory causes: absenteeism and average lost workdays.</a:t>
            </a:r>
          </a:p>
        </p:txBody>
      </p:sp>
      <p:sp>
        <p:nvSpPr>
          <p:cNvPr id="33" name="chart-prev-caption">
            <a:extLst xmlns:a="http://schemas.openxmlformats.org/drawingml/2006/main">
              <a:ext uri="{FF2B5EF4-FFF2-40B4-BE49-F238E27FC236}">
                <a16:creationId xmlns:a16="http://schemas.microsoft.com/office/drawing/2014/main" id="{6C158926-CCB2-42B6-9379-32BB74A9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4419600"/>
            <a:ext cx="287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53F59"/>
                </a:solidFill>
              </a:defRPr>
            </a:pPr>
            <a:r>
              <a:rPr sz="660" b="1">
                <a:solidFill>
                  <a:srgbClr val="153F59"/>
                </a:solidFill>
              </a:rPr>
              <a:t>Figure 1: Physician-diagnosed asthma prevalence (%) by state and Brazil, PNS 2013 and 2019.</a:t>
            </a:r>
          </a:p>
        </p:txBody>
      </p:sp>
      <p:sp>
        <p:nvSpPr>
          <p:cNvPr id="34" name="chart-prev-frame">
            <a:extLst xmlns:a="http://schemas.openxmlformats.org/drawingml/2006/main">
              <a:ext uri="{FF2B5EF4-FFF2-40B4-BE49-F238E27FC236}">
                <a16:creationId xmlns:a16="http://schemas.microsoft.com/office/drawing/2014/main" id="{3DBEDA56-214F-45A6-93B7-57987F81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4667250"/>
            <a:ext cx="287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pic>
        <p:nvPicPr>
          <p:cNvPr id="1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3dd2e93b704850"/>
          <a:stretch xmlns:a="http://schemas.openxmlformats.org/drawingml/2006/main"/>
        </p:blipFill>
        <p:spPr>
          <a:xfrm xmlns:a="http://schemas.openxmlformats.org/drawingml/2006/main">
            <a:off x="3387790" y="4724400"/>
            <a:ext cx="2749420" cy="1981200"/>
          </a:xfrm>
          <a:prstGeom xmlns:a="http://schemas.openxmlformats.org/drawingml/2006/main" prst="rect">
            <a:avLst/>
          </a:prstGeom>
        </p:spPr>
      </p:pic>
      <p:sp>
        <p:nvSpPr>
          <p:cNvPr id="36" name="chart-crisis-caption">
            <a:extLst xmlns:a="http://schemas.openxmlformats.org/drawingml/2006/main">
              <a:ext uri="{FF2B5EF4-FFF2-40B4-BE49-F238E27FC236}">
                <a16:creationId xmlns:a16="http://schemas.microsoft.com/office/drawing/2014/main" id="{8D2B7A6B-B913-4D6F-A2B2-15A639531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6896100"/>
            <a:ext cx="287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53F59"/>
                </a:solidFill>
              </a:defRPr>
            </a:pPr>
            <a:r>
              <a:rPr sz="660" b="1">
                <a:solidFill>
                  <a:srgbClr val="153F59"/>
                </a:solidFill>
              </a:rPr>
              <a:t>Figure 2: Health-related absenteeism in Brazil, highlighting respiratory causes, PNS 2019.</a:t>
            </a:r>
          </a:p>
        </p:txBody>
      </p:sp>
      <p:sp>
        <p:nvSpPr>
          <p:cNvPr id="37" name="chart-crisis-frame">
            <a:extLst xmlns:a="http://schemas.openxmlformats.org/drawingml/2006/main">
              <a:ext uri="{FF2B5EF4-FFF2-40B4-BE49-F238E27FC236}">
                <a16:creationId xmlns:a16="http://schemas.microsoft.com/office/drawing/2014/main" id="{8B0DB653-809F-4162-B25B-0AD399D44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7143750"/>
            <a:ext cx="287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pic>
        <p:nvPicPr>
          <p:cNvPr id="1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f23d38ee340b9"/>
          <a:stretch xmlns:a="http://schemas.openxmlformats.org/drawingml/2006/main"/>
        </p:blipFill>
        <p:spPr>
          <a:xfrm xmlns:a="http://schemas.openxmlformats.org/drawingml/2006/main">
            <a:off x="3387790" y="7200900"/>
            <a:ext cx="2749420" cy="1981200"/>
          </a:xfrm>
          <a:prstGeom xmlns:a="http://schemas.openxmlformats.org/drawingml/2006/main" prst="rect">
            <a:avLst/>
          </a:prstGeom>
        </p:spPr>
      </p:pic>
      <p:sp>
        <p:nvSpPr>
          <p:cNvPr id="39" name="5-Discussion-box">
            <a:extLst xmlns:a="http://schemas.openxmlformats.org/drawingml/2006/main">
              <a:ext uri="{FF2B5EF4-FFF2-40B4-BE49-F238E27FC236}">
                <a16:creationId xmlns:a16="http://schemas.microsoft.com/office/drawing/2014/main" id="{198CE6CA-A414-4FD6-AA80-F6113EDC0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9372600"/>
            <a:ext cx="2870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40" name="5-Discussion-head">
            <a:extLst xmlns:a="http://schemas.openxmlformats.org/drawingml/2006/main">
              <a:ext uri="{FF2B5EF4-FFF2-40B4-BE49-F238E27FC236}">
                <a16:creationId xmlns:a16="http://schemas.microsoft.com/office/drawing/2014/main" id="{72D348F3-07EE-4CA5-AA64-BE491E2D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7400" y="9372600"/>
            <a:ext cx="287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41" name="5-Discussion-title">
            <a:extLst xmlns:a="http://schemas.openxmlformats.org/drawingml/2006/main">
              <a:ext uri="{FF2B5EF4-FFF2-40B4-BE49-F238E27FC236}">
                <a16:creationId xmlns:a16="http://schemas.microsoft.com/office/drawing/2014/main" id="{BB93E8AF-623C-4D96-8058-13444165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0" y="9420225"/>
            <a:ext cx="271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5. Discussion</a:t>
            </a:r>
          </a:p>
        </p:txBody>
      </p:sp>
      <p:sp>
        <p:nvSpPr>
          <p:cNvPr id="42" name="5-Discussion-body">
            <a:extLst xmlns:a="http://schemas.openxmlformats.org/drawingml/2006/main">
              <a:ext uri="{FF2B5EF4-FFF2-40B4-BE49-F238E27FC236}">
                <a16:creationId xmlns:a16="http://schemas.microsoft.com/office/drawing/2014/main" id="{FE5D33EF-0CF9-47FB-984E-9D5AEDB1B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2650" y="9715500"/>
            <a:ext cx="2679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72" b="0">
                <a:solidFill>
                  <a:srgbClr val="102536"/>
                </a:solidFill>
              </a:defRPr>
            </a:pPr>
            <a:r>
              <a:rPr sz="472" b="0">
                <a:solidFill>
                  <a:srgbClr val="102536"/>
                </a:solidFill>
              </a:rPr>
              <a:t>• Asthma diagnosis increased in Brazil; respiratory causes account for 15.2% of health-related absenteeism.</a:t>
            </a:r>
          </a:p>
          <a:p xmlns:a="http://schemas.openxmlformats.org/drawingml/2006/main">
            <a:pPr algn="l">
              <a:defRPr sz="472" b="0">
                <a:solidFill>
                  <a:srgbClr val="102536"/>
                </a:solidFill>
              </a:defRPr>
            </a:pPr>
            <a:r>
              <a:rPr sz="472" b="0">
                <a:solidFill>
                  <a:srgbClr val="102536"/>
                </a:solidFill>
              </a:rPr>
              <a:t>• Respiratory causes averaged 4.8 lost days, signaling potential productivity and income costs.</a:t>
            </a:r>
          </a:p>
          <a:p xmlns:a="http://schemas.openxmlformats.org/drawingml/2006/main">
            <a:pPr algn="l">
              <a:defRPr sz="472" b="0">
                <a:solidFill>
                  <a:srgbClr val="102536"/>
                </a:solidFill>
              </a:defRPr>
            </a:pPr>
            <a:r>
              <a:rPr sz="472" b="0">
                <a:solidFill>
                  <a:srgbClr val="102536"/>
                </a:solidFill>
              </a:rPr>
              <a:t>• Better control may reduce absences, lost days and acute-care demand.</a:t>
            </a:r>
          </a:p>
        </p:txBody>
      </p:sp>
      <p:sp>
        <p:nvSpPr>
          <p:cNvPr id="43" name="meds-metric">
            <a:extLst xmlns:a="http://schemas.openxmlformats.org/drawingml/2006/main">
              <a:ext uri="{FF2B5EF4-FFF2-40B4-BE49-F238E27FC236}">
                <a16:creationId xmlns:a16="http://schemas.microsoft.com/office/drawing/2014/main" id="{F5BA26C1-637E-4044-9F81-7D3D965DC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343150"/>
            <a:ext cx="28702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6FB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44" name="meds-metric-title">
            <a:extLst xmlns:a="http://schemas.openxmlformats.org/drawingml/2006/main">
              <a:ext uri="{FF2B5EF4-FFF2-40B4-BE49-F238E27FC236}">
                <a16:creationId xmlns:a16="http://schemas.microsoft.com/office/drawing/2014/main" id="{A4C4B4F2-B87E-4228-BF50-488A28BE6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725" y="2419350"/>
            <a:ext cx="269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675" b="1">
                <a:solidFill>
                  <a:srgbClr val="153F59"/>
                </a:solidFill>
              </a:defRPr>
            </a:pPr>
            <a:r>
              <a:rPr sz="675" b="1">
                <a:solidFill>
                  <a:srgbClr val="153F59"/>
                </a:solidFill>
              </a:rPr>
              <a:t>Brazil: medication</a:t>
            </a:r>
          </a:p>
        </p:txBody>
      </p:sp>
      <p:sp>
        <p:nvSpPr>
          <p:cNvPr id="45" name="meds-metric-value">
            <a:extLst xmlns:a="http://schemas.openxmlformats.org/drawingml/2006/main">
              <a:ext uri="{FF2B5EF4-FFF2-40B4-BE49-F238E27FC236}">
                <a16:creationId xmlns:a16="http://schemas.microsoft.com/office/drawing/2014/main" id="{E0BA0341-7A36-424F-A8CA-07612EE0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725" y="2609850"/>
            <a:ext cx="269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53F59"/>
                </a:solidFill>
              </a:defRPr>
            </a:pPr>
            <a:r>
              <a:rPr sz="1050" b="1">
                <a:solidFill>
                  <a:srgbClr val="153F59"/>
                </a:solidFill>
              </a:rPr>
              <a:t>81.5%→64.4%</a:t>
            </a:r>
          </a:p>
        </p:txBody>
      </p:sp>
      <p:sp>
        <p:nvSpPr>
          <p:cNvPr id="46" name="meds-metric-note">
            <a:extLst xmlns:a="http://schemas.openxmlformats.org/drawingml/2006/main">
              <a:ext uri="{FF2B5EF4-FFF2-40B4-BE49-F238E27FC236}">
                <a16:creationId xmlns:a16="http://schemas.microsoft.com/office/drawing/2014/main" id="{96A6538F-F379-4585-B69F-6506F9492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5725" y="2876550"/>
            <a:ext cx="269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33" b="0">
                <a:solidFill>
                  <a:srgbClr val="102536"/>
                </a:solidFill>
              </a:defRPr>
            </a:pPr>
            <a:r>
              <a:rPr sz="533" b="0">
                <a:solidFill>
                  <a:srgbClr val="102536"/>
                </a:solidFill>
              </a:rPr>
              <a:t>Lower use among people with asthma; read with 95% CIs and the diagnosed-group profile.</a:t>
            </a:r>
          </a:p>
        </p:txBody>
      </p:sp>
      <p:sp>
        <p:nvSpPr>
          <p:cNvPr id="47" name="chart-meds-caption">
            <a:extLst xmlns:a="http://schemas.openxmlformats.org/drawingml/2006/main">
              <a:ext uri="{FF2B5EF4-FFF2-40B4-BE49-F238E27FC236}">
                <a16:creationId xmlns:a16="http://schemas.microsoft.com/office/drawing/2014/main" id="{BB8BD4A0-6A10-43E7-93F3-3D7B9C766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371850"/>
            <a:ext cx="287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53F59"/>
                </a:solidFill>
              </a:defRPr>
            </a:pPr>
            <a:r>
              <a:rPr sz="660" b="1">
                <a:solidFill>
                  <a:srgbClr val="153F59"/>
                </a:solidFill>
              </a:rPr>
              <a:t>Figure 3: Oral medication or inhaler use among people with physician-diagnosed asthma by state and Brazil.</a:t>
            </a:r>
          </a:p>
        </p:txBody>
      </p:sp>
      <p:sp>
        <p:nvSpPr>
          <p:cNvPr id="48" name="chart-meds-frame">
            <a:extLst xmlns:a="http://schemas.openxmlformats.org/drawingml/2006/main">
              <a:ext uri="{FF2B5EF4-FFF2-40B4-BE49-F238E27FC236}">
                <a16:creationId xmlns:a16="http://schemas.microsoft.com/office/drawing/2014/main" id="{0C5036B7-EF33-4D8C-BA4B-E072ED7D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619500"/>
            <a:ext cx="287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8d79da89e74385"/>
          <a:stretch xmlns:a="http://schemas.openxmlformats.org/drawingml/2006/main"/>
        </p:blipFill>
        <p:spPr>
          <a:xfrm xmlns:a="http://schemas.openxmlformats.org/drawingml/2006/main">
            <a:off x="6410390" y="3676650"/>
            <a:ext cx="2749420" cy="1981200"/>
          </a:xfrm>
          <a:prstGeom xmlns:a="http://schemas.openxmlformats.org/drawingml/2006/main" prst="rect">
            <a:avLst/>
          </a:prstGeom>
        </p:spPr>
      </p:pic>
      <p:sp>
        <p:nvSpPr>
          <p:cNvPr id="50" name="chart-smoke-caption">
            <a:extLst xmlns:a="http://schemas.openxmlformats.org/drawingml/2006/main">
              <a:ext uri="{FF2B5EF4-FFF2-40B4-BE49-F238E27FC236}">
                <a16:creationId xmlns:a16="http://schemas.microsoft.com/office/drawing/2014/main" id="{379BF85E-D139-4B61-BCCF-2207E55C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5848350"/>
            <a:ext cx="287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60" b="1">
                <a:solidFill>
                  <a:srgbClr val="153F59"/>
                </a:solidFill>
              </a:defRPr>
            </a:pPr>
            <a:r>
              <a:rPr sz="660" b="1">
                <a:solidFill>
                  <a:srgbClr val="153F59"/>
                </a:solidFill>
              </a:rPr>
              <a:t>Figure 4: Mean lost days by health reason in Brazil, highlighting respiratory causes, PNS 2019.</a:t>
            </a:r>
          </a:p>
        </p:txBody>
      </p:sp>
      <p:sp>
        <p:nvSpPr>
          <p:cNvPr id="51" name="chart-smoke-frame">
            <a:extLst xmlns:a="http://schemas.openxmlformats.org/drawingml/2006/main">
              <a:ext uri="{FF2B5EF4-FFF2-40B4-BE49-F238E27FC236}">
                <a16:creationId xmlns:a16="http://schemas.microsoft.com/office/drawing/2014/main" id="{AE0A04AE-046F-47C9-A879-B16E48B5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6096000"/>
            <a:ext cx="28702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pic>
        <p:nvPicPr>
          <p:cNvPr id="1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cadbe934904671"/>
          <a:stretch xmlns:a="http://schemas.openxmlformats.org/drawingml/2006/main"/>
        </p:blipFill>
        <p:spPr>
          <a:xfrm xmlns:a="http://schemas.openxmlformats.org/drawingml/2006/main">
            <a:off x="6410390" y="6153150"/>
            <a:ext cx="2749420" cy="1981200"/>
          </a:xfrm>
          <a:prstGeom xmlns:a="http://schemas.openxmlformats.org/drawingml/2006/main" prst="rect">
            <a:avLst/>
          </a:prstGeom>
        </p:spPr>
      </p:pic>
      <p:sp>
        <p:nvSpPr>
          <p:cNvPr id="53" name="6-Beta CI and chart reading-box">
            <a:extLst xmlns:a="http://schemas.openxmlformats.org/drawingml/2006/main">
              <a:ext uri="{FF2B5EF4-FFF2-40B4-BE49-F238E27FC236}">
                <a16:creationId xmlns:a16="http://schemas.microsoft.com/office/drawing/2014/main" id="{E2A3A153-1A1A-44EF-A3F8-CF116D84E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8324850"/>
            <a:ext cx="28702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54" name="6-Beta CI and chart reading-head">
            <a:extLst xmlns:a="http://schemas.openxmlformats.org/drawingml/2006/main">
              <a:ext uri="{FF2B5EF4-FFF2-40B4-BE49-F238E27FC236}">
                <a16:creationId xmlns:a16="http://schemas.microsoft.com/office/drawing/2014/main" id="{2ED1805B-D6CD-4879-B272-C303DF9C0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8324850"/>
            <a:ext cx="287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55" name="6-Beta CI and chart reading-title">
            <a:extLst xmlns:a="http://schemas.openxmlformats.org/drawingml/2006/main">
              <a:ext uri="{FF2B5EF4-FFF2-40B4-BE49-F238E27FC236}">
                <a16:creationId xmlns:a16="http://schemas.microsoft.com/office/drawing/2014/main" id="{0696C765-AA29-42E4-9706-5A5976089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8372475"/>
            <a:ext cx="271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6. Beta CI and chart reading</a:t>
            </a:r>
          </a:p>
        </p:txBody>
      </p:sp>
      <p:sp>
        <p:nvSpPr>
          <p:cNvPr id="56" name="6-Beta CI and chart reading-body">
            <a:extLst xmlns:a="http://schemas.openxmlformats.org/drawingml/2006/main">
              <a:ext uri="{FF2B5EF4-FFF2-40B4-BE49-F238E27FC236}">
                <a16:creationId xmlns:a16="http://schemas.microsoft.com/office/drawing/2014/main" id="{74D2AF5D-400A-47C6-A0D8-A652F2897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8667750"/>
            <a:ext cx="2679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102536"/>
                </a:solidFill>
              </a:defRPr>
            </a:pPr>
            <a:r>
              <a:rPr sz="563" b="0">
                <a:solidFill>
                  <a:srgbClr val="102536"/>
                </a:solidFill>
              </a:rPr>
              <a:t>• Wald intervals can have unstable coverage for low/high proportions or domains with few events.</a:t>
            </a:r>
          </a:p>
          <a:p xmlns:a="http://schemas.openxmlformats.org/drawingml/2006/main">
            <a:pPr algn="l">
              <a:defRPr sz="563" b="0">
                <a:solidFill>
                  <a:srgbClr val="102536"/>
                </a:solidFill>
              </a:defRPr>
            </a:pPr>
            <a:r>
              <a:rPr sz="563" b="0">
                <a:solidFill>
                  <a:srgbClr val="102536"/>
                </a:solidFill>
              </a:rPr>
              <a:t>• The beta CI from survey::svyciprop(method = "beta") respects the 0-1 scale and reduces impossible limits.</a:t>
            </a:r>
          </a:p>
          <a:p xmlns:a="http://schemas.openxmlformats.org/drawingml/2006/main">
            <a:pPr algn="l">
              <a:defRPr sz="563" b="0">
                <a:solidFill>
                  <a:srgbClr val="102536"/>
                </a:solidFill>
              </a:defRPr>
            </a:pPr>
            <a:r>
              <a:rPr sz="563" b="0">
                <a:solidFill>
                  <a:srgbClr val="102536"/>
                </a:solidFill>
              </a:rPr>
              <a:t>• Year/state comparisons were interpreted through magnitude and 95% CI overlap, not bar height alone.</a:t>
            </a:r>
          </a:p>
        </p:txBody>
      </p:sp>
      <p:sp>
        <p:nvSpPr>
          <p:cNvPr id="57" name="7-Economic impact-box">
            <a:extLst xmlns:a="http://schemas.openxmlformats.org/drawingml/2006/main">
              <a:ext uri="{FF2B5EF4-FFF2-40B4-BE49-F238E27FC236}">
                <a16:creationId xmlns:a16="http://schemas.microsoft.com/office/drawing/2014/main" id="{0A9532C9-E1E5-4B57-A8DA-262284676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9848850"/>
            <a:ext cx="2870200" cy="1276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58" name="7-Economic impact-head">
            <a:extLst xmlns:a="http://schemas.openxmlformats.org/drawingml/2006/main">
              <a:ext uri="{FF2B5EF4-FFF2-40B4-BE49-F238E27FC236}">
                <a16:creationId xmlns:a16="http://schemas.microsoft.com/office/drawing/2014/main" id="{D5BB2D5D-AFA4-438D-96CB-B1501C36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9848850"/>
            <a:ext cx="2870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59" name="7-Economic impact-title">
            <a:extLst xmlns:a="http://schemas.openxmlformats.org/drawingml/2006/main">
              <a:ext uri="{FF2B5EF4-FFF2-40B4-BE49-F238E27FC236}">
                <a16:creationId xmlns:a16="http://schemas.microsoft.com/office/drawing/2014/main" id="{3FEAE7B9-52BD-4445-87A4-325581646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9896475"/>
            <a:ext cx="2717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7. Economic impact</a:t>
            </a:r>
          </a:p>
        </p:txBody>
      </p:sp>
      <p:sp>
        <p:nvSpPr>
          <p:cNvPr id="60" name="7-Economic impact-body">
            <a:extLst xmlns:a="http://schemas.openxmlformats.org/drawingml/2006/main">
              <a:ext uri="{FF2B5EF4-FFF2-40B4-BE49-F238E27FC236}">
                <a16:creationId xmlns:a16="http://schemas.microsoft.com/office/drawing/2014/main" id="{F60FA900-F154-40EF-93A3-1A5E9C60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0191750"/>
            <a:ext cx="26797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4" b="0">
                <a:solidFill>
                  <a:srgbClr val="102536"/>
                </a:solidFill>
              </a:defRPr>
            </a:pPr>
            <a:r>
              <a:rPr sz="544" b="0">
                <a:solidFill>
                  <a:srgbClr val="102536"/>
                </a:solidFill>
              </a:rPr>
              <a:t>• Poorly controlled asthma can reduce productivity through absences, functional limitation and demand for acute care.</a:t>
            </a:r>
          </a:p>
          <a:p xmlns:a="http://schemas.openxmlformats.org/drawingml/2006/main">
            <a:pPr algn="l">
              <a:defRPr sz="544" b="0">
                <a:solidFill>
                  <a:srgbClr val="102536"/>
                </a:solidFill>
              </a:defRPr>
            </a:pPr>
            <a:r>
              <a:rPr sz="544" b="0">
                <a:solidFill>
                  <a:srgbClr val="102536"/>
                </a:solidFill>
              </a:rPr>
              <a:t>• The economic reading supports diagnosis, medication access and clinical follow-up policies.</a:t>
            </a:r>
          </a:p>
        </p:txBody>
      </p:sp>
      <p:sp>
        <p:nvSpPr>
          <p:cNvPr id="61" name="8-ETL, OMOP and OHDSI-box">
            <a:extLst xmlns:a="http://schemas.openxmlformats.org/drawingml/2006/main">
              <a:ext uri="{FF2B5EF4-FFF2-40B4-BE49-F238E27FC236}">
                <a16:creationId xmlns:a16="http://schemas.microsoft.com/office/drawing/2014/main" id="{A97A3B12-A082-499E-9357-A01E1E483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572750"/>
            <a:ext cx="58928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62" name="8-ETL, OMOP and OHDSI-head">
            <a:extLst xmlns:a="http://schemas.openxmlformats.org/drawingml/2006/main">
              <a:ext uri="{FF2B5EF4-FFF2-40B4-BE49-F238E27FC236}">
                <a16:creationId xmlns:a16="http://schemas.microsoft.com/office/drawing/2014/main" id="{FC570A5F-64CB-43B1-915E-0A18D789F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0572750"/>
            <a:ext cx="5892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63" name="8-ETL, OMOP and OHDSI-title">
            <a:extLst xmlns:a="http://schemas.openxmlformats.org/drawingml/2006/main">
              <a:ext uri="{FF2B5EF4-FFF2-40B4-BE49-F238E27FC236}">
                <a16:creationId xmlns:a16="http://schemas.microsoft.com/office/drawing/2014/main" id="{87B4674D-5F45-4B0E-AD4E-C5A2B5926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0620375"/>
            <a:ext cx="5740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8. ETL, OMOP and OHDSI</a:t>
            </a:r>
          </a:p>
        </p:txBody>
      </p:sp>
      <p:sp>
        <p:nvSpPr>
          <p:cNvPr id="64" name="8-ETL, OMOP and OHDSI-body">
            <a:extLst xmlns:a="http://schemas.openxmlformats.org/drawingml/2006/main">
              <a:ext uri="{FF2B5EF4-FFF2-40B4-BE49-F238E27FC236}">
                <a16:creationId xmlns:a16="http://schemas.microsoft.com/office/drawing/2014/main" id="{8550FE4A-0A34-4FD9-B681-0AF3D0C87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915650"/>
            <a:ext cx="5702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70" b="0">
                <a:solidFill>
                  <a:srgbClr val="102536"/>
                </a:solidFill>
              </a:defRPr>
            </a:pPr>
            <a:r>
              <a:rPr sz="570" b="0">
                <a:solidFill>
                  <a:srgbClr val="102536"/>
                </a:solidFill>
              </a:rPr>
              <a:t>• The analytical workflow follows ETL logic: extract microdata, transform variables and load reproducible analytical tables.</a:t>
            </a:r>
          </a:p>
          <a:p xmlns:a="http://schemas.openxmlformats.org/drawingml/2006/main">
            <a:pPr algn="l">
              <a:defRPr sz="570" b="0">
                <a:solidFill>
                  <a:srgbClr val="102536"/>
                </a:solidFill>
              </a:defRPr>
            </a:pPr>
            <a:r>
              <a:rPr sz="570" b="0">
                <a:solidFill>
                  <a:srgbClr val="102536"/>
                </a:solidFill>
              </a:rPr>
              <a:t>• PNS is not a longitudinal clinical database, but it can act as a population reference layer.</a:t>
            </a:r>
          </a:p>
          <a:p xmlns:a="http://schemas.openxmlformats.org/drawingml/2006/main">
            <a:pPr algn="l">
              <a:defRPr sz="570" b="0">
                <a:solidFill>
                  <a:srgbClr val="102536"/>
                </a:solidFill>
              </a:defRPr>
            </a:pPr>
            <a:r>
              <a:rPr sz="570" b="0">
                <a:solidFill>
                  <a:srgbClr val="102536"/>
                </a:solidFill>
              </a:rPr>
              <a:t>• OMOP/OHDSI offers principles for standardization, vocabularies and reproducibility for future comparison with health-care databases.</a:t>
            </a:r>
          </a:p>
        </p:txBody>
      </p:sp>
      <p:sp>
        <p:nvSpPr>
          <p:cNvPr id="65" name="9-Conclusions-box">
            <a:extLst xmlns:a="http://schemas.openxmlformats.org/drawingml/2006/main">
              <a:ext uri="{FF2B5EF4-FFF2-40B4-BE49-F238E27FC236}">
                <a16:creationId xmlns:a16="http://schemas.microsoft.com/office/drawing/2014/main" id="{A6507B9C-3D93-44F2-BB27-AE65CF96A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1118235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66" name="9-Conclusions-head">
            <a:extLst xmlns:a="http://schemas.openxmlformats.org/drawingml/2006/main">
              <a:ext uri="{FF2B5EF4-FFF2-40B4-BE49-F238E27FC236}">
                <a16:creationId xmlns:a16="http://schemas.microsoft.com/office/drawing/2014/main" id="{0E0A0D6E-DBF4-4DC1-9248-F58AF4A07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11182350"/>
            <a:ext cx="1714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3F59"/>
          </a:solidFill>
          <a:ln xmlns:a="http://schemas.openxmlformats.org/drawingml/2006/main" w="9525">
            <a:solidFill>
              <a:srgbClr val="153F59"/>
            </a:solidFill>
            <a:prstDash val="solid"/>
          </a:ln>
        </p:spPr>
      </p:sp>
      <p:sp>
        <p:nvSpPr>
          <p:cNvPr id="67" name="9-Conclusions-title">
            <a:extLst xmlns:a="http://schemas.openxmlformats.org/drawingml/2006/main">
              <a:ext uri="{FF2B5EF4-FFF2-40B4-BE49-F238E27FC236}">
                <a16:creationId xmlns:a16="http://schemas.microsoft.com/office/drawing/2014/main" id="{180A017E-05FE-4D35-B4D9-94C15EC7F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6200" y="11229975"/>
            <a:ext cx="15621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9. Conclusions</a:t>
            </a:r>
          </a:p>
        </p:txBody>
      </p:sp>
      <p:sp>
        <p:nvSpPr>
          <p:cNvPr id="68" name="9-Conclusions-body">
            <a:extLst xmlns:a="http://schemas.openxmlformats.org/drawingml/2006/main">
              <a:ext uri="{FF2B5EF4-FFF2-40B4-BE49-F238E27FC236}">
                <a16:creationId xmlns:a16="http://schemas.microsoft.com/office/drawing/2014/main" id="{6CC938EE-5103-47C2-81BE-0F8F9B493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1525250"/>
            <a:ext cx="152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" b="0">
                <a:solidFill>
                  <a:srgbClr val="102536"/>
                </a:solidFill>
              </a:defRPr>
            </a:pPr>
            <a:r>
              <a:rPr sz="540" b="0">
                <a:solidFill>
                  <a:srgbClr val="102536"/>
                </a:solidFill>
              </a:rPr>
              <a:t>• Correct implementation of the sampling design is required for valid estimates.</a:t>
            </a:r>
          </a:p>
          <a:p xmlns:a="http://schemas.openxmlformats.org/drawingml/2006/main">
            <a:pPr algn="l">
              <a:defRPr sz="540" b="0">
                <a:solidFill>
                  <a:srgbClr val="102536"/>
                </a:solidFill>
              </a:defRPr>
            </a:pPr>
            <a:r>
              <a:rPr sz="540" b="0">
                <a:solidFill>
                  <a:srgbClr val="102536"/>
                </a:solidFill>
              </a:rPr>
              <a:t>• Asthma should be treated as both a clinical and economic issue because it can affect productivity, income and the labor force.</a:t>
            </a:r>
          </a:p>
          <a:p xmlns:a="http://schemas.openxmlformats.org/drawingml/2006/main">
            <a:pPr algn="l">
              <a:defRPr sz="540" b="0">
                <a:solidFill>
                  <a:srgbClr val="102536"/>
                </a:solidFill>
              </a:defRPr>
            </a:pPr>
            <a:r>
              <a:rPr sz="540" b="0">
                <a:solidFill>
                  <a:srgbClr val="102536"/>
                </a:solidFill>
              </a:rPr>
              <a:t>• Absenteeism results are aggregated respiratory estimates; they should not be read as asthma-only estimates.</a:t>
            </a:r>
          </a:p>
        </p:txBody>
      </p:sp>
      <p:sp>
        <p:nvSpPr>
          <p:cNvPr id="69" name="references-box">
            <a:extLst xmlns:a="http://schemas.openxmlformats.org/drawingml/2006/main">
              <a:ext uri="{FF2B5EF4-FFF2-40B4-BE49-F238E27FC236}">
                <a16:creationId xmlns:a16="http://schemas.microsoft.com/office/drawing/2014/main" id="{803B685D-1B26-4D1A-955B-14C0EED6A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811000"/>
            <a:ext cx="70485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7D0DF"/>
            </a:solidFill>
            <a:prstDash val="solid"/>
          </a:ln>
        </p:spPr>
      </p:sp>
      <p:sp>
        <p:nvSpPr>
          <p:cNvPr id="70" name="references-title">
            <a:extLst xmlns:a="http://schemas.openxmlformats.org/drawingml/2006/main">
              <a:ext uri="{FF2B5EF4-FFF2-40B4-BE49-F238E27FC236}">
                <a16:creationId xmlns:a16="http://schemas.microsoft.com/office/drawing/2014/main" id="{6652ED7C-E63D-4B11-97F0-8279A2D22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877675"/>
            <a:ext cx="68961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53F59"/>
                </a:solidFill>
              </a:defRPr>
            </a:pPr>
            <a:r>
              <a:rPr sz="825" b="1">
                <a:solidFill>
                  <a:srgbClr val="153F59"/>
                </a:solidFill>
              </a:rPr>
              <a:t>References</a:t>
            </a:r>
          </a:p>
        </p:txBody>
      </p:sp>
      <p:sp>
        <p:nvSpPr>
          <p:cNvPr id="71" name="references-body">
            <a:extLst xmlns:a="http://schemas.openxmlformats.org/drawingml/2006/main">
              <a:ext uri="{FF2B5EF4-FFF2-40B4-BE49-F238E27FC236}">
                <a16:creationId xmlns:a16="http://schemas.microsoft.com/office/drawing/2014/main" id="{2673E975-421F-45A5-B061-AA2FAB35C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077700"/>
            <a:ext cx="68961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[1] GLOBAL ASTHMA NETWORK. Global Asthma Report 2022. Auckland, New Zealand: Global Asthma Network, 2022. Disponível em: https://globalasthmareport.org/resources/Global_Asthma_Report_2022.pdf. Acesso em: 19 set. 2025.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[2] SOUZA-JÚNIOR, Paulo Roberto Borges de et al. Desenho da amostra da Pesquisa Nacional de Saúde 2013. Epidemiologia e Serviços de Saúde, v. 24, p. 207-216, 2015.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[3] DUBE, I.; SILVA, M. E. L. PNS_2013_2019. GitHub, 2026. Disponível em: https://github.com/ingodube/PNS_2013_2019. Acesso em: 28 mai. 2026.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[4] MENEZES, A. M. B. et al. Prevalência de diagnóstico médico de asma em adultos brasileiros: Pesquisa Nacional de Saúde, 2013. Revista Brasileira de Epidemiologia, São Paulo, v. 18, supl. 2, p. 204-213, 2015.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[5] SEVERE ASTHMA. Non-Pharmacological Interventions for Asthma. Disponível em: https://www.severeasthma.org.au/non-pharmacological-interventions-asthma/. Acesso em: 19 set. 2025.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[6] SANTOS, Felipe Moraes dos et al. Tendência da prevalência de asma autorreferida no Brasil de 2003 a 2013 em adultos e fatores associados à prevalência. Jornal Brasileiro de Pneumologia, v. 44, n. 6, p. 491-497, 2018. doi:10.1590/S1806-37562017000000328.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[7] TO, T. et al. Global asthma prevalence in adults: findings from the cross-sectional world health survey. BMC Public Health, v. 12, art. 204, 2012. doi:10.1186/1471-2458-12-204.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[8] OHDSI. Standardized Data: The OMOP Common Data Model. Disponível em: https://www.ohdsi.org/data-standardization/.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[9] OHDSI. OMOP Common Data Model. Disponível em: https://ohdsi.github.io/CommonDataModel/.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[10] OHDSI. ETL Creation Best Practices. Disponível em: https://www.ohdsi.org/web/wiki/doku.php?id=documentation:etl_best_practices.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[11] LUMLEY, Thomas. Complex Surveys: A Guide to Analysis Using R. Hoboken: Wiley, 2010.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[12] BROWN, Lawrence D.; CAI, T. Tony; DASGUPTA, Anirban. Interval estimation for a binomial proportion. Statistical Science, v. 16, n. 2, p. 101-133, 2001. doi:10.1214/ss/1009213286.</a:t>
            </a:r>
          </a:p>
          <a:p xmlns:a="http://schemas.openxmlformats.org/drawingml/2006/main">
            <a:pPr algn="l">
              <a:defRPr sz="338" b="0">
                <a:solidFill>
                  <a:srgbClr val="102536"/>
                </a:solidFill>
              </a:defRPr>
            </a:pPr>
            <a:r>
              <a:rPr sz="338" b="0">
                <a:solidFill>
                  <a:srgbClr val="102536"/>
                </a:solidFill>
              </a:rPr>
              <a:t>[13] KORN, Edward L.; GRAUBARD, Barry I. Confidence intervals for proportions with small expected number of positive counts estimated from survey data. Survey Methodology, v. 24, n. 2, p. 193-201, 1998.</a:t>
            </a:r>
          </a:p>
        </p:txBody>
      </p:sp>
      <p:sp>
        <p:nvSpPr>
          <p:cNvPr id="72" name="qr-box">
            <a:extLst xmlns:a="http://schemas.openxmlformats.org/drawingml/2006/main">
              <a:ext uri="{FF2B5EF4-FFF2-40B4-BE49-F238E27FC236}">
                <a16:creationId xmlns:a16="http://schemas.microsoft.com/office/drawing/2014/main" id="{21FD3BA8-728F-43F1-B8C4-F737A95D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1696700"/>
            <a:ext cx="876300" cy="1371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F5673"/>
            </a:solidFill>
            <a:prstDash val="solid"/>
          </a:ln>
        </p:spPr>
      </p:sp>
      <p:pic>
        <p:nvPicPr>
          <p:cNvPr id="1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ba7de210240f1"/>
          <a:stretch xmlns:a="http://schemas.openxmlformats.org/drawingml/2006/main"/>
        </p:blipFill>
        <p:spPr>
          <a:xfrm xmlns:a="http://schemas.openxmlformats.org/drawingml/2006/main">
            <a:off x="8305800" y="11811000"/>
            <a:ext cx="609600" cy="609600"/>
          </a:xfrm>
          <a:prstGeom xmlns:a="http://schemas.openxmlformats.org/drawingml/2006/main" prst="rect">
            <a:avLst/>
          </a:prstGeom>
        </p:spPr>
      </p:pic>
      <p:sp>
        <p:nvSpPr>
          <p:cNvPr id="74" name="qr-label">
            <a:extLst xmlns:a="http://schemas.openxmlformats.org/drawingml/2006/main">
              <a:ext uri="{FF2B5EF4-FFF2-40B4-BE49-F238E27FC236}">
                <a16:creationId xmlns:a16="http://schemas.microsoft.com/office/drawing/2014/main" id="{C51A7279-DBB7-4CF1-9DD0-DB455EDD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2496800"/>
            <a:ext cx="723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488" b="1">
                <a:solidFill>
                  <a:srgbClr val="153F59"/>
                </a:solidFill>
              </a:defRPr>
            </a:pPr>
            <a:r>
              <a:rPr sz="488" b="1">
                <a:solidFill>
                  <a:srgbClr val="153F59"/>
                </a:solidFill>
              </a:rPr>
              <a:t>Methodological report, reproducible code and figures</a:t>
            </a:r>
          </a:p>
          <a:p xmlns:a="http://schemas.openxmlformats.org/drawingml/2006/main">
            <a:pPr algn="ctr">
              <a:defRPr sz="488" b="1">
                <a:solidFill>
                  <a:srgbClr val="153F59"/>
                </a:solidFill>
              </a:defRPr>
            </a:pPr>
            <a:r>
              <a:rPr sz="488" b="1">
                <a:solidFill>
                  <a:srgbClr val="153F59"/>
                </a:solidFill>
              </a:rPr>
              <a:t>https://ingodube.github.io/PNS_2013_2019/metodologia.html</a:t>
            </a:r>
          </a:p>
        </p:txBody>
      </p:sp>
    </p:spTree>
    <p:extLst>
      <p:ext uri="{BB962C8B-B14F-4D97-AF65-F5344CB8AC3E}">
        <p14:creationId xmlns:p14="http://schemas.microsoft.com/office/powerpoint/2010/main" val="198205353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2026-07-21T22:06:32.9730000Z</dcterms:created>
  <dcterms:modified xsi:type="dcterms:W3CDTF">2026-07-21T22:06:32.9730000Z</dcterms:modified>
</coreProperties>
</file>