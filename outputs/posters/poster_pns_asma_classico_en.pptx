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083182e1634180" /><Relationship Type="http://schemas.openxmlformats.org/officeDocument/2006/relationships/extended-properties" Target="/docProps/app.xml" Id="R2335e1ff76844532" /><Relationship Type="http://schemas.openxmlformats.org/officeDocument/2006/relationships/officeDocument" Target="/ppt/presentation.xml" Id="Ra6da7c34fcbd4c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354873120c4607"/>
  </p:sldMasterIdLst>
  <p:notesMasterIdLst>
    <p:notesMasterId xmlns:r="http://schemas.openxmlformats.org/officeDocument/2006/relationships" r:id="R2f7547e61d9a428e"/>
  </p:notesMasterIdLst>
  <p:sldIdLst>
    <p:sldId xmlns:r="http://schemas.openxmlformats.org/officeDocument/2006/relationships" id="256" r:id="Ra8232c91f1374f21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c1ff339cbe451a" /><Relationship Type="http://schemas.openxmlformats.org/officeDocument/2006/relationships/slideMaster" Target="/ppt/slideMasters/slideMaster1.xml" Id="Rc4354873120c4607" /><Relationship Type="http://schemas.openxmlformats.org/officeDocument/2006/relationships/notesMaster" Target="/ppt/notesMasters/notesMaster1.xml" Id="R2f7547e61d9a428e" /><Relationship Type="http://schemas.openxmlformats.org/officeDocument/2006/relationships/presProps" Target="/ppt/presProps.xml" Id="R1df3a6de249c40a4" /><Relationship Type="http://schemas.openxmlformats.org/officeDocument/2006/relationships/tableStyles" Target="/ppt/tableStyles.xml" Id="Rbed3db4cd0ab421b" /><Relationship Type="http://schemas.openxmlformats.org/officeDocument/2006/relationships/slide" Target="/ppt/slides/slide1.xml" Id="Ra8232c91f1374f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87baaa4c0447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b99fb871614a7d" /><Relationship Type="http://schemas.openxmlformats.org/officeDocument/2006/relationships/notesMaster" Target="/ppt/notesMasters/notesMaster1.xml" Id="Rf6a8ef846efb4e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02ec6aea6c45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1b03ad1d44162" /><Relationship Type="http://schemas.openxmlformats.org/officeDocument/2006/relationships/slideLayout" Target="/ppt/slideLayouts/slideLayout1.xml" Id="R3b9e7ab91d5040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9e7ab91d5040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43c84c664473b" /><Relationship Type="http://schemas.openxmlformats.org/officeDocument/2006/relationships/image" Target="/ppt/media/image.png" Id="R8ff9619181fd4121" /><Relationship Type="http://schemas.openxmlformats.org/officeDocument/2006/relationships/image" Target="/ppt/media/image2.png" Id="R4fe31b8eb68c4419" /><Relationship Type="http://schemas.openxmlformats.org/officeDocument/2006/relationships/image" Target="/ppt/media/image3.png" Id="Rcd32d62a571942d5" /><Relationship Type="http://schemas.openxmlformats.org/officeDocument/2006/relationships/image" Target="/ppt/media/image4.png" Id="R40000a130a694919" /><Relationship Type="http://schemas.openxmlformats.org/officeDocument/2006/relationships/image" Target="/ppt/media/image5.png" Id="R4eb36c3b26934253" /><Relationship Type="http://schemas.openxmlformats.org/officeDocument/2006/relationships/image" Target="/ppt/media/image6.png" Id="Rdfa13ff962a84ee9" /><Relationship Type="http://schemas.openxmlformats.org/officeDocument/2006/relationships/image" Target="/ppt/media/image7.png" Id="Rcd3d24d3e86a4a04" /><Relationship Type="http://schemas.openxmlformats.org/officeDocument/2006/relationships/image" Target="/ppt/media/image8.png" Id="R8822f1ebdfa54f3d" /><Relationship Type="http://schemas.openxmlformats.org/officeDocument/2006/relationships/notesSlide" Target="/ppt/notesSlides/notesSlide1.xml" Id="R51e60b596c0d47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f9619181fd4121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31b8eb68c4419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32d62a571942d5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classic-title">
            <a:extLst xmlns:a="http://schemas.openxmlformats.org/drawingml/2006/main">
              <a:ext uri="{FF2B5EF4-FFF2-40B4-BE49-F238E27FC236}">
                <a16:creationId xmlns:a16="http://schemas.microsoft.com/office/drawing/2014/main" id="{A5E2AA4E-4A5B-46AF-A5A1-2BF980F9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classic-authors">
            <a:extLst xmlns:a="http://schemas.openxmlformats.org/drawingml/2006/main">
              <a:ext uri="{FF2B5EF4-FFF2-40B4-BE49-F238E27FC236}">
                <a16:creationId xmlns:a16="http://schemas.microsoft.com/office/drawing/2014/main" id="{E8E69C95-1BE9-46B3-B01C-4321D29E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1-Introduction-box">
            <a:extLst xmlns:a="http://schemas.openxmlformats.org/drawingml/2006/main">
              <a:ext uri="{FF2B5EF4-FFF2-40B4-BE49-F238E27FC236}">
                <a16:creationId xmlns:a16="http://schemas.microsoft.com/office/drawing/2014/main" id="{C7F526C1-A233-49C9-A10E-416C3DCB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" name="1-Introduction-head">
            <a:extLst xmlns:a="http://schemas.openxmlformats.org/drawingml/2006/main">
              <a:ext uri="{FF2B5EF4-FFF2-40B4-BE49-F238E27FC236}">
                <a16:creationId xmlns:a16="http://schemas.microsoft.com/office/drawing/2014/main" id="{A616FC0A-2D7C-47D3-B431-C206CB4E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8" name="1-Introduction-title">
            <a:extLst xmlns:a="http://schemas.openxmlformats.org/drawingml/2006/main">
              <a:ext uri="{FF2B5EF4-FFF2-40B4-BE49-F238E27FC236}">
                <a16:creationId xmlns:a16="http://schemas.microsoft.com/office/drawing/2014/main" id="{BE8B4996-8206-4730-912D-AA0C24FA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907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Introduction</a:t>
            </a:r>
          </a:p>
        </p:txBody>
      </p:sp>
      <p:sp>
        <p:nvSpPr>
          <p:cNvPr id="9" name="1-Introduction-body">
            <a:extLst xmlns:a="http://schemas.openxmlformats.org/drawingml/2006/main">
              <a:ext uri="{FF2B5EF4-FFF2-40B4-BE49-F238E27FC236}">
                <a16:creationId xmlns:a16="http://schemas.microsoft.com/office/drawing/2014/main" id="{0754B327-BF77-4A7C-90F9-606786E7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2679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Epidemiological indicators summarize frequency, distribution and change in health events.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In asthma, prevalence, attacks, medication use and smoking help separate disease burden, diagnostic access, clinical management and risk factors.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PNS is a population-based household survey with a complex sampling design; valid estimates require weights, strata and clusters.</a:t>
            </a:r>
          </a:p>
        </p:txBody>
      </p:sp>
      <p:sp>
        <p:nvSpPr>
          <p:cNvPr id="10" name="2-Objectives-box">
            <a:extLst xmlns:a="http://schemas.openxmlformats.org/drawingml/2006/main">
              <a:ext uri="{FF2B5EF4-FFF2-40B4-BE49-F238E27FC236}">
                <a16:creationId xmlns:a16="http://schemas.microsoft.com/office/drawing/2014/main" id="{00B51BDD-36CB-4E15-9042-07C71237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1" name="2-Objectives-head">
            <a:extLst xmlns:a="http://schemas.openxmlformats.org/drawingml/2006/main">
              <a:ext uri="{FF2B5EF4-FFF2-40B4-BE49-F238E27FC236}">
                <a16:creationId xmlns:a16="http://schemas.microsoft.com/office/drawing/2014/main" id="{C0DAB95D-5F0B-4D5B-8D27-B5DDD22A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2" name="2-Objectives-title">
            <a:extLst xmlns:a="http://schemas.openxmlformats.org/drawingml/2006/main">
              <a:ext uri="{FF2B5EF4-FFF2-40B4-BE49-F238E27FC236}">
                <a16:creationId xmlns:a16="http://schemas.microsoft.com/office/drawing/2014/main" id="{AA34715A-E7A4-42A5-BF49-1BD3B6D1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Objectives</a:t>
            </a:r>
          </a:p>
        </p:txBody>
      </p:sp>
      <p:sp>
        <p:nvSpPr>
          <p:cNvPr id="13" name="2-Objectives-body">
            <a:extLst xmlns:a="http://schemas.openxmlformats.org/drawingml/2006/main">
              <a:ext uri="{FF2B5EF4-FFF2-40B4-BE49-F238E27FC236}">
                <a16:creationId xmlns:a16="http://schemas.microsoft.com/office/drawing/2014/main" id="{218C8EEC-2FC6-44C6-96A5-EDCB13B9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267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Implement the 2013 and 2019 PNS sampling design in R.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Estimate physician-diagnosed asthma, attacks in the previous 12 months, oral/inhaler medication use, smoking, out-of-pocket payment, absenteeism, lost days and income.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Compare Brazil and states using point estimates, beta 95% CIs, magnitude and interval overlap.</a:t>
            </a:r>
          </a:p>
        </p:txBody>
      </p:sp>
      <p:sp>
        <p:nvSpPr>
          <p:cNvPr id="14" name="3-Data and indicators-box">
            <a:extLst xmlns:a="http://schemas.openxmlformats.org/drawingml/2006/main">
              <a:ext uri="{FF2B5EF4-FFF2-40B4-BE49-F238E27FC236}">
                <a16:creationId xmlns:a16="http://schemas.microsoft.com/office/drawing/2014/main" id="{D1550EC8-393E-45B7-8F38-1638F6F3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3-Data and indicators-head">
            <a:extLst xmlns:a="http://schemas.openxmlformats.org/drawingml/2006/main">
              <a:ext uri="{FF2B5EF4-FFF2-40B4-BE49-F238E27FC236}">
                <a16:creationId xmlns:a16="http://schemas.microsoft.com/office/drawing/2014/main" id="{13923DB1-5245-4D15-853C-67254A2D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6" name="3-Data and indicators-title">
            <a:extLst xmlns:a="http://schemas.openxmlformats.org/drawingml/2006/main">
              <a:ext uri="{FF2B5EF4-FFF2-40B4-BE49-F238E27FC236}">
                <a16:creationId xmlns:a16="http://schemas.microsoft.com/office/drawing/2014/main" id="{B297F4FB-EC62-4307-9D4E-40EE875E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86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Data and indicators</a:t>
            </a:r>
          </a:p>
        </p:txBody>
      </p:sp>
      <p:sp>
        <p:nvSpPr>
          <p:cNvPr id="17" name="3-Data and indicators-body">
            <a:extLst xmlns:a="http://schemas.openxmlformats.org/drawingml/2006/main">
              <a:ext uri="{FF2B5EF4-FFF2-40B4-BE49-F238E27FC236}">
                <a16:creationId xmlns:a16="http://schemas.microsoft.com/office/drawing/2014/main" id="{39165ABB-83BC-4CC7-BE5C-FBFB2E42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4-Sampling design-box">
            <a:extLst xmlns:a="http://schemas.openxmlformats.org/drawingml/2006/main">
              <a:ext uri="{FF2B5EF4-FFF2-40B4-BE49-F238E27FC236}">
                <a16:creationId xmlns:a16="http://schemas.microsoft.com/office/drawing/2014/main" id="{EEB3DAE7-B6F4-48E1-8029-7BD76F51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4-Sampling design-head">
            <a:extLst xmlns:a="http://schemas.openxmlformats.org/drawingml/2006/main">
              <a:ext uri="{FF2B5EF4-FFF2-40B4-BE49-F238E27FC236}">
                <a16:creationId xmlns:a16="http://schemas.microsoft.com/office/drawing/2014/main" id="{9B4192DE-E9F8-4613-8F31-BFF2E1F7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20" name="4-Sampling design-title">
            <a:extLst xmlns:a="http://schemas.openxmlformats.org/drawingml/2006/main">
              <a:ext uri="{FF2B5EF4-FFF2-40B4-BE49-F238E27FC236}">
                <a16:creationId xmlns:a16="http://schemas.microsoft.com/office/drawing/2014/main" id="{B9F57A8E-4A68-4DCC-B31B-CA0FE122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10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Sampling design</a:t>
            </a:r>
          </a:p>
        </p:txBody>
      </p:sp>
      <p:sp>
        <p:nvSpPr>
          <p:cNvPr id="21" name="4-Sampling design-body">
            <a:extLst xmlns:a="http://schemas.openxmlformats.org/drawingml/2006/main">
              <a:ext uri="{FF2B5EF4-FFF2-40B4-BE49-F238E27FC236}">
                <a16:creationId xmlns:a16="http://schemas.microsoft.com/office/drawing/2014/main" id="{3B1A2F2F-EE7D-4036-AA48-BADD72F7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05700"/>
            <a:ext cx="26797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22" name="classic-formula-box">
            <a:extLst xmlns:a="http://schemas.openxmlformats.org/drawingml/2006/main">
              <a:ext uri="{FF2B5EF4-FFF2-40B4-BE49-F238E27FC236}">
                <a16:creationId xmlns:a16="http://schemas.microsoft.com/office/drawing/2014/main" id="{794E9961-8EEE-40F5-9730-867E4825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05900"/>
            <a:ext cx="2870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3" name="classic-formula-title">
            <a:extLst xmlns:a="http://schemas.openxmlformats.org/drawingml/2006/main">
              <a:ext uri="{FF2B5EF4-FFF2-40B4-BE49-F238E27FC236}">
                <a16:creationId xmlns:a16="http://schemas.microsoft.com/office/drawing/2014/main" id="{B26EF3DA-0715-4B85-9158-A119435C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63050"/>
            <a:ext cx="2870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24" name="classic-formula">
            <a:extLst xmlns:a="http://schemas.openxmlformats.org/drawingml/2006/main">
              <a:ext uri="{FF2B5EF4-FFF2-40B4-BE49-F238E27FC236}">
                <a16:creationId xmlns:a16="http://schemas.microsoft.com/office/drawing/2014/main" id="{9D35DE7E-CA57-44F1-926E-5FC5B103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72600"/>
            <a:ext cx="2679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25" name="prev-metric">
            <a:extLst xmlns:a="http://schemas.openxmlformats.org/drawingml/2006/main">
              <a:ext uri="{FF2B5EF4-FFF2-40B4-BE49-F238E27FC236}">
                <a16:creationId xmlns:a16="http://schemas.microsoft.com/office/drawing/2014/main" id="{BEC00AD7-CA25-4CFA-8D88-973549EE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6" name="prev-metric-title">
            <a:extLst xmlns:a="http://schemas.openxmlformats.org/drawingml/2006/main">
              <a:ext uri="{FF2B5EF4-FFF2-40B4-BE49-F238E27FC236}">
                <a16:creationId xmlns:a16="http://schemas.microsoft.com/office/drawing/2014/main" id="{DAF306CA-A7F4-42C7-8692-A68F5D5D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diagnosis</a:t>
            </a:r>
          </a:p>
        </p:txBody>
      </p:sp>
      <p:sp>
        <p:nvSpPr>
          <p:cNvPr id="27" name="prev-metric-value">
            <a:extLst xmlns:a="http://schemas.openxmlformats.org/drawingml/2006/main">
              <a:ext uri="{FF2B5EF4-FFF2-40B4-BE49-F238E27FC236}">
                <a16:creationId xmlns:a16="http://schemas.microsoft.com/office/drawing/2014/main" id="{B0F22488-1B73-4A74-951D-197CBB50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8" name="prev-metric-note">
            <a:extLst xmlns:a="http://schemas.openxmlformats.org/drawingml/2006/main">
              <a:ext uri="{FF2B5EF4-FFF2-40B4-BE49-F238E27FC236}">
                <a16:creationId xmlns:a16="http://schemas.microsoft.com/office/drawing/2014/main" id="{D7F129B0-7C65-4A65-A758-D17D60DA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Physician-diagnosed asthma increased, with non-overlapping 95% CIs.</a:t>
            </a:r>
          </a:p>
        </p:txBody>
      </p:sp>
      <p:sp>
        <p:nvSpPr>
          <p:cNvPr id="29" name="crisis-metric">
            <a:extLst xmlns:a="http://schemas.openxmlformats.org/drawingml/2006/main">
              <a:ext uri="{FF2B5EF4-FFF2-40B4-BE49-F238E27FC236}">
                <a16:creationId xmlns:a16="http://schemas.microsoft.com/office/drawing/2014/main" id="{01646118-2EB7-4FE2-B7EA-DB84D06C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33718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0" name="crisis-metric-title">
            <a:extLst xmlns:a="http://schemas.openxmlformats.org/drawingml/2006/main">
              <a:ext uri="{FF2B5EF4-FFF2-40B4-BE49-F238E27FC236}">
                <a16:creationId xmlns:a16="http://schemas.microsoft.com/office/drawing/2014/main" id="{AB195CFA-8A47-4E48-BA28-916385FE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4480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attacks</a:t>
            </a:r>
          </a:p>
        </p:txBody>
      </p:sp>
      <p:sp>
        <p:nvSpPr>
          <p:cNvPr id="31" name="crisis-metric-value">
            <a:extLst xmlns:a="http://schemas.openxmlformats.org/drawingml/2006/main">
              <a:ext uri="{FF2B5EF4-FFF2-40B4-BE49-F238E27FC236}">
                <a16:creationId xmlns:a16="http://schemas.microsoft.com/office/drawing/2014/main" id="{8C819B23-7598-4F7D-90D6-B37F7B12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6385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38.3%→37.7%</a:t>
            </a:r>
          </a:p>
        </p:txBody>
      </p:sp>
      <p:sp>
        <p:nvSpPr>
          <p:cNvPr id="32" name="crisis-metric-note">
            <a:extLst xmlns:a="http://schemas.openxmlformats.org/drawingml/2006/main">
              <a:ext uri="{FF2B5EF4-FFF2-40B4-BE49-F238E27FC236}">
                <a16:creationId xmlns:a16="http://schemas.microsoft.com/office/drawing/2014/main" id="{DE710182-4982-4810-87DE-6A8765E7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9052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12-month attacks were stable; control did not improve proportionally.</a:t>
            </a:r>
          </a:p>
        </p:txBody>
      </p:sp>
      <p:sp>
        <p:nvSpPr>
          <p:cNvPr id="33" name="chart-prev-caption">
            <a:extLst xmlns:a="http://schemas.openxmlformats.org/drawingml/2006/main">
              <a:ext uri="{FF2B5EF4-FFF2-40B4-BE49-F238E27FC236}">
                <a16:creationId xmlns:a16="http://schemas.microsoft.com/office/drawing/2014/main" id="{1CDB1A6B-6FF3-4E31-9755-D6898E4D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4196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4" name="chart-prev-frame">
            <a:extLst xmlns:a="http://schemas.openxmlformats.org/drawingml/2006/main">
              <a:ext uri="{FF2B5EF4-FFF2-40B4-BE49-F238E27FC236}">
                <a16:creationId xmlns:a16="http://schemas.microsoft.com/office/drawing/2014/main" id="{AFBAA7ED-F610-49A2-90C2-CA138048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6672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00a130a694919"/>
          <a:stretch xmlns:a="http://schemas.openxmlformats.org/drawingml/2006/main"/>
        </p:blipFill>
        <p:spPr>
          <a:xfrm xmlns:a="http://schemas.openxmlformats.org/drawingml/2006/main">
            <a:off x="3387790" y="47244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6" name="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E0BD6DE2-EB60-4E30-84F9-EF4A4E11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68961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Asthma attacks in the previous 12 months (%) by state and Brazil, PNS 2013 and 2019.</a:t>
            </a:r>
          </a:p>
        </p:txBody>
      </p:sp>
      <p:sp>
        <p:nvSpPr>
          <p:cNvPr id="37" name="chart-crisis-frame">
            <a:extLst xmlns:a="http://schemas.openxmlformats.org/drawingml/2006/main">
              <a:ext uri="{FF2B5EF4-FFF2-40B4-BE49-F238E27FC236}">
                <a16:creationId xmlns:a16="http://schemas.microsoft.com/office/drawing/2014/main" id="{09D287B2-CF88-4ED0-B2AE-84395B20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71437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b36c3b26934253"/>
          <a:stretch xmlns:a="http://schemas.openxmlformats.org/drawingml/2006/main"/>
        </p:blipFill>
        <p:spPr>
          <a:xfrm xmlns:a="http://schemas.openxmlformats.org/drawingml/2006/main">
            <a:off x="3387790" y="72009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9" name="5-Results and interpretation-box">
            <a:extLst xmlns:a="http://schemas.openxmlformats.org/drawingml/2006/main">
              <a:ext uri="{FF2B5EF4-FFF2-40B4-BE49-F238E27FC236}">
                <a16:creationId xmlns:a16="http://schemas.microsoft.com/office/drawing/2014/main" id="{F6EC4668-5524-4A57-AA3C-82B511DF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0" name="5-Results and interpretation-head">
            <a:extLst xmlns:a="http://schemas.openxmlformats.org/drawingml/2006/main">
              <a:ext uri="{FF2B5EF4-FFF2-40B4-BE49-F238E27FC236}">
                <a16:creationId xmlns:a16="http://schemas.microsoft.com/office/drawing/2014/main" id="{FF7F832D-1718-4075-8064-79EFBB04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41" name="5-Results and interpretation-title">
            <a:extLst xmlns:a="http://schemas.openxmlformats.org/drawingml/2006/main">
              <a:ext uri="{FF2B5EF4-FFF2-40B4-BE49-F238E27FC236}">
                <a16:creationId xmlns:a16="http://schemas.microsoft.com/office/drawing/2014/main" id="{275D82DB-1554-4459-BA59-6AED1775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9420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Results and interpretation</a:t>
            </a:r>
          </a:p>
        </p:txBody>
      </p:sp>
      <p:sp>
        <p:nvSpPr>
          <p:cNvPr id="42" name="5-Results and interpretation-body">
            <a:extLst xmlns:a="http://schemas.openxmlformats.org/drawingml/2006/main">
              <a:ext uri="{FF2B5EF4-FFF2-40B4-BE49-F238E27FC236}">
                <a16:creationId xmlns:a16="http://schemas.microsoft.com/office/drawing/2014/main" id="{23A0740A-3921-4068-A3C3-6A9AD8C7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650" y="9715500"/>
            <a:ext cx="26797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Brazil: physician-diagnosed asthma increased from 4.41% in 2013 to 5.40% in 2019, with non-overlapping 95% CIs.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Brazil: attacks in the previous 12 months were stable, from 38.3% to 37.7%.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Brazil: oral/inhaler medication use among people with asthma changed from 81.5% to 64.4%; interpretation should consider 95% CIs, the diagnosed group and the population rate.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Smoking declined in several states; the national rate cited changed from 14,650 to 12,151 per 100,000.</a:t>
            </a:r>
          </a:p>
        </p:txBody>
      </p:sp>
      <p:sp>
        <p:nvSpPr>
          <p:cNvPr id="43" name="meds-metric">
            <a:extLst xmlns:a="http://schemas.openxmlformats.org/drawingml/2006/main">
              <a:ext uri="{FF2B5EF4-FFF2-40B4-BE49-F238E27FC236}">
                <a16:creationId xmlns:a16="http://schemas.microsoft.com/office/drawing/2014/main" id="{614BF93D-9AAF-44F1-BD55-C8359429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4" name="meds-metric-title">
            <a:extLst xmlns:a="http://schemas.openxmlformats.org/drawingml/2006/main">
              <a:ext uri="{FF2B5EF4-FFF2-40B4-BE49-F238E27FC236}">
                <a16:creationId xmlns:a16="http://schemas.microsoft.com/office/drawing/2014/main" id="{7F7386CF-6710-48AF-B7F3-A8E0C827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Brazil: medication</a:t>
            </a:r>
          </a:p>
        </p:txBody>
      </p:sp>
      <p:sp>
        <p:nvSpPr>
          <p:cNvPr id="45" name="meds-metric-value">
            <a:extLst xmlns:a="http://schemas.openxmlformats.org/drawingml/2006/main">
              <a:ext uri="{FF2B5EF4-FFF2-40B4-BE49-F238E27FC236}">
                <a16:creationId xmlns:a16="http://schemas.microsoft.com/office/drawing/2014/main" id="{1DBB9A23-EDC6-4D2E-97A5-FACDD599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46" name="meds-metric-note">
            <a:extLst xmlns:a="http://schemas.openxmlformats.org/drawingml/2006/main">
              <a:ext uri="{FF2B5EF4-FFF2-40B4-BE49-F238E27FC236}">
                <a16:creationId xmlns:a16="http://schemas.microsoft.com/office/drawing/2014/main" id="{D0861812-2DF5-44A9-9258-28777DC2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Lower use among people with asthma; read with 95% CIs and the diagnosed-group profile.</a:t>
            </a:r>
          </a:p>
        </p:txBody>
      </p:sp>
      <p:sp>
        <p:nvSpPr>
          <p:cNvPr id="47" name="chart-meds-caption">
            <a:extLst xmlns:a="http://schemas.openxmlformats.org/drawingml/2006/main">
              <a:ext uri="{FF2B5EF4-FFF2-40B4-BE49-F238E27FC236}">
                <a16:creationId xmlns:a16="http://schemas.microsoft.com/office/drawing/2014/main" id="{767D8124-516A-464E-A382-B8410EC5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3718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8" name="chart-meds-frame">
            <a:extLst xmlns:a="http://schemas.openxmlformats.org/drawingml/2006/main">
              <a:ext uri="{FF2B5EF4-FFF2-40B4-BE49-F238E27FC236}">
                <a16:creationId xmlns:a16="http://schemas.microsoft.com/office/drawing/2014/main" id="{1498CF57-054A-4225-A038-73691FF5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6195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3ff962a84ee9"/>
          <a:stretch xmlns:a="http://schemas.openxmlformats.org/drawingml/2006/main"/>
        </p:blipFill>
        <p:spPr>
          <a:xfrm xmlns:a="http://schemas.openxmlformats.org/drawingml/2006/main">
            <a:off x="6410390" y="36766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0" name="chart-smoke-caption">
            <a:extLst xmlns:a="http://schemas.openxmlformats.org/drawingml/2006/main">
              <a:ext uri="{FF2B5EF4-FFF2-40B4-BE49-F238E27FC236}">
                <a16:creationId xmlns:a16="http://schemas.microsoft.com/office/drawing/2014/main" id="{1CA97DB8-56AC-40C7-8833-B7A8E077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8483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Current smokers per 100,000 inhabitants by state, PNS 2013 and 2019.</a:t>
            </a:r>
          </a:p>
        </p:txBody>
      </p:sp>
      <p:sp>
        <p:nvSpPr>
          <p:cNvPr id="51" name="chart-smoke-frame">
            <a:extLst xmlns:a="http://schemas.openxmlformats.org/drawingml/2006/main">
              <a:ext uri="{FF2B5EF4-FFF2-40B4-BE49-F238E27FC236}">
                <a16:creationId xmlns:a16="http://schemas.microsoft.com/office/drawing/2014/main" id="{B60A42E8-CBA2-4D30-BE69-B23BAFD7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60960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3d24d3e86a4a04"/>
          <a:stretch xmlns:a="http://schemas.openxmlformats.org/drawingml/2006/main"/>
        </p:blipFill>
        <p:spPr>
          <a:xfrm xmlns:a="http://schemas.openxmlformats.org/drawingml/2006/main">
            <a:off x="6410390" y="61531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3" name="6-Beta CI and chart reading-box">
            <a:extLst xmlns:a="http://schemas.openxmlformats.org/drawingml/2006/main">
              <a:ext uri="{FF2B5EF4-FFF2-40B4-BE49-F238E27FC236}">
                <a16:creationId xmlns:a16="http://schemas.microsoft.com/office/drawing/2014/main" id="{7C61FB6F-AD39-4DC5-9E8C-C7174715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4" name="6-Beta CI and chart reading-head">
            <a:extLst xmlns:a="http://schemas.openxmlformats.org/drawingml/2006/main">
              <a:ext uri="{FF2B5EF4-FFF2-40B4-BE49-F238E27FC236}">
                <a16:creationId xmlns:a16="http://schemas.microsoft.com/office/drawing/2014/main" id="{2DAACF49-C35B-48D2-B296-199F2D82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5" name="6-Beta CI and chart reading-title">
            <a:extLst xmlns:a="http://schemas.openxmlformats.org/drawingml/2006/main">
              <a:ext uri="{FF2B5EF4-FFF2-40B4-BE49-F238E27FC236}">
                <a16:creationId xmlns:a16="http://schemas.microsoft.com/office/drawing/2014/main" id="{33ACE7BD-D554-4E13-8DC9-63F57108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8372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Beta CI and chart reading</a:t>
            </a:r>
          </a:p>
        </p:txBody>
      </p:sp>
      <p:sp>
        <p:nvSpPr>
          <p:cNvPr id="56" name="6-Beta CI and chart reading-body">
            <a:extLst xmlns:a="http://schemas.openxmlformats.org/drawingml/2006/main">
              <a:ext uri="{FF2B5EF4-FFF2-40B4-BE49-F238E27FC236}">
                <a16:creationId xmlns:a16="http://schemas.microsoft.com/office/drawing/2014/main" id="{236A7B6E-33D6-40D4-8D65-033EFB99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866775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57" name="7-Discussion and implications-box">
            <a:extLst xmlns:a="http://schemas.openxmlformats.org/drawingml/2006/main">
              <a:ext uri="{FF2B5EF4-FFF2-40B4-BE49-F238E27FC236}">
                <a16:creationId xmlns:a16="http://schemas.microsoft.com/office/drawing/2014/main" id="{1BB92D7E-B50F-49C5-9D0B-D1CE5C16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8" name="7-Discussion and implications-head">
            <a:extLst xmlns:a="http://schemas.openxmlformats.org/drawingml/2006/main">
              <a:ext uri="{FF2B5EF4-FFF2-40B4-BE49-F238E27FC236}">
                <a16:creationId xmlns:a16="http://schemas.microsoft.com/office/drawing/2014/main" id="{7BBD83F2-0D3C-4DCC-AE0C-B824F68D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9" name="7-Discussion and implications-title">
            <a:extLst xmlns:a="http://schemas.openxmlformats.org/drawingml/2006/main">
              <a:ext uri="{FF2B5EF4-FFF2-40B4-BE49-F238E27FC236}">
                <a16:creationId xmlns:a16="http://schemas.microsoft.com/office/drawing/2014/main" id="{25DE4049-5F85-4E2C-BB23-ADCB316E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9896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Discussion and implications</a:t>
            </a:r>
          </a:p>
        </p:txBody>
      </p:sp>
      <p:sp>
        <p:nvSpPr>
          <p:cNvPr id="60" name="7-Discussion and implications-body">
            <a:extLst xmlns:a="http://schemas.openxmlformats.org/drawingml/2006/main">
              <a:ext uri="{FF2B5EF4-FFF2-40B4-BE49-F238E27FC236}">
                <a16:creationId xmlns:a16="http://schemas.microsoft.com/office/drawing/2014/main" id="{EB803D2D-1E5D-4FDA-A71C-5E4BB7D5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0191750"/>
            <a:ext cx="267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The pattern diagnosis↑, attacks≈ and medication use↓ suggests broader asthma recognition without proportional improvement in control.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The diagnosis increase may reflect higher occurrence, better diagnostic access or both.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Asthma control depends on medication access, clinical follow-up, education, exposure control and non-pharmacological interventions.</a:t>
            </a:r>
          </a:p>
        </p:txBody>
      </p:sp>
      <p:sp>
        <p:nvSpPr>
          <p:cNvPr id="61" name="8-ETL, OMOP and OHDSI-box">
            <a:extLst xmlns:a="http://schemas.openxmlformats.org/drawingml/2006/main">
              <a:ext uri="{FF2B5EF4-FFF2-40B4-BE49-F238E27FC236}">
                <a16:creationId xmlns:a16="http://schemas.microsoft.com/office/drawing/2014/main" id="{016887D4-D89B-47B9-BC55-B2B837BD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8-ETL, OMOP and OHDSI-head">
            <a:extLst xmlns:a="http://schemas.openxmlformats.org/drawingml/2006/main">
              <a:ext uri="{FF2B5EF4-FFF2-40B4-BE49-F238E27FC236}">
                <a16:creationId xmlns:a16="http://schemas.microsoft.com/office/drawing/2014/main" id="{C26FDF28-C157-46CC-BDA2-715042A0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3" name="8-ETL, OMOP and OHDSI-title">
            <a:extLst xmlns:a="http://schemas.openxmlformats.org/drawingml/2006/main">
              <a:ext uri="{FF2B5EF4-FFF2-40B4-BE49-F238E27FC236}">
                <a16:creationId xmlns:a16="http://schemas.microsoft.com/office/drawing/2014/main" id="{32DE33A8-9C10-401D-AFB1-3033FC4D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20375"/>
            <a:ext cx="574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8. ETL, OMOP and OHDSI</a:t>
            </a:r>
          </a:p>
        </p:txBody>
      </p:sp>
      <p:sp>
        <p:nvSpPr>
          <p:cNvPr id="64" name="8-ETL, OMOP and OHDSI-body">
            <a:extLst xmlns:a="http://schemas.openxmlformats.org/drawingml/2006/main">
              <a:ext uri="{FF2B5EF4-FFF2-40B4-BE49-F238E27FC236}">
                <a16:creationId xmlns:a16="http://schemas.microsoft.com/office/drawing/2014/main" id="{1516A939-4B9C-47CF-B878-4DCAC141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15650"/>
            <a:ext cx="570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65" name="9-Conclusions-box">
            <a:extLst xmlns:a="http://schemas.openxmlformats.org/drawingml/2006/main">
              <a:ext uri="{FF2B5EF4-FFF2-40B4-BE49-F238E27FC236}">
                <a16:creationId xmlns:a16="http://schemas.microsoft.com/office/drawing/2014/main" id="{B27D149B-3790-41F4-A796-3EC966A0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9-Conclusions-head">
            <a:extLst xmlns:a="http://schemas.openxmlformats.org/drawingml/2006/main">
              <a:ext uri="{FF2B5EF4-FFF2-40B4-BE49-F238E27FC236}">
                <a16:creationId xmlns:a16="http://schemas.microsoft.com/office/drawing/2014/main" id="{0BE59DDA-E150-498A-96EA-50B166D1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7" name="9-Conclusions-title">
            <a:extLst xmlns:a="http://schemas.openxmlformats.org/drawingml/2006/main">
              <a:ext uri="{FF2B5EF4-FFF2-40B4-BE49-F238E27FC236}">
                <a16:creationId xmlns:a16="http://schemas.microsoft.com/office/drawing/2014/main" id="{470A79A6-2303-4814-A813-87F431EE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12299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9. Conclusions</a:t>
            </a:r>
          </a:p>
        </p:txBody>
      </p:sp>
      <p:sp>
        <p:nvSpPr>
          <p:cNvPr id="68" name="9-Conclusions-body">
            <a:extLst xmlns:a="http://schemas.openxmlformats.org/drawingml/2006/main">
              <a:ext uri="{FF2B5EF4-FFF2-40B4-BE49-F238E27FC236}">
                <a16:creationId xmlns:a16="http://schemas.microsoft.com/office/drawing/2014/main" id="{CD2FB299-1A50-4353-B23D-968B0EFD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1525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Brazil showed increased diagnosis, but not equivalent evidence of improved control.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State-level charts must be read with 95% CIs because many comparisons have overlapping intervals.</a:t>
            </a:r>
          </a:p>
        </p:txBody>
      </p:sp>
      <p:sp>
        <p:nvSpPr>
          <p:cNvPr id="69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0717DBC0-D021-4192-945A-33BB1B02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704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0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14F4505C-0549-4F59-9303-5CA32A42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877675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71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B90361D6-CE57-4CE2-8C57-BEF92B49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077700"/>
            <a:ext cx="6896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72" name="qr-box">
            <a:extLst xmlns:a="http://schemas.openxmlformats.org/drawingml/2006/main">
              <a:ext uri="{FF2B5EF4-FFF2-40B4-BE49-F238E27FC236}">
                <a16:creationId xmlns:a16="http://schemas.microsoft.com/office/drawing/2014/main" id="{026A1FE6-13D9-43F7-9F5C-9DBE46B0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696700"/>
            <a:ext cx="876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2f1ebdfa54f3d"/>
          <a:stretch xmlns:a="http://schemas.openxmlformats.org/drawingml/2006/main"/>
        </p:blipFill>
        <p:spPr>
          <a:xfrm xmlns:a="http://schemas.openxmlformats.org/drawingml/2006/main">
            <a:off x="8305800" y="118110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74" name="qr-label">
            <a:extLst xmlns:a="http://schemas.openxmlformats.org/drawingml/2006/main">
              <a:ext uri="{FF2B5EF4-FFF2-40B4-BE49-F238E27FC236}">
                <a16:creationId xmlns:a16="http://schemas.microsoft.com/office/drawing/2014/main" id="{7C7F8AE6-BF7F-42EE-B801-58B3CB2B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249680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</p:spTree>
    <p:extLst>
      <p:ext uri="{BB962C8B-B14F-4D97-AF65-F5344CB8AC3E}">
        <p14:creationId xmlns:p14="http://schemas.microsoft.com/office/powerpoint/2010/main" val="310607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2026-07-21T21:53:27.4390000Z</dcterms:created>
  <dcterms:modified xsi:type="dcterms:W3CDTF">2026-07-21T21:53:27.4390000Z</dcterms:modified>
</coreProperties>
</file>