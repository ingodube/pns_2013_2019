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22105cc30b45e0" /><Relationship Type="http://schemas.openxmlformats.org/officeDocument/2006/relationships/extended-properties" Target="/docProps/app.xml" Id="R6e651865910e487e" /><Relationship Type="http://schemas.openxmlformats.org/officeDocument/2006/relationships/officeDocument" Target="/ppt/presentation.xml" Id="R38011c59ec494e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6ad69e1c8848cf"/>
  </p:sldMasterIdLst>
  <p:notesMasterIdLst>
    <p:notesMasterId xmlns:r="http://schemas.openxmlformats.org/officeDocument/2006/relationships" r:id="Rd8e0bd6aed08440e"/>
  </p:notesMasterIdLst>
  <p:sldIdLst>
    <p:sldId xmlns:r="http://schemas.openxmlformats.org/officeDocument/2006/relationships" id="256" r:id="Rf9d4938a31494e17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1ba92455a149ab" /><Relationship Type="http://schemas.openxmlformats.org/officeDocument/2006/relationships/slideMaster" Target="/ppt/slideMasters/slideMaster1.xml" Id="R3b6ad69e1c8848cf" /><Relationship Type="http://schemas.openxmlformats.org/officeDocument/2006/relationships/notesMaster" Target="/ppt/notesMasters/notesMaster1.xml" Id="Rd8e0bd6aed08440e" /><Relationship Type="http://schemas.openxmlformats.org/officeDocument/2006/relationships/presProps" Target="/ppt/presProps.xml" Id="Rde74b457b08b4a34" /><Relationship Type="http://schemas.openxmlformats.org/officeDocument/2006/relationships/tableStyles" Target="/ppt/tableStyles.xml" Id="R0a81282d93de4d57" /><Relationship Type="http://schemas.openxmlformats.org/officeDocument/2006/relationships/slide" Target="/ppt/slides/slide1.xml" Id="Rf9d4938a31494e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caa7b0782943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e956e2fca4b4f" /><Relationship Type="http://schemas.openxmlformats.org/officeDocument/2006/relationships/notesMaster" Target="/ppt/notesMasters/notesMaster1.xml" Id="R22714a5176394b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6d08f49b645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1dd3ea04fd4d8d" /><Relationship Type="http://schemas.openxmlformats.org/officeDocument/2006/relationships/slideLayout" Target="/ppt/slideLayouts/slideLayout1.xml" Id="R2942698e6b254d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42698e6b254d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599ea23d74a49" /><Relationship Type="http://schemas.openxmlformats.org/officeDocument/2006/relationships/image" Target="/ppt/media/image.png" Id="R2af8e9d4bcac46e8" /><Relationship Type="http://schemas.openxmlformats.org/officeDocument/2006/relationships/image" Target="/ppt/media/image2.png" Id="R276209a8ddf74df5" /><Relationship Type="http://schemas.openxmlformats.org/officeDocument/2006/relationships/image" Target="/ppt/media/image3.png" Id="Rfa00a639ca484b68" /><Relationship Type="http://schemas.openxmlformats.org/officeDocument/2006/relationships/image" Target="/ppt/media/image4.png" Id="Rd02f173c6b0e47fd" /><Relationship Type="http://schemas.openxmlformats.org/officeDocument/2006/relationships/image" Target="/ppt/media/image5.png" Id="Rcb801952030445c9" /><Relationship Type="http://schemas.openxmlformats.org/officeDocument/2006/relationships/image" Target="/ppt/media/image6.png" Id="R8c8dfd81c2bd4a74" /><Relationship Type="http://schemas.openxmlformats.org/officeDocument/2006/relationships/image" Target="/ppt/media/image7.png" Id="R13d4d144317d4e86" /><Relationship Type="http://schemas.openxmlformats.org/officeDocument/2006/relationships/image" Target="/ppt/media/image8.png" Id="Ra8db20cdfc4c4daf" /><Relationship Type="http://schemas.openxmlformats.org/officeDocument/2006/relationships/notesSlide" Target="/ppt/notesSlides/notesSlide1.xml" Id="Rea5e214465544e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8e9d4bcac46e8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209a8ddf74df5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0a639ca484b68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CE5A1974-D37D-4F2D-9151-FA04A941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945C8C30-E7BF-49DD-80EB-0B1BB4F3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1-Introduction-box">
            <a:extLst xmlns:a="http://schemas.openxmlformats.org/drawingml/2006/main">
              <a:ext uri="{FF2B5EF4-FFF2-40B4-BE49-F238E27FC236}">
                <a16:creationId xmlns:a16="http://schemas.microsoft.com/office/drawing/2014/main" id="{74338F02-6617-4463-9AF0-64CE6AA0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ction-head">
            <a:extLst xmlns:a="http://schemas.openxmlformats.org/drawingml/2006/main">
              <a:ext uri="{FF2B5EF4-FFF2-40B4-BE49-F238E27FC236}">
                <a16:creationId xmlns:a16="http://schemas.microsoft.com/office/drawing/2014/main" id="{2036AF82-5FD2-4BB5-A980-393C4D9A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ction-title">
            <a:extLst xmlns:a="http://schemas.openxmlformats.org/drawingml/2006/main">
              <a:ext uri="{FF2B5EF4-FFF2-40B4-BE49-F238E27FC236}">
                <a16:creationId xmlns:a16="http://schemas.microsoft.com/office/drawing/2014/main" id="{D2CDDFD0-DFC1-4581-8B11-FC0DD684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9" name="1-Introduction-body">
            <a:extLst xmlns:a="http://schemas.openxmlformats.org/drawingml/2006/main">
              <a:ext uri="{FF2B5EF4-FFF2-40B4-BE49-F238E27FC236}">
                <a16:creationId xmlns:a16="http://schemas.microsoft.com/office/drawing/2014/main" id="{6D32DF28-1458-469E-878A-B1491576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Epidemiological indicators summarize frequency, distribution and change in health events.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 asthma, prevalence, medication use, absenteeism and lost days help separate clinical burden, management and effects on work.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PNS is a population-based household survey with a complex sampling design; valid estimates require weights, strata and clusters.</a:t>
            </a:r>
          </a:p>
        </p:txBody>
      </p:sp>
      <p:sp>
        <p:nvSpPr>
          <p:cNvPr id="10" name="2-Objectives-box">
            <a:extLst xmlns:a="http://schemas.openxmlformats.org/drawingml/2006/main">
              <a:ext uri="{FF2B5EF4-FFF2-40B4-BE49-F238E27FC236}">
                <a16:creationId xmlns:a16="http://schemas.microsoft.com/office/drawing/2014/main" id="{ECA34F9B-4FF7-47FB-87D8-93C45C5F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ctives-head">
            <a:extLst xmlns:a="http://schemas.openxmlformats.org/drawingml/2006/main">
              <a:ext uri="{FF2B5EF4-FFF2-40B4-BE49-F238E27FC236}">
                <a16:creationId xmlns:a16="http://schemas.microsoft.com/office/drawing/2014/main" id="{CF3BD300-4E98-4C6C-A6FF-3A2B08FE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ctives-title">
            <a:extLst xmlns:a="http://schemas.openxmlformats.org/drawingml/2006/main">
              <a:ext uri="{FF2B5EF4-FFF2-40B4-BE49-F238E27FC236}">
                <a16:creationId xmlns:a16="http://schemas.microsoft.com/office/drawing/2014/main" id="{94E5F49C-B4AA-4F6C-B39C-8568CAB2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Objectives</a:t>
            </a:r>
          </a:p>
        </p:txBody>
      </p:sp>
      <p:sp>
        <p:nvSpPr>
          <p:cNvPr id="13" name="2-Objectives-body">
            <a:extLst xmlns:a="http://schemas.openxmlformats.org/drawingml/2006/main">
              <a:ext uri="{FF2B5EF4-FFF2-40B4-BE49-F238E27FC236}">
                <a16:creationId xmlns:a16="http://schemas.microsoft.com/office/drawing/2014/main" id="{02B20919-F11E-4D85-B882-65A28A62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 the 2013 and 2019 PNS sampling design in R.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Estimate physician-diagnosed asthma, attacks in the previous 12 months, oral/inhaler medication use, smoking, out-of-pocket payment, absenteeism, lost days and income.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Compare Brazil and states using point estimates, beta 95% CIs, magnitude and interval overlap.</a:t>
            </a:r>
          </a:p>
        </p:txBody>
      </p:sp>
      <p:sp>
        <p:nvSpPr>
          <p:cNvPr id="14" name="3-Data and indicators-box">
            <a:extLst xmlns:a="http://schemas.openxmlformats.org/drawingml/2006/main">
              <a:ext uri="{FF2B5EF4-FFF2-40B4-BE49-F238E27FC236}">
                <a16:creationId xmlns:a16="http://schemas.microsoft.com/office/drawing/2014/main" id="{9E7BAA7F-EACD-440A-B89D-1DA1BAE8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ta and indicators-head">
            <a:extLst xmlns:a="http://schemas.openxmlformats.org/drawingml/2006/main">
              <a:ext uri="{FF2B5EF4-FFF2-40B4-BE49-F238E27FC236}">
                <a16:creationId xmlns:a16="http://schemas.microsoft.com/office/drawing/2014/main" id="{4BB25401-3A13-4F9E-9244-7C8AD3B9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ta and indicators-title">
            <a:extLst xmlns:a="http://schemas.openxmlformats.org/drawingml/2006/main">
              <a:ext uri="{FF2B5EF4-FFF2-40B4-BE49-F238E27FC236}">
                <a16:creationId xmlns:a16="http://schemas.microsoft.com/office/drawing/2014/main" id="{A728D091-00CC-439B-8D76-1E544788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Data and indicators</a:t>
            </a:r>
          </a:p>
        </p:txBody>
      </p:sp>
      <p:sp>
        <p:nvSpPr>
          <p:cNvPr id="17" name="3-Data and indicators-body">
            <a:extLst xmlns:a="http://schemas.openxmlformats.org/drawingml/2006/main">
              <a:ext uri="{FF2B5EF4-FFF2-40B4-BE49-F238E27FC236}">
                <a16:creationId xmlns:a16="http://schemas.microsoft.com/office/drawing/2014/main" id="{BD97D7F3-2E56-44F2-A1E8-7E059417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4-Sampling design-box">
            <a:extLst xmlns:a="http://schemas.openxmlformats.org/drawingml/2006/main">
              <a:ext uri="{FF2B5EF4-FFF2-40B4-BE49-F238E27FC236}">
                <a16:creationId xmlns:a16="http://schemas.microsoft.com/office/drawing/2014/main" id="{C5A8E9C4-D005-46A4-B68B-0751BD88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Sampling design-head">
            <a:extLst xmlns:a="http://schemas.openxmlformats.org/drawingml/2006/main">
              <a:ext uri="{FF2B5EF4-FFF2-40B4-BE49-F238E27FC236}">
                <a16:creationId xmlns:a16="http://schemas.microsoft.com/office/drawing/2014/main" id="{C67AB3B8-9380-47B9-9E43-4C27FDDD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Sampling design-title">
            <a:extLst xmlns:a="http://schemas.openxmlformats.org/drawingml/2006/main">
              <a:ext uri="{FF2B5EF4-FFF2-40B4-BE49-F238E27FC236}">
                <a16:creationId xmlns:a16="http://schemas.microsoft.com/office/drawing/2014/main" id="{30C0889D-06AD-456A-B884-65DA9E80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Sampling design</a:t>
            </a:r>
          </a:p>
        </p:txBody>
      </p:sp>
      <p:sp>
        <p:nvSpPr>
          <p:cNvPr id="21" name="4-Sampling design-body">
            <a:extLst xmlns:a="http://schemas.openxmlformats.org/drawingml/2006/main">
              <a:ext uri="{FF2B5EF4-FFF2-40B4-BE49-F238E27FC236}">
                <a16:creationId xmlns:a16="http://schemas.microsoft.com/office/drawing/2014/main" id="{A9B74A47-B9A4-46F8-B21F-68AB201C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65CA7A2A-CA4A-4FD2-85BC-DABB2F40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74E6DD05-49BA-45D5-9F49-77D57249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1D4C4FAB-CBDE-4AC0-BE4F-97F04E48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992AD704-A3EC-421A-AC6F-006EBE21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3FC43ED3-F994-43E5-98F7-2A408A90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1C393D07-EBD3-424C-83A3-5CFD777E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D130A567-D2CC-4198-99BC-7675209B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Physician-diagnosed asthma increased, with non-overlapping 95% CIs.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F92DF442-D0CC-4366-8143-572FAA0E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6CC6847B-A64E-4DA2-867D-E1D7F738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work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081E2AB2-6DC7-4A2F-9645-0352D8D9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15.2%; 4.8 days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8B58CEC5-A89A-4599-8AE2-EF4D5E6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Respiratory causes: absenteeism and average lost workdays.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B230F1E9-C21E-49F1-A850-7633486E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77E2F75F-78AF-4E77-A9C8-9E28CD3A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f173c6b0e47fd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10BF06BF-24AC-40EF-8EA9-96DA86A7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Health-related absenteeism in Brazil, highlighting respiratory causes, PNS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B2C6AA04-F5FF-467C-89E5-2C99E820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01952030445c9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Discussion-box">
            <a:extLst xmlns:a="http://schemas.openxmlformats.org/drawingml/2006/main">
              <a:ext uri="{FF2B5EF4-FFF2-40B4-BE49-F238E27FC236}">
                <a16:creationId xmlns:a16="http://schemas.microsoft.com/office/drawing/2014/main" id="{20296C46-70AE-4BA9-841C-0A68AD88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Discussion-head">
            <a:extLst xmlns:a="http://schemas.openxmlformats.org/drawingml/2006/main">
              <a:ext uri="{FF2B5EF4-FFF2-40B4-BE49-F238E27FC236}">
                <a16:creationId xmlns:a16="http://schemas.microsoft.com/office/drawing/2014/main" id="{41C422DD-8C5A-470C-B803-A65BCA9C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Discussion-title">
            <a:extLst xmlns:a="http://schemas.openxmlformats.org/drawingml/2006/main">
              <a:ext uri="{FF2B5EF4-FFF2-40B4-BE49-F238E27FC236}">
                <a16:creationId xmlns:a16="http://schemas.microsoft.com/office/drawing/2014/main" id="{642802D8-0703-43CC-98BA-FF24A7B0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Discussion</a:t>
            </a:r>
          </a:p>
        </p:txBody>
      </p:sp>
      <p:sp>
        <p:nvSpPr>
          <p:cNvPr id="42" name="5-Discussion-body">
            <a:extLst xmlns:a="http://schemas.openxmlformats.org/drawingml/2006/main">
              <a:ext uri="{FF2B5EF4-FFF2-40B4-BE49-F238E27FC236}">
                <a16:creationId xmlns:a16="http://schemas.microsoft.com/office/drawing/2014/main" id="{8488CA81-9BDE-4371-A220-4B3E07B3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Asthma diagnosis increased in Brazil; respiratory causes account for 15.2% of health-related absenteeism.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Respiratory causes averaged 4.8 lost days, signaling potential productivity and income costs.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Better control may reduce absences, lost days and acute-care demand.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2BC9D387-DF44-4FF1-AE53-079E6D6F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23A8C17D-2265-4786-9011-BDADA1CC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C03F5337-7FB3-4DBA-856B-3617DB3F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32CE6DD7-E948-4685-91BC-954F6131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people with asthma; read with 95% CIs and the diagnosed-group profile.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2BF22512-3602-4575-9EF9-D00DC748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55C4AB6A-6801-47A4-AD15-E8048B93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dfd81c2bd4a74"/>
          <a:stretch xmlns:a="http://schemas.openxmlformats.org/drawingml/2006/main"/>
        </p:blipFill>
        <p:spPr>
          <a:xfrm xmlns:a="http://schemas.openxmlformats.org/drawingml/2006/main">
            <a:off x="6407150" y="3684712"/>
            <a:ext cx="2755900" cy="1965077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36C8D51A-3ED7-44B6-B595-76121074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Mean lost days by health reason in Brazil, highlighting respiratory causes, PNS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3E26E4C4-48DA-41F3-B579-6BC416BA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4d144317d4e86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Beta CI and chart reading-box">
            <a:extLst xmlns:a="http://schemas.openxmlformats.org/drawingml/2006/main">
              <a:ext uri="{FF2B5EF4-FFF2-40B4-BE49-F238E27FC236}">
                <a16:creationId xmlns:a16="http://schemas.microsoft.com/office/drawing/2014/main" id="{7D886288-0A61-4D79-9BEA-0C1AB0E2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Beta CI and chart reading-head">
            <a:extLst xmlns:a="http://schemas.openxmlformats.org/drawingml/2006/main">
              <a:ext uri="{FF2B5EF4-FFF2-40B4-BE49-F238E27FC236}">
                <a16:creationId xmlns:a16="http://schemas.microsoft.com/office/drawing/2014/main" id="{E0857305-88D4-432A-B210-28E0CDB8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Beta CI and chart reading-title">
            <a:extLst xmlns:a="http://schemas.openxmlformats.org/drawingml/2006/main">
              <a:ext uri="{FF2B5EF4-FFF2-40B4-BE49-F238E27FC236}">
                <a16:creationId xmlns:a16="http://schemas.microsoft.com/office/drawing/2014/main" id="{4A1BF137-9711-4380-9D9C-03B958CC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Beta CI and chart reading</a:t>
            </a:r>
          </a:p>
        </p:txBody>
      </p:sp>
      <p:sp>
        <p:nvSpPr>
          <p:cNvPr id="56" name="6-Beta CI and chart reading-body">
            <a:extLst xmlns:a="http://schemas.openxmlformats.org/drawingml/2006/main">
              <a:ext uri="{FF2B5EF4-FFF2-40B4-BE49-F238E27FC236}">
                <a16:creationId xmlns:a16="http://schemas.microsoft.com/office/drawing/2014/main" id="{97D15CD2-D8D9-4A39-B5C1-4880480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57" name="7-Economic impact-box">
            <a:extLst xmlns:a="http://schemas.openxmlformats.org/drawingml/2006/main">
              <a:ext uri="{FF2B5EF4-FFF2-40B4-BE49-F238E27FC236}">
                <a16:creationId xmlns:a16="http://schemas.microsoft.com/office/drawing/2014/main" id="{993EC9D1-0D1E-47E0-AF37-624EB141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Economic impact-head">
            <a:extLst xmlns:a="http://schemas.openxmlformats.org/drawingml/2006/main">
              <a:ext uri="{FF2B5EF4-FFF2-40B4-BE49-F238E27FC236}">
                <a16:creationId xmlns:a16="http://schemas.microsoft.com/office/drawing/2014/main" id="{72F4F155-4E89-4959-AAAD-33D55343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Economic impact-title">
            <a:extLst xmlns:a="http://schemas.openxmlformats.org/drawingml/2006/main">
              <a:ext uri="{FF2B5EF4-FFF2-40B4-BE49-F238E27FC236}">
                <a16:creationId xmlns:a16="http://schemas.microsoft.com/office/drawing/2014/main" id="{01488C17-B078-48DC-88BA-9AEBB234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Economic impact</a:t>
            </a:r>
          </a:p>
        </p:txBody>
      </p:sp>
      <p:sp>
        <p:nvSpPr>
          <p:cNvPr id="60" name="7-Economic impact-body">
            <a:extLst xmlns:a="http://schemas.openxmlformats.org/drawingml/2006/main">
              <a:ext uri="{FF2B5EF4-FFF2-40B4-BE49-F238E27FC236}">
                <a16:creationId xmlns:a16="http://schemas.microsoft.com/office/drawing/2014/main" id="{E2F7A55E-2E7D-4D7B-B736-5E251E0B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Poorly controlled asthma can reduce productivity through absences, functional limitation and demand for acute care.</a:t>
            </a:r>
          </a:p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The economic reading supports diagnosis, medication access and clinical follow-up policies.</a:t>
            </a:r>
          </a:p>
        </p:txBody>
      </p:sp>
      <p:sp>
        <p:nvSpPr>
          <p:cNvPr id="61" name="8-ETL, OMOP and OHDSI-box">
            <a:extLst xmlns:a="http://schemas.openxmlformats.org/drawingml/2006/main">
              <a:ext uri="{FF2B5EF4-FFF2-40B4-BE49-F238E27FC236}">
                <a16:creationId xmlns:a16="http://schemas.microsoft.com/office/drawing/2014/main" id="{AEA9E3A2-B8A4-494B-9B99-5716FB9E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and OHDSI-head">
            <a:extLst xmlns:a="http://schemas.openxmlformats.org/drawingml/2006/main">
              <a:ext uri="{FF2B5EF4-FFF2-40B4-BE49-F238E27FC236}">
                <a16:creationId xmlns:a16="http://schemas.microsoft.com/office/drawing/2014/main" id="{6D224476-5768-4D02-BCD6-8E28A02E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and OHDSI-title">
            <a:extLst xmlns:a="http://schemas.openxmlformats.org/drawingml/2006/main">
              <a:ext uri="{FF2B5EF4-FFF2-40B4-BE49-F238E27FC236}">
                <a16:creationId xmlns:a16="http://schemas.microsoft.com/office/drawing/2014/main" id="{39EBA4CA-CA38-444A-B307-D9684CBF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and OHDSI</a:t>
            </a:r>
          </a:p>
        </p:txBody>
      </p:sp>
      <p:sp>
        <p:nvSpPr>
          <p:cNvPr id="64" name="8-ETL, OMOP and OHDSI-body">
            <a:extLst xmlns:a="http://schemas.openxmlformats.org/drawingml/2006/main">
              <a:ext uri="{FF2B5EF4-FFF2-40B4-BE49-F238E27FC236}">
                <a16:creationId xmlns:a16="http://schemas.microsoft.com/office/drawing/2014/main" id="{7B48A05A-5E5B-4B06-A4FE-ADFAB891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65" name="9-Conclusions-box">
            <a:extLst xmlns:a="http://schemas.openxmlformats.org/drawingml/2006/main">
              <a:ext uri="{FF2B5EF4-FFF2-40B4-BE49-F238E27FC236}">
                <a16:creationId xmlns:a16="http://schemas.microsoft.com/office/drawing/2014/main" id="{02013D3C-D16D-48B7-A10E-F5844F05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ions-head">
            <a:extLst xmlns:a="http://schemas.openxmlformats.org/drawingml/2006/main">
              <a:ext uri="{FF2B5EF4-FFF2-40B4-BE49-F238E27FC236}">
                <a16:creationId xmlns:a16="http://schemas.microsoft.com/office/drawing/2014/main" id="{85E02F4F-DBA2-4F36-8073-044BAE21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ions-title">
            <a:extLst xmlns:a="http://schemas.openxmlformats.org/drawingml/2006/main">
              <a:ext uri="{FF2B5EF4-FFF2-40B4-BE49-F238E27FC236}">
                <a16:creationId xmlns:a16="http://schemas.microsoft.com/office/drawing/2014/main" id="{D7CB2C6B-85CF-4705-AE1A-3027E94F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Conclusions</a:t>
            </a:r>
          </a:p>
        </p:txBody>
      </p:sp>
      <p:sp>
        <p:nvSpPr>
          <p:cNvPr id="68" name="9-Conclusions-body">
            <a:extLst xmlns:a="http://schemas.openxmlformats.org/drawingml/2006/main">
              <a:ext uri="{FF2B5EF4-FFF2-40B4-BE49-F238E27FC236}">
                <a16:creationId xmlns:a16="http://schemas.microsoft.com/office/drawing/2014/main" id="{A96E1086-9322-43E3-B822-BA8C4957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Asthma should be treated as both a clinical and economic issue because it can affect productivity, income and the labor force.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Absenteeism results are aggregated respiratory estimates; they should not be read as asthma-only estimates.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4E2AC899-7BD7-4514-8188-06BD7EBC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11381CB6-9F89-4718-8009-B54E4E66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478638BA-15F6-42E2-9362-368612E0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1FEB14FB-E646-46EE-AB17-9EA62DEA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b20cdfc4c4daf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384D5546-2C6E-4E82-91FE-12D0B21C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20644683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2026-07-21T22:39:10.6410000Z</dcterms:created>
  <dcterms:modified xsi:type="dcterms:W3CDTF">2026-07-21T22:39:10.6410000Z</dcterms:modified>
</coreProperties>
</file>