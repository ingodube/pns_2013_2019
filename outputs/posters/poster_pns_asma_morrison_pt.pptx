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c1134e875245a8" /><Relationship Type="http://schemas.openxmlformats.org/officeDocument/2006/relationships/extended-properties" Target="/docProps/app.xml" Id="Re844937d60bb4e50" /><Relationship Type="http://schemas.openxmlformats.org/officeDocument/2006/relationships/officeDocument" Target="/ppt/presentation.xml" Id="Rf6b1010e5ca24b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7c15fadf18469c"/>
  </p:sldMasterIdLst>
  <p:notesMasterIdLst>
    <p:notesMasterId xmlns:r="http://schemas.openxmlformats.org/officeDocument/2006/relationships" r:id="R19495faa1f644e02"/>
  </p:notesMasterIdLst>
  <p:sldIdLst>
    <p:sldId xmlns:r="http://schemas.openxmlformats.org/officeDocument/2006/relationships" id="256" r:id="R04993fe3952e415d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09db2204bf4839" /><Relationship Type="http://schemas.openxmlformats.org/officeDocument/2006/relationships/slideMaster" Target="/ppt/slideMasters/slideMaster1.xml" Id="Rd67c15fadf18469c" /><Relationship Type="http://schemas.openxmlformats.org/officeDocument/2006/relationships/notesMaster" Target="/ppt/notesMasters/notesMaster1.xml" Id="R19495faa1f644e02" /><Relationship Type="http://schemas.openxmlformats.org/officeDocument/2006/relationships/presProps" Target="/ppt/presProps.xml" Id="R4efbc95390df4a64" /><Relationship Type="http://schemas.openxmlformats.org/officeDocument/2006/relationships/tableStyles" Target="/ppt/tableStyles.xml" Id="R2c10a4caaf6e4377" /><Relationship Type="http://schemas.openxmlformats.org/officeDocument/2006/relationships/slide" Target="/ppt/slides/slide1.xml" Id="R04993fe3952e41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8aacd338824b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a0f7b26d5b34b6e" /><Relationship Type="http://schemas.openxmlformats.org/officeDocument/2006/relationships/notesMaster" Target="/ppt/notesMasters/notesMaster1.xml" Id="Rbaf330a1378444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b6c8be38684f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5d1543a36e4e5b" /><Relationship Type="http://schemas.openxmlformats.org/officeDocument/2006/relationships/slideLayout" Target="/ppt/slideLayouts/slideLayout1.xml" Id="Ra96016a9971f4d1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6016a9971f4d1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11b0b5bbca44ed" /><Relationship Type="http://schemas.openxmlformats.org/officeDocument/2006/relationships/image" Target="/ppt/media/image.png" Id="Rf008441a35ef40d0" /><Relationship Type="http://schemas.openxmlformats.org/officeDocument/2006/relationships/image" Target="/ppt/media/image2.png" Id="R4da4a906672f4edb" /><Relationship Type="http://schemas.openxmlformats.org/officeDocument/2006/relationships/image" Target="/ppt/media/image3.png" Id="Rce79449f1c164d0c" /><Relationship Type="http://schemas.openxmlformats.org/officeDocument/2006/relationships/image" Target="/ppt/media/image4.png" Id="R6a4e2bac973b4711" /><Relationship Type="http://schemas.openxmlformats.org/officeDocument/2006/relationships/image" Target="/ppt/media/image5.png" Id="R1e0109a757fd4a98" /><Relationship Type="http://schemas.openxmlformats.org/officeDocument/2006/relationships/image" Target="/ppt/media/image6.png" Id="Ra92a0ae784a94799" /><Relationship Type="http://schemas.openxmlformats.org/officeDocument/2006/relationships/image" Target="/ppt/media/image7.png" Id="R8e50c17d8a7e42cb" /><Relationship Type="http://schemas.openxmlformats.org/officeDocument/2006/relationships/image" Target="/ppt/media/image8.png" Id="R8b21d71c1ae8482b" /><Relationship Type="http://schemas.openxmlformats.org/officeDocument/2006/relationships/notesSlide" Target="/ppt/notesSlides/notesSlide1.xml" Id="Ra1bc51d389864f3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08441a35ef40d0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a4a906672f4edb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79449f1c164d0c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morrison-title">
            <a:extLst xmlns:a="http://schemas.openxmlformats.org/drawingml/2006/main">
              <a:ext uri="{FF2B5EF4-FFF2-40B4-BE49-F238E27FC236}">
                <a16:creationId xmlns:a16="http://schemas.microsoft.com/office/drawing/2014/main" id="{32412488-2560-4C08-800D-6F1AAB2E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Implementação do Plano Amostral da Pesquisa Nacional de Saúde no R: um estudo de caso sobre a asma no Brasil</a:t>
            </a:r>
          </a:p>
        </p:txBody>
      </p:sp>
      <p:sp>
        <p:nvSpPr>
          <p:cNvPr id="5" name="morrison-authors">
            <a:extLst xmlns:a="http://schemas.openxmlformats.org/drawingml/2006/main">
              <a:ext uri="{FF2B5EF4-FFF2-40B4-BE49-F238E27FC236}">
                <a16:creationId xmlns:a16="http://schemas.microsoft.com/office/drawing/2014/main" id="{75E24BAD-03F8-4BAA-98E0-0405D224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Gerenciamento de dados observacionais</a:t>
            </a:r>
          </a:p>
        </p:txBody>
      </p:sp>
      <p:sp>
        <p:nvSpPr>
          <p:cNvPr id="6" name="central-message">
            <a:extLst xmlns:a="http://schemas.openxmlformats.org/drawingml/2006/main">
              <a:ext uri="{FF2B5EF4-FFF2-40B4-BE49-F238E27FC236}">
                <a16:creationId xmlns:a16="http://schemas.microsoft.com/office/drawing/2014/main" id="{AD2EBF14-013F-453D-971D-3746009FC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8153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Diagnóstico de asma aumentou no Brasil; a carga respiratória de absenteísmo mostra potencial de perda de produtividade e impacto econômico.</a:t>
            </a:r>
          </a:p>
        </p:txBody>
      </p:sp>
      <p:sp>
        <p:nvSpPr>
          <p:cNvPr id="7" name="1-Método em uma linha-box">
            <a:extLst xmlns:a="http://schemas.openxmlformats.org/drawingml/2006/main">
              <a:ext uri="{FF2B5EF4-FFF2-40B4-BE49-F238E27FC236}">
                <a16:creationId xmlns:a16="http://schemas.microsoft.com/office/drawing/2014/main" id="{42DDD954-B687-41E9-A0B5-56F12A2C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8" name="1-Método em uma linha-head">
            <a:extLst xmlns:a="http://schemas.openxmlformats.org/drawingml/2006/main">
              <a:ext uri="{FF2B5EF4-FFF2-40B4-BE49-F238E27FC236}">
                <a16:creationId xmlns:a16="http://schemas.microsoft.com/office/drawing/2014/main" id="{22EAB5CA-3E41-4E0C-9597-24D47151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9" name="1-Método em uma linha-title">
            <a:extLst xmlns:a="http://schemas.openxmlformats.org/drawingml/2006/main">
              <a:ext uri="{FF2B5EF4-FFF2-40B4-BE49-F238E27FC236}">
                <a16:creationId xmlns:a16="http://schemas.microsoft.com/office/drawing/2014/main" id="{5B65396C-09E9-4FE4-A6A7-6F5CA245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5277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Método em uma linha</a:t>
            </a:r>
          </a:p>
        </p:txBody>
      </p:sp>
      <p:sp>
        <p:nvSpPr>
          <p:cNvPr id="10" name="1-Método em uma linha-body">
            <a:extLst xmlns:a="http://schemas.openxmlformats.org/drawingml/2006/main">
              <a:ext uri="{FF2B5EF4-FFF2-40B4-BE49-F238E27FC236}">
                <a16:creationId xmlns:a16="http://schemas.microsoft.com/office/drawing/2014/main" id="{E8EC5A5B-BD44-4A4B-A691-1F9316B1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48050"/>
            <a:ext cx="24955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desenho foi construído com PNSIBGE::pns_design(), preservando UPA/PSU, estratos e peso calibrado do morador selecionado.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 estimação usa o pacote survey para proporções, médias, totais e taxas.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As taxas por 100 mil reescalam proporções ponderadas sem descartar a incerteza do desenho complexo.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PSUs solitárias e domínios pequenos exigem escolhas explícitas de inferência.</a:t>
            </a:r>
          </a:p>
        </p:txBody>
      </p:sp>
      <p:sp>
        <p:nvSpPr>
          <p:cNvPr id="11" name="morrison-formula-box">
            <a:extLst xmlns:a="http://schemas.openxmlformats.org/drawingml/2006/main">
              <a:ext uri="{FF2B5EF4-FFF2-40B4-BE49-F238E27FC236}">
                <a16:creationId xmlns:a16="http://schemas.microsoft.com/office/drawing/2014/main" id="{0C66F9B3-7CFA-43B2-A123-D225082C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10150"/>
            <a:ext cx="26860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2" name="morrison-formula-title">
            <a:extLst xmlns:a="http://schemas.openxmlformats.org/drawingml/2006/main">
              <a:ext uri="{FF2B5EF4-FFF2-40B4-BE49-F238E27FC236}">
                <a16:creationId xmlns:a16="http://schemas.microsoft.com/office/drawing/2014/main" id="{47409A4D-B24F-42CF-AB15-FF7412064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67300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Estimadores e fórmulas</a:t>
            </a:r>
          </a:p>
        </p:txBody>
      </p:sp>
      <p:sp>
        <p:nvSpPr>
          <p:cNvPr id="13" name="morrison-formula">
            <a:extLst xmlns:a="http://schemas.openxmlformats.org/drawingml/2006/main">
              <a:ext uri="{FF2B5EF4-FFF2-40B4-BE49-F238E27FC236}">
                <a16:creationId xmlns:a16="http://schemas.microsoft.com/office/drawing/2014/main" id="{36AA45D8-4B6A-4CAF-B23A-A1B81C97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76850"/>
            <a:ext cx="24955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peso amostral; yᵢ = indicador binário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taxa₁₀₀k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IC₉₅%(p̂) = survey::svyciprop(method = "beta")</a:t>
            </a:r>
          </a:p>
        </p:txBody>
      </p:sp>
      <p:sp>
        <p:nvSpPr>
          <p:cNvPr id="14" name="2-Dados e denominadores-box">
            <a:extLst xmlns:a="http://schemas.openxmlformats.org/drawingml/2006/main">
              <a:ext uri="{FF2B5EF4-FFF2-40B4-BE49-F238E27FC236}">
                <a16:creationId xmlns:a16="http://schemas.microsoft.com/office/drawing/2014/main" id="{09AEEEB0-C737-4587-A5D0-126AF586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2-Dados e denominadores-head">
            <a:extLst xmlns:a="http://schemas.openxmlformats.org/drawingml/2006/main">
              <a:ext uri="{FF2B5EF4-FFF2-40B4-BE49-F238E27FC236}">
                <a16:creationId xmlns:a16="http://schemas.microsoft.com/office/drawing/2014/main" id="{DE458DE7-1A7A-4CEC-8A90-769264EB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6" name="2-Dados e denominadores-title">
            <a:extLst xmlns:a="http://schemas.openxmlformats.org/drawingml/2006/main">
              <a:ext uri="{FF2B5EF4-FFF2-40B4-BE49-F238E27FC236}">
                <a16:creationId xmlns:a16="http://schemas.microsoft.com/office/drawing/2014/main" id="{475A8BA2-1C30-492B-8286-E2F76368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008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Dados e denominadores</a:t>
            </a:r>
          </a:p>
        </p:txBody>
      </p:sp>
      <p:sp>
        <p:nvSpPr>
          <p:cNvPr id="17" name="2-Dados e denominadores-body">
            <a:extLst xmlns:a="http://schemas.openxmlformats.org/drawingml/2006/main">
              <a:ext uri="{FF2B5EF4-FFF2-40B4-BE49-F238E27FC236}">
                <a16:creationId xmlns:a16="http://schemas.microsoft.com/office/drawing/2014/main" id="{B5C08750-52B8-48BD-B475-B45FC7A9D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896100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Unidade analítica: morador selecionado da PNS.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Variáveis centrais: Q074 diagnóstico médico de asma; Q076 crise recente; Q07701/Q07704/Q07708 uso de medicamento; P050 tabagismo.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Denominadores variam conforme o indicador: população geral, pessoas com asma, pessoas com asma e crise ou conjunto de respostas válidas.</a:t>
            </a:r>
          </a:p>
        </p:txBody>
      </p:sp>
      <p:sp>
        <p:nvSpPr>
          <p:cNvPr id="18" name="3-Por que IC beta?-box">
            <a:extLst xmlns:a="http://schemas.openxmlformats.org/drawingml/2006/main">
              <a:ext uri="{FF2B5EF4-FFF2-40B4-BE49-F238E27FC236}">
                <a16:creationId xmlns:a16="http://schemas.microsoft.com/office/drawing/2014/main" id="{68630D47-C726-444C-A568-F8233E07E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3-Por que IC beta?-head">
            <a:extLst xmlns:a="http://schemas.openxmlformats.org/drawingml/2006/main">
              <a:ext uri="{FF2B5EF4-FFF2-40B4-BE49-F238E27FC236}">
                <a16:creationId xmlns:a16="http://schemas.microsoft.com/office/drawing/2014/main" id="{F397397C-BCFF-4423-8CFE-8A260968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0" name="3-Por que IC beta?-title">
            <a:extLst xmlns:a="http://schemas.openxmlformats.org/drawingml/2006/main">
              <a:ext uri="{FF2B5EF4-FFF2-40B4-BE49-F238E27FC236}">
                <a16:creationId xmlns:a16="http://schemas.microsoft.com/office/drawing/2014/main" id="{2BDADD10-4F96-4A10-A089-CA662C093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48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Por que IC beta?</a:t>
            </a:r>
          </a:p>
        </p:txBody>
      </p:sp>
      <p:sp>
        <p:nvSpPr>
          <p:cNvPr id="21" name="3-Por que IC beta?-body">
            <a:extLst xmlns:a="http://schemas.openxmlformats.org/drawingml/2006/main">
              <a:ext uri="{FF2B5EF4-FFF2-40B4-BE49-F238E27FC236}">
                <a16:creationId xmlns:a16="http://schemas.microsoft.com/office/drawing/2014/main" id="{8C58BC9A-2AEE-4B6D-B892-410B02694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34390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intervalo de Wald pode apresentar cobertura instável em proporções baixas/altas ou domínios com poucos eventos.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IC beta por survey::svyciprop(method = "beta") respeita a escala 0-1 e reduz o risco de limites impossíveis.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 comparação entre anos/UFs foi interpretada por magnitude e sobreposição dos IC95%, não apenas pela altura das barras.</a:t>
            </a:r>
          </a:p>
        </p:txBody>
      </p:sp>
      <p:sp>
        <p:nvSpPr>
          <p:cNvPr id="22" name="4-ETL e interoperabilidade-box">
            <a:extLst xmlns:a="http://schemas.openxmlformats.org/drawingml/2006/main">
              <a:ext uri="{FF2B5EF4-FFF2-40B4-BE49-F238E27FC236}">
                <a16:creationId xmlns:a16="http://schemas.microsoft.com/office/drawing/2014/main" id="{33B14D77-6B97-4340-882E-2F244F847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3" name="4-ETL e interoperabilidade-head">
            <a:extLst xmlns:a="http://schemas.openxmlformats.org/drawingml/2006/main">
              <a:ext uri="{FF2B5EF4-FFF2-40B4-BE49-F238E27FC236}">
                <a16:creationId xmlns:a16="http://schemas.microsoft.com/office/drawing/2014/main" id="{41724AC4-6FEE-4188-8314-F558C06F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4" name="4-ETL e interoperabilidade-title">
            <a:extLst xmlns:a="http://schemas.openxmlformats.org/drawingml/2006/main">
              <a:ext uri="{FF2B5EF4-FFF2-40B4-BE49-F238E27FC236}">
                <a16:creationId xmlns:a16="http://schemas.microsoft.com/office/drawing/2014/main" id="{CD3BAA3C-2761-4754-A1A7-CA1B8481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572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ETL e interoperabilidade</a:t>
            </a:r>
          </a:p>
        </p:txBody>
      </p:sp>
      <p:sp>
        <p:nvSpPr>
          <p:cNvPr id="25" name="4-ETL e interoperabilidade-body">
            <a:extLst xmlns:a="http://schemas.openxmlformats.org/drawingml/2006/main">
              <a:ext uri="{FF2B5EF4-FFF2-40B4-BE49-F238E27FC236}">
                <a16:creationId xmlns:a16="http://schemas.microsoft.com/office/drawing/2014/main" id="{558A119D-7A43-4074-AAC5-E9F383EB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8679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 fluxo analítico segue lógica ETL: extração dos microdados, transformação de variáveis e carga de tabelas analíticas reprodutíveis.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A PNS não é base clínica longitudinal, mas pode atuar como camada populacional de referência.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OMOP/OHDSI oferece princípios de padronização, vocabulários e reprodutibilidade para comparação futura com bases assistenciais.</a:t>
            </a:r>
          </a:p>
        </p:txBody>
      </p:sp>
      <p:sp>
        <p:nvSpPr>
          <p:cNvPr id="26" name="m-prev-metric">
            <a:extLst xmlns:a="http://schemas.openxmlformats.org/drawingml/2006/main">
              <a:ext uri="{FF2B5EF4-FFF2-40B4-BE49-F238E27FC236}">
                <a16:creationId xmlns:a16="http://schemas.microsoft.com/office/drawing/2014/main" id="{6F651451-85D7-403C-A219-F541DC976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7" name="m-prev-metric-title">
            <a:extLst xmlns:a="http://schemas.openxmlformats.org/drawingml/2006/main">
              <a:ext uri="{FF2B5EF4-FFF2-40B4-BE49-F238E27FC236}">
                <a16:creationId xmlns:a16="http://schemas.microsoft.com/office/drawing/2014/main" id="{5BF18A97-A241-44D9-BA31-9B922A05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diagnóstico</a:t>
            </a:r>
          </a:p>
        </p:txBody>
      </p:sp>
      <p:sp>
        <p:nvSpPr>
          <p:cNvPr id="28" name="m-prev-metric-value">
            <a:extLst xmlns:a="http://schemas.openxmlformats.org/drawingml/2006/main">
              <a:ext uri="{FF2B5EF4-FFF2-40B4-BE49-F238E27FC236}">
                <a16:creationId xmlns:a16="http://schemas.microsoft.com/office/drawing/2014/main" id="{95113B0D-8003-40F7-AD00-E7CBDA9A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4,41%→5,40%</a:t>
            </a:r>
          </a:p>
        </p:txBody>
      </p:sp>
      <p:sp>
        <p:nvSpPr>
          <p:cNvPr id="29" name="m-prev-metric-note">
            <a:extLst xmlns:a="http://schemas.openxmlformats.org/drawingml/2006/main">
              <a:ext uri="{FF2B5EF4-FFF2-40B4-BE49-F238E27FC236}">
                <a16:creationId xmlns:a16="http://schemas.microsoft.com/office/drawing/2014/main" id="{502821AF-76B9-4B52-AAF8-BEB580C5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Aumento com IC95% sem sobreposição.</a:t>
            </a:r>
          </a:p>
        </p:txBody>
      </p:sp>
      <p:sp>
        <p:nvSpPr>
          <p:cNvPr id="30" name="m-crisis-metric">
            <a:extLst xmlns:a="http://schemas.openxmlformats.org/drawingml/2006/main">
              <a:ext uri="{FF2B5EF4-FFF2-40B4-BE49-F238E27FC236}">
                <a16:creationId xmlns:a16="http://schemas.microsoft.com/office/drawing/2014/main" id="{0E6B6631-D983-471C-844F-52E02B6F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1" name="m-crisis-metric-title">
            <a:extLst xmlns:a="http://schemas.openxmlformats.org/drawingml/2006/main">
              <a:ext uri="{FF2B5EF4-FFF2-40B4-BE49-F238E27FC236}">
                <a16:creationId xmlns:a16="http://schemas.microsoft.com/office/drawing/2014/main" id="{79DFD60D-680D-4AC8-AD28-79E21879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trabalho</a:t>
            </a:r>
          </a:p>
        </p:txBody>
      </p:sp>
      <p:sp>
        <p:nvSpPr>
          <p:cNvPr id="32" name="m-crisis-metric-value">
            <a:extLst xmlns:a="http://schemas.openxmlformats.org/drawingml/2006/main">
              <a:ext uri="{FF2B5EF4-FFF2-40B4-BE49-F238E27FC236}">
                <a16:creationId xmlns:a16="http://schemas.microsoft.com/office/drawing/2014/main" id="{7C4DBECA-A847-4042-87E8-24BD7F87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15,2%; 4,8 d</a:t>
            </a:r>
          </a:p>
        </p:txBody>
      </p:sp>
      <p:sp>
        <p:nvSpPr>
          <p:cNvPr id="33" name="m-crisis-metric-note">
            <a:extLst xmlns:a="http://schemas.openxmlformats.org/drawingml/2006/main">
              <a:ext uri="{FF2B5EF4-FFF2-40B4-BE49-F238E27FC236}">
                <a16:creationId xmlns:a16="http://schemas.microsoft.com/office/drawing/2014/main" id="{F2ADFB1C-9543-4F8A-8F89-56AB2F34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Carga respiratória afeta dias úteis.</a:t>
            </a:r>
          </a:p>
        </p:txBody>
      </p:sp>
      <p:sp>
        <p:nvSpPr>
          <p:cNvPr id="34" name="m-meds-metric">
            <a:extLst xmlns:a="http://schemas.openxmlformats.org/drawingml/2006/main">
              <a:ext uri="{FF2B5EF4-FFF2-40B4-BE49-F238E27FC236}">
                <a16:creationId xmlns:a16="http://schemas.microsoft.com/office/drawing/2014/main" id="{D1E76BCB-28D5-447F-B78D-8C408AF8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5" name="m-meds-metric-title">
            <a:extLst xmlns:a="http://schemas.openxmlformats.org/drawingml/2006/main">
              <a:ext uri="{FF2B5EF4-FFF2-40B4-BE49-F238E27FC236}">
                <a16:creationId xmlns:a16="http://schemas.microsoft.com/office/drawing/2014/main" id="{C0F5A7F1-F92A-41CE-B533-17C8DBE01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medicamentos</a:t>
            </a:r>
          </a:p>
        </p:txBody>
      </p:sp>
      <p:sp>
        <p:nvSpPr>
          <p:cNvPr id="36" name="m-meds-metric-value">
            <a:extLst xmlns:a="http://schemas.openxmlformats.org/drawingml/2006/main">
              <a:ext uri="{FF2B5EF4-FFF2-40B4-BE49-F238E27FC236}">
                <a16:creationId xmlns:a16="http://schemas.microsoft.com/office/drawing/2014/main" id="{B23F6705-E614-4425-BECB-AD688E698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81,5%→64,4%</a:t>
            </a:r>
          </a:p>
        </p:txBody>
      </p:sp>
      <p:sp>
        <p:nvSpPr>
          <p:cNvPr id="37" name="m-meds-metric-note">
            <a:extLst xmlns:a="http://schemas.openxmlformats.org/drawingml/2006/main">
              <a:ext uri="{FF2B5EF4-FFF2-40B4-BE49-F238E27FC236}">
                <a16:creationId xmlns:a16="http://schemas.microsoft.com/office/drawing/2014/main" id="{4FD3A8A4-3CBB-4971-B178-D45BB019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Menor uso entre asmáticos; IC95% orienta cautela.</a:t>
            </a:r>
          </a:p>
        </p:txBody>
      </p:sp>
      <p:sp>
        <p:nvSpPr>
          <p:cNvPr id="38" name="m-chart-prev-caption">
            <a:extLst xmlns:a="http://schemas.openxmlformats.org/drawingml/2006/main">
              <a:ext uri="{FF2B5EF4-FFF2-40B4-BE49-F238E27FC236}">
                <a16:creationId xmlns:a16="http://schemas.microsoft.com/office/drawing/2014/main" id="{4C068FBF-E996-4D40-B566-3494E8F4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71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1: Prevalência (%) de diagnóstico médico de asma por UF e Brasil, PNS 2013 e 2019.</a:t>
            </a:r>
          </a:p>
        </p:txBody>
      </p:sp>
      <p:sp>
        <p:nvSpPr>
          <p:cNvPr id="39" name="m-chart-prev-frame">
            <a:extLst xmlns:a="http://schemas.openxmlformats.org/drawingml/2006/main">
              <a:ext uri="{FF2B5EF4-FFF2-40B4-BE49-F238E27FC236}">
                <a16:creationId xmlns:a16="http://schemas.microsoft.com/office/drawing/2014/main" id="{B5478C6F-245E-4EC0-B6A1-E7FF87AB7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4e2bac973b4711"/>
          <a:stretch xmlns:a="http://schemas.openxmlformats.org/drawingml/2006/main"/>
        </p:blipFill>
        <p:spPr>
          <a:xfrm xmlns:a="http://schemas.openxmlformats.org/drawingml/2006/main">
            <a:off x="3480513" y="4476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1" name="m-chart-meds-caption">
            <a:extLst xmlns:a="http://schemas.openxmlformats.org/drawingml/2006/main">
              <a:ext uri="{FF2B5EF4-FFF2-40B4-BE49-F238E27FC236}">
                <a16:creationId xmlns:a16="http://schemas.microsoft.com/office/drawing/2014/main" id="{3A796118-72EC-4B96-A1B7-EB2657168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838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3: Uso de medicamento oral ou bombinha entre pessoas com diagnóstico médico de asma por UF e Brasil.</a:t>
            </a:r>
          </a:p>
        </p:txBody>
      </p:sp>
      <p:sp>
        <p:nvSpPr>
          <p:cNvPr id="42" name="m-chart-meds-frame">
            <a:extLst xmlns:a="http://schemas.openxmlformats.org/drawingml/2006/main">
              <a:ext uri="{FF2B5EF4-FFF2-40B4-BE49-F238E27FC236}">
                <a16:creationId xmlns:a16="http://schemas.microsoft.com/office/drawing/2014/main" id="{8CD01CFD-71A4-4C10-A012-67593321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7086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0109a757fd4a98"/>
          <a:stretch xmlns:a="http://schemas.openxmlformats.org/drawingml/2006/main"/>
        </p:blipFill>
        <p:spPr>
          <a:xfrm xmlns:a="http://schemas.openxmlformats.org/drawingml/2006/main">
            <a:off x="3480513" y="7143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4" name="m-chart-smoke-caption">
            <a:extLst xmlns:a="http://schemas.openxmlformats.org/drawingml/2006/main">
              <a:ext uri="{FF2B5EF4-FFF2-40B4-BE49-F238E27FC236}">
                <a16:creationId xmlns:a16="http://schemas.microsoft.com/office/drawing/2014/main" id="{962DC80E-E360-4708-B26C-3FE03E4E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505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4: Média de dias perdidos por motivo de saúde no Brasil, com destaque para causas respiratórias, PNS 2019.</a:t>
            </a:r>
          </a:p>
        </p:txBody>
      </p:sp>
      <p:sp>
        <p:nvSpPr>
          <p:cNvPr id="45" name="m-chart-smoke-frame">
            <a:extLst xmlns:a="http://schemas.openxmlformats.org/drawingml/2006/main">
              <a:ext uri="{FF2B5EF4-FFF2-40B4-BE49-F238E27FC236}">
                <a16:creationId xmlns:a16="http://schemas.microsoft.com/office/drawing/2014/main" id="{334D733F-4C39-41DA-ACC5-13DCB55A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753600"/>
            <a:ext cx="36766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a0ae784a94799"/>
          <a:stretch xmlns:a="http://schemas.openxmlformats.org/drawingml/2006/main"/>
        </p:blipFill>
        <p:spPr>
          <a:xfrm xmlns:a="http://schemas.openxmlformats.org/drawingml/2006/main">
            <a:off x="3612696" y="9810750"/>
            <a:ext cx="2775857" cy="2000250"/>
          </a:xfrm>
          <a:prstGeom xmlns:a="http://schemas.openxmlformats.org/drawingml/2006/main" prst="rect">
            <a:avLst/>
          </a:prstGeom>
        </p:spPr>
      </p:pic>
      <p:sp>
        <p:nvSpPr>
          <p:cNvPr id="47" name="5-Discussão-box">
            <a:extLst xmlns:a="http://schemas.openxmlformats.org/drawingml/2006/main">
              <a:ext uri="{FF2B5EF4-FFF2-40B4-BE49-F238E27FC236}">
                <a16:creationId xmlns:a16="http://schemas.microsoft.com/office/drawing/2014/main" id="{3452B6DF-083A-40E7-9181-089DF949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3752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8" name="5-Discussão-head">
            <a:extLst xmlns:a="http://schemas.openxmlformats.org/drawingml/2006/main">
              <a:ext uri="{FF2B5EF4-FFF2-40B4-BE49-F238E27FC236}">
                <a16:creationId xmlns:a16="http://schemas.microsoft.com/office/drawing/2014/main" id="{B4632AF0-68B7-4031-AD0A-37026224A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49" name="5-Discussão-title">
            <a:extLst xmlns:a="http://schemas.openxmlformats.org/drawingml/2006/main">
              <a:ext uri="{FF2B5EF4-FFF2-40B4-BE49-F238E27FC236}">
                <a16:creationId xmlns:a16="http://schemas.microsoft.com/office/drawing/2014/main" id="{BB9723A3-3F8B-439F-A11A-3D9D9D1FF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527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Discussão</a:t>
            </a:r>
          </a:p>
        </p:txBody>
      </p:sp>
      <p:sp>
        <p:nvSpPr>
          <p:cNvPr id="50" name="5-Discussão-body">
            <a:extLst xmlns:a="http://schemas.openxmlformats.org/drawingml/2006/main">
              <a:ext uri="{FF2B5EF4-FFF2-40B4-BE49-F238E27FC236}">
                <a16:creationId xmlns:a16="http://schemas.microsoft.com/office/drawing/2014/main" id="{2A2FE5FD-B3AC-4803-BFD7-0DF8997AE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2171700" cy="335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Brasil: diagnóstico médico de asma aumentou de 4,41% em 2013 para 5,40% em 2019, com IC95% sem sobreposição.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Motivos respiratórios, categoria que inclui asma, bronquite e pneumonia, responderam por 15,2% do absenteísmo por motivo de saúde.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A média de dias perdidos por motivos respiratórios foi 4,8 dias, indicando custo potencial em produtividade.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Uso de medicamento oral/bombinha entre pessoas com asma passou de 81,5% para 64,4%; interpretar com IC95% e perfil dos diagnosticados.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O aumento do diagnóstico amplia a população em risco de crises, faltas ao trabalho e redução de produtividade.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A categoria respiratória sugere que a asma pode contribuir para perda de dias úteis, pressão sobre renda familiar e menor oferta efetiva de trabalho.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Melhor controle da asma pode ter retorno econômico: menos absenteísmo, menos dias perdidos e menor demanda por cuidado agudo.</a:t>
            </a:r>
          </a:p>
        </p:txBody>
      </p:sp>
      <p:sp>
        <p:nvSpPr>
          <p:cNvPr id="51" name="6-Conclusão central-box">
            <a:extLst xmlns:a="http://schemas.openxmlformats.org/drawingml/2006/main">
              <a:ext uri="{FF2B5EF4-FFF2-40B4-BE49-F238E27FC236}">
                <a16:creationId xmlns:a16="http://schemas.microsoft.com/office/drawing/2014/main" id="{AA46B23C-8BA9-45D5-87D5-44036C2F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2" name="6-Conclusão central-head">
            <a:extLst xmlns:a="http://schemas.openxmlformats.org/drawingml/2006/main">
              <a:ext uri="{FF2B5EF4-FFF2-40B4-BE49-F238E27FC236}">
                <a16:creationId xmlns:a16="http://schemas.microsoft.com/office/drawing/2014/main" id="{078D095A-1061-4EDA-91F0-3C42676EF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3" name="6-Conclusão central-title">
            <a:extLst xmlns:a="http://schemas.openxmlformats.org/drawingml/2006/main">
              <a:ext uri="{FF2B5EF4-FFF2-40B4-BE49-F238E27FC236}">
                <a16:creationId xmlns:a16="http://schemas.microsoft.com/office/drawing/2014/main" id="{43DEAA37-717D-47F3-9B10-96B0D9B7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70389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Conclusão central</a:t>
            </a:r>
          </a:p>
        </p:txBody>
      </p:sp>
      <p:sp>
        <p:nvSpPr>
          <p:cNvPr id="54" name="6-Conclusão central-body">
            <a:extLst xmlns:a="http://schemas.openxmlformats.org/drawingml/2006/main">
              <a:ext uri="{FF2B5EF4-FFF2-40B4-BE49-F238E27FC236}">
                <a16:creationId xmlns:a16="http://schemas.microsoft.com/office/drawing/2014/main" id="{74AD34DC-0E7C-4EA0-AEE7-4807AD5E2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7334250"/>
            <a:ext cx="2171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A implementação correta do plano amostral é condição para estimativas válidas.</a:t>
            </a:r>
          </a:p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A asma deve ser tratada como problema clínico e econômico, pois pode afetar produtividade, renda e força de trabalho.</a:t>
            </a:r>
          </a:p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Os resultados de absenteísmo são respiratórios agregados; não devem ser lidos como estimativa isolada de asma.</a:t>
            </a:r>
          </a:p>
        </p:txBody>
      </p:sp>
      <p:sp>
        <p:nvSpPr>
          <p:cNvPr id="55" name="m-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ACCD8DEC-8928-4EA7-9BEA-8B35D17D2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3629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2: Absenteísmo por motivo de saúde no Brasil, com destaque para causas respiratórias, PNS 2019.</a:t>
            </a:r>
          </a:p>
        </p:txBody>
      </p:sp>
      <p:sp>
        <p:nvSpPr>
          <p:cNvPr id="56" name="m-chart-crisis-frame">
            <a:extLst xmlns:a="http://schemas.openxmlformats.org/drawingml/2006/main">
              <a:ext uri="{FF2B5EF4-FFF2-40B4-BE49-F238E27FC236}">
                <a16:creationId xmlns:a16="http://schemas.microsoft.com/office/drawing/2014/main" id="{0A5A596D-3ACC-4DBB-8DD5-D337F5FA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6106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50c17d8a7e42cb"/>
          <a:stretch xmlns:a="http://schemas.openxmlformats.org/drawingml/2006/main"/>
        </p:blipFill>
        <p:spPr>
          <a:xfrm xmlns:a="http://schemas.openxmlformats.org/drawingml/2006/main">
            <a:off x="7075326" y="8667750"/>
            <a:ext cx="2194249" cy="1581150"/>
          </a:xfrm>
          <a:prstGeom xmlns:a="http://schemas.openxmlformats.org/drawingml/2006/main" prst="rect">
            <a:avLst/>
          </a:prstGeom>
        </p:spPr>
      </p:pic>
      <p:sp>
        <p:nvSpPr>
          <p:cNvPr id="58" name="qr-box">
            <a:extLst xmlns:a="http://schemas.openxmlformats.org/drawingml/2006/main">
              <a:ext uri="{FF2B5EF4-FFF2-40B4-BE49-F238E27FC236}">
                <a16:creationId xmlns:a16="http://schemas.microsoft.com/office/drawing/2014/main" id="{7FE7DE80-0C0F-41B3-B1D9-66A7D2AA6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0591800"/>
            <a:ext cx="1181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21d71c1ae8482b"/>
          <a:stretch xmlns:a="http://schemas.openxmlformats.org/drawingml/2006/main"/>
        </p:blipFill>
        <p:spPr>
          <a:xfrm xmlns:a="http://schemas.openxmlformats.org/drawingml/2006/main">
            <a:off x="7715250" y="1070610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60" name="qr-label">
            <a:extLst xmlns:a="http://schemas.openxmlformats.org/drawingml/2006/main">
              <a:ext uri="{FF2B5EF4-FFF2-40B4-BE49-F238E27FC236}">
                <a16:creationId xmlns:a16="http://schemas.microsoft.com/office/drawing/2014/main" id="{F8F0C214-E993-4CEC-B7EB-2B6B3755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1696700"/>
            <a:ext cx="1028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Relatório metodológico, códigos e gráficos reprodutíveis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  <p:sp>
        <p:nvSpPr>
          <p:cNvPr id="61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7D194394-656F-48AD-BEBA-FF31FDB4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382500"/>
            <a:ext cx="88773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2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05415F6B-D5BA-4F82-815C-5D136100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449175"/>
            <a:ext cx="872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Referências</a:t>
            </a:r>
          </a:p>
        </p:txBody>
      </p:sp>
      <p:sp>
        <p:nvSpPr>
          <p:cNvPr id="63" name="references-body-left">
            <a:extLst xmlns:a="http://schemas.openxmlformats.org/drawingml/2006/main">
              <a:ext uri="{FF2B5EF4-FFF2-40B4-BE49-F238E27FC236}">
                <a16:creationId xmlns:a16="http://schemas.microsoft.com/office/drawing/2014/main" id="{86E869F6-9AF5-42C5-8AD1-AD17303A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49200"/>
            <a:ext cx="427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</p:txBody>
      </p:sp>
      <p:sp>
        <p:nvSpPr>
          <p:cNvPr id="64" name="references-body-right">
            <a:extLst xmlns:a="http://schemas.openxmlformats.org/drawingml/2006/main">
              <a:ext uri="{FF2B5EF4-FFF2-40B4-BE49-F238E27FC236}">
                <a16:creationId xmlns:a16="http://schemas.microsoft.com/office/drawing/2014/main" id="{AE870C03-BE44-4A97-BA1D-3C1EE2AB8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12649200"/>
            <a:ext cx="427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</p:spTree>
    <p:extLst>
      <p:ext uri="{BB962C8B-B14F-4D97-AF65-F5344CB8AC3E}">
        <p14:creationId xmlns:p14="http://schemas.microsoft.com/office/powerpoint/2010/main" val="14639405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2026-07-21T22:30:38.6220000Z</dcterms:created>
  <dcterms:modified xsi:type="dcterms:W3CDTF">2026-07-21T22:30:38.6220000Z</dcterms:modified>
</coreProperties>
</file>