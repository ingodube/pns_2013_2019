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4531e440c242e5" /><Relationship Type="http://schemas.openxmlformats.org/officeDocument/2006/relationships/extended-properties" Target="/docProps/app.xml" Id="Rb4094279157f45ee" /><Relationship Type="http://schemas.openxmlformats.org/officeDocument/2006/relationships/officeDocument" Target="/ppt/presentation.xml" Id="R4983f2d3718c41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2633087fc64a07"/>
  </p:sldMasterIdLst>
  <p:notesMasterIdLst>
    <p:notesMasterId xmlns:r="http://schemas.openxmlformats.org/officeDocument/2006/relationships" r:id="R69deb99d13a0442d"/>
  </p:notesMasterIdLst>
  <p:sldIdLst>
    <p:sldId xmlns:r="http://schemas.openxmlformats.org/officeDocument/2006/relationships" id="256" r:id="R5bd04daf82604608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787a53e5004b8b" /><Relationship Type="http://schemas.openxmlformats.org/officeDocument/2006/relationships/slideMaster" Target="/ppt/slideMasters/slideMaster1.xml" Id="Rf72633087fc64a07" /><Relationship Type="http://schemas.openxmlformats.org/officeDocument/2006/relationships/notesMaster" Target="/ppt/notesMasters/notesMaster1.xml" Id="R69deb99d13a0442d" /><Relationship Type="http://schemas.openxmlformats.org/officeDocument/2006/relationships/presProps" Target="/ppt/presProps.xml" Id="R63512145ddd2493a" /><Relationship Type="http://schemas.openxmlformats.org/officeDocument/2006/relationships/tableStyles" Target="/ppt/tableStyles.xml" Id="R4a11e53720e74e1e" /><Relationship Type="http://schemas.openxmlformats.org/officeDocument/2006/relationships/slide" Target="/ppt/slides/slide1.xml" Id="R5bd04daf826046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8caeb9a4984f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bc9ab2040546f1" /><Relationship Type="http://schemas.openxmlformats.org/officeDocument/2006/relationships/notesMaster" Target="/ppt/notesMasters/notesMaster1.xml" Id="R8e7a12eed93a40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f2fb074ff04e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083cee794769" /><Relationship Type="http://schemas.openxmlformats.org/officeDocument/2006/relationships/slideLayout" Target="/ppt/slideLayouts/slideLayout1.xml" Id="Ra0df30ed6af446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df30ed6af446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a5ec212f74dfc" /><Relationship Type="http://schemas.openxmlformats.org/officeDocument/2006/relationships/image" Target="/ppt/media/image.png" Id="R520e481d81a54c55" /><Relationship Type="http://schemas.openxmlformats.org/officeDocument/2006/relationships/image" Target="/ppt/media/image2.png" Id="R56fae24eda4148c6" /><Relationship Type="http://schemas.openxmlformats.org/officeDocument/2006/relationships/image" Target="/ppt/media/image3.png" Id="R520172fda7a44012" /><Relationship Type="http://schemas.openxmlformats.org/officeDocument/2006/relationships/image" Target="/ppt/media/image4.png" Id="Rac61da0692e143a9" /><Relationship Type="http://schemas.openxmlformats.org/officeDocument/2006/relationships/image" Target="/ppt/media/image5.png" Id="R2d791f2bbc7543eb" /><Relationship Type="http://schemas.openxmlformats.org/officeDocument/2006/relationships/image" Target="/ppt/media/image6.png" Id="Reb734ce9ff824a0e" /><Relationship Type="http://schemas.openxmlformats.org/officeDocument/2006/relationships/image" Target="/ppt/media/image7.png" Id="R0fe4a57fe89741e4" /><Relationship Type="http://schemas.openxmlformats.org/officeDocument/2006/relationships/image" Target="/ppt/media/image8.png" Id="Re9407090c66540e2" /><Relationship Type="http://schemas.openxmlformats.org/officeDocument/2006/relationships/notesSlide" Target="/ppt/notesSlides/notesSlide1.xml" Id="R111ef12d2f034b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e481d81a54c55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ae24eda4148c6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172fda7a44012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ED076812-71CA-45F5-9E4D-320A1AB1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F2BAFA1C-C02F-40CD-B431-1A4A6917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81B814DB-C3A4-44A8-BBA7-1FA6F0C2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de asma aumentou no Brasil; a carga respiratória de absenteísmo mostra potencial de perda de produtividade e impacto econômico.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AE9AFBE2-BF10-4E45-909B-C9D3E572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36D06F60-69A8-40AD-A6E6-BC512895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D0466108-2A89-4544-ABD0-8BFBA032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EF2BDEBD-17FB-4252-9F3A-1DAD34B9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DCC153F8-CF78-472F-98F2-FE77FB5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163D7F39-FCE8-4D06-9EB8-13A52386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D7401B21-E117-4181-9D24-C0056C0C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9059625C-62D1-4CA3-B6C5-9ED1F127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328D3FCC-D8A2-41AA-9F18-CA99A944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B61AF34B-34EA-4EBD-B2C1-DB156594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C5513213-81EE-4267-AD9C-D3FEAB8F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902E9DDB-DE8F-4AD1-B830-A57EDFFF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8BD1B0F0-113C-4D43-B89A-97588EAA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F2D8F094-626C-488A-8ADE-C52903CA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6AE77983-67D4-462E-8B47-57FD71AD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D1B7D285-0403-4DF4-BC33-CD4249DF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AC59B05B-2A44-4902-9679-A8158DCF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9B5BABA5-F2C1-4F67-BEA8-A20665F9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2FCB5CB9-3C45-4179-95D1-AC3D763C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CDC4002C-34B6-449B-B03B-357C8F7E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C547065C-F64C-473B-BC43-37BA997E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72495F01-389B-45C3-A1FD-60531241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073C1C0A-B6BB-46CF-8E90-524A4FCD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F7A2E38B-D945-4255-9938-42DB914E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B5BFB124-531E-449B-95BE-6D4BDB80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trabalho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C2C0EA6C-1D1D-4B1B-A609-CF2FDC08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15,2%; 4,8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66F5C5B6-A35E-43DD-8CBC-CB580673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Carga respiratória afeta dias úteis.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5A6EF800-83E1-47C2-85C1-E7A73688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CFD761EA-56DB-4723-A06E-2F7A6098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607AFE6F-2696-4038-BBDD-E46BEC90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6A1DFA96-5DF1-4033-9EB0-12327478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uso entre asmáticos; IC95% orienta cautela.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11DD7011-BDB7-4602-B94F-B5485619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95B764C1-34EC-4437-BBFE-0C713848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1da0692e143a9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A1B72FAC-4495-40E4-A302-F6887F91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9E4E2AC4-0535-4CF4-ADED-0887A7CF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91f2bbc7543eb"/>
          <a:stretch xmlns:a="http://schemas.openxmlformats.org/drawingml/2006/main"/>
        </p:blipFill>
        <p:spPr>
          <a:xfrm xmlns:a="http://schemas.openxmlformats.org/drawingml/2006/main">
            <a:off x="3464428" y="7143750"/>
            <a:ext cx="3072393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FFDDFC67-E78D-4854-81C5-32CA611F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Média de dias perdidos por motivo de saúde no Brasil, com destaque para causas respiratórias,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383F3024-477B-4A21-A381-D61EF51D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34ce9ff824a0e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ão-box">
            <a:extLst xmlns:a="http://schemas.openxmlformats.org/drawingml/2006/main">
              <a:ext uri="{FF2B5EF4-FFF2-40B4-BE49-F238E27FC236}">
                <a16:creationId xmlns:a16="http://schemas.microsoft.com/office/drawing/2014/main" id="{1FF8489F-789C-4043-B4B3-5D00DCB6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ão-head">
            <a:extLst xmlns:a="http://schemas.openxmlformats.org/drawingml/2006/main">
              <a:ext uri="{FF2B5EF4-FFF2-40B4-BE49-F238E27FC236}">
                <a16:creationId xmlns:a16="http://schemas.microsoft.com/office/drawing/2014/main" id="{12393B80-E738-4247-944C-BB89B17F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ão-title">
            <a:extLst xmlns:a="http://schemas.openxmlformats.org/drawingml/2006/main">
              <a:ext uri="{FF2B5EF4-FFF2-40B4-BE49-F238E27FC236}">
                <a16:creationId xmlns:a16="http://schemas.microsoft.com/office/drawing/2014/main" id="{D144C4C2-F9ED-4CA2-9295-B659D3CC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Discussão</a:t>
            </a:r>
          </a:p>
        </p:txBody>
      </p:sp>
      <p:sp>
        <p:nvSpPr>
          <p:cNvPr id="50" name="5-Discussão-body">
            <a:extLst xmlns:a="http://schemas.openxmlformats.org/drawingml/2006/main">
              <a:ext uri="{FF2B5EF4-FFF2-40B4-BE49-F238E27FC236}">
                <a16:creationId xmlns:a16="http://schemas.microsoft.com/office/drawing/2014/main" id="{65A0AE66-B940-4CEB-8863-37F24A1D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Brasil: diagnóstico médico de asma aumentou de 4,41% em 2013 para 5,40% em 2019, com IC95% sem sobreposição.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Motivos respiratórios, categoria que inclui asma, bronquite e pneumonia, responderam por 15,2% do absenteísmo por motivo de saúde.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média de dias perdidos por motivos respiratórios foi 4,8 dias, indicando custo potencial em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Uso de medicamento oral/bombinha entre pessoas com asma passou de 81,5% para 64,4%; interpretar com IC95% e perfil dos diagnosticados.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 aumento do diagnóstico amplia a população em risco de crises, faltas ao trabalho e redução de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categoria respiratória sugere que a asma pode contribuir para perda de dias úteis, pressão sobre renda familiar e menor oferta efetiva de trabalho.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Melhor controle da asma pode ter retorno econômico: menos absenteísmo, menos dias perdidos e menor demanda por cuidado agudo.</a:t>
            </a:r>
          </a:p>
        </p:txBody>
      </p:sp>
      <p:sp>
        <p:nvSpPr>
          <p:cNvPr id="51" name="6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229532D2-20AC-4804-A8C0-AFBB5F8C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4B08D485-EDE7-4351-B0C2-C547E1DF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8782E428-1DCE-40E1-9E7C-EE0E8C3F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Conclusão central</a:t>
            </a:r>
          </a:p>
        </p:txBody>
      </p:sp>
      <p:sp>
        <p:nvSpPr>
          <p:cNvPr id="54" name="6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CDC24767-BEEF-4857-BD44-1BB5E8F6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asma deve ser tratada como problema clínico e econômico, pois pode afetar produtividade, renda e força de trabalho.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Os resultados de absenteísmo são respiratórios agregados; não devem ser lidos como estimativa isolada de asma.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CB087D47-37D2-4BF9-84B0-4EDBF705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Absenteísmo por motivo de saúde no Brasil, com destaque para causas respiratórias,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1EE7016E-658C-43BA-9C77-DEF7D4D6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4a57fe89741e4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D0CA9DCA-BFAF-4AF7-B895-333DF17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07090c66540e2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73229D56-B212-4198-B212-DEB276F4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D989F8EB-7845-4702-B1CA-DB274B64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268200"/>
            <a:ext cx="8877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09FD53DD-AB37-4EF3-9DAB-7C49394F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348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3" name="references-column-divider">
            <a:extLst xmlns:a="http://schemas.openxmlformats.org/drawingml/2006/main">
              <a:ext uri="{FF2B5EF4-FFF2-40B4-BE49-F238E27FC236}">
                <a16:creationId xmlns:a16="http://schemas.microsoft.com/office/drawing/2014/main" id="{AB2BCD08-BA65-4C15-8C98-5D15126A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515850"/>
            <a:ext cx="95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D0D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4" name="references-body-left">
            <a:extLst xmlns:a="http://schemas.openxmlformats.org/drawingml/2006/main">
              <a:ext uri="{FF2B5EF4-FFF2-40B4-BE49-F238E27FC236}">
                <a16:creationId xmlns:a16="http://schemas.microsoft.com/office/drawing/2014/main" id="{3DC8A400-BC78-44EF-A2DC-398014D6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65" name="references-body-right">
            <a:extLst xmlns:a="http://schemas.openxmlformats.org/drawingml/2006/main">
              <a:ext uri="{FF2B5EF4-FFF2-40B4-BE49-F238E27FC236}">
                <a16:creationId xmlns:a16="http://schemas.microsoft.com/office/drawing/2014/main" id="{D114646F-CB40-4B1A-A2E7-585CB25E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3752217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2026-07-21T22:39:11.8080000Z</dcterms:created>
  <dcterms:modified xsi:type="dcterms:W3CDTF">2026-07-21T22:39:11.8080000Z</dcterms:modified>
</coreProperties>
</file>