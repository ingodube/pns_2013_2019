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dae896af7f48c0" /><Relationship Type="http://schemas.openxmlformats.org/officeDocument/2006/relationships/extended-properties" Target="/docProps/app.xml" Id="Rf93b168e7cdd424d" /><Relationship Type="http://schemas.openxmlformats.org/officeDocument/2006/relationships/officeDocument" Target="/ppt/presentation.xml" Id="R3c8704714af148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82686c500f494c"/>
  </p:sldMasterIdLst>
  <p:notesMasterIdLst>
    <p:notesMasterId xmlns:r="http://schemas.openxmlformats.org/officeDocument/2006/relationships" r:id="R6bea2ca982f84a97"/>
  </p:notesMasterIdLst>
  <p:sldIdLst>
    <p:sldId xmlns:r="http://schemas.openxmlformats.org/officeDocument/2006/relationships" id="256" r:id="R6f32f62aedbe4820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f58f9414204580" /><Relationship Type="http://schemas.openxmlformats.org/officeDocument/2006/relationships/slideMaster" Target="/ppt/slideMasters/slideMaster1.xml" Id="Rc682686c500f494c" /><Relationship Type="http://schemas.openxmlformats.org/officeDocument/2006/relationships/notesMaster" Target="/ppt/notesMasters/notesMaster1.xml" Id="R6bea2ca982f84a97" /><Relationship Type="http://schemas.openxmlformats.org/officeDocument/2006/relationships/presProps" Target="/ppt/presProps.xml" Id="Rc7e308457f5a485a" /><Relationship Type="http://schemas.openxmlformats.org/officeDocument/2006/relationships/viewProps" Target="/ppt/viewProps.xml" Id="Ra44464301d82415d" /><Relationship Type="http://schemas.openxmlformats.org/officeDocument/2006/relationships/tableStyles" Target="/ppt/tableStyles.xml" Id="R04947446ec95454f" /><Relationship Type="http://schemas.openxmlformats.org/officeDocument/2006/relationships/slide" Target="/ppt/slides/slide1.xml" Id="R6f32f62aedbe48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465069c55b48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dc44d5ca474838" /><Relationship Type="http://schemas.openxmlformats.org/officeDocument/2006/relationships/notesMaster" Target="/ppt/notesMasters/notesMaster1.xml" Id="R78a31531ed604a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23d55a0cd44ae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331c52dc55418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8a534bbca646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7c7138bcae45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ba14c079ac456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cd5786a93b413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c7eaa393b484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c4812bf89d49f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e23bb25a95463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8a0bd2d084de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4fadc2bff241b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CB69A-8ED7-4838-B967-1CDD5EE1566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88616" y="10228016"/>
            <a:ext cx="37313968" cy="70539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76ED9EE-F819-4E60-9BA3-84636F8F1A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87985" y="18653228"/>
            <a:ext cx="30715242" cy="84131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 algn="ctr">
              <a:buNone/>
              <a:defRPr/>
            </a:lvl1pPr>
            <a:lvl2pPr marL="1290584" indent="0" algn="ctr">
              <a:buNone/>
              <a:defRPr/>
            </a:lvl2pPr>
            <a:lvl3pPr marL="2581168" indent="0" algn="ctr">
              <a:buNone/>
              <a:defRPr/>
            </a:lvl3pPr>
            <a:lvl4pPr marL="3871752" indent="0" algn="ctr">
              <a:buNone/>
              <a:defRPr/>
            </a:lvl4pPr>
            <a:lvl5pPr marL="5162337" indent="0" algn="ctr">
              <a:buNone/>
              <a:defRPr/>
            </a:lvl5pPr>
            <a:lvl6pPr marL="6452921" indent="0" algn="ctr">
              <a:buNone/>
              <a:defRPr/>
            </a:lvl6pPr>
            <a:lvl7pPr marL="7743505" indent="0" algn="ctr">
              <a:buNone/>
              <a:defRPr/>
            </a:lvl7pPr>
            <a:lvl8pPr marL="9034089" indent="0" algn="ctr">
              <a:buNone/>
              <a:defRPr/>
            </a:lvl8pPr>
            <a:lvl9pPr marL="10324673" indent="0" algn="ctr">
              <a:buNone/>
              <a:defRPr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602AB3-A0A7-4EB7-B8F0-2B9D0E02AB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06D9E9-DFAB-47E6-AC77-54BBBE5F8F4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BBC113-BC73-42A3-AC28-63E5181F9D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71321" y="21153765"/>
            <a:ext cx="37303218" cy="65377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t"/>
          <a:lstStyle xmlns:a="http://schemas.openxmlformats.org/drawingml/2006/main">
            <a:lvl1pPr algn="l">
              <a:buNone/>
              <a:defRPr sz="11291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2E63DCF-F9CC-49B8-9457-35DF8D2F27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71321" y="13950599"/>
            <a:ext cx="37303218" cy="72031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5646"/>
            </a:lvl1pPr>
            <a:lvl2pPr marL="1290584" indent="0">
              <a:buNone/>
              <a:defRPr sz="5081"/>
            </a:lvl2pPr>
            <a:lvl3pPr marL="2581168" indent="0">
              <a:buNone/>
              <a:defRPr sz="4516"/>
            </a:lvl3pPr>
            <a:lvl4pPr marL="3871752" indent="0">
              <a:buNone/>
              <a:defRPr sz="3952"/>
            </a:lvl4pPr>
            <a:lvl5pPr marL="5162337" indent="0">
              <a:buNone/>
              <a:defRPr sz="3952"/>
            </a:lvl5pPr>
            <a:lvl6pPr marL="6452921" indent="0">
              <a:buNone/>
              <a:defRPr sz="3952"/>
            </a:lvl6pPr>
            <a:lvl7pPr marL="7743505" indent="0">
              <a:buNone/>
              <a:defRPr sz="3952"/>
            </a:lvl7pPr>
            <a:lvl8pPr marL="9034089" indent="0">
              <a:buNone/>
              <a:defRPr sz="3952"/>
            </a:lvl8pPr>
            <a:lvl9pPr marL="10324673" indent="0">
              <a:buNone/>
              <a:defRPr sz="3952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06C1F6-7F2A-423B-A9A6-9602FC12D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F3975B-4B34-446C-AB9F-4725FC54363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21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773005-AE18-4369-A69B-CCEABD19ED9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2461464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8D983D-3257-43DB-8696-3A3EC5FB37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933953-7F31-425F-99D8-65AB0E4903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1" y="7368533"/>
            <a:ext cx="19398538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F14671E-0A5D-46EA-8A75-9949876739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92411" y="10437739"/>
            <a:ext cx="19398538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8625AD4-6E71-40CA-B902-C254972783A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2300261" y="7368533"/>
            <a:ext cx="19398531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93FD81C-2855-4E81-B8A3-2A6B8D968F5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2300261" y="10437739"/>
            <a:ext cx="19398531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ED912F-24A8-4C46-ABB9-99A5899358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5A8595-F2F8-44C5-A2E0-E5616AA048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0768"/>
            <a:ext cx="14444117" cy="55778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B2A6704-4243-48AB-9DA9-0C43E255D1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7163140" y="1310769"/>
            <a:ext cx="24535650" cy="2809477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9033"/>
            </a:lvl1pPr>
            <a:lvl2pPr>
              <a:buNone/>
              <a:defRPr sz="7904"/>
            </a:lvl2pPr>
            <a:lvl3pPr>
              <a:buNone/>
              <a:defRPr sz="6775"/>
            </a:lvl3pPr>
            <a:lvl4pPr>
              <a:buNone/>
              <a:defRPr sz="5646"/>
            </a:lvl4pPr>
            <a:lvl5pPr>
              <a:buNone/>
              <a:defRPr sz="5646"/>
            </a:lvl5pPr>
            <a:lvl6pPr>
              <a:buNone/>
              <a:defRPr sz="5646"/>
            </a:lvl6pPr>
            <a:lvl7pPr>
              <a:buNone/>
              <a:defRPr sz="5646"/>
            </a:lvl7pPr>
            <a:lvl8pPr>
              <a:buNone/>
              <a:defRPr sz="5646"/>
            </a:lvl8pPr>
            <a:lvl9pPr>
              <a:buNone/>
              <a:defRPr sz="564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FDAFF6-B842-463A-A736-5211041BCC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192412" y="6888586"/>
            <a:ext cx="14444117" cy="225169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963033-8D04-498C-ADF5-1644D1A478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97699" y="23041268"/>
            <a:ext cx="26341171" cy="27223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F7BB812-91C0-4A8A-A4FA-0B71A616311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8597699" y="2940156"/>
            <a:ext cx="26341171" cy="197502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9033"/>
            </a:lvl1pPr>
            <a:lvl2pPr marL="1290584" indent="0">
              <a:buNone/>
              <a:defRPr sz="7904"/>
            </a:lvl2pPr>
            <a:lvl3pPr marL="2581168" indent="0">
              <a:buNone/>
              <a:defRPr sz="6775"/>
            </a:lvl3pPr>
            <a:lvl4pPr marL="3871752" indent="0">
              <a:buNone/>
              <a:defRPr sz="5646"/>
            </a:lvl4pPr>
            <a:lvl5pPr marL="5162337" indent="0">
              <a:buNone/>
              <a:defRPr sz="5646"/>
            </a:lvl5pPr>
            <a:lvl6pPr marL="6452921" indent="0">
              <a:buNone/>
              <a:defRPr sz="5646"/>
            </a:lvl6pPr>
            <a:lvl7pPr marL="7743505" indent="0">
              <a:buNone/>
              <a:defRPr sz="5646"/>
            </a:lvl7pPr>
            <a:lvl8pPr marL="9034089" indent="0">
              <a:buNone/>
              <a:defRPr sz="5646"/>
            </a:lvl8pPr>
            <a:lvl9pPr marL="10324673" indent="0">
              <a:buNone/>
              <a:defRPr sz="5646"/>
            </a:lvl9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B7BBE34-31F5-4EAC-9044-A6569ED157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597699" y="25763633"/>
            <a:ext cx="26341171" cy="38637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7EEAD7-1F31-4D3F-A6C2-10543DEB48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CCA969-48FF-4E35-BAA4-299DA2EE74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F6F8076-6CB1-4D71-A475-31B8E8CAB7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822198" y="1318835"/>
            <a:ext cx="9876592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746B13A-3C75-49D9-883E-E46CEAAE60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0" y="1318835"/>
            <a:ext cx="28598066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84a58366d84547" /><Relationship Type="http://schemas.openxmlformats.org/officeDocument/2006/relationships/slideLayout" Target="/ppt/slideLayouts/slideLayout1.xml" Id="R9990534782e441cb" /><Relationship Type="http://schemas.openxmlformats.org/officeDocument/2006/relationships/slideLayout" Target="/ppt/slideLayouts/slideLayout2.xml" Id="R69b98b5d994643c5" /><Relationship Type="http://schemas.openxmlformats.org/officeDocument/2006/relationships/slideLayout" Target="/ppt/slideLayouts/slideLayout3.xml" Id="R942a4d703df94ef2" /><Relationship Type="http://schemas.openxmlformats.org/officeDocument/2006/relationships/slideLayout" Target="/ppt/slideLayouts/slideLayout4.xml" Id="Rf7e036472221400e" /><Relationship Type="http://schemas.openxmlformats.org/officeDocument/2006/relationships/slideLayout" Target="/ppt/slideLayouts/slideLayout5.xml" Id="R261bf07cb2044fc3" /><Relationship Type="http://schemas.openxmlformats.org/officeDocument/2006/relationships/slideLayout" Target="/ppt/slideLayouts/slideLayout6.xml" Id="Rb8200da495a44f7e" /><Relationship Type="http://schemas.openxmlformats.org/officeDocument/2006/relationships/slideLayout" Target="/ppt/slideLayouts/slideLayout7.xml" Id="R4d2b0865cffd4e57" /><Relationship Type="http://schemas.openxmlformats.org/officeDocument/2006/relationships/slideLayout" Target="/ppt/slideLayouts/slideLayout8.xml" Id="Rf54c33e978df4272" /><Relationship Type="http://schemas.openxmlformats.org/officeDocument/2006/relationships/slideLayout" Target="/ppt/slideLayouts/slideLayout9.xml" Id="Rb56d3b19269c4056" /><Relationship Type="http://schemas.openxmlformats.org/officeDocument/2006/relationships/slideLayout" Target="/ppt/slideLayouts/slideLayout10.xml" Id="R6493b57edf7d4b2c" /><Relationship Type="http://schemas.openxmlformats.org/officeDocument/2006/relationships/slideLayout" Target="/ppt/slideLayouts/slideLayout11.xml" Id="Rb051260dbcff4b4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90534782e441cb"/>
    <p:sldLayoutId xmlns:r="http://schemas.openxmlformats.org/officeDocument/2006/relationships" id="2147483650" r:id="R69b98b5d994643c5"/>
    <p:sldLayoutId xmlns:r="http://schemas.openxmlformats.org/officeDocument/2006/relationships" id="2147483651" r:id="R942a4d703df94ef2"/>
    <p:sldLayoutId xmlns:r="http://schemas.openxmlformats.org/officeDocument/2006/relationships" id="2147483652" r:id="Rf7e036472221400e"/>
    <p:sldLayoutId xmlns:r="http://schemas.openxmlformats.org/officeDocument/2006/relationships" id="2147483653" r:id="R261bf07cb2044fc3"/>
    <p:sldLayoutId xmlns:r="http://schemas.openxmlformats.org/officeDocument/2006/relationships" id="2147483654" r:id="Rb8200da495a44f7e"/>
    <p:sldLayoutId xmlns:r="http://schemas.openxmlformats.org/officeDocument/2006/relationships" id="2147483655" r:id="R4d2b0865cffd4e57"/>
    <p:sldLayoutId xmlns:r="http://schemas.openxmlformats.org/officeDocument/2006/relationships" id="2147483656" r:id="Rf54c33e978df4272"/>
    <p:sldLayoutId xmlns:r="http://schemas.openxmlformats.org/officeDocument/2006/relationships" id="2147483657" r:id="Rb56d3b19269c4056"/>
    <p:sldLayoutId xmlns:r="http://schemas.openxmlformats.org/officeDocument/2006/relationships" id="2147483658" r:id="R6493b57edf7d4b2c"/>
    <p:sldLayoutId xmlns:r="http://schemas.openxmlformats.org/officeDocument/2006/relationships" id="2147483659" r:id="Rb051260dbcff4b48"/>
  </p:sldLayoutIdLst>
  <p:txStyles>
    <p:titleStyle>
      <a:lvl1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+mj-lt"/>
          <a:ea typeface="+mj-lt"/>
          <a:cs typeface="+mj-lt"/>
        </a:defRPr>
      </a:lvl1pPr>
      <a:lvl2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1290584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2581168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3871752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5162337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L="1222375" indent="-1222375" algn="l" defTabSz="3260725">
        <a:spcBef>
          <a:spcPct val="20000"/>
        </a:spcBef>
        <a:spcAft>
          <a:spcPct val="0"/>
        </a:spcAft>
        <a:buChar char="•"/>
        <a:defRPr sz="1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652713" indent="-1020763" algn="l" defTabSz="3260725">
        <a:spcBef>
          <a:spcPct val="20000"/>
        </a:spcBef>
        <a:spcAft>
          <a:spcPct val="0"/>
        </a:spcAft>
        <a:buChar char="–"/>
        <a:defRPr sz="101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076700" indent="-814388" algn="l" defTabSz="3260725">
        <a:spcBef>
          <a:spcPct val="20000"/>
        </a:spcBef>
        <a:spcAft>
          <a:spcPct val="0"/>
        </a:spcAft>
        <a:buChar char="•"/>
        <a:defRPr sz="8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713413" indent="-819150" algn="l" defTabSz="3260725">
        <a:spcBef>
          <a:spcPct val="20000"/>
        </a:spcBef>
        <a:spcAft>
          <a:spcPct val="0"/>
        </a:spcAft>
        <a:buChar char="–"/>
        <a:defRPr sz="7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339013" indent="-814388" algn="l" defTabSz="3260725">
        <a:spcBef>
          <a:spcPct val="20000"/>
        </a:spcBef>
        <a:spcAft>
          <a:spcPct val="0"/>
        </a:spcAft>
        <a:buChar char="»"/>
        <a:defRPr sz="7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8630782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9921366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1211950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2502534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290584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581168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871752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5162337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6452921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7743505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9034089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0324673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df49b4a85f446f" /><Relationship Type="http://schemas.openxmlformats.org/officeDocument/2006/relationships/image" Target="/ppt/media/image.png" Id="Rc7226c8fcbba4c3d" /><Relationship Type="http://schemas.openxmlformats.org/officeDocument/2006/relationships/image" Target="/ppt/media/image2.png" Id="R9350a78eff9d4db9" /><Relationship Type="http://schemas.openxmlformats.org/officeDocument/2006/relationships/image" Target="/ppt/media/image3.png" Id="R29b2f0bbdb0c4ce0" /><Relationship Type="http://schemas.openxmlformats.org/officeDocument/2006/relationships/image" Target="/ppt/media/image4.png" Id="Rcb7cd4855f5c48de" /><Relationship Type="http://schemas.openxmlformats.org/officeDocument/2006/relationships/image" Target="/ppt/media/image5.png" Id="R6d7bf24421794ec6" /><Relationship Type="http://schemas.openxmlformats.org/officeDocument/2006/relationships/image" Target="/ppt/media/image6.png" Id="Rda4311979b7646cf" /><Relationship Type="http://schemas.openxmlformats.org/officeDocument/2006/relationships/image" Target="/ppt/media/image7.png" Id="Ra717ab67737d4009" /><Relationship Type="http://schemas.openxmlformats.org/officeDocument/2006/relationships/image" Target="/ppt/media/image8.png" Id="Ra4cf05863a65443f" /><Relationship Type="http://schemas.openxmlformats.org/officeDocument/2006/relationships/image" Target="/ppt/media/image9.png" Id="R33a642fdcdbc4d9e" /><Relationship Type="http://schemas.openxmlformats.org/officeDocument/2006/relationships/image" Target="/ppt/media/image10.png" Id="R93e2fce0c76e4357" /><Relationship Type="http://schemas.openxmlformats.org/officeDocument/2006/relationships/image" Target="/ppt/media/image11.png" Id="Rc0dc40d83a404b6d" /><Relationship Type="http://schemas.openxmlformats.org/officeDocument/2006/relationships/image" Target="/ppt/media/image12.png" Id="R3c339897eee5483f" /><Relationship Type="http://schemas.openxmlformats.org/officeDocument/2006/relationships/notesSlide" Target="/ppt/notesSlides/notesSlide1.xml" Id="R70389b4a7aaa447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3F0A63-7DBA-4862-8ADB-634BE208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429" y="0"/>
            <a:ext cx="26974800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25A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" name="Title 4">
            <a:extLst xmlns:a="http://schemas.openxmlformats.org/drawingml/2006/main">
              <a:ext uri="{FF2B5EF4-FFF2-40B4-BE49-F238E27FC236}">
                <a16:creationId xmlns:a16="http://schemas.microsoft.com/office/drawing/2014/main" id="{E2B6D61B-B0C1-41B4-91D3-8A4338C3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429" y="6443810"/>
            <a:ext cx="26974800" cy="1109774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0" rIns="914400" anchor="t">
            <a:noAutofit/>
          </a:bodyPr>
          <a:lstStyle xmlns:a="http://schemas.openxmlformats.org/drawingml/2006/main">
            <a:lvl1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+mj-lt"/>
                <a:ea typeface="+mj-lt"/>
                <a:cs typeface="+mj-lt"/>
              </a:defRPr>
            </a:lvl1pPr>
            <a:lvl2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2pPr>
            <a:lvl3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3pPr>
            <a:lvl4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4pPr>
            <a:lvl5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5pPr>
            <a:lvl6pPr marL="1290584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6pPr>
            <a:lvl7pPr marL="2581168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7pPr>
            <a:lvl8pPr marL="3871752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8pPr>
            <a:lvl9pPr marL="5162337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0350" b="1" i="0">
                <a:solidFill>
                  <a:srgbClr val="FFFFFF"/>
                </a:solidFill>
              </a:defRPr>
            </a:pPr>
            <a:r>
              <a:rPr sz="10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Mais diagnóstico de asma, sem queda clara das crises</a:t>
            </a:r>
          </a:p>
        </p:txBody>
      </p:sp>
      <p:sp>
        <p:nvSpPr>
          <p:cNvPr id="11" name="Graphic 7">
            <a:extLst xmlns:a="http://schemas.openxmlformats.org/drawingml/2006/main">
              <a:ext uri="{FF2B5EF4-FFF2-40B4-BE49-F238E27FC236}">
                <a16:creationId xmlns:a16="http://schemas.microsoft.com/office/drawing/2014/main" id="{6A914F07-9B81-4F27-AA77-A20809DD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2662" y="25909266"/>
            <a:ext cx="1117158" cy="1932381"/>
          </a:xfrm>
          <a:custGeom xmlns:a="http://schemas.openxmlformats.org/drawingml/2006/main">
            <a:gdLst>
              <a:gd name="connsiteX0" fmla="*/ 321256 w 2089376"/>
              <a:gd name="connsiteY0" fmla="*/ 0 h 3614056"/>
              <a:gd name="connsiteX1" fmla="*/ 0 w 2089376"/>
              <a:gd name="connsiteY1" fmla="*/ 321256 h 3614056"/>
              <a:gd name="connsiteX2" fmla="*/ 0 w 2089376"/>
              <a:gd name="connsiteY2" fmla="*/ 3292801 h 3614056"/>
              <a:gd name="connsiteX3" fmla="*/ 321256 w 2089376"/>
              <a:gd name="connsiteY3" fmla="*/ 3614057 h 3614056"/>
              <a:gd name="connsiteX4" fmla="*/ 1815047 w 2089376"/>
              <a:gd name="connsiteY4" fmla="*/ 3614057 h 3614056"/>
              <a:gd name="connsiteX5" fmla="*/ 2136303 w 2089376"/>
              <a:gd name="connsiteY5" fmla="*/ 3292801 h 3614056"/>
              <a:gd name="connsiteX6" fmla="*/ 2136303 w 2089376"/>
              <a:gd name="connsiteY6" fmla="*/ 321256 h 3614056"/>
              <a:gd name="connsiteX7" fmla="*/ 1815047 w 2089376"/>
              <a:gd name="connsiteY7" fmla="*/ 0 h 3614056"/>
              <a:gd name="connsiteX8" fmla="*/ 321256 w 2089376"/>
              <a:gd name="connsiteY8" fmla="*/ 0 h 3614056"/>
              <a:gd name="connsiteX9" fmla="*/ 889115 w 2089376"/>
              <a:gd name="connsiteY9" fmla="*/ 309397 h 3614056"/>
              <a:gd name="connsiteX10" fmla="*/ 1247302 w 2089376"/>
              <a:gd name="connsiteY10" fmla="*/ 309397 h 3614056"/>
              <a:gd name="connsiteX11" fmla="*/ 1289936 w 2089376"/>
              <a:gd name="connsiteY11" fmla="*/ 369650 h 3614056"/>
              <a:gd name="connsiteX12" fmla="*/ 1247302 w 2089376"/>
              <a:gd name="connsiteY12" fmla="*/ 429903 h 3614056"/>
              <a:gd name="connsiteX13" fmla="*/ 889115 w 2089376"/>
              <a:gd name="connsiteY13" fmla="*/ 429903 h 3614056"/>
              <a:gd name="connsiteX14" fmla="*/ 846480 w 2089376"/>
              <a:gd name="connsiteY14" fmla="*/ 369650 h 3614056"/>
              <a:gd name="connsiteX15" fmla="*/ 889115 w 2089376"/>
              <a:gd name="connsiteY15" fmla="*/ 309397 h 3614056"/>
              <a:gd name="connsiteX16" fmla="*/ 176468 w 2089376"/>
              <a:gd name="connsiteY16" fmla="*/ 738905 h 3614056"/>
              <a:gd name="connsiteX17" fmla="*/ 1959892 w 2089376"/>
              <a:gd name="connsiteY17" fmla="*/ 738905 h 3614056"/>
              <a:gd name="connsiteX18" fmla="*/ 1959892 w 2089376"/>
              <a:gd name="connsiteY18" fmla="*/ 2875208 h 3614056"/>
              <a:gd name="connsiteX19" fmla="*/ 176468 w 2089376"/>
              <a:gd name="connsiteY19" fmla="*/ 2875208 h 3614056"/>
              <a:gd name="connsiteX20" fmla="*/ 176468 w 2089376"/>
              <a:gd name="connsiteY20" fmla="*/ 738905 h 3614056"/>
              <a:gd name="connsiteX21" fmla="*/ 1068180 w 2089376"/>
              <a:gd name="connsiteY21" fmla="*/ 3045747 h 3614056"/>
              <a:gd name="connsiteX22" fmla="*/ 1068180 w 2089376"/>
              <a:gd name="connsiteY22" fmla="*/ 3045747 h 3614056"/>
              <a:gd name="connsiteX23" fmla="*/ 1267066 w 2089376"/>
              <a:gd name="connsiteY23" fmla="*/ 3244633 h 3614056"/>
              <a:gd name="connsiteX24" fmla="*/ 1267066 w 2089376"/>
              <a:gd name="connsiteY24" fmla="*/ 3244633 h 3614056"/>
              <a:gd name="connsiteX25" fmla="*/ 1267066 w 2089376"/>
              <a:gd name="connsiteY25" fmla="*/ 3244633 h 3614056"/>
              <a:gd name="connsiteX26" fmla="*/ 1267066 w 2089376"/>
              <a:gd name="connsiteY26" fmla="*/ 3244633 h 3614056"/>
              <a:gd name="connsiteX27" fmla="*/ 1068180 w 2089376"/>
              <a:gd name="connsiteY27" fmla="*/ 3443519 h 3614056"/>
              <a:gd name="connsiteX28" fmla="*/ 1068180 w 2089376"/>
              <a:gd name="connsiteY28" fmla="*/ 3443519 h 3614056"/>
              <a:gd name="connsiteX29" fmla="*/ 1068180 w 2089376"/>
              <a:gd name="connsiteY29" fmla="*/ 3443519 h 3614056"/>
              <a:gd name="connsiteX30" fmla="*/ 1068180 w 2089376"/>
              <a:gd name="connsiteY30" fmla="*/ 3443519 h 3614056"/>
              <a:gd name="connsiteX31" fmla="*/ 869294 w 2089376"/>
              <a:gd name="connsiteY31" fmla="*/ 3244633 h 3614056"/>
              <a:gd name="connsiteX32" fmla="*/ 869294 w 2089376"/>
              <a:gd name="connsiteY32" fmla="*/ 3244633 h 3614056"/>
              <a:gd name="connsiteX33" fmla="*/ 869294 w 2089376"/>
              <a:gd name="connsiteY33" fmla="*/ 3244633 h 3614056"/>
              <a:gd name="connsiteX34" fmla="*/ 869294 w 2089376"/>
              <a:gd name="connsiteY34" fmla="*/ 3244633 h 3614056"/>
              <a:gd name="connsiteX35" fmla="*/ 1068180 w 2089376"/>
              <a:gd name="connsiteY35" fmla="*/ 3045747 h 3614056"/>
              <a:gd name="connsiteX36" fmla="*/ 1068180 w 2089376"/>
              <a:gd name="connsiteY36" fmla="*/ 3045747 h 3614056"/>
              <a:gd name="connsiteX37" fmla="*/ 1068180 w 2089376"/>
              <a:gd name="connsiteY37" fmla="*/ 3045747 h 3614056"/>
            </a:gdLst>
            <a:rect l="l" t="t" r="r" b="b"/>
            <a:pathLst>
              <a:path w="2089376" h="3614056">
                <a:moveTo>
                  <a:pt x="321256" y="0"/>
                </a:moveTo>
                <a:cubicBezTo>
                  <a:pt x="144562" y="0"/>
                  <a:pt x="0" y="144562"/>
                  <a:pt x="0" y="321256"/>
                </a:cubicBezTo>
                <a:lnTo>
                  <a:pt x="0" y="3292801"/>
                </a:lnTo>
                <a:cubicBezTo>
                  <a:pt x="0" y="3469495"/>
                  <a:pt x="144562" y="3614057"/>
                  <a:pt x="321256" y="3614057"/>
                </a:cubicBezTo>
                <a:lnTo>
                  <a:pt x="1815047" y="3614057"/>
                </a:lnTo>
                <a:cubicBezTo>
                  <a:pt x="1991741" y="3614057"/>
                  <a:pt x="2136303" y="3469495"/>
                  <a:pt x="2136303" y="3292801"/>
                </a:cubicBezTo>
                <a:lnTo>
                  <a:pt x="2136303" y="321256"/>
                </a:lnTo>
                <a:cubicBezTo>
                  <a:pt x="2136303" y="144562"/>
                  <a:pt x="1991741" y="0"/>
                  <a:pt x="1815047" y="0"/>
                </a:cubicBezTo>
                <a:lnTo>
                  <a:pt x="321256" y="0"/>
                </a:lnTo>
                <a:close/>
                <a:moveTo>
                  <a:pt x="889115" y="309397"/>
                </a:moveTo>
                <a:lnTo>
                  <a:pt x="1247302" y="309397"/>
                </a:lnTo>
                <a:cubicBezTo>
                  <a:pt x="1270849" y="309397"/>
                  <a:pt x="1289936" y="336390"/>
                  <a:pt x="1289936" y="369650"/>
                </a:cubicBezTo>
                <a:cubicBezTo>
                  <a:pt x="1289936" y="402911"/>
                  <a:pt x="1270849" y="429903"/>
                  <a:pt x="1247302" y="429903"/>
                </a:cubicBezTo>
                <a:lnTo>
                  <a:pt x="889115" y="429903"/>
                </a:lnTo>
                <a:cubicBezTo>
                  <a:pt x="865567" y="429903"/>
                  <a:pt x="846480" y="402911"/>
                  <a:pt x="846480" y="369650"/>
                </a:cubicBezTo>
                <a:cubicBezTo>
                  <a:pt x="846480" y="336390"/>
                  <a:pt x="865567" y="309397"/>
                  <a:pt x="889115" y="309397"/>
                </a:cubicBezTo>
                <a:close/>
                <a:moveTo>
                  <a:pt x="176468" y="738905"/>
                </a:moveTo>
                <a:lnTo>
                  <a:pt x="1959892" y="738905"/>
                </a:lnTo>
                <a:lnTo>
                  <a:pt x="1959892" y="2875208"/>
                </a:lnTo>
                <a:lnTo>
                  <a:pt x="176468" y="2875208"/>
                </a:lnTo>
                <a:lnTo>
                  <a:pt x="176468" y="738905"/>
                </a:lnTo>
                <a:close/>
                <a:moveTo>
                  <a:pt x="1068180" y="3045747"/>
                </a:moveTo>
                <a:cubicBezTo>
                  <a:pt x="1068180" y="3045747"/>
                  <a:pt x="1068180" y="3045747"/>
                  <a:pt x="1068180" y="3045747"/>
                </a:cubicBezTo>
                <a:cubicBezTo>
                  <a:pt x="1178013" y="3045747"/>
                  <a:pt x="1267066" y="3134799"/>
                  <a:pt x="1267066" y="3244633"/>
                </a:cubicBezTo>
                <a:cubicBezTo>
                  <a:pt x="1267066" y="3244633"/>
                  <a:pt x="1267066" y="3244633"/>
                  <a:pt x="1267066" y="3244633"/>
                </a:cubicBezTo>
                <a:lnTo>
                  <a:pt x="1267066" y="3244633"/>
                </a:lnTo>
                <a:cubicBezTo>
                  <a:pt x="1267066" y="3244633"/>
                  <a:pt x="1267066" y="3244633"/>
                  <a:pt x="1267066" y="3244633"/>
                </a:cubicBezTo>
                <a:cubicBezTo>
                  <a:pt x="1267066" y="3354466"/>
                  <a:pt x="1178013" y="3443519"/>
                  <a:pt x="1068180" y="3443519"/>
                </a:cubicBezTo>
                <a:cubicBezTo>
                  <a:pt x="1068180" y="3443519"/>
                  <a:pt x="1068180" y="3443519"/>
                  <a:pt x="1068180" y="3443519"/>
                </a:cubicBezTo>
                <a:lnTo>
                  <a:pt x="1068180" y="3443519"/>
                </a:lnTo>
                <a:cubicBezTo>
                  <a:pt x="1068180" y="3443519"/>
                  <a:pt x="1068180" y="3443519"/>
                  <a:pt x="1068180" y="3443519"/>
                </a:cubicBezTo>
                <a:cubicBezTo>
                  <a:pt x="958346" y="3443519"/>
                  <a:pt x="869294" y="3354466"/>
                  <a:pt x="869294" y="3244633"/>
                </a:cubicBezTo>
                <a:cubicBezTo>
                  <a:pt x="869294" y="3244633"/>
                  <a:pt x="869294" y="3244633"/>
                  <a:pt x="869294" y="3244633"/>
                </a:cubicBezTo>
                <a:lnTo>
                  <a:pt x="869294" y="3244633"/>
                </a:lnTo>
                <a:cubicBezTo>
                  <a:pt x="869294" y="3244633"/>
                  <a:pt x="869294" y="3244633"/>
                  <a:pt x="869294" y="3244633"/>
                </a:cubicBezTo>
                <a:cubicBezTo>
                  <a:pt x="869294" y="3134799"/>
                  <a:pt x="958346" y="3045747"/>
                  <a:pt x="1068180" y="3045747"/>
                </a:cubicBezTo>
                <a:cubicBezTo>
                  <a:pt x="1068180" y="3045747"/>
                  <a:pt x="1068180" y="3045747"/>
                  <a:pt x="1068180" y="3045747"/>
                </a:cubicBezTo>
                <a:lnTo>
                  <a:pt x="1068180" y="3045747"/>
                </a:lnTo>
                <a:close/>
              </a:path>
            </a:pathLst>
          </a:custGeom>
          <a:solidFill xmlns:a="http://schemas.openxmlformats.org/drawingml/2006/main">
            <a:srgbClr val="B9D9EB"/>
          </a:solidFill>
          <a:ln xmlns:a="http://schemas.openxmlformats.org/drawingml/2006/main" w="56406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66E3CCB-B3D7-4851-9F10-196B92FE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06853" y="25997207"/>
            <a:ext cx="7179897" cy="14056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 i="0">
                <a:solidFill>
                  <a:srgbClr val="B9D9EB"/>
                </a:solidFill>
              </a:defRPr>
            </a:pPr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Aponte para acessar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B9D9EB"/>
                </a:solidFill>
              </a:defRPr>
            </a:pPr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o repositório</a:t>
            </a:r>
          </a:p>
        </p:txBody>
      </p:sp>
      <p:cxnSp>
        <p:nvCxnSpPr>
          <p:cNvPr id="124" name="Straight Arrow Connector 12"/>
          <p:cNvCxnSpPr/>
          <p:nvPr/>
        </p:nvCxnSpPr>
        <p:spPr>
          <a:xfrm xmlns:a="http://schemas.openxmlformats.org/drawingml/2006/main" flipH="1">
            <a:off x="16574285" y="26803752"/>
            <a:ext cx="1153301" cy="0"/>
          </a:xfrm>
          <a:prstGeom xmlns:a="http://schemas.openxmlformats.org/drawingml/2006/main" prst="straightConnector1">
            <a:avLst/>
          </a:prstGeom>
          <a:ln xmlns:a="http://schemas.openxmlformats.org/drawingml/2006/main" w="66675">
            <a:solidFill>
              <a:srgbClr val="B9D9EB"/>
            </a:solidFill>
            <a:prstDash val="sysDot"/>
            <a:tailEnd type="triangle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13982A0-69CB-45AD-A5F2-E7F4BB7E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" y="0"/>
            <a:ext cx="8436429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E20FE60-407F-4C94-8E81-E6399E6D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11229" y="0"/>
            <a:ext cx="8436429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pic>
        <p:nvPicPr>
          <p:cNvPr id="127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226c8fcbba4c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419038" y="29678799"/>
            <a:ext cx="2810933" cy="2294467"/>
          </a:xfrm>
          <a:prstGeom xmlns:a="http://schemas.openxmlformats.org/drawingml/2006/main" prst="rect">
            <a:avLst/>
          </a:prstGeom>
        </p:spPr>
      </p:pic>
      <p:sp>
        <p:nvSpPr>
          <p:cNvPr id="21" name="Graphic 18">
            <a:extLst xmlns:a="http://schemas.openxmlformats.org/drawingml/2006/main">
              <a:ext uri="{FF2B5EF4-FFF2-40B4-BE49-F238E27FC236}">
                <a16:creationId xmlns:a16="http://schemas.microsoft.com/office/drawing/2014/main" id="{DF6CD646-5E36-42FB-96E3-FEB08C25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1452" y="7489285"/>
            <a:ext cx="320382" cy="297952"/>
          </a:xfrm>
          <a:custGeom xmlns:a="http://schemas.openxmlformats.org/drawingml/2006/main"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663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24" name="Graphic 18">
            <a:extLst xmlns:a="http://schemas.openxmlformats.org/drawingml/2006/main">
              <a:ext uri="{FF2B5EF4-FFF2-40B4-BE49-F238E27FC236}">
                <a16:creationId xmlns:a16="http://schemas.microsoft.com/office/drawing/2014/main" id="{1726A8DA-9186-4C79-926E-2D1215AE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9038" y="26632748"/>
            <a:ext cx="320382" cy="297952"/>
          </a:xfrm>
          <a:custGeom xmlns:a="http://schemas.openxmlformats.org/drawingml/2006/main"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663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30" name="Imagem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0a78eff9d4db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237780" y="28882425"/>
            <a:ext cx="3330899" cy="3731175"/>
          </a:xfrm>
          <a:prstGeom xmlns:a="http://schemas.openxmlformats.org/drawingml/2006/main" prst="rect">
            <a:avLst/>
          </a:prstGeom>
        </p:spPr>
      </p:pic>
      <p:pic>
        <p:nvPicPr>
          <p:cNvPr id="131" name="Imagem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2f0bbdb0c4ce0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0" flipH="1" flipV="0">
            <a:off x="17720847" y="1"/>
            <a:ext cx="17829495" cy="4696690"/>
          </a:xfrm>
          <a:prstGeom xmlns:a="http://schemas.openxmlformats.org/drawingml/2006/main" prst="rect">
            <a:avLst/>
          </a:prstGeom>
        </p:spPr>
      </p:pic>
      <p:pic>
        <p:nvPicPr>
          <p:cNvPr id="132" name="Imagem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2f0bbdb0c4ce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35372905" y="1"/>
            <a:ext cx="8518294" cy="4696690"/>
          </a:xfrm>
          <a:prstGeom xmlns:a="http://schemas.openxmlformats.org/drawingml/2006/main" prst="rect">
            <a:avLst/>
          </a:prstGeom>
        </p:spPr>
      </p:pic>
      <p:pic>
        <p:nvPicPr>
          <p:cNvPr id="133" name="Imagem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2f0bbdb0c4ce0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10800000" flipH="1" flipV="0">
            <a:off x="0" y="1"/>
            <a:ext cx="17829495" cy="4696690"/>
          </a:xfrm>
          <a:prstGeom xmlns:a="http://schemas.openxmlformats.org/drawingml/2006/main" prst="rect">
            <a:avLst/>
          </a:prstGeom>
        </p:spPr>
      </p:pic>
      <p:pic>
        <p:nvPicPr>
          <p:cNvPr id="134" name="Imagem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cd4855f5c48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104807" y="998069"/>
            <a:ext cx="12847803" cy="2658990"/>
          </a:xfrm>
          <a:prstGeom xmlns:a="http://schemas.openxmlformats.org/drawingml/2006/main" prst="rect">
            <a:avLst/>
          </a:prstGeom>
        </p:spPr>
      </p:pic>
      <p:pic>
        <p:nvPicPr>
          <p:cNvPr id="135" name="Imagem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bf24421794ec6"/>
          <a:srcRect xmlns:a="http://schemas.openxmlformats.org/drawingml/2006/main" l="0" t="2119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6751300" y="1901593"/>
            <a:ext cx="23686714" cy="1755466"/>
          </a:xfrm>
          <a:prstGeom xmlns:a="http://schemas.openxmlformats.org/drawingml/2006/main" prst="rect">
            <a:avLst/>
          </a:prstGeom>
        </p:spPr>
      </p:pic>
      <p:pic>
        <p:nvPicPr>
          <p:cNvPr id="136" name="Imagem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2f0bbdb0c4ce0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0" flipH="1" flipV="0">
            <a:off x="17873247" y="152401"/>
            <a:ext cx="17829495" cy="4696690"/>
          </a:xfrm>
          <a:prstGeom xmlns:a="http://schemas.openxmlformats.org/drawingml/2006/main" prst="rect">
            <a:avLst/>
          </a:prstGeom>
        </p:spPr>
      </p:pic>
      <p:pic>
        <p:nvPicPr>
          <p:cNvPr id="137" name="Imagem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2f0bbdb0c4ce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35525305" y="152401"/>
            <a:ext cx="8518294" cy="4696690"/>
          </a:xfrm>
          <a:prstGeom xmlns:a="http://schemas.openxmlformats.org/drawingml/2006/main" prst="rect">
            <a:avLst/>
          </a:prstGeom>
        </p:spPr>
      </p:pic>
      <p:pic>
        <p:nvPicPr>
          <p:cNvPr id="138" name="Imagem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2f0bbdb0c4ce0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10800000" flipH="1" flipV="0">
            <a:off x="152400" y="152401"/>
            <a:ext cx="17829495" cy="4696690"/>
          </a:xfrm>
          <a:prstGeom xmlns:a="http://schemas.openxmlformats.org/drawingml/2006/main" prst="rect">
            <a:avLst/>
          </a:prstGeom>
        </p:spPr>
      </p:pic>
      <p:pic>
        <p:nvPicPr>
          <p:cNvPr id="139" name="Imagem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cd4855f5c48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257207" y="1150469"/>
            <a:ext cx="12847803" cy="2658990"/>
          </a:xfrm>
          <a:prstGeom xmlns:a="http://schemas.openxmlformats.org/drawingml/2006/main" prst="rect">
            <a:avLst/>
          </a:prstGeom>
        </p:spPr>
      </p:pic>
      <p:pic>
        <p:nvPicPr>
          <p:cNvPr id="140" name="Imagem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4311979b7646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751301" y="1892510"/>
            <a:ext cx="24396700" cy="1536490"/>
          </a:xfrm>
          <a:prstGeom xmlns:a="http://schemas.openxmlformats.org/drawingml/2006/main" prst="rect">
            <a:avLst/>
          </a:prstGeom>
        </p:spPr>
      </p:pic>
      <p:sp>
        <p:nvSpPr>
          <p:cNvPr id="39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CFE118DB-12E8-401C-88FB-C56E4AA5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7067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1">
                <a:solidFill>
                  <a:srgbClr val="111111"/>
                </a:solidFill>
              </a:defRPr>
            </a:pPr>
            <a:r>
              <a:rPr sz="270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Evolução da asma no Brasil, 2013-2019</a:t>
            </a:r>
          </a:p>
          <a:p xmlns:a="http://schemas.openxmlformats.org/drawingml/2006/main">
            <a:pPr algn="l">
              <a:buNone/>
              <a:defRPr sz="2700" b="1" i="1">
                <a:solidFill>
                  <a:srgbClr val="111111"/>
                </a:solidFill>
              </a:defRPr>
            </a:pPr>
            <a:r>
              <a:rPr sz="270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Estimativas reprodutíveis com microdados da PNS</a:t>
            </a:r>
          </a:p>
        </p:txBody>
      </p:sp>
      <p:sp>
        <p:nvSpPr>
          <p:cNvPr id="40" name="poster-presenter">
            <a:extLst xmlns:a="http://schemas.openxmlformats.org/drawingml/2006/main">
              <a:ext uri="{FF2B5EF4-FFF2-40B4-BE49-F238E27FC236}">
                <a16:creationId xmlns:a16="http://schemas.microsoft.com/office/drawing/2014/main" id="{B04A30FA-0FEC-4851-8992-90FBE5A8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7334250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5A5A5A"/>
                </a:solidFill>
              </a:defRPr>
            </a:pPr>
            <a:r>
              <a:rPr sz="1875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APRESENTAÇÃO: I. Dube; M. E. L. Silva</a:t>
            </a:r>
          </a:p>
        </p:txBody>
      </p:sp>
      <p:sp>
        <p:nvSpPr>
          <p:cNvPr id="43" name="poster-authors">
            <a:extLst xmlns:a="http://schemas.openxmlformats.org/drawingml/2006/main">
              <a:ext uri="{FF2B5EF4-FFF2-40B4-BE49-F238E27FC236}">
                <a16:creationId xmlns:a16="http://schemas.microsoft.com/office/drawing/2014/main" id="{6F605D87-2F06-4045-9747-69A26DFA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2225" y="26450925"/>
            <a:ext cx="6667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I. Dube; M. E. L. Silva</a:t>
            </a:r>
          </a:p>
          <a:p xmlns:a="http://schemas.openxmlformats.org/drawingml/2006/main"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PNS 2013-2019 | Brasil</a:t>
            </a:r>
          </a:p>
        </p:txBody>
      </p:sp>
      <p:sp>
        <p:nvSpPr>
          <p:cNvPr id="44" name="github-qr-placeholder">
            <a:extLst xmlns:a="http://schemas.openxmlformats.org/drawingml/2006/main">
              <a:ext uri="{FF2B5EF4-FFF2-40B4-BE49-F238E27FC236}">
                <a16:creationId xmlns:a16="http://schemas.microsoft.com/office/drawing/2014/main" id="{D769B753-4009-4F89-910B-19A03CFC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9125" y="24574500"/>
            <a:ext cx="45720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0">
            <a:solidFill>
              <a:srgbClr val="B9D9EB"/>
            </a:solidFill>
            <a:prstDash val="solid"/>
          </a:ln>
        </p:spPr>
      </p:sp>
      <p:sp>
        <p:nvSpPr>
          <p:cNvPr id="45" name="github-qr-placeholder-label">
            <a:extLst xmlns:a="http://schemas.openxmlformats.org/drawingml/2006/main">
              <a:ext uri="{FF2B5EF4-FFF2-40B4-BE49-F238E27FC236}">
                <a16:creationId xmlns:a16="http://schemas.microsoft.com/office/drawing/2014/main" id="{B202DFF5-D80F-462E-AF65-E5016D8A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2609850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 i="0">
                <a:solidFill>
                  <a:srgbClr val="20425A"/>
                </a:solidFill>
              </a:defRPr>
            </a:pPr>
            <a:r>
              <a:rPr sz="2325" b="1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Insira QR code para o GitHub</a:t>
            </a:r>
          </a:p>
        </p:txBody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7ab67737d4009"/>
          <a:stretch xmlns:a="http://schemas.openxmlformats.org/drawingml/2006/main"/>
        </p:blipFill>
        <p:spPr>
          <a:xfrm xmlns:a="http://schemas.openxmlformats.org/drawingml/2006/main">
            <a:off x="9906000" y="13716000"/>
            <a:ext cx="10477500" cy="8096250"/>
          </a:xfrm>
          <a:prstGeom xmlns:a="http://schemas.openxmlformats.org/drawingml/2006/main" prst="rect">
            <a:avLst/>
          </a:prstGeom>
        </p:spPr>
      </p:pic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f05863a65443f"/>
          <a:stretch xmlns:a="http://schemas.openxmlformats.org/drawingml/2006/main"/>
        </p:blipFill>
        <p:spPr>
          <a:xfrm xmlns:a="http://schemas.openxmlformats.org/drawingml/2006/main">
            <a:off x="23050500" y="13716000"/>
            <a:ext cx="10477500" cy="8096250"/>
          </a:xfrm>
          <a:prstGeom xmlns:a="http://schemas.openxmlformats.org/drawingml/2006/main" prst="rect">
            <a:avLst/>
          </a:prstGeom>
        </p:spPr>
      </p:pic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a642fdcdbc4d9e"/>
          <a:stretch xmlns:a="http://schemas.openxmlformats.org/drawingml/2006/main"/>
        </p:blipFill>
        <p:spPr>
          <a:xfrm xmlns:a="http://schemas.openxmlformats.org/drawingml/2006/main">
            <a:off x="9906000" y="13716000"/>
            <a:ext cx="10477500" cy="8096250"/>
          </a:xfrm>
          <a:prstGeom xmlns:a="http://schemas.openxmlformats.org/drawingml/2006/main" prst="rect">
            <a:avLst/>
          </a:prstGeom>
        </p:spPr>
      </p:pic>
      <p:pic>
        <p:nvPicPr>
          <p:cNvPr id="1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2fce0c76e4357"/>
          <a:stretch xmlns:a="http://schemas.openxmlformats.org/drawingml/2006/main"/>
        </p:blipFill>
        <p:spPr>
          <a:xfrm xmlns:a="http://schemas.openxmlformats.org/drawingml/2006/main">
            <a:off x="23050500" y="13716000"/>
            <a:ext cx="10477500" cy="8096250"/>
          </a:xfrm>
          <a:prstGeom xmlns:a="http://schemas.openxmlformats.org/drawingml/2006/main" prst="rect">
            <a:avLst/>
          </a:prstGeom>
        </p:spPr>
      </p:pic>
      <p:sp>
        <p:nvSpPr>
          <p:cNvPr id="115" name="morrison-method-detail">
            <a:extLst xmlns:a="http://schemas.openxmlformats.org/drawingml/2006/main">
              <a:ext uri="{FF2B5EF4-FFF2-40B4-BE49-F238E27FC236}">
                <a16:creationId xmlns:a16="http://schemas.microsoft.com/office/drawing/2014/main" id="{D6FDB93F-4D1B-4B8D-AFAE-346D9F06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667750"/>
            <a:ext cx="7239000" cy="1504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INTRO: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asma combina carga crônica, crises recorrentes e necessidade de manejo contínuo.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MÉTODOS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1. Microdados PNS 2013/2019.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Desenho: UPA, estratos e pesos via `pns_design()`.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p_hat = sum(w_i y_i) / sum(w_i).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% = 100*p_hat; taxa_100k = 100000*p_hat.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IC95%: `svyciprop(method = "beta")`.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RESULTADOS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Asma: 4,41% -&gt; 5,40%.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Crises: 38,3% -&gt; 37,7%.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Medicamentos: 81,5% -&gt; 64,4%.</a:t>
            </a:r>
          </a:p>
        </p:txBody>
      </p:sp>
      <p:sp>
        <p:nvSpPr>
          <p:cNvPr id="116" name="morrison-resource-detail">
            <a:extLst xmlns:a="http://schemas.openxmlformats.org/drawingml/2006/main">
              <a:ext uri="{FF2B5EF4-FFF2-40B4-BE49-F238E27FC236}">
                <a16:creationId xmlns:a16="http://schemas.microsoft.com/office/drawing/2014/main" id="{82D93542-35C1-4915-9FAB-BFAD5413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575" y="5686425"/>
            <a:ext cx="6905625" cy="1466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RECURSOS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Espaço reservado para QR code do GitHub.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Código reprodutível: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https://github.com/ingodube/PNS_2013_2019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Interpretação: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ICs sem sobreposição sustentam aumento nacional da asma.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ICs sobrepostos limitam conclusões por UF.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Estabilidade de crises sugere manejo ainda insuficiente.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Queda no percentual de medicamentos deve ser lida junto à taxa populacional.</a:t>
            </a:r>
          </a:p>
        </p:txBody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c40d83a404b6d"/>
          <a:stretch xmlns:a="http://schemas.openxmlformats.org/drawingml/2006/main"/>
        </p:blipFill>
        <p:spPr>
          <a:xfrm xmlns:a="http://schemas.openxmlformats.org/drawingml/2006/main">
            <a:off x="9906000" y="13716000"/>
            <a:ext cx="10477500" cy="8096250"/>
          </a:xfrm>
          <a:prstGeom xmlns:a="http://schemas.openxmlformats.org/drawingml/2006/main" prst="rect">
            <a:avLst/>
          </a:prstGeom>
        </p:spPr>
      </p:pic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339897eee5483f"/>
          <a:stretch xmlns:a="http://schemas.openxmlformats.org/drawingml/2006/main"/>
        </p:blipFill>
        <p:spPr>
          <a:xfrm xmlns:a="http://schemas.openxmlformats.org/drawingml/2006/main">
            <a:off x="23050500" y="13716000"/>
            <a:ext cx="10477500" cy="8096250"/>
          </a:xfrm>
          <a:prstGeom xmlns:a="http://schemas.openxmlformats.org/drawingml/2006/main" prst="rect">
            <a:avLst/>
          </a:prstGeom>
        </p:spPr>
      </p:pic>
      <p:sp>
        <p:nvSpPr>
          <p:cNvPr id="119" name="morrison-chart-note">
            <a:extLst xmlns:a="http://schemas.openxmlformats.org/drawingml/2006/main">
              <a:ext uri="{FF2B5EF4-FFF2-40B4-BE49-F238E27FC236}">
                <a16:creationId xmlns:a16="http://schemas.microsoft.com/office/drawing/2014/main" id="{B40F3A6E-9286-4BF6-A4DA-84A73CB4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145625"/>
            <a:ext cx="24765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0" i="0">
                <a:solidFill>
                  <a:srgbClr val="B9D9EB"/>
                </a:solidFill>
              </a:defRPr>
            </a:pPr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Gráficos exportados dos scripts R: `geom_col`, `geom_errorbar`, `coord_flip`, IC95% e paleta original.</a:t>
            </a:r>
          </a:p>
        </p:txBody>
      </p:sp>
    </p:spTree>
    <p:extLst>
      <p:ext uri="{BB962C8B-B14F-4D97-AF65-F5344CB8AC3E}">
        <p14:creationId xmlns:p14="http://schemas.microsoft.com/office/powerpoint/2010/main" val="2440222578"/>
      </p:ext>
    </p:extLst>
  </p:cSld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2026-07-21T12:19:13.8360000Z</dcterms:created>
  <dcterms:modified xsi:type="dcterms:W3CDTF">2026-07-21T12:19:13.8360000Z</dcterms:modified>
</coreProperties>
</file>