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fc6f2d3e0a424b" /><Relationship Type="http://schemas.openxmlformats.org/officeDocument/2006/relationships/extended-properties" Target="/docProps/app.xml" Id="R8dd9926689bd4c47" /><Relationship Type="http://schemas.openxmlformats.org/officeDocument/2006/relationships/officeDocument" Target="/ppt/presentation.xml" Id="R07597cf5d4674b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364473e7154697"/>
  </p:sldMasterIdLst>
  <p:notesMasterIdLst>
    <p:notesMasterId xmlns:r="http://schemas.openxmlformats.org/officeDocument/2006/relationships" r:id="R526eaabf8b8042ff"/>
  </p:notesMasterIdLst>
  <p:sldIdLst>
    <p:sldId xmlns:r="http://schemas.openxmlformats.org/officeDocument/2006/relationships" id="256" r:id="R2e78368a34434056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96408eb052403e" /><Relationship Type="http://schemas.openxmlformats.org/officeDocument/2006/relationships/slideMaster" Target="/ppt/slideMasters/slideMaster1.xml" Id="Rf6364473e7154697" /><Relationship Type="http://schemas.openxmlformats.org/officeDocument/2006/relationships/notesMaster" Target="/ppt/notesMasters/notesMaster1.xml" Id="R526eaabf8b8042ff" /><Relationship Type="http://schemas.openxmlformats.org/officeDocument/2006/relationships/presProps" Target="/ppt/presProps.xml" Id="R3861822add9744d2" /><Relationship Type="http://schemas.openxmlformats.org/officeDocument/2006/relationships/tableStyles" Target="/ppt/tableStyles.xml" Id="Re26fff21c30d4974" /><Relationship Type="http://schemas.openxmlformats.org/officeDocument/2006/relationships/slide" Target="/ppt/slides/slide1.xml" Id="R2e78368a344340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9ba24507dd46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08c5c61ece4ecd" /><Relationship Type="http://schemas.openxmlformats.org/officeDocument/2006/relationships/notesMaster" Target="/ppt/notesMasters/notesMaster1.xml" Id="R8aecb2f7374344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ffad9ce4a34b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1f85e0d3f041d5" /><Relationship Type="http://schemas.openxmlformats.org/officeDocument/2006/relationships/slideLayout" Target="/ppt/slideLayouts/slideLayout1.xml" Id="R52f151f9680a46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f151f9680a46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9f74b9151474f" /><Relationship Type="http://schemas.openxmlformats.org/officeDocument/2006/relationships/image" Target="/ppt/media/image.png" Id="R9775eb5e54e04607" /><Relationship Type="http://schemas.openxmlformats.org/officeDocument/2006/relationships/image" Target="/ppt/media/image2.png" Id="R6eab862564294803" /><Relationship Type="http://schemas.openxmlformats.org/officeDocument/2006/relationships/image" Target="/ppt/media/image3.png" Id="Rd25bc0feeda04874" /><Relationship Type="http://schemas.openxmlformats.org/officeDocument/2006/relationships/image" Target="/ppt/media/image4.png" Id="R35b76420eae04ac9" /><Relationship Type="http://schemas.openxmlformats.org/officeDocument/2006/relationships/image" Target="/ppt/media/image5.png" Id="Rb6a9738b16dc4944" /><Relationship Type="http://schemas.openxmlformats.org/officeDocument/2006/relationships/image" Target="/ppt/media/image6.png" Id="R2a527c4e129b484d" /><Relationship Type="http://schemas.openxmlformats.org/officeDocument/2006/relationships/image" Target="/ppt/media/image7.png" Id="Rc91a9edfbe0141b0" /><Relationship Type="http://schemas.openxmlformats.org/officeDocument/2006/relationships/image" Target="/ppt/media/image8.png" Id="Rb4c536cc056a44fb" /><Relationship Type="http://schemas.openxmlformats.org/officeDocument/2006/relationships/notesSlide" Target="/ppt/notesSlides/notesSlide1.xml" Id="Rc49b67bf7998401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5eb5e54e04607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b862564294803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bc0feeda04874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D19320E0-3D44-402B-BBB3-798518CC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1401A722-775C-4EA7-9F78-6A4466BD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A960F45A-939C-4348-AEBC-9738F625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Diagnóstico de asma aumentou no Brasil; a carga respiratória de absenteísmo mostra potencial de perda de produtividade e impacto econômico.</a:t>
            </a:r>
          </a:p>
        </p:txBody>
      </p:sp>
      <p:sp>
        <p:nvSpPr>
          <p:cNvPr id="7" name="1-Método em uma linha-box">
            <a:extLst xmlns:a="http://schemas.openxmlformats.org/drawingml/2006/main">
              <a:ext uri="{FF2B5EF4-FFF2-40B4-BE49-F238E27FC236}">
                <a16:creationId xmlns:a16="http://schemas.microsoft.com/office/drawing/2014/main" id="{DC2A6A4D-D454-4B91-AD8E-C8F6DF1D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étodo em uma linha-head">
            <a:extLst xmlns:a="http://schemas.openxmlformats.org/drawingml/2006/main">
              <a:ext uri="{FF2B5EF4-FFF2-40B4-BE49-F238E27FC236}">
                <a16:creationId xmlns:a16="http://schemas.microsoft.com/office/drawing/2014/main" id="{6738FC26-BF0A-47A0-94D5-99E9F023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étodo em uma linha-title">
            <a:extLst xmlns:a="http://schemas.openxmlformats.org/drawingml/2006/main">
              <a:ext uri="{FF2B5EF4-FFF2-40B4-BE49-F238E27FC236}">
                <a16:creationId xmlns:a16="http://schemas.microsoft.com/office/drawing/2014/main" id="{91E89243-3396-48E0-8988-C4CE6AFB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Método em uma linha</a:t>
            </a:r>
          </a:p>
        </p:txBody>
      </p:sp>
      <p:sp>
        <p:nvSpPr>
          <p:cNvPr id="10" name="1-Método em uma linha-body">
            <a:extLst xmlns:a="http://schemas.openxmlformats.org/drawingml/2006/main">
              <a:ext uri="{FF2B5EF4-FFF2-40B4-BE49-F238E27FC236}">
                <a16:creationId xmlns:a16="http://schemas.microsoft.com/office/drawing/2014/main" id="{EA699530-2CC1-4E57-AC99-5611E324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6E82FDB5-AAF7-496A-AEF7-4E05D77B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3CF8834F-954E-4B42-A60A-64F9936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CBA92F1C-B837-42AD-9944-65349ADF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14" name="2-Dados e denominadores-box">
            <a:extLst xmlns:a="http://schemas.openxmlformats.org/drawingml/2006/main">
              <a:ext uri="{FF2B5EF4-FFF2-40B4-BE49-F238E27FC236}">
                <a16:creationId xmlns:a16="http://schemas.microsoft.com/office/drawing/2014/main" id="{271E4875-CC88-4451-AC2E-ED622778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dos e denominadores-head">
            <a:extLst xmlns:a="http://schemas.openxmlformats.org/drawingml/2006/main">
              <a:ext uri="{FF2B5EF4-FFF2-40B4-BE49-F238E27FC236}">
                <a16:creationId xmlns:a16="http://schemas.microsoft.com/office/drawing/2014/main" id="{7352C448-B89F-459F-8AC0-18596D23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dos e denominadores-title">
            <a:extLst xmlns:a="http://schemas.openxmlformats.org/drawingml/2006/main">
              <a:ext uri="{FF2B5EF4-FFF2-40B4-BE49-F238E27FC236}">
                <a16:creationId xmlns:a16="http://schemas.microsoft.com/office/drawing/2014/main" id="{F5EF8476-1789-4940-A6FA-D2D1AA45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Dados e denominadores</a:t>
            </a:r>
          </a:p>
        </p:txBody>
      </p:sp>
      <p:sp>
        <p:nvSpPr>
          <p:cNvPr id="17" name="2-Dados e denominadores-body">
            <a:extLst xmlns:a="http://schemas.openxmlformats.org/drawingml/2006/main">
              <a:ext uri="{FF2B5EF4-FFF2-40B4-BE49-F238E27FC236}">
                <a16:creationId xmlns:a16="http://schemas.microsoft.com/office/drawing/2014/main" id="{8CA918A4-AB22-4B25-AF79-30EAFB07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3-Por que IC beta?-box">
            <a:extLst xmlns:a="http://schemas.openxmlformats.org/drawingml/2006/main">
              <a:ext uri="{FF2B5EF4-FFF2-40B4-BE49-F238E27FC236}">
                <a16:creationId xmlns:a16="http://schemas.microsoft.com/office/drawing/2014/main" id="{3A233A00-EDAE-4814-BC93-7F2285B7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Por que IC beta?-head">
            <a:extLst xmlns:a="http://schemas.openxmlformats.org/drawingml/2006/main">
              <a:ext uri="{FF2B5EF4-FFF2-40B4-BE49-F238E27FC236}">
                <a16:creationId xmlns:a16="http://schemas.microsoft.com/office/drawing/2014/main" id="{BF727755-80B3-437E-B8AF-6E732EDC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Por que IC beta?-title">
            <a:extLst xmlns:a="http://schemas.openxmlformats.org/drawingml/2006/main">
              <a:ext uri="{FF2B5EF4-FFF2-40B4-BE49-F238E27FC236}">
                <a16:creationId xmlns:a16="http://schemas.microsoft.com/office/drawing/2014/main" id="{26BF68C1-8A91-40C7-AF90-ED0BDA01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Por que IC beta?</a:t>
            </a:r>
          </a:p>
        </p:txBody>
      </p:sp>
      <p:sp>
        <p:nvSpPr>
          <p:cNvPr id="21" name="3-Por que IC beta?-body">
            <a:extLst xmlns:a="http://schemas.openxmlformats.org/drawingml/2006/main">
              <a:ext uri="{FF2B5EF4-FFF2-40B4-BE49-F238E27FC236}">
                <a16:creationId xmlns:a16="http://schemas.microsoft.com/office/drawing/2014/main" id="{9039BA9B-9226-4713-A7AC-492BFF86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22" name="4-ETL e interoperabilidade-box">
            <a:extLst xmlns:a="http://schemas.openxmlformats.org/drawingml/2006/main">
              <a:ext uri="{FF2B5EF4-FFF2-40B4-BE49-F238E27FC236}">
                <a16:creationId xmlns:a16="http://schemas.microsoft.com/office/drawing/2014/main" id="{79D95445-525C-497B-A4D3-7FD8B76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e interoperabilidade-head">
            <a:extLst xmlns:a="http://schemas.openxmlformats.org/drawingml/2006/main">
              <a:ext uri="{FF2B5EF4-FFF2-40B4-BE49-F238E27FC236}">
                <a16:creationId xmlns:a16="http://schemas.microsoft.com/office/drawing/2014/main" id="{5B1C2275-D958-43BE-A80B-5F0D5BFF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e interoperabilidade-title">
            <a:extLst xmlns:a="http://schemas.openxmlformats.org/drawingml/2006/main">
              <a:ext uri="{FF2B5EF4-FFF2-40B4-BE49-F238E27FC236}">
                <a16:creationId xmlns:a16="http://schemas.microsoft.com/office/drawing/2014/main" id="{99A1D20F-32E9-4FDE-8344-A43B1343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e interoperabilidade</a:t>
            </a:r>
          </a:p>
        </p:txBody>
      </p:sp>
      <p:sp>
        <p:nvSpPr>
          <p:cNvPr id="25" name="4-ETL e interoperabilidade-body">
            <a:extLst xmlns:a="http://schemas.openxmlformats.org/drawingml/2006/main">
              <a:ext uri="{FF2B5EF4-FFF2-40B4-BE49-F238E27FC236}">
                <a16:creationId xmlns:a16="http://schemas.microsoft.com/office/drawing/2014/main" id="{F83D4892-7367-41D9-B9C7-F4E8FAB3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A66DEDA4-1D80-47FB-B175-3BA4ADA4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35E85861-E734-439E-A930-79A4B88E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diagnóstico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650DEEAE-CE20-4578-9EB9-041E4595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CB53C0C0-FB00-46C9-B047-0B2E43F9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com IC95% sem sobreposição.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9011F2E8-1F43-41A5-BB8C-7532E146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35CF6526-295E-42DF-8467-E3C56BE1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trabalho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06BCD70C-DFD3-4FB5-BDCB-F3A56C65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15,2%; 4,8 d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879C9DBB-724E-442E-9374-53085ACE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Carga respiratória afeta dias úteis.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6CCF1044-4275-4B33-A5A8-1D262334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3DA7B81A-61A2-4E55-AC01-5EE0D722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medicamentos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CC2CD425-689D-43B3-9759-B6FAB53C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BADB289E-F605-4631-98E8-02E59C95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Menor uso entre asmáticos; IC95% orienta cautela.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008C9D9C-B88F-4BD6-BCC0-E72F8D14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5F42EAE7-FA26-4BFC-A444-ED2239DE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b76420eae04ac9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F30A9BD1-01A4-4005-915E-0C6621FD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8DEF8BAE-B22C-4BDA-8DBA-F8E21092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a9738b16dc4944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16347827-9C07-458A-8CC5-E1961D04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Média de dias perdidos por motivo de saúde no Brasil, com destaque para causas respiratórias, PNS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6489A0C9-77CB-4AED-A63F-9C35A6DA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527c4e129b484d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Discussão-box">
            <a:extLst xmlns:a="http://schemas.openxmlformats.org/drawingml/2006/main">
              <a:ext uri="{FF2B5EF4-FFF2-40B4-BE49-F238E27FC236}">
                <a16:creationId xmlns:a16="http://schemas.microsoft.com/office/drawing/2014/main" id="{738FFAE7-AFE6-41E0-8D85-DA6C9523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3752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Discussão-head">
            <a:extLst xmlns:a="http://schemas.openxmlformats.org/drawingml/2006/main">
              <a:ext uri="{FF2B5EF4-FFF2-40B4-BE49-F238E27FC236}">
                <a16:creationId xmlns:a16="http://schemas.microsoft.com/office/drawing/2014/main" id="{74DE3F26-6D16-4595-B33C-A11E4EE4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Discussão-title">
            <a:extLst xmlns:a="http://schemas.openxmlformats.org/drawingml/2006/main">
              <a:ext uri="{FF2B5EF4-FFF2-40B4-BE49-F238E27FC236}">
                <a16:creationId xmlns:a16="http://schemas.microsoft.com/office/drawing/2014/main" id="{D68064AD-90C8-4E0D-971B-8008CADD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Discussão</a:t>
            </a:r>
          </a:p>
        </p:txBody>
      </p:sp>
      <p:sp>
        <p:nvSpPr>
          <p:cNvPr id="50" name="5-Discussão-body">
            <a:extLst xmlns:a="http://schemas.openxmlformats.org/drawingml/2006/main">
              <a:ext uri="{FF2B5EF4-FFF2-40B4-BE49-F238E27FC236}">
                <a16:creationId xmlns:a16="http://schemas.microsoft.com/office/drawing/2014/main" id="{AAA63B26-373A-4481-983F-5E0DE5C6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335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Brasil: diagnóstico médico de asma aumentou de 4,41% em 2013 para 5,40% em 2019, com IC95% sem sobreposição.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Motivos respiratórios, categoria que inclui asma, bronquite e pneumonia, responderam por 15,2% do absenteísmo por motivo de saúde.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A média de dias perdidos por motivos respiratórios foi 4,8 dias, indicando custo potencial em produtividade.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Uso de medicamento oral/bombinha entre pessoas com asma passou de 81,5% para 64,4%; interpretar com IC95% e perfil dos diagnosticados.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O aumento do diagnóstico amplia a população em risco de crises, faltas ao trabalho e redução de produtividade.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A categoria respiratória sugere que a asma pode contribuir para perda de dias úteis, pressão sobre renda familiar e menor oferta efetiva de trabalho.</a:t>
            </a:r>
          </a:p>
          <a:p xmlns:a="http://schemas.openxmlformats.org/drawingml/2006/main">
            <a:pPr algn="l">
              <a:defRPr sz="424" b="0">
                <a:solidFill>
                  <a:srgbClr val="102536"/>
                </a:solidFill>
              </a:defRPr>
            </a:pPr>
            <a:r>
              <a:rPr sz="424" b="0">
                <a:solidFill>
                  <a:srgbClr val="102536"/>
                </a:solidFill>
              </a:rPr>
              <a:t>• Melhor controle da asma pode ter retorno econômico: menos absenteísmo, menos dias perdidos e menor demanda por cuidado agudo.</a:t>
            </a:r>
          </a:p>
        </p:txBody>
      </p:sp>
      <p:sp>
        <p:nvSpPr>
          <p:cNvPr id="51" name="6-Conclusão central-box">
            <a:extLst xmlns:a="http://schemas.openxmlformats.org/drawingml/2006/main">
              <a:ext uri="{FF2B5EF4-FFF2-40B4-BE49-F238E27FC236}">
                <a16:creationId xmlns:a16="http://schemas.microsoft.com/office/drawing/2014/main" id="{6148E2E8-6158-455B-9D22-C30A4451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Conclusão central-head">
            <a:extLst xmlns:a="http://schemas.openxmlformats.org/drawingml/2006/main">
              <a:ext uri="{FF2B5EF4-FFF2-40B4-BE49-F238E27FC236}">
                <a16:creationId xmlns:a16="http://schemas.microsoft.com/office/drawing/2014/main" id="{487DE97B-A4C6-4360-B56A-63E59DFC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Conclusão central-title">
            <a:extLst xmlns:a="http://schemas.openxmlformats.org/drawingml/2006/main">
              <a:ext uri="{FF2B5EF4-FFF2-40B4-BE49-F238E27FC236}">
                <a16:creationId xmlns:a16="http://schemas.microsoft.com/office/drawing/2014/main" id="{65839D1C-21B5-4590-8114-C91F742B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Conclusão central</a:t>
            </a:r>
          </a:p>
        </p:txBody>
      </p:sp>
      <p:sp>
        <p:nvSpPr>
          <p:cNvPr id="54" name="6-Conclusão central-body">
            <a:extLst xmlns:a="http://schemas.openxmlformats.org/drawingml/2006/main">
              <a:ext uri="{FF2B5EF4-FFF2-40B4-BE49-F238E27FC236}">
                <a16:creationId xmlns:a16="http://schemas.microsoft.com/office/drawing/2014/main" id="{E4CF4199-989C-47CC-B226-844C443E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A asma deve ser tratada como problema clínico e econômico, pois pode afetar produtividade, renda e força de trabalho.</a:t>
            </a:r>
          </a:p>
          <a:p xmlns:a="http://schemas.openxmlformats.org/drawingml/2006/main">
            <a:pPr algn="l">
              <a:defRPr sz="525" b="0">
                <a:solidFill>
                  <a:srgbClr val="102536"/>
                </a:solidFill>
              </a:defRPr>
            </a:pPr>
            <a:r>
              <a:rPr sz="525" b="0">
                <a:solidFill>
                  <a:srgbClr val="102536"/>
                </a:solidFill>
              </a:rPr>
              <a:t>• Os resultados de absenteísmo são respiratórios agregados; não devem ser lidos como estimativa isolada de asma.</a:t>
            </a:r>
          </a:p>
        </p:txBody>
      </p:sp>
      <p:sp>
        <p:nvSpPr>
          <p:cNvPr id="55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9DB4A5E5-5502-4C9A-B1CC-14E080F12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Absenteísmo por motivo de saúde no Brasil, com destaque para causas respiratórias, PNS 2019.</a:t>
            </a:r>
          </a:p>
        </p:txBody>
      </p:sp>
      <p:sp>
        <p:nvSpPr>
          <p:cNvPr id="56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19A84A8F-4F03-484C-97DE-EEDDE616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a9edfbe0141b0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58" name="qr-box">
            <a:extLst xmlns:a="http://schemas.openxmlformats.org/drawingml/2006/main">
              <a:ext uri="{FF2B5EF4-FFF2-40B4-BE49-F238E27FC236}">
                <a16:creationId xmlns:a16="http://schemas.microsoft.com/office/drawing/2014/main" id="{D9204C27-B050-4DA4-97ED-08DD741E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536cc056a44fb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0" name="qr-label">
            <a:extLst xmlns:a="http://schemas.openxmlformats.org/drawingml/2006/main">
              <a:ext uri="{FF2B5EF4-FFF2-40B4-BE49-F238E27FC236}">
                <a16:creationId xmlns:a16="http://schemas.microsoft.com/office/drawing/2014/main" id="{37BB7E68-CFE9-4571-93A2-A640C752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1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AFF8C815-9C4D-4249-BAA5-EF11E332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268200"/>
            <a:ext cx="8877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9B717302-5795-4933-B55B-29F6B869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348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63" name="references-column-divider">
            <a:extLst xmlns:a="http://schemas.openxmlformats.org/drawingml/2006/main">
              <a:ext uri="{FF2B5EF4-FFF2-40B4-BE49-F238E27FC236}">
                <a16:creationId xmlns:a16="http://schemas.microsoft.com/office/drawing/2014/main" id="{03513E9F-4A29-43BE-944F-690AC228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2515850"/>
            <a:ext cx="95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D0D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4" name="references-body-left">
            <a:extLst xmlns:a="http://schemas.openxmlformats.org/drawingml/2006/main">
              <a:ext uri="{FF2B5EF4-FFF2-40B4-BE49-F238E27FC236}">
                <a16:creationId xmlns:a16="http://schemas.microsoft.com/office/drawing/2014/main" id="{3AF52A10-6DA0-47C7-BE59-811E9225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34900"/>
            <a:ext cx="4276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65" name="references-body-right">
            <a:extLst xmlns:a="http://schemas.openxmlformats.org/drawingml/2006/main">
              <a:ext uri="{FF2B5EF4-FFF2-40B4-BE49-F238E27FC236}">
                <a16:creationId xmlns:a16="http://schemas.microsoft.com/office/drawing/2014/main" id="{CDB91AD0-820B-415F-9277-14CC2A47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2534900"/>
            <a:ext cx="4276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90" b="0">
                <a:solidFill>
                  <a:srgbClr val="102536"/>
                </a:solidFill>
              </a:defRPr>
            </a:pPr>
            <a:r>
              <a:rPr sz="390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803339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2026-07-21T22:34:54.3500000Z</dcterms:created>
  <dcterms:modified xsi:type="dcterms:W3CDTF">2026-07-21T22:34:54.3500000Z</dcterms:modified>
</coreProperties>
</file>