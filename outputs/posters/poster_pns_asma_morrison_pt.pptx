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f8e6c10a954162" /><Relationship Type="http://schemas.openxmlformats.org/officeDocument/2006/relationships/extended-properties" Target="/docProps/app.xml" Id="R67835dbc66444373" /><Relationship Type="http://schemas.openxmlformats.org/officeDocument/2006/relationships/officeDocument" Target="/ppt/presentation.xml" Id="Rdca0da31da144c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3fb685d1cd4454"/>
  </p:sldMasterIdLst>
  <p:notesMasterIdLst>
    <p:notesMasterId xmlns:r="http://schemas.openxmlformats.org/officeDocument/2006/relationships" r:id="Rb525a6b6ceb347f4"/>
  </p:notesMasterIdLst>
  <p:sldIdLst>
    <p:sldId xmlns:r="http://schemas.openxmlformats.org/officeDocument/2006/relationships" id="256" r:id="R3d2183504d684302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0cc81dd34f84261" /><Relationship Type="http://schemas.openxmlformats.org/officeDocument/2006/relationships/slideMaster" Target="/ppt/slideMasters/slideMaster1.xml" Id="Rbf3fb685d1cd4454" /><Relationship Type="http://schemas.openxmlformats.org/officeDocument/2006/relationships/notesMaster" Target="/ppt/notesMasters/notesMaster1.xml" Id="Rb525a6b6ceb347f4" /><Relationship Type="http://schemas.openxmlformats.org/officeDocument/2006/relationships/presProps" Target="/ppt/presProps.xml" Id="R789d9fb65e4f44ed" /><Relationship Type="http://schemas.openxmlformats.org/officeDocument/2006/relationships/tableStyles" Target="/ppt/tableStyles.xml" Id="R6631c80b35574155" /><Relationship Type="http://schemas.openxmlformats.org/officeDocument/2006/relationships/slide" Target="/ppt/slides/slide1.xml" Id="R3d2183504d6843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335da2fd7dd472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bd4bc3e358418f" /><Relationship Type="http://schemas.openxmlformats.org/officeDocument/2006/relationships/notesMaster" Target="/ppt/notesMasters/notesMaster1.xml" Id="Re32d5e880d884b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64db2b4f184bf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9d2adec9dc4454f" /><Relationship Type="http://schemas.openxmlformats.org/officeDocument/2006/relationships/slideLayout" Target="/ppt/slideLayouts/slideLayout1.xml" Id="Rbaac6fc3688f424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ac6fc3688f424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f07c32e2884038" /><Relationship Type="http://schemas.openxmlformats.org/officeDocument/2006/relationships/image" Target="/ppt/media/image.png" Id="R26dd5c8ffd804f7e" /><Relationship Type="http://schemas.openxmlformats.org/officeDocument/2006/relationships/image" Target="/ppt/media/image2.png" Id="R0abb765df5874ceb" /><Relationship Type="http://schemas.openxmlformats.org/officeDocument/2006/relationships/image" Target="/ppt/media/image3.png" Id="Re70818fef75d420d" /><Relationship Type="http://schemas.openxmlformats.org/officeDocument/2006/relationships/image" Target="/ppt/media/image4.png" Id="R2215cd21dbfb4cc4" /><Relationship Type="http://schemas.openxmlformats.org/officeDocument/2006/relationships/image" Target="/ppt/media/image5.png" Id="R417141b4268540bb" /><Relationship Type="http://schemas.openxmlformats.org/officeDocument/2006/relationships/image" Target="/ppt/media/image6.png" Id="R171cb2a9fb2c45ee" /><Relationship Type="http://schemas.openxmlformats.org/officeDocument/2006/relationships/image" Target="/ppt/media/image7.png" Id="R3bdf8dbd37354b6c" /><Relationship Type="http://schemas.openxmlformats.org/officeDocument/2006/relationships/image" Target="/ppt/media/image8.png" Id="R62be285061c342b7" /><Relationship Type="http://schemas.openxmlformats.org/officeDocument/2006/relationships/notesSlide" Target="/ppt/notesSlides/notesSlide1.xml" Id="Rfcd999f213ce4f4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dd5c8ffd804f7e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bb765df5874ceb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0818fef75d420d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morrison-title">
            <a:extLst xmlns:a="http://schemas.openxmlformats.org/drawingml/2006/main">
              <a:ext uri="{FF2B5EF4-FFF2-40B4-BE49-F238E27FC236}">
                <a16:creationId xmlns:a16="http://schemas.microsoft.com/office/drawing/2014/main" id="{9441DF90-A097-4620-BC2D-3B6D5D29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Implementação do Plano Amostral da Pesquisa Nacional de Saúde no R: um estudo de caso sobre a asma no Brasil</a:t>
            </a:r>
          </a:p>
        </p:txBody>
      </p:sp>
      <p:sp>
        <p:nvSpPr>
          <p:cNvPr id="5" name="morrison-authors">
            <a:extLst xmlns:a="http://schemas.openxmlformats.org/drawingml/2006/main">
              <a:ext uri="{FF2B5EF4-FFF2-40B4-BE49-F238E27FC236}">
                <a16:creationId xmlns:a16="http://schemas.microsoft.com/office/drawing/2014/main" id="{1555362C-47D7-4504-9272-CF8E395C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Gerenciamento de dados observacionais</a:t>
            </a:r>
          </a:p>
        </p:txBody>
      </p:sp>
      <p:sp>
        <p:nvSpPr>
          <p:cNvPr id="6" name="central-message">
            <a:extLst xmlns:a="http://schemas.openxmlformats.org/drawingml/2006/main">
              <a:ext uri="{FF2B5EF4-FFF2-40B4-BE49-F238E27FC236}">
                <a16:creationId xmlns:a16="http://schemas.microsoft.com/office/drawing/2014/main" id="{540673ED-B7F8-4A84-8861-A97EBAB15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8153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Diagnóstico de asma aumentou no Brasil; a carga respiratória de absenteísmo mostra potencial de perda de produtividade e impacto econômico.</a:t>
            </a:r>
          </a:p>
        </p:txBody>
      </p:sp>
      <p:sp>
        <p:nvSpPr>
          <p:cNvPr id="7" name="1-Método em uma linha-box">
            <a:extLst xmlns:a="http://schemas.openxmlformats.org/drawingml/2006/main">
              <a:ext uri="{FF2B5EF4-FFF2-40B4-BE49-F238E27FC236}">
                <a16:creationId xmlns:a16="http://schemas.microsoft.com/office/drawing/2014/main" id="{52A3D09C-C98B-4D8E-9752-BCAF30D3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8" name="1-Método em uma linha-head">
            <a:extLst xmlns:a="http://schemas.openxmlformats.org/drawingml/2006/main">
              <a:ext uri="{FF2B5EF4-FFF2-40B4-BE49-F238E27FC236}">
                <a16:creationId xmlns:a16="http://schemas.microsoft.com/office/drawing/2014/main" id="{11489C3A-9ED9-4860-B064-783267CBE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9" name="1-Método em uma linha-title">
            <a:extLst xmlns:a="http://schemas.openxmlformats.org/drawingml/2006/main">
              <a:ext uri="{FF2B5EF4-FFF2-40B4-BE49-F238E27FC236}">
                <a16:creationId xmlns:a16="http://schemas.microsoft.com/office/drawing/2014/main" id="{F2864B81-8A1A-46C0-91CE-5EF7C3C9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5277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Método em uma linha</a:t>
            </a:r>
          </a:p>
        </p:txBody>
      </p:sp>
      <p:sp>
        <p:nvSpPr>
          <p:cNvPr id="10" name="1-Método em uma linha-body">
            <a:extLst xmlns:a="http://schemas.openxmlformats.org/drawingml/2006/main">
              <a:ext uri="{FF2B5EF4-FFF2-40B4-BE49-F238E27FC236}">
                <a16:creationId xmlns:a16="http://schemas.microsoft.com/office/drawing/2014/main" id="{A5AA4407-5F42-4749-8346-1FB1FA91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48050"/>
            <a:ext cx="24955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desenho foi construído com PNSIBGE::pns_design(), preservando UPA/PSU, estratos e peso calibrado do morador selecionado.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 estimação usa o pacote survey para proporções, médias, totais e taxas.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As taxas por 100 mil reescalam proporções ponderadas sem descartar a incerteza do desenho complexo.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PSUs solitárias e domínios pequenos exigem escolhas explícitas de inferência.</a:t>
            </a:r>
          </a:p>
        </p:txBody>
      </p:sp>
      <p:sp>
        <p:nvSpPr>
          <p:cNvPr id="11" name="morrison-formula-box">
            <a:extLst xmlns:a="http://schemas.openxmlformats.org/drawingml/2006/main">
              <a:ext uri="{FF2B5EF4-FFF2-40B4-BE49-F238E27FC236}">
                <a16:creationId xmlns:a16="http://schemas.microsoft.com/office/drawing/2014/main" id="{A49F36EF-46A7-4D24-9773-C758729E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10150"/>
            <a:ext cx="26860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2" name="morrison-formula-title">
            <a:extLst xmlns:a="http://schemas.openxmlformats.org/drawingml/2006/main">
              <a:ext uri="{FF2B5EF4-FFF2-40B4-BE49-F238E27FC236}">
                <a16:creationId xmlns:a16="http://schemas.microsoft.com/office/drawing/2014/main" id="{0460A8FF-3C68-424B-95C4-9460EBA5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67300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Estimadores e fórmulas</a:t>
            </a:r>
          </a:p>
        </p:txBody>
      </p:sp>
      <p:sp>
        <p:nvSpPr>
          <p:cNvPr id="13" name="morrison-formula">
            <a:extLst xmlns:a="http://schemas.openxmlformats.org/drawingml/2006/main">
              <a:ext uri="{FF2B5EF4-FFF2-40B4-BE49-F238E27FC236}">
                <a16:creationId xmlns:a16="http://schemas.microsoft.com/office/drawing/2014/main" id="{98087197-2B3B-4A8C-87BD-A7A4144B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76850"/>
            <a:ext cx="24955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peso amostral; yᵢ = indicador binário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taxa₁₀₀k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IC₉₅%(p̂) = survey::svyciprop(method = "beta")</a:t>
            </a:r>
          </a:p>
        </p:txBody>
      </p:sp>
      <p:sp>
        <p:nvSpPr>
          <p:cNvPr id="14" name="2-Dados e denominadores-box">
            <a:extLst xmlns:a="http://schemas.openxmlformats.org/drawingml/2006/main">
              <a:ext uri="{FF2B5EF4-FFF2-40B4-BE49-F238E27FC236}">
                <a16:creationId xmlns:a16="http://schemas.microsoft.com/office/drawing/2014/main" id="{80D467F1-5033-4017-BD8A-0C01CFF2C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2-Dados e denominadores-head">
            <a:extLst xmlns:a="http://schemas.openxmlformats.org/drawingml/2006/main">
              <a:ext uri="{FF2B5EF4-FFF2-40B4-BE49-F238E27FC236}">
                <a16:creationId xmlns:a16="http://schemas.microsoft.com/office/drawing/2014/main" id="{6CB70825-F533-4491-BC85-695621D7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6" name="2-Dados e denominadores-title">
            <a:extLst xmlns:a="http://schemas.openxmlformats.org/drawingml/2006/main">
              <a:ext uri="{FF2B5EF4-FFF2-40B4-BE49-F238E27FC236}">
                <a16:creationId xmlns:a16="http://schemas.microsoft.com/office/drawing/2014/main" id="{9CF570CD-D96F-46EA-B891-57FA257A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008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Dados e denominadores</a:t>
            </a:r>
          </a:p>
        </p:txBody>
      </p:sp>
      <p:sp>
        <p:nvSpPr>
          <p:cNvPr id="17" name="2-Dados e denominadores-body">
            <a:extLst xmlns:a="http://schemas.openxmlformats.org/drawingml/2006/main">
              <a:ext uri="{FF2B5EF4-FFF2-40B4-BE49-F238E27FC236}">
                <a16:creationId xmlns:a16="http://schemas.microsoft.com/office/drawing/2014/main" id="{E3A7225A-8504-40AD-A3F1-DDD11883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896100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Unidade analítica: morador selecionado da PNS.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Variáveis centrais: Q074 diagnóstico médico de asma; Q076 crise recente; Q07701/Q07704/Q07708 uso de medicamento; P050 tabagismo.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Denominadores variam conforme o indicador: população geral, pessoas com asma, pessoas com asma e crise ou conjunto de respostas válidas.</a:t>
            </a:r>
          </a:p>
        </p:txBody>
      </p:sp>
      <p:sp>
        <p:nvSpPr>
          <p:cNvPr id="18" name="3-Por que IC beta?-box">
            <a:extLst xmlns:a="http://schemas.openxmlformats.org/drawingml/2006/main">
              <a:ext uri="{FF2B5EF4-FFF2-40B4-BE49-F238E27FC236}">
                <a16:creationId xmlns:a16="http://schemas.microsoft.com/office/drawing/2014/main" id="{B8BECAC0-6895-4EFF-BB9B-A01E24B0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3-Por que IC beta?-head">
            <a:extLst xmlns:a="http://schemas.openxmlformats.org/drawingml/2006/main">
              <a:ext uri="{FF2B5EF4-FFF2-40B4-BE49-F238E27FC236}">
                <a16:creationId xmlns:a16="http://schemas.microsoft.com/office/drawing/2014/main" id="{580D8C64-3439-4F98-AB79-8FC0BA55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0" name="3-Por que IC beta?-title">
            <a:extLst xmlns:a="http://schemas.openxmlformats.org/drawingml/2006/main">
              <a:ext uri="{FF2B5EF4-FFF2-40B4-BE49-F238E27FC236}">
                <a16:creationId xmlns:a16="http://schemas.microsoft.com/office/drawing/2014/main" id="{4BACF1D6-9AA7-48E9-8F46-AEB1CD61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48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Por que IC beta?</a:t>
            </a:r>
          </a:p>
        </p:txBody>
      </p:sp>
      <p:sp>
        <p:nvSpPr>
          <p:cNvPr id="21" name="3-Por que IC beta?-body">
            <a:extLst xmlns:a="http://schemas.openxmlformats.org/drawingml/2006/main">
              <a:ext uri="{FF2B5EF4-FFF2-40B4-BE49-F238E27FC236}">
                <a16:creationId xmlns:a16="http://schemas.microsoft.com/office/drawing/2014/main" id="{2499C282-C286-45F7-883A-B3B94EF07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34390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intervalo de Wald pode apresentar cobertura instável em proporções baixas/altas ou domínios com poucos eventos.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IC beta por survey::svyciprop(method = "beta") respeita a escala 0-1 e reduz o risco de limites impossíveis.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 comparação entre anos/UFs foi interpretada por magnitude e sobreposição dos IC95%, não apenas pela altura das barras.</a:t>
            </a:r>
          </a:p>
        </p:txBody>
      </p:sp>
      <p:sp>
        <p:nvSpPr>
          <p:cNvPr id="22" name="4-ETL e interoperabilidade-box">
            <a:extLst xmlns:a="http://schemas.openxmlformats.org/drawingml/2006/main">
              <a:ext uri="{FF2B5EF4-FFF2-40B4-BE49-F238E27FC236}">
                <a16:creationId xmlns:a16="http://schemas.microsoft.com/office/drawing/2014/main" id="{50736B1D-7672-47F5-A30A-88728B84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3" name="4-ETL e interoperabilidade-head">
            <a:extLst xmlns:a="http://schemas.openxmlformats.org/drawingml/2006/main">
              <a:ext uri="{FF2B5EF4-FFF2-40B4-BE49-F238E27FC236}">
                <a16:creationId xmlns:a16="http://schemas.microsoft.com/office/drawing/2014/main" id="{BC6014E6-49AC-48FB-9A59-A4990A34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4" name="4-ETL e interoperabilidade-title">
            <a:extLst xmlns:a="http://schemas.openxmlformats.org/drawingml/2006/main">
              <a:ext uri="{FF2B5EF4-FFF2-40B4-BE49-F238E27FC236}">
                <a16:creationId xmlns:a16="http://schemas.microsoft.com/office/drawing/2014/main" id="{66F955CB-43BE-4F85-8B3E-35A28882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572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ETL e interoperabilidade</a:t>
            </a:r>
          </a:p>
        </p:txBody>
      </p:sp>
      <p:sp>
        <p:nvSpPr>
          <p:cNvPr id="25" name="4-ETL e interoperabilidade-body">
            <a:extLst xmlns:a="http://schemas.openxmlformats.org/drawingml/2006/main">
              <a:ext uri="{FF2B5EF4-FFF2-40B4-BE49-F238E27FC236}">
                <a16:creationId xmlns:a16="http://schemas.microsoft.com/office/drawing/2014/main" id="{81838117-A2AF-4F4F-B58B-6011C6D3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8679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 fluxo analítico segue lógica ETL: extração dos microdados, transformação de variáveis e carga de tabelas analíticas reprodutíveis.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A PNS não é base clínica longitudinal, mas pode atuar como camada populacional de referência.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OMOP/OHDSI oferece princípios de padronização, vocabulários e reprodutibilidade para comparação futura com bases assistenciais.</a:t>
            </a:r>
          </a:p>
        </p:txBody>
      </p:sp>
      <p:sp>
        <p:nvSpPr>
          <p:cNvPr id="26" name="m-prev-metric">
            <a:extLst xmlns:a="http://schemas.openxmlformats.org/drawingml/2006/main">
              <a:ext uri="{FF2B5EF4-FFF2-40B4-BE49-F238E27FC236}">
                <a16:creationId xmlns:a16="http://schemas.microsoft.com/office/drawing/2014/main" id="{C9EE11AB-06E6-456C-8B89-98F77924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7" name="m-prev-metric-title">
            <a:extLst xmlns:a="http://schemas.openxmlformats.org/drawingml/2006/main">
              <a:ext uri="{FF2B5EF4-FFF2-40B4-BE49-F238E27FC236}">
                <a16:creationId xmlns:a16="http://schemas.microsoft.com/office/drawing/2014/main" id="{AB69CB72-34B8-428E-9B52-9E5D9D25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diagnóstico</a:t>
            </a:r>
          </a:p>
        </p:txBody>
      </p:sp>
      <p:sp>
        <p:nvSpPr>
          <p:cNvPr id="28" name="m-prev-metric-value">
            <a:extLst xmlns:a="http://schemas.openxmlformats.org/drawingml/2006/main">
              <a:ext uri="{FF2B5EF4-FFF2-40B4-BE49-F238E27FC236}">
                <a16:creationId xmlns:a16="http://schemas.microsoft.com/office/drawing/2014/main" id="{48D052A4-D34C-4349-A88A-BD517206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4,41%→5,40%</a:t>
            </a:r>
          </a:p>
        </p:txBody>
      </p:sp>
      <p:sp>
        <p:nvSpPr>
          <p:cNvPr id="29" name="m-prev-metric-note">
            <a:extLst xmlns:a="http://schemas.openxmlformats.org/drawingml/2006/main">
              <a:ext uri="{FF2B5EF4-FFF2-40B4-BE49-F238E27FC236}">
                <a16:creationId xmlns:a16="http://schemas.microsoft.com/office/drawing/2014/main" id="{63840509-B0D4-40FA-9958-251AE3DF0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Aumento com IC95% sem sobreposição.</a:t>
            </a:r>
          </a:p>
        </p:txBody>
      </p:sp>
      <p:sp>
        <p:nvSpPr>
          <p:cNvPr id="30" name="m-crisis-metric">
            <a:extLst xmlns:a="http://schemas.openxmlformats.org/drawingml/2006/main">
              <a:ext uri="{FF2B5EF4-FFF2-40B4-BE49-F238E27FC236}">
                <a16:creationId xmlns:a16="http://schemas.microsoft.com/office/drawing/2014/main" id="{8EE599AE-49CD-4C39-A3CD-6A4383EF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1" name="m-crisis-metric-title">
            <a:extLst xmlns:a="http://schemas.openxmlformats.org/drawingml/2006/main">
              <a:ext uri="{FF2B5EF4-FFF2-40B4-BE49-F238E27FC236}">
                <a16:creationId xmlns:a16="http://schemas.microsoft.com/office/drawing/2014/main" id="{9A31C5AC-DE5E-4D79-8BA5-7010A9536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trabalho</a:t>
            </a:r>
          </a:p>
        </p:txBody>
      </p:sp>
      <p:sp>
        <p:nvSpPr>
          <p:cNvPr id="32" name="m-crisis-metric-value">
            <a:extLst xmlns:a="http://schemas.openxmlformats.org/drawingml/2006/main">
              <a:ext uri="{FF2B5EF4-FFF2-40B4-BE49-F238E27FC236}">
                <a16:creationId xmlns:a16="http://schemas.microsoft.com/office/drawing/2014/main" id="{EF913C78-B6D2-4749-93C5-FF65899D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15,2%; 4,8 d</a:t>
            </a:r>
          </a:p>
        </p:txBody>
      </p:sp>
      <p:sp>
        <p:nvSpPr>
          <p:cNvPr id="33" name="m-crisis-metric-note">
            <a:extLst xmlns:a="http://schemas.openxmlformats.org/drawingml/2006/main">
              <a:ext uri="{FF2B5EF4-FFF2-40B4-BE49-F238E27FC236}">
                <a16:creationId xmlns:a16="http://schemas.microsoft.com/office/drawing/2014/main" id="{8BB92359-26F8-4884-9C4C-A6A9E60A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Carga respiratória afeta dias úteis.</a:t>
            </a:r>
          </a:p>
        </p:txBody>
      </p:sp>
      <p:sp>
        <p:nvSpPr>
          <p:cNvPr id="34" name="m-meds-metric">
            <a:extLst xmlns:a="http://schemas.openxmlformats.org/drawingml/2006/main">
              <a:ext uri="{FF2B5EF4-FFF2-40B4-BE49-F238E27FC236}">
                <a16:creationId xmlns:a16="http://schemas.microsoft.com/office/drawing/2014/main" id="{DE559EFC-5B15-4D15-8D56-A380FC6C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5" name="m-meds-metric-title">
            <a:extLst xmlns:a="http://schemas.openxmlformats.org/drawingml/2006/main">
              <a:ext uri="{FF2B5EF4-FFF2-40B4-BE49-F238E27FC236}">
                <a16:creationId xmlns:a16="http://schemas.microsoft.com/office/drawing/2014/main" id="{20CC1C73-B0C4-4713-8697-2F11DB94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medicamentos</a:t>
            </a:r>
          </a:p>
        </p:txBody>
      </p:sp>
      <p:sp>
        <p:nvSpPr>
          <p:cNvPr id="36" name="m-meds-metric-value">
            <a:extLst xmlns:a="http://schemas.openxmlformats.org/drawingml/2006/main">
              <a:ext uri="{FF2B5EF4-FFF2-40B4-BE49-F238E27FC236}">
                <a16:creationId xmlns:a16="http://schemas.microsoft.com/office/drawing/2014/main" id="{78A5C9F8-C8A0-433B-A319-5167ED8A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81,5%→64,4%</a:t>
            </a:r>
          </a:p>
        </p:txBody>
      </p:sp>
      <p:sp>
        <p:nvSpPr>
          <p:cNvPr id="37" name="m-meds-metric-note">
            <a:extLst xmlns:a="http://schemas.openxmlformats.org/drawingml/2006/main">
              <a:ext uri="{FF2B5EF4-FFF2-40B4-BE49-F238E27FC236}">
                <a16:creationId xmlns:a16="http://schemas.microsoft.com/office/drawing/2014/main" id="{D6EB5AC7-F265-4AEB-A6F7-730A346A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Menor uso entre asmáticos; IC95% orienta cautela.</a:t>
            </a:r>
          </a:p>
        </p:txBody>
      </p:sp>
      <p:sp>
        <p:nvSpPr>
          <p:cNvPr id="38" name="m-chart-prev-caption">
            <a:extLst xmlns:a="http://schemas.openxmlformats.org/drawingml/2006/main">
              <a:ext uri="{FF2B5EF4-FFF2-40B4-BE49-F238E27FC236}">
                <a16:creationId xmlns:a16="http://schemas.microsoft.com/office/drawing/2014/main" id="{3E1D3B75-0C82-4188-8B3A-BB867C26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71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1: Prevalência (%) de diagnóstico médico de asma por UF e Brasil, PNS 2013 e 2019.</a:t>
            </a:r>
          </a:p>
        </p:txBody>
      </p:sp>
      <p:sp>
        <p:nvSpPr>
          <p:cNvPr id="39" name="m-chart-prev-frame">
            <a:extLst xmlns:a="http://schemas.openxmlformats.org/drawingml/2006/main">
              <a:ext uri="{FF2B5EF4-FFF2-40B4-BE49-F238E27FC236}">
                <a16:creationId xmlns:a16="http://schemas.microsoft.com/office/drawing/2014/main" id="{8D4A67F3-92C1-4503-860E-7B02DF6A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5cd21dbfb4cc4"/>
          <a:stretch xmlns:a="http://schemas.openxmlformats.org/drawingml/2006/main"/>
        </p:blipFill>
        <p:spPr>
          <a:xfrm xmlns:a="http://schemas.openxmlformats.org/drawingml/2006/main">
            <a:off x="3480513" y="4476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1" name="m-chart-meds-caption">
            <a:extLst xmlns:a="http://schemas.openxmlformats.org/drawingml/2006/main">
              <a:ext uri="{FF2B5EF4-FFF2-40B4-BE49-F238E27FC236}">
                <a16:creationId xmlns:a16="http://schemas.microsoft.com/office/drawing/2014/main" id="{06401415-694D-4DA2-A5F4-6657CE5AB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838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3: Uso de medicamento oral ou bombinha entre pessoas com diagnóstico médico de asma por UF e Brasil.</a:t>
            </a:r>
          </a:p>
        </p:txBody>
      </p:sp>
      <p:sp>
        <p:nvSpPr>
          <p:cNvPr id="42" name="m-chart-meds-frame">
            <a:extLst xmlns:a="http://schemas.openxmlformats.org/drawingml/2006/main">
              <a:ext uri="{FF2B5EF4-FFF2-40B4-BE49-F238E27FC236}">
                <a16:creationId xmlns:a16="http://schemas.microsoft.com/office/drawing/2014/main" id="{A6190C4B-D398-458A-AC22-B02C5638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7086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7141b4268540bb"/>
          <a:stretch xmlns:a="http://schemas.openxmlformats.org/drawingml/2006/main"/>
        </p:blipFill>
        <p:spPr>
          <a:xfrm xmlns:a="http://schemas.openxmlformats.org/drawingml/2006/main">
            <a:off x="3480513" y="7143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4" name="m-chart-smoke-caption">
            <a:extLst xmlns:a="http://schemas.openxmlformats.org/drawingml/2006/main">
              <a:ext uri="{FF2B5EF4-FFF2-40B4-BE49-F238E27FC236}">
                <a16:creationId xmlns:a16="http://schemas.microsoft.com/office/drawing/2014/main" id="{FD997C7D-C70D-4EFA-BD58-A39C1F21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505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4: Média de dias perdidos por motivo de saúde no Brasil, com destaque para causas respiratórias, PNS 2019.</a:t>
            </a:r>
          </a:p>
        </p:txBody>
      </p:sp>
      <p:sp>
        <p:nvSpPr>
          <p:cNvPr id="45" name="m-chart-smoke-frame">
            <a:extLst xmlns:a="http://schemas.openxmlformats.org/drawingml/2006/main">
              <a:ext uri="{FF2B5EF4-FFF2-40B4-BE49-F238E27FC236}">
                <a16:creationId xmlns:a16="http://schemas.microsoft.com/office/drawing/2014/main" id="{273E4482-FD54-4C1F-9819-9F449736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753600"/>
            <a:ext cx="36766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1cb2a9fb2c45ee"/>
          <a:stretch xmlns:a="http://schemas.openxmlformats.org/drawingml/2006/main"/>
        </p:blipFill>
        <p:spPr>
          <a:xfrm xmlns:a="http://schemas.openxmlformats.org/drawingml/2006/main">
            <a:off x="3612696" y="9810750"/>
            <a:ext cx="2775857" cy="2000250"/>
          </a:xfrm>
          <a:prstGeom xmlns:a="http://schemas.openxmlformats.org/drawingml/2006/main" prst="rect">
            <a:avLst/>
          </a:prstGeom>
        </p:spPr>
      </p:pic>
      <p:sp>
        <p:nvSpPr>
          <p:cNvPr id="47" name="5-Discussão-box">
            <a:extLst xmlns:a="http://schemas.openxmlformats.org/drawingml/2006/main">
              <a:ext uri="{FF2B5EF4-FFF2-40B4-BE49-F238E27FC236}">
                <a16:creationId xmlns:a16="http://schemas.microsoft.com/office/drawing/2014/main" id="{205B3214-37E1-4FA1-84F8-D0448523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3752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8" name="5-Discussão-head">
            <a:extLst xmlns:a="http://schemas.openxmlformats.org/drawingml/2006/main">
              <a:ext uri="{FF2B5EF4-FFF2-40B4-BE49-F238E27FC236}">
                <a16:creationId xmlns:a16="http://schemas.microsoft.com/office/drawing/2014/main" id="{86BC2312-98EF-4A26-B43A-6797A30D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49" name="5-Discussão-title">
            <a:extLst xmlns:a="http://schemas.openxmlformats.org/drawingml/2006/main">
              <a:ext uri="{FF2B5EF4-FFF2-40B4-BE49-F238E27FC236}">
                <a16:creationId xmlns:a16="http://schemas.microsoft.com/office/drawing/2014/main" id="{BC850715-C348-414E-A301-0152078AC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527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Discussão</a:t>
            </a:r>
          </a:p>
        </p:txBody>
      </p:sp>
      <p:sp>
        <p:nvSpPr>
          <p:cNvPr id="50" name="5-Discussão-body">
            <a:extLst xmlns:a="http://schemas.openxmlformats.org/drawingml/2006/main">
              <a:ext uri="{FF2B5EF4-FFF2-40B4-BE49-F238E27FC236}">
                <a16:creationId xmlns:a16="http://schemas.microsoft.com/office/drawing/2014/main" id="{531ECE8E-7701-4BDC-A549-B73863A4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2171700" cy="335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Brasil: diagnóstico médico de asma aumentou de 4,41% em 2013 para 5,40% em 2019, com IC95% sem sobreposição.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Motivos respiratórios, categoria que inclui asma, bronquite e pneumonia, responderam por 15,2% do absenteísmo por motivo de saúde.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A média de dias perdidos por motivos respiratórios foi 4,8 dias, indicando custo potencial em produtividade.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Uso de medicamento oral/bombinha entre pessoas com asma passou de 81,5% para 64,4%; interpretar com IC95% e perfil dos diagnosticados.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O aumento do diagnóstico amplia a população em risco de crises, faltas ao trabalho e redução de produtividade.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A categoria respiratória sugere que a asma pode contribuir para perda de dias úteis, pressão sobre renda familiar e menor oferta efetiva de trabalho.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Melhor controle da asma pode ter retorno econômico: menos absenteísmo, menos dias perdidos e menor demanda por cuidado agudo.</a:t>
            </a:r>
          </a:p>
        </p:txBody>
      </p:sp>
      <p:sp>
        <p:nvSpPr>
          <p:cNvPr id="51" name="6-Conclusão central-box">
            <a:extLst xmlns:a="http://schemas.openxmlformats.org/drawingml/2006/main">
              <a:ext uri="{FF2B5EF4-FFF2-40B4-BE49-F238E27FC236}">
                <a16:creationId xmlns:a16="http://schemas.microsoft.com/office/drawing/2014/main" id="{43527454-2652-4AE4-946D-B313D020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2" name="6-Conclusão central-head">
            <a:extLst xmlns:a="http://schemas.openxmlformats.org/drawingml/2006/main">
              <a:ext uri="{FF2B5EF4-FFF2-40B4-BE49-F238E27FC236}">
                <a16:creationId xmlns:a16="http://schemas.microsoft.com/office/drawing/2014/main" id="{4B7B740E-B941-4313-AC1B-8BBFE4A3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3" name="6-Conclusão central-title">
            <a:extLst xmlns:a="http://schemas.openxmlformats.org/drawingml/2006/main">
              <a:ext uri="{FF2B5EF4-FFF2-40B4-BE49-F238E27FC236}">
                <a16:creationId xmlns:a16="http://schemas.microsoft.com/office/drawing/2014/main" id="{104C4681-4BDE-4437-A780-4BE3A264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70389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Conclusão central</a:t>
            </a:r>
          </a:p>
        </p:txBody>
      </p:sp>
      <p:sp>
        <p:nvSpPr>
          <p:cNvPr id="54" name="6-Conclusão central-body">
            <a:extLst xmlns:a="http://schemas.openxmlformats.org/drawingml/2006/main">
              <a:ext uri="{FF2B5EF4-FFF2-40B4-BE49-F238E27FC236}">
                <a16:creationId xmlns:a16="http://schemas.microsoft.com/office/drawing/2014/main" id="{892553D8-ED18-49E4-8371-CF2DD77D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7334250"/>
            <a:ext cx="2171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A implementação correta do plano amostral é condição para estimativas válidas.</a:t>
            </a:r>
          </a:p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A asma deve ser tratada como problema clínico e econômico, pois pode afetar produtividade, renda e força de trabalho.</a:t>
            </a:r>
          </a:p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Os resultados de absenteísmo são respiratórios agregados; não devem ser lidos como estimativa isolada de asma.</a:t>
            </a:r>
          </a:p>
        </p:txBody>
      </p:sp>
      <p:sp>
        <p:nvSpPr>
          <p:cNvPr id="55" name="m-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1D3D4231-1CE6-4BD9-88BB-229BCEAE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3629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2: Absenteísmo por motivo de saúde no Brasil, com destaque para causas respiratórias, PNS 2019.</a:t>
            </a:r>
          </a:p>
        </p:txBody>
      </p:sp>
      <p:sp>
        <p:nvSpPr>
          <p:cNvPr id="56" name="m-chart-crisis-frame">
            <a:extLst xmlns:a="http://schemas.openxmlformats.org/drawingml/2006/main">
              <a:ext uri="{FF2B5EF4-FFF2-40B4-BE49-F238E27FC236}">
                <a16:creationId xmlns:a16="http://schemas.microsoft.com/office/drawing/2014/main" id="{52BD71E9-3651-473E-994D-69C26452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6106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df8dbd37354b6c"/>
          <a:stretch xmlns:a="http://schemas.openxmlformats.org/drawingml/2006/main"/>
        </p:blipFill>
        <p:spPr>
          <a:xfrm xmlns:a="http://schemas.openxmlformats.org/drawingml/2006/main">
            <a:off x="7075326" y="8667750"/>
            <a:ext cx="2194249" cy="1581150"/>
          </a:xfrm>
          <a:prstGeom xmlns:a="http://schemas.openxmlformats.org/drawingml/2006/main" prst="rect">
            <a:avLst/>
          </a:prstGeom>
        </p:spPr>
      </p:pic>
      <p:sp>
        <p:nvSpPr>
          <p:cNvPr id="58" name="qr-box">
            <a:extLst xmlns:a="http://schemas.openxmlformats.org/drawingml/2006/main">
              <a:ext uri="{FF2B5EF4-FFF2-40B4-BE49-F238E27FC236}">
                <a16:creationId xmlns:a16="http://schemas.microsoft.com/office/drawing/2014/main" id="{5EB864EB-DF8D-49FB-BA67-00590A3C7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0591800"/>
            <a:ext cx="1181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be285061c342b7"/>
          <a:stretch xmlns:a="http://schemas.openxmlformats.org/drawingml/2006/main"/>
        </p:blipFill>
        <p:spPr>
          <a:xfrm xmlns:a="http://schemas.openxmlformats.org/drawingml/2006/main">
            <a:off x="7715250" y="1070610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60" name="qr-label">
            <a:extLst xmlns:a="http://schemas.openxmlformats.org/drawingml/2006/main">
              <a:ext uri="{FF2B5EF4-FFF2-40B4-BE49-F238E27FC236}">
                <a16:creationId xmlns:a16="http://schemas.microsoft.com/office/drawing/2014/main" id="{23553DD2-76B7-4FC4-AD42-F0137488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1696700"/>
            <a:ext cx="1028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Relatório metodológico, códigos e gráficos reprodutíveis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  <p:sp>
        <p:nvSpPr>
          <p:cNvPr id="61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3567E95C-912D-4CE8-8624-3C0A995D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382500"/>
            <a:ext cx="88773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2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F83E7C34-4D47-42ED-BA37-3673770A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449175"/>
            <a:ext cx="872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Referências</a:t>
            </a:r>
          </a:p>
        </p:txBody>
      </p:sp>
      <p:sp>
        <p:nvSpPr>
          <p:cNvPr id="63" name="references-body">
            <a:extLst xmlns:a="http://schemas.openxmlformats.org/drawingml/2006/main">
              <a:ext uri="{FF2B5EF4-FFF2-40B4-BE49-F238E27FC236}">
                <a16:creationId xmlns:a16="http://schemas.microsoft.com/office/drawing/2014/main" id="{958C0F67-8A77-4994-A6BB-00AF7CFC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49200"/>
            <a:ext cx="8724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</p:spTree>
    <p:extLst>
      <p:ext uri="{BB962C8B-B14F-4D97-AF65-F5344CB8AC3E}">
        <p14:creationId xmlns:p14="http://schemas.microsoft.com/office/powerpoint/2010/main" val="5543093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2026-07-21T22:06:34.0990000Z</dcterms:created>
  <dcterms:modified xsi:type="dcterms:W3CDTF">2026-07-21T22:06:34.0990000Z</dcterms:modified>
</coreProperties>
</file>