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c996fd0acb4bc9" /><Relationship Type="http://schemas.openxmlformats.org/officeDocument/2006/relationships/extended-properties" Target="/docProps/app.xml" Id="R2653491e6278493e" /><Relationship Type="http://schemas.openxmlformats.org/officeDocument/2006/relationships/officeDocument" Target="/ppt/presentation.xml" Id="Rf7e54ac38d6548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1d1fcd58e24623"/>
  </p:sldMasterIdLst>
  <p:notesMasterIdLst>
    <p:notesMasterId xmlns:r="http://schemas.openxmlformats.org/officeDocument/2006/relationships" r:id="R50c14a84da70405e"/>
  </p:notesMasterIdLst>
  <p:sldIdLst>
    <p:sldId xmlns:r="http://schemas.openxmlformats.org/officeDocument/2006/relationships" id="256" r:id="R0d2cfddf92924c5c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63a45c91f34728" /><Relationship Type="http://schemas.openxmlformats.org/officeDocument/2006/relationships/slideMaster" Target="/ppt/slideMasters/slideMaster1.xml" Id="R881d1fcd58e24623" /><Relationship Type="http://schemas.openxmlformats.org/officeDocument/2006/relationships/notesMaster" Target="/ppt/notesMasters/notesMaster1.xml" Id="R50c14a84da70405e" /><Relationship Type="http://schemas.openxmlformats.org/officeDocument/2006/relationships/presProps" Target="/ppt/presProps.xml" Id="Rf56119960a814950" /><Relationship Type="http://schemas.openxmlformats.org/officeDocument/2006/relationships/tableStyles" Target="/ppt/tableStyles.xml" Id="Rfd30fa2894e2498e" /><Relationship Type="http://schemas.openxmlformats.org/officeDocument/2006/relationships/slide" Target="/ppt/slides/slide1.xml" Id="R0d2cfddf92924c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a71566e07f4a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711b3568a94f4d" /><Relationship Type="http://schemas.openxmlformats.org/officeDocument/2006/relationships/notesMaster" Target="/ppt/notesMasters/notesMaster1.xml" Id="R4e712eff52ce4c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ebba5f7e0641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1d5367eef044b9" /><Relationship Type="http://schemas.openxmlformats.org/officeDocument/2006/relationships/slideLayout" Target="/ppt/slideLayouts/slideLayout1.xml" Id="Rf678c9ae8cab4c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78c9ae8cab4c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1e72d471c4316" /><Relationship Type="http://schemas.openxmlformats.org/officeDocument/2006/relationships/image" Target="/ppt/media/image.png" Id="Raa19d01ed15a413d" /><Relationship Type="http://schemas.openxmlformats.org/officeDocument/2006/relationships/image" Target="/ppt/media/image2.png" Id="Rf4d98f55108543cb" /><Relationship Type="http://schemas.openxmlformats.org/officeDocument/2006/relationships/image" Target="/ppt/media/image3.png" Id="R1defe4056e014b8a" /><Relationship Type="http://schemas.openxmlformats.org/officeDocument/2006/relationships/image" Target="/ppt/media/image4.png" Id="R84ee3591f958409f" /><Relationship Type="http://schemas.openxmlformats.org/officeDocument/2006/relationships/image" Target="/ppt/media/image5.png" Id="Re411c7a5e6864110" /><Relationship Type="http://schemas.openxmlformats.org/officeDocument/2006/relationships/image" Target="/ppt/media/image6.png" Id="R6b9ebc67c47f4a9a" /><Relationship Type="http://schemas.openxmlformats.org/officeDocument/2006/relationships/notesSlide" Target="/ppt/notesSlides/notesSlide1.xml" Id="R927884dd77fc418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3" name="page-bg">
            <a:extLst xmlns:a="http://schemas.openxmlformats.org/drawingml/2006/main">
              <a:ext uri="{FF2B5EF4-FFF2-40B4-BE49-F238E27FC236}">
                <a16:creationId xmlns:a16="http://schemas.microsoft.com/office/drawing/2014/main" id="{36AC8794-0539-46A3-B4A0-90F7CCA5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entral-blue-panel">
            <a:extLst xmlns:a="http://schemas.openxmlformats.org/drawingml/2006/main">
              <a:ext uri="{FF2B5EF4-FFF2-40B4-BE49-F238E27FC236}">
                <a16:creationId xmlns:a16="http://schemas.microsoft.com/office/drawing/2014/main" id="{D6E478D8-FBF1-4268-9C9A-CEE05A9A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4800" y="4698000"/>
            <a:ext cx="26974800" cy="2822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E2F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9d01ed15a413d"/>
          <a:stretch xmlns:a="http://schemas.openxmlformats.org/drawingml/2006/main"/>
        </p:blipFill>
        <p:spPr>
          <a:xfrm xmlns:a="http://schemas.openxmlformats.org/drawingml/2006/main">
            <a:off x="0" y="1088"/>
            <a:ext cx="43891200" cy="4695825"/>
          </a:xfrm>
          <a:prstGeom xmlns:a="http://schemas.openxmlformats.org/drawingml/2006/main" prst="rect">
            <a:avLst/>
          </a:prstGeom>
        </p:spPr>
      </p:pic>
      <p:pic>
        <p:nvPicPr>
          <p:cNvPr id="2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98f55108543cb"/>
          <a:stretch xmlns:a="http://schemas.openxmlformats.org/drawingml/2006/main"/>
        </p:blipFill>
        <p:spPr>
          <a:xfrm xmlns:a="http://schemas.openxmlformats.org/drawingml/2006/main">
            <a:off x="37728000" y="29300889"/>
            <a:ext cx="5976000" cy="3246222"/>
          </a:xfrm>
          <a:prstGeom xmlns:a="http://schemas.openxmlformats.org/drawingml/2006/main" prst="rect">
            <a:avLst/>
          </a:prstGeom>
        </p:spPr>
      </p:pic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58663452-C226-421C-BBC9-CE12C48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5220000"/>
            <a:ext cx="7704000" cy="20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83" b="1">
                <a:solidFill>
                  <a:srgbClr val="153F59"/>
                </a:solidFill>
              </a:defRPr>
            </a:pPr>
            <a:r>
              <a:rPr sz="2183" b="1">
                <a:solidFill>
                  <a:srgbClr val="153F59"/>
                </a:solidFill>
              </a:rPr>
              <a:t>Implementação do plano amostral da Pesquisa Nacional da Saúde no R: um estudo de caso sobre a asma no Brasil.</a:t>
            </a:r>
          </a:p>
        </p:txBody>
      </p:sp>
      <p:sp>
        <p:nvSpPr>
          <p:cNvPr id="6" name="presenter">
            <a:extLst xmlns:a="http://schemas.openxmlformats.org/drawingml/2006/main">
              <a:ext uri="{FF2B5EF4-FFF2-40B4-BE49-F238E27FC236}">
                <a16:creationId xmlns:a16="http://schemas.microsoft.com/office/drawing/2014/main" id="{7097A67B-9380-4AA2-A629-912B9EC7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00" y="7560000"/>
            <a:ext cx="709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98" b="0">
                <a:solidFill>
                  <a:srgbClr val="4F6372"/>
                </a:solidFill>
              </a:defRPr>
            </a:pPr>
            <a:r>
              <a:rPr sz="2098" b="0">
                <a:solidFill>
                  <a:srgbClr val="4F6372"/>
                </a:solidFill>
              </a:rPr>
              <a:t>APRESENTAÇÃO: I. Dube; M. E. L. Silva</a:t>
            </a:r>
          </a:p>
        </p:txBody>
      </p:sp>
      <p:sp>
        <p:nvSpPr>
          <p:cNvPr id="7" name="INTRODUÇÃO-heading">
            <a:extLst xmlns:a="http://schemas.openxmlformats.org/drawingml/2006/main">
              <a:ext uri="{FF2B5EF4-FFF2-40B4-BE49-F238E27FC236}">
                <a16:creationId xmlns:a16="http://schemas.microsoft.com/office/drawing/2014/main" id="{55A60112-1C11-4F62-8ECB-34BF3187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8640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INTRODUÇÃO</a:t>
            </a:r>
          </a:p>
        </p:txBody>
      </p:sp>
      <p:sp>
        <p:nvSpPr>
          <p:cNvPr id="8" name="INTRODUÇÃO-body">
            <a:extLst xmlns:a="http://schemas.openxmlformats.org/drawingml/2006/main">
              <a:ext uri="{FF2B5EF4-FFF2-40B4-BE49-F238E27FC236}">
                <a16:creationId xmlns:a16="http://schemas.microsoft.com/office/drawing/2014/main" id="{FC8CE5D0-1D58-4550-A0CB-E7944B25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9360000"/>
            <a:ext cx="7704000" cy="35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Indicadores epidemiológicos transformam respostas individuais em evidências para vigilância, planejamento e políticas públicas.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A asma combina diagnóstico, crises, uso de medicamentos, fatores de risco e limitação funcional.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A PNS permite comparar Brasil e UFs quando pesos, estratos e conglomerados são incorporados.</a:t>
            </a:r>
          </a:p>
        </p:txBody>
      </p:sp>
      <p:sp>
        <p:nvSpPr>
          <p:cNvPr id="9" name="METODOLOGIA-heading">
            <a:extLst xmlns:a="http://schemas.openxmlformats.org/drawingml/2006/main">
              <a:ext uri="{FF2B5EF4-FFF2-40B4-BE49-F238E27FC236}">
                <a16:creationId xmlns:a16="http://schemas.microsoft.com/office/drawing/2014/main" id="{F7314C6E-686E-4E7E-89FC-1B56837D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3212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7A3B73"/>
                </a:solidFill>
              </a:defRPr>
            </a:pPr>
            <a:r>
              <a:rPr sz="2721" b="1">
                <a:solidFill>
                  <a:srgbClr val="7A3B73"/>
                </a:solidFill>
              </a:rPr>
              <a:t>METODOLOGIA</a:t>
            </a:r>
          </a:p>
        </p:txBody>
      </p:sp>
      <p:sp>
        <p:nvSpPr>
          <p:cNvPr id="10" name="METODOLOGIA-body">
            <a:extLst xmlns:a="http://schemas.openxmlformats.org/drawingml/2006/main">
              <a:ext uri="{FF2B5EF4-FFF2-40B4-BE49-F238E27FC236}">
                <a16:creationId xmlns:a16="http://schemas.microsoft.com/office/drawing/2014/main" id="{9F7C72E4-10FB-4993-A995-F63410B7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3932000"/>
            <a:ext cx="7704000" cy="35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Microdados PNS 2013/2019 do morador selecionado.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Variáveis: Q074 asma; Q076 crise recente; Q07701/Q07704/Q07708 medicamentos; P050 tabagismo; J002/J003/J00402 absenteísmo e dias perdidos.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Desenho complexo via PNSIBGE::pns_design(), com UPA/PSU, estratos e pesos calibrados; estimação pelo survey.</a:t>
            </a:r>
          </a:p>
        </p:txBody>
      </p:sp>
      <p:sp>
        <p:nvSpPr>
          <p:cNvPr id="11" name="FLUXO ETL-heading">
            <a:extLst xmlns:a="http://schemas.openxmlformats.org/drawingml/2006/main">
              <a:ext uri="{FF2B5EF4-FFF2-40B4-BE49-F238E27FC236}">
                <a16:creationId xmlns:a16="http://schemas.microsoft.com/office/drawing/2014/main" id="{A62E6C2F-46D6-4C85-B23B-89D705BC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7928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FLUXO ETL</a:t>
            </a:r>
          </a:p>
        </p:txBody>
      </p:sp>
      <p:sp>
        <p:nvSpPr>
          <p:cNvPr id="12" name="etl-main-0">
            <a:extLst xmlns:a="http://schemas.openxmlformats.org/drawingml/2006/main">
              <a:ext uri="{FF2B5EF4-FFF2-40B4-BE49-F238E27FC236}">
                <a16:creationId xmlns:a16="http://schemas.microsoft.com/office/drawing/2014/main" id="{22A653C8-08D3-4860-A537-E55EB75D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18756000"/>
            <a:ext cx="5112000" cy="10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13" name="etl-main-text-0">
            <a:extLst xmlns:a="http://schemas.openxmlformats.org/drawingml/2006/main">
              <a:ext uri="{FF2B5EF4-FFF2-40B4-BE49-F238E27FC236}">
                <a16:creationId xmlns:a16="http://schemas.microsoft.com/office/drawing/2014/main" id="{4B9D257D-A9F9-4F8D-9305-3EDDC7ED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00" y="18936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Extração dos dados</a:t>
            </a:r>
          </a:p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da PNS 2013/2019</a:t>
            </a:r>
          </a:p>
        </p:txBody>
      </p:sp>
      <p:sp>
        <p:nvSpPr>
          <p:cNvPr id="14" name="etl-down-0">
            <a:extLst xmlns:a="http://schemas.openxmlformats.org/drawingml/2006/main">
              <a:ext uri="{FF2B5EF4-FFF2-40B4-BE49-F238E27FC236}">
                <a16:creationId xmlns:a16="http://schemas.microsoft.com/office/drawing/2014/main" id="{5880FCDB-A75B-4178-A424-DFDBD8E3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8000" y="19872000"/>
            <a:ext cx="43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15" name="etl-main-1">
            <a:extLst xmlns:a="http://schemas.openxmlformats.org/drawingml/2006/main">
              <a:ext uri="{FF2B5EF4-FFF2-40B4-BE49-F238E27FC236}">
                <a16:creationId xmlns:a16="http://schemas.microsoft.com/office/drawing/2014/main" id="{FC5FBAB1-5D58-498E-B587-B3405B6F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20268000"/>
            <a:ext cx="5112000" cy="10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16" name="etl-main-text-1">
            <a:extLst xmlns:a="http://schemas.openxmlformats.org/drawingml/2006/main">
              <a:ext uri="{FF2B5EF4-FFF2-40B4-BE49-F238E27FC236}">
                <a16:creationId xmlns:a16="http://schemas.microsoft.com/office/drawing/2014/main" id="{C11894A6-6C91-4698-BF72-872C574E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00" y="20448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Tratamento das</a:t>
            </a:r>
          </a:p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variáveis indicadoras</a:t>
            </a:r>
          </a:p>
        </p:txBody>
      </p:sp>
      <p:sp>
        <p:nvSpPr>
          <p:cNvPr id="17" name="etl-down-1">
            <a:extLst xmlns:a="http://schemas.openxmlformats.org/drawingml/2006/main">
              <a:ext uri="{FF2B5EF4-FFF2-40B4-BE49-F238E27FC236}">
                <a16:creationId xmlns:a16="http://schemas.microsoft.com/office/drawing/2014/main" id="{3F34FAA0-F9B6-42F3-B2A4-F88BFAB7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8000" y="21384000"/>
            <a:ext cx="43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18" name="etl-main-2">
            <a:extLst xmlns:a="http://schemas.openxmlformats.org/drawingml/2006/main">
              <a:ext uri="{FF2B5EF4-FFF2-40B4-BE49-F238E27FC236}">
                <a16:creationId xmlns:a16="http://schemas.microsoft.com/office/drawing/2014/main" id="{1A9AC8EA-009C-4FE4-BC0C-462A812E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21780000"/>
            <a:ext cx="5112000" cy="10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19" name="etl-main-text-2">
            <a:extLst xmlns:a="http://schemas.openxmlformats.org/drawingml/2006/main">
              <a:ext uri="{FF2B5EF4-FFF2-40B4-BE49-F238E27FC236}">
                <a16:creationId xmlns:a16="http://schemas.microsoft.com/office/drawing/2014/main" id="{03A495C6-1951-4297-9675-EA5574C1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00" y="21960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Implementação do</a:t>
            </a:r>
          </a:p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plano amostral</a:t>
            </a:r>
          </a:p>
        </p:txBody>
      </p:sp>
      <p:sp>
        <p:nvSpPr>
          <p:cNvPr id="20" name="etl-branch-symbol">
            <a:extLst xmlns:a="http://schemas.openxmlformats.org/drawingml/2006/main">
              <a:ext uri="{FF2B5EF4-FFF2-40B4-BE49-F238E27FC236}">
                <a16:creationId xmlns:a16="http://schemas.microsoft.com/office/drawing/2014/main" id="{0DC2E2B9-A779-4AC7-A3ED-71E2B8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000" y="23292000"/>
            <a:ext cx="5688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35" b="1">
                <a:solidFill>
                  <a:srgbClr val="153F59"/>
                </a:solidFill>
              </a:defRPr>
            </a:pPr>
            <a:r>
              <a:rPr sz="2835" b="1">
                <a:solidFill>
                  <a:srgbClr val="153F59"/>
                </a:solidFill>
              </a:rPr>
              <a:t>↙       ↓       ↘</a:t>
            </a:r>
          </a:p>
        </p:txBody>
      </p:sp>
      <p:sp>
        <p:nvSpPr>
          <p:cNvPr id="21" name="etl-branch-0">
            <a:extLst xmlns:a="http://schemas.openxmlformats.org/drawingml/2006/main">
              <a:ext uri="{FF2B5EF4-FFF2-40B4-BE49-F238E27FC236}">
                <a16:creationId xmlns:a16="http://schemas.microsoft.com/office/drawing/2014/main" id="{F3891FDB-FDB1-4EA0-8254-48887D4A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3940000"/>
            <a:ext cx="2304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22" name="etl-branch-text-0">
            <a:extLst xmlns:a="http://schemas.openxmlformats.org/drawingml/2006/main">
              <a:ext uri="{FF2B5EF4-FFF2-40B4-BE49-F238E27FC236}">
                <a16:creationId xmlns:a16="http://schemas.microsoft.com/office/drawing/2014/main" id="{FF3257E9-0284-4B62-8AA5-3E0FD4EE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24156000"/>
            <a:ext cx="208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84" b="1">
                <a:solidFill>
                  <a:srgbClr val="FFFFFF"/>
                </a:solidFill>
              </a:defRPr>
            </a:pPr>
            <a:r>
              <a:rPr sz="1984" b="1">
                <a:solidFill>
                  <a:srgbClr val="FFFFFF"/>
                </a:solidFill>
              </a:rPr>
              <a:t>Médias</a:t>
            </a:r>
          </a:p>
        </p:txBody>
      </p:sp>
      <p:sp>
        <p:nvSpPr>
          <p:cNvPr id="23" name="etl-branch-down-0">
            <a:extLst xmlns:a="http://schemas.openxmlformats.org/drawingml/2006/main">
              <a:ext uri="{FF2B5EF4-FFF2-40B4-BE49-F238E27FC236}">
                <a16:creationId xmlns:a16="http://schemas.microsoft.com/office/drawing/2014/main" id="{D38A8BDB-E2EF-4377-8DFB-5AC69DAD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000" y="24840000"/>
            <a:ext cx="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68" b="1">
                <a:solidFill>
                  <a:srgbClr val="153F59"/>
                </a:solidFill>
              </a:defRPr>
            </a:pPr>
            <a:r>
              <a:rPr sz="2268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24" name="etl-ci-0">
            <a:extLst xmlns:a="http://schemas.openxmlformats.org/drawingml/2006/main">
              <a:ext uri="{FF2B5EF4-FFF2-40B4-BE49-F238E27FC236}">
                <a16:creationId xmlns:a16="http://schemas.microsoft.com/office/drawing/2014/main" id="{F906D066-FBCA-4E20-B88C-39E75206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25308000"/>
            <a:ext cx="2016000" cy="12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25" name="etl-ci-text-0">
            <a:extLst xmlns:a="http://schemas.openxmlformats.org/drawingml/2006/main">
              <a:ext uri="{FF2B5EF4-FFF2-40B4-BE49-F238E27FC236}">
                <a16:creationId xmlns:a16="http://schemas.microsoft.com/office/drawing/2014/main" id="{E5BE3A72-3AE7-4CDD-9661-CB0487C3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5524000"/>
            <a:ext cx="180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IC95%</a:t>
            </a:r>
          </a:p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Normal</a:t>
            </a:r>
          </a:p>
        </p:txBody>
      </p:sp>
      <p:sp>
        <p:nvSpPr>
          <p:cNvPr id="26" name="etl-branch-1">
            <a:extLst xmlns:a="http://schemas.openxmlformats.org/drawingml/2006/main">
              <a:ext uri="{FF2B5EF4-FFF2-40B4-BE49-F238E27FC236}">
                <a16:creationId xmlns:a16="http://schemas.microsoft.com/office/drawing/2014/main" id="{65E16A6C-B32F-462D-A2B0-926D6FA9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000" y="23940000"/>
            <a:ext cx="2304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27" name="etl-branch-text-1">
            <a:extLst xmlns:a="http://schemas.openxmlformats.org/drawingml/2006/main">
              <a:ext uri="{FF2B5EF4-FFF2-40B4-BE49-F238E27FC236}">
                <a16:creationId xmlns:a16="http://schemas.microsoft.com/office/drawing/2014/main" id="{E54F53B4-A8AC-48DB-914C-37BA4F3A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000" y="24156000"/>
            <a:ext cx="208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84" b="1">
                <a:solidFill>
                  <a:srgbClr val="FFFFFF"/>
                </a:solidFill>
              </a:defRPr>
            </a:pPr>
            <a:r>
              <a:rPr sz="1984" b="1">
                <a:solidFill>
                  <a:srgbClr val="FFFFFF"/>
                </a:solidFill>
              </a:rPr>
              <a:t>Proporções</a:t>
            </a:r>
          </a:p>
        </p:txBody>
      </p:sp>
      <p:sp>
        <p:nvSpPr>
          <p:cNvPr id="28" name="etl-branch-down-1">
            <a:extLst xmlns:a="http://schemas.openxmlformats.org/drawingml/2006/main">
              <a:ext uri="{FF2B5EF4-FFF2-40B4-BE49-F238E27FC236}">
                <a16:creationId xmlns:a16="http://schemas.microsoft.com/office/drawing/2014/main" id="{62F52F45-B9D8-41C8-9337-21522431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000" y="24840000"/>
            <a:ext cx="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68" b="1">
                <a:solidFill>
                  <a:srgbClr val="153F59"/>
                </a:solidFill>
              </a:defRPr>
            </a:pPr>
            <a:r>
              <a:rPr sz="2268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29" name="etl-ci-1">
            <a:extLst xmlns:a="http://schemas.openxmlformats.org/drawingml/2006/main">
              <a:ext uri="{FF2B5EF4-FFF2-40B4-BE49-F238E27FC236}">
                <a16:creationId xmlns:a16="http://schemas.microsoft.com/office/drawing/2014/main" id="{8C76C3A3-6164-4311-B65A-96F5866E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000" y="25308000"/>
            <a:ext cx="2016000" cy="12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30" name="etl-ci-text-1">
            <a:extLst xmlns:a="http://schemas.openxmlformats.org/drawingml/2006/main">
              <a:ext uri="{FF2B5EF4-FFF2-40B4-BE49-F238E27FC236}">
                <a16:creationId xmlns:a16="http://schemas.microsoft.com/office/drawing/2014/main" id="{2F2EE5D2-179B-4007-B99D-1F6751C3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4000" y="25524000"/>
            <a:ext cx="180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IC95%</a:t>
            </a:r>
          </a:p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Beta</a:t>
            </a:r>
          </a:p>
        </p:txBody>
      </p:sp>
      <p:sp>
        <p:nvSpPr>
          <p:cNvPr id="31" name="etl-branch-2">
            <a:extLst xmlns:a="http://schemas.openxmlformats.org/drawingml/2006/main">
              <a:ext uri="{FF2B5EF4-FFF2-40B4-BE49-F238E27FC236}">
                <a16:creationId xmlns:a16="http://schemas.microsoft.com/office/drawing/2014/main" id="{6A3BB37C-1B4E-4FCA-94B4-B6C1BDF2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2000" y="23940000"/>
            <a:ext cx="2304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32" name="etl-branch-text-2">
            <a:extLst xmlns:a="http://schemas.openxmlformats.org/drawingml/2006/main">
              <a:ext uri="{FF2B5EF4-FFF2-40B4-BE49-F238E27FC236}">
                <a16:creationId xmlns:a16="http://schemas.microsoft.com/office/drawing/2014/main" id="{E945DF8D-F645-4CAD-8143-9402DAF3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000" y="24156000"/>
            <a:ext cx="208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84" b="1">
                <a:solidFill>
                  <a:srgbClr val="FFFFFF"/>
                </a:solidFill>
              </a:defRPr>
            </a:pPr>
            <a:r>
              <a:rPr sz="1984" b="1">
                <a:solidFill>
                  <a:srgbClr val="FFFFFF"/>
                </a:solidFill>
              </a:rPr>
              <a:t>Totais/taxas</a:t>
            </a:r>
          </a:p>
        </p:txBody>
      </p:sp>
      <p:sp>
        <p:nvSpPr>
          <p:cNvPr id="33" name="etl-branch-down-2">
            <a:extLst xmlns:a="http://schemas.openxmlformats.org/drawingml/2006/main">
              <a:ext uri="{FF2B5EF4-FFF2-40B4-BE49-F238E27FC236}">
                <a16:creationId xmlns:a16="http://schemas.microsoft.com/office/drawing/2014/main" id="{FCD13C63-CDB8-4A2B-A344-EBD63694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4000" y="24840000"/>
            <a:ext cx="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68" b="1">
                <a:solidFill>
                  <a:srgbClr val="153F59"/>
                </a:solidFill>
              </a:defRPr>
            </a:pPr>
            <a:r>
              <a:rPr sz="2268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34" name="etl-ci-2">
            <a:extLst xmlns:a="http://schemas.openxmlformats.org/drawingml/2006/main">
              <a:ext uri="{FF2B5EF4-FFF2-40B4-BE49-F238E27FC236}">
                <a16:creationId xmlns:a16="http://schemas.microsoft.com/office/drawing/2014/main" id="{415DED53-8951-49D7-BDBB-9106C1A1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000" y="25308000"/>
            <a:ext cx="2016000" cy="12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35" name="etl-ci-text-2">
            <a:extLst xmlns:a="http://schemas.openxmlformats.org/drawingml/2006/main">
              <a:ext uri="{FF2B5EF4-FFF2-40B4-BE49-F238E27FC236}">
                <a16:creationId xmlns:a16="http://schemas.microsoft.com/office/drawing/2014/main" id="{34B2F88D-7FB0-46C1-B0ED-A021B235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0" y="25524000"/>
            <a:ext cx="180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1">
                <a:solidFill>
                  <a:srgbClr val="FFFFFF"/>
                </a:solidFill>
              </a:defRPr>
            </a:pPr>
            <a:r>
              <a:rPr sz="1559" b="1">
                <a:solidFill>
                  <a:srgbClr val="FFFFFF"/>
                </a:solidFill>
              </a:rPr>
              <a:t>IC95%</a:t>
            </a:r>
          </a:p>
          <a:p xmlns:a="http://schemas.openxmlformats.org/drawingml/2006/main">
            <a:pPr algn="ctr">
              <a:defRPr sz="1559" b="1">
                <a:solidFill>
                  <a:srgbClr val="FFFFFF"/>
                </a:solidFill>
              </a:defRPr>
            </a:pPr>
            <a:r>
              <a:rPr sz="1559" b="1">
                <a:solidFill>
                  <a:srgbClr val="FFFFFF"/>
                </a:solidFill>
              </a:rPr>
              <a:t>conforme</a:t>
            </a:r>
          </a:p>
          <a:p xmlns:a="http://schemas.openxmlformats.org/drawingml/2006/main">
            <a:pPr algn="ctr">
              <a:defRPr sz="1559" b="1">
                <a:solidFill>
                  <a:srgbClr val="FFFFFF"/>
                </a:solidFill>
              </a:defRPr>
            </a:pPr>
            <a:r>
              <a:rPr sz="1559" b="1">
                <a:solidFill>
                  <a:srgbClr val="FFFFFF"/>
                </a:solidFill>
              </a:rPr>
              <a:t>estimador</a:t>
            </a:r>
          </a:p>
        </p:txBody>
      </p:sp>
      <p:sp>
        <p:nvSpPr>
          <p:cNvPr id="36" name="formula-heading">
            <a:extLst xmlns:a="http://schemas.openxmlformats.org/drawingml/2006/main">
              <a:ext uri="{FF2B5EF4-FFF2-40B4-BE49-F238E27FC236}">
                <a16:creationId xmlns:a16="http://schemas.microsoft.com/office/drawing/2014/main" id="{2B9D2B3F-87F4-48C7-9101-C078E18D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6856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ESTIMADORES</a:t>
            </a:r>
          </a:p>
        </p:txBody>
      </p:sp>
      <p:sp>
        <p:nvSpPr>
          <p:cNvPr id="37" name="formula-box">
            <a:extLst xmlns:a="http://schemas.openxmlformats.org/drawingml/2006/main">
              <a:ext uri="{FF2B5EF4-FFF2-40B4-BE49-F238E27FC236}">
                <a16:creationId xmlns:a16="http://schemas.microsoft.com/office/drawing/2014/main" id="{A0C774D4-7248-4C87-B82B-AF893692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7576000"/>
            <a:ext cx="756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3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fe4056e014b8a"/>
          <a:stretch xmlns:a="http://schemas.openxmlformats.org/drawingml/2006/main"/>
        </p:blipFill>
        <p:spPr>
          <a:xfrm xmlns:a="http://schemas.openxmlformats.org/drawingml/2006/main">
            <a:off x="1761015" y="27756000"/>
            <a:ext cx="4901970" cy="3528000"/>
          </a:xfrm>
          <a:prstGeom xmlns:a="http://schemas.openxmlformats.org/drawingml/2006/main" prst="rect">
            <a:avLst/>
          </a:prstGeom>
        </p:spPr>
      </p:pic>
      <p:sp>
        <p:nvSpPr>
          <p:cNvPr id="39" name="formula-legend">
            <a:extLst xmlns:a="http://schemas.openxmlformats.org/drawingml/2006/main">
              <a:ext uri="{FF2B5EF4-FFF2-40B4-BE49-F238E27FC236}">
                <a16:creationId xmlns:a16="http://schemas.microsoft.com/office/drawing/2014/main" id="{F5AA9E11-F635-44B5-969C-51CAE26A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1428000"/>
            <a:ext cx="6984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87" b="0">
                <a:solidFill>
                  <a:srgbClr val="102536"/>
                </a:solidFill>
              </a:defRPr>
            </a:pPr>
            <a:r>
              <a:rPr sz="1587" b="0">
                <a:solidFill>
                  <a:srgbClr val="102536"/>
                </a:solidFill>
              </a:rPr>
              <a:t>wᵢ = peso amostral; yᵢ = indicador binário; xᵢ = variável contínua.</a:t>
            </a:r>
          </a:p>
        </p:txBody>
      </p:sp>
      <p:sp>
        <p:nvSpPr>
          <p:cNvPr id="40" name="main-finding">
            <a:extLst xmlns:a="http://schemas.openxmlformats.org/drawingml/2006/main">
              <a:ext uri="{FF2B5EF4-FFF2-40B4-BE49-F238E27FC236}">
                <a16:creationId xmlns:a16="http://schemas.microsoft.com/office/drawing/2014/main" id="{083F4317-609A-4510-A549-562E62F5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000" y="5292000"/>
            <a:ext cx="25380000" cy="25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009" b="1">
                <a:solidFill>
                  <a:srgbClr val="153F59"/>
                </a:solidFill>
              </a:defRPr>
            </a:pPr>
            <a:r>
              <a:rPr sz="6009" b="1">
                <a:solidFill>
                  <a:srgbClr val="153F59"/>
                </a:solidFill>
              </a:rPr>
              <a:t>Diagnóstico de asma aumentou; controle, acesso terapêutico e impacto funcional precisam ser lidos com o plano amostral da PNS.</a:t>
            </a:r>
          </a:p>
        </p:txBody>
      </p:sp>
      <p:sp>
        <p:nvSpPr>
          <p:cNvPr id="41" name="finding-underline">
            <a:extLst xmlns:a="http://schemas.openxmlformats.org/drawingml/2006/main">
              <a:ext uri="{FF2B5EF4-FFF2-40B4-BE49-F238E27FC236}">
                <a16:creationId xmlns:a16="http://schemas.microsoft.com/office/drawing/2014/main" id="{23F0DAD9-C69F-45FC-A072-4C35DAA8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0000" y="7956000"/>
            <a:ext cx="203400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42" name="Diagnóstico no Brasil-card">
            <a:extLst xmlns:a="http://schemas.openxmlformats.org/drawingml/2006/main">
              <a:ext uri="{FF2B5EF4-FFF2-40B4-BE49-F238E27FC236}">
                <a16:creationId xmlns:a16="http://schemas.microsoft.com/office/drawing/2014/main" id="{93950FA9-1E56-4C58-9D43-826877FD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000" y="8604000"/>
            <a:ext cx="7632000" cy="23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D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43" name="Diagnóstico no Brasil-card-title">
            <a:extLst xmlns:a="http://schemas.openxmlformats.org/drawingml/2006/main">
              <a:ext uri="{FF2B5EF4-FFF2-40B4-BE49-F238E27FC236}">
                <a16:creationId xmlns:a16="http://schemas.microsoft.com/office/drawing/2014/main" id="{EA19EB8F-CACA-4C0C-A0CD-9E74ACF6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000" y="8892000"/>
            <a:ext cx="705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Diagnóstico no Brasil</a:t>
            </a:r>
          </a:p>
        </p:txBody>
      </p:sp>
      <p:sp>
        <p:nvSpPr>
          <p:cNvPr id="44" name="Diagnóstico no Brasil-card-value">
            <a:extLst xmlns:a="http://schemas.openxmlformats.org/drawingml/2006/main">
              <a:ext uri="{FF2B5EF4-FFF2-40B4-BE49-F238E27FC236}">
                <a16:creationId xmlns:a16="http://schemas.microsoft.com/office/drawing/2014/main" id="{EC16AF73-A2FC-4DFF-99F1-DE1E9BD5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000" y="9432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94" b="1">
                <a:solidFill>
                  <a:srgbClr val="153F59"/>
                </a:solidFill>
              </a:defRPr>
            </a:pPr>
            <a:r>
              <a:rPr sz="4394" b="1">
                <a:solidFill>
                  <a:srgbClr val="153F59"/>
                </a:solidFill>
              </a:rPr>
              <a:t>4,41% → 5,40%</a:t>
            </a:r>
          </a:p>
        </p:txBody>
      </p:sp>
      <p:sp>
        <p:nvSpPr>
          <p:cNvPr id="45" name="Diagnóstico no Brasil-card-note">
            <a:extLst xmlns:a="http://schemas.openxmlformats.org/drawingml/2006/main">
              <a:ext uri="{FF2B5EF4-FFF2-40B4-BE49-F238E27FC236}">
                <a16:creationId xmlns:a16="http://schemas.microsoft.com/office/drawing/2014/main" id="{F072DEBD-8EE7-4E60-9A0B-FF989EA1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000" y="10224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0">
                <a:solidFill>
                  <a:srgbClr val="102536"/>
                </a:solidFill>
              </a:defRPr>
            </a:pPr>
            <a:r>
              <a:rPr sz="1559" b="0">
                <a:solidFill>
                  <a:srgbClr val="102536"/>
                </a:solidFill>
              </a:rPr>
              <a:t>Prevalência de diagnóstico médico de asma; IC95% sem sobreposição.</a:t>
            </a:r>
          </a:p>
        </p:txBody>
      </p:sp>
      <p:sp>
        <p:nvSpPr>
          <p:cNvPr id="46" name="Medicamentos no Brasil-card">
            <a:extLst xmlns:a="http://schemas.openxmlformats.org/drawingml/2006/main">
              <a:ext uri="{FF2B5EF4-FFF2-40B4-BE49-F238E27FC236}">
                <a16:creationId xmlns:a16="http://schemas.microsoft.com/office/drawing/2014/main" id="{E2603152-5D12-4CA3-86E9-16C7E632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8000" y="8604000"/>
            <a:ext cx="7632000" cy="23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D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47" name="Medicamentos no Brasil-card-title">
            <a:extLst xmlns:a="http://schemas.openxmlformats.org/drawingml/2006/main">
              <a:ext uri="{FF2B5EF4-FFF2-40B4-BE49-F238E27FC236}">
                <a16:creationId xmlns:a16="http://schemas.microsoft.com/office/drawing/2014/main" id="{B19D0C5D-C8B6-436F-9DB7-90DCB1AC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36000" y="8892000"/>
            <a:ext cx="705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Medicamentos no Brasil</a:t>
            </a:r>
          </a:p>
        </p:txBody>
      </p:sp>
      <p:sp>
        <p:nvSpPr>
          <p:cNvPr id="48" name="Medicamentos no Brasil-card-value">
            <a:extLst xmlns:a="http://schemas.openxmlformats.org/drawingml/2006/main">
              <a:ext uri="{FF2B5EF4-FFF2-40B4-BE49-F238E27FC236}">
                <a16:creationId xmlns:a16="http://schemas.microsoft.com/office/drawing/2014/main" id="{3EA07349-F2C6-4A3D-830F-2C182CFC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36000" y="9432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94" b="1">
                <a:solidFill>
                  <a:srgbClr val="153F59"/>
                </a:solidFill>
              </a:defRPr>
            </a:pPr>
            <a:r>
              <a:rPr sz="4394" b="1">
                <a:solidFill>
                  <a:srgbClr val="153F59"/>
                </a:solidFill>
              </a:rPr>
              <a:t>81,5% → 64,4%</a:t>
            </a:r>
          </a:p>
        </p:txBody>
      </p:sp>
      <p:sp>
        <p:nvSpPr>
          <p:cNvPr id="49" name="Medicamentos no Brasil-card-note">
            <a:extLst xmlns:a="http://schemas.openxmlformats.org/drawingml/2006/main">
              <a:ext uri="{FF2B5EF4-FFF2-40B4-BE49-F238E27FC236}">
                <a16:creationId xmlns:a16="http://schemas.microsoft.com/office/drawing/2014/main" id="{47B1C8D7-B613-45B8-9C54-D19C1545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36000" y="10224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0">
                <a:solidFill>
                  <a:srgbClr val="102536"/>
                </a:solidFill>
              </a:defRPr>
            </a:pPr>
            <a:r>
              <a:rPr sz="1559" b="0">
                <a:solidFill>
                  <a:srgbClr val="102536"/>
                </a:solidFill>
              </a:rPr>
              <a:t>Uso oral ou bombinha entre pessoas com asma; leitura com denominador e IC.</a:t>
            </a:r>
          </a:p>
        </p:txBody>
      </p:sp>
      <p:sp>
        <p:nvSpPr>
          <p:cNvPr id="50" name="Impacto funcional-card">
            <a:extLst xmlns:a="http://schemas.openxmlformats.org/drawingml/2006/main">
              <a:ext uri="{FF2B5EF4-FFF2-40B4-BE49-F238E27FC236}">
                <a16:creationId xmlns:a16="http://schemas.microsoft.com/office/drawing/2014/main" id="{6079E947-6827-41EA-BF92-2D97D832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36000" y="8604000"/>
            <a:ext cx="7632000" cy="23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D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51" name="Impacto funcional-card-title">
            <a:extLst xmlns:a="http://schemas.openxmlformats.org/drawingml/2006/main">
              <a:ext uri="{FF2B5EF4-FFF2-40B4-BE49-F238E27FC236}">
                <a16:creationId xmlns:a16="http://schemas.microsoft.com/office/drawing/2014/main" id="{7268D4A4-C847-48F2-9266-EBBB3A87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4000" y="8892000"/>
            <a:ext cx="705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Impacto funcional</a:t>
            </a:r>
          </a:p>
        </p:txBody>
      </p:sp>
      <p:sp>
        <p:nvSpPr>
          <p:cNvPr id="52" name="Impacto funcional-card-value">
            <a:extLst xmlns:a="http://schemas.openxmlformats.org/drawingml/2006/main">
              <a:ext uri="{FF2B5EF4-FFF2-40B4-BE49-F238E27FC236}">
                <a16:creationId xmlns:a16="http://schemas.microsoft.com/office/drawing/2014/main" id="{6CE94CFA-2FEF-433F-A9C5-B579197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4000" y="9432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94" b="1">
                <a:solidFill>
                  <a:srgbClr val="153F59"/>
                </a:solidFill>
              </a:defRPr>
            </a:pPr>
            <a:r>
              <a:rPr sz="4394" b="1">
                <a:solidFill>
                  <a:srgbClr val="153F59"/>
                </a:solidFill>
              </a:rPr>
              <a:t>15,2% e 4,8 dias</a:t>
            </a:r>
          </a:p>
        </p:txBody>
      </p:sp>
      <p:sp>
        <p:nvSpPr>
          <p:cNvPr id="53" name="Impacto funcional-card-note">
            <a:extLst xmlns:a="http://schemas.openxmlformats.org/drawingml/2006/main">
              <a:ext uri="{FF2B5EF4-FFF2-40B4-BE49-F238E27FC236}">
                <a16:creationId xmlns:a16="http://schemas.microsoft.com/office/drawing/2014/main" id="{1621459D-91B6-4F7B-AD94-6AAAD4CB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4000" y="10224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0">
                <a:solidFill>
                  <a:srgbClr val="102536"/>
                </a:solidFill>
              </a:defRPr>
            </a:pPr>
            <a:r>
              <a:rPr sz="1559" b="0">
                <a:solidFill>
                  <a:srgbClr val="102536"/>
                </a:solidFill>
              </a:rPr>
              <a:t>Absenteísmo respiratório e média de dias perdidos em 2019.</a:t>
            </a:r>
          </a:p>
        </p:txBody>
      </p:sp>
      <p:sp>
        <p:nvSpPr>
          <p:cNvPr id="54" name="Tabela 1: Prevalência de">
            <a:extLst xmlns:a="http://schemas.openxmlformats.org/drawingml/2006/main">
              <a:ext uri="{FF2B5EF4-FFF2-40B4-BE49-F238E27FC236}">
                <a16:creationId xmlns:a16="http://schemas.microsoft.com/office/drawing/2014/main" id="{2B6514F3-2286-4625-997F-4FDA1E88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1592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Tabela 1: Prevalência de diagnóstico médico de asma por UF, PNS 2013 e 2019.</a:t>
            </a:r>
          </a:p>
        </p:txBody>
      </p:sp>
      <p:sp>
        <p:nvSpPr>
          <p:cNvPr id="55" name="Tabela 1: Prevalência de diagnóstico médico de asma por UF, PNS 2013 e 2019.-frame">
            <a:extLst xmlns:a="http://schemas.openxmlformats.org/drawingml/2006/main">
              <a:ext uri="{FF2B5EF4-FFF2-40B4-BE49-F238E27FC236}">
                <a16:creationId xmlns:a16="http://schemas.microsoft.com/office/drawing/2014/main" id="{8CE8421D-9453-4FE9-94C5-7FFCD80C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2492000"/>
            <a:ext cx="12672000" cy="83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56" name="Tabela 1: Prevalência de diagnóstico médico de asma por UF, PNS 2013 e 2019.-head-bg">
            <a:extLst xmlns:a="http://schemas.openxmlformats.org/drawingml/2006/main">
              <a:ext uri="{FF2B5EF4-FFF2-40B4-BE49-F238E27FC236}">
                <a16:creationId xmlns:a16="http://schemas.microsoft.com/office/drawing/2014/main" id="{4A7F382B-3114-4B19-95DD-A1AA94CE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2672000"/>
            <a:ext cx="12312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57" name="Tabela 1: Prevalência de diagnóstico médico de asma por UF, PNS 2013 e 2019.-head-0">
            <a:extLst xmlns:a="http://schemas.openxmlformats.org/drawingml/2006/main">
              <a:ext uri="{FF2B5EF4-FFF2-40B4-BE49-F238E27FC236}">
                <a16:creationId xmlns:a16="http://schemas.microsoft.com/office/drawing/2014/main" id="{8161BBD2-7C37-461D-9BEF-18A33EC9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2744000"/>
            <a:ext cx="259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UF</a:t>
            </a:r>
          </a:p>
        </p:txBody>
      </p:sp>
      <p:sp>
        <p:nvSpPr>
          <p:cNvPr id="58" name="Tabela 1: Prevalência de diagnóstico médico de asma por UF, PNS 2013 e 2019.-head-1">
            <a:extLst xmlns:a="http://schemas.openxmlformats.org/drawingml/2006/main">
              <a:ext uri="{FF2B5EF4-FFF2-40B4-BE49-F238E27FC236}">
                <a16:creationId xmlns:a16="http://schemas.microsoft.com/office/drawing/2014/main" id="{18B50EF3-59DA-414D-9315-0682223E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2013</a:t>
            </a:r>
          </a:p>
        </p:txBody>
      </p:sp>
      <p:sp>
        <p:nvSpPr>
          <p:cNvPr id="59" name="Tabela 1: Prevalência de diagnóstico médico de asma por UF, PNS 2013 e 2019.-head-2">
            <a:extLst xmlns:a="http://schemas.openxmlformats.org/drawingml/2006/main">
              <a:ext uri="{FF2B5EF4-FFF2-40B4-BE49-F238E27FC236}">
                <a16:creationId xmlns:a16="http://schemas.microsoft.com/office/drawing/2014/main" id="{4F4FB71D-2D3A-4613-9A4D-293F1F3C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60" name="Tabela 1: Prevalência de diagnóstico médico de asma por UF, PNS 2013 e 2019.-stripe-0">
            <a:extLst xmlns:a="http://schemas.openxmlformats.org/drawingml/2006/main">
              <a:ext uri="{FF2B5EF4-FFF2-40B4-BE49-F238E27FC236}">
                <a16:creationId xmlns:a16="http://schemas.microsoft.com/office/drawing/2014/main" id="{0514BA8E-DC27-4B0A-BF74-CC9A2218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31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61" name="Tabela 1: Prevalência de diagnóstico médico de asma por UF, PNS 2013 e 2019.-cell-0-0">
            <a:extLst xmlns:a="http://schemas.openxmlformats.org/drawingml/2006/main">
              <a:ext uri="{FF2B5EF4-FFF2-40B4-BE49-F238E27FC236}">
                <a16:creationId xmlns:a16="http://schemas.microsoft.com/office/drawing/2014/main" id="{B8A50F89-90E1-4513-BD4E-F41E0AE4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3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Rondônia</a:t>
            </a:r>
          </a:p>
        </p:txBody>
      </p:sp>
      <p:sp>
        <p:nvSpPr>
          <p:cNvPr id="62" name="Tabela 1: Prevalência de diagnóstico médico de asma por UF, PNS 2013 e 2019.-cell-0-1">
            <a:extLst xmlns:a="http://schemas.openxmlformats.org/drawingml/2006/main">
              <a:ext uri="{FF2B5EF4-FFF2-40B4-BE49-F238E27FC236}">
                <a16:creationId xmlns:a16="http://schemas.microsoft.com/office/drawing/2014/main" id="{A35D874A-F815-4621-93E3-3D17FA57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4,20% [3,02%; 5,67%]</a:t>
            </a:r>
          </a:p>
        </p:txBody>
      </p:sp>
      <p:sp>
        <p:nvSpPr>
          <p:cNvPr id="63" name="Tabela 1: Prevalência de diagnóstico médico de asma por UF, PNS 2013 e 2019.-cell-0-2">
            <a:extLst xmlns:a="http://schemas.openxmlformats.org/drawingml/2006/main">
              <a:ext uri="{FF2B5EF4-FFF2-40B4-BE49-F238E27FC236}">
                <a16:creationId xmlns:a16="http://schemas.microsoft.com/office/drawing/2014/main" id="{3F7B1275-D84D-4F2A-87D8-7038CE89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3,43% [2,70%; 4,30%]</a:t>
            </a:r>
          </a:p>
        </p:txBody>
      </p:sp>
      <p:sp>
        <p:nvSpPr>
          <p:cNvPr id="64" name="Tabela 1: Prevalência de diagnóstico médico de asma por UF, PNS 2013 e 2019.-cell-1-0">
            <a:extLst xmlns:a="http://schemas.openxmlformats.org/drawingml/2006/main">
              <a:ext uri="{FF2B5EF4-FFF2-40B4-BE49-F238E27FC236}">
                <a16:creationId xmlns:a16="http://schemas.microsoft.com/office/drawing/2014/main" id="{F89A1457-5B08-40E8-B6BB-01723E68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3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Acre</a:t>
            </a:r>
          </a:p>
        </p:txBody>
      </p:sp>
      <p:sp>
        <p:nvSpPr>
          <p:cNvPr id="65" name="Tabela 1: Prevalência de diagnóstico médico de asma por UF, PNS 2013 e 2019.-cell-1-1">
            <a:extLst xmlns:a="http://schemas.openxmlformats.org/drawingml/2006/main">
              <a:ext uri="{FF2B5EF4-FFF2-40B4-BE49-F238E27FC236}">
                <a16:creationId xmlns:a16="http://schemas.microsoft.com/office/drawing/2014/main" id="{BA8C97F0-5445-48F6-8351-24C58E44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4,07% [2,95%; 5,45%]</a:t>
            </a:r>
          </a:p>
        </p:txBody>
      </p:sp>
      <p:sp>
        <p:nvSpPr>
          <p:cNvPr id="66" name="Tabela 1: Prevalência de diagnóstico médico de asma por UF, PNS 2013 e 2019.-cell-1-2">
            <a:extLst xmlns:a="http://schemas.openxmlformats.org/drawingml/2006/main">
              <a:ext uri="{FF2B5EF4-FFF2-40B4-BE49-F238E27FC236}">
                <a16:creationId xmlns:a16="http://schemas.microsoft.com/office/drawing/2014/main" id="{39A5D0F0-252B-41A2-80BE-7F223840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3,87% [2,99%; 4,91%]</a:t>
            </a:r>
          </a:p>
        </p:txBody>
      </p:sp>
      <p:sp>
        <p:nvSpPr>
          <p:cNvPr id="67" name="Tabela 1: Prevalência de diagnóstico médico de asma por UF, PNS 2013 e 2019.-stripe-2">
            <a:extLst xmlns:a="http://schemas.openxmlformats.org/drawingml/2006/main">
              <a:ext uri="{FF2B5EF4-FFF2-40B4-BE49-F238E27FC236}">
                <a16:creationId xmlns:a16="http://schemas.microsoft.com/office/drawing/2014/main" id="{E92D7FB2-50E1-44C9-B9B2-044C39AF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37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68" name="Tabela 1: Prevalência de diagnóstico médico de asma por UF, PNS 2013 e 2019.-cell-2-0">
            <a:extLst xmlns:a="http://schemas.openxmlformats.org/drawingml/2006/main">
              <a:ext uri="{FF2B5EF4-FFF2-40B4-BE49-F238E27FC236}">
                <a16:creationId xmlns:a16="http://schemas.microsoft.com/office/drawing/2014/main" id="{47E3A997-AB7F-4536-BA16-47A05C65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3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Amazonas</a:t>
            </a:r>
          </a:p>
        </p:txBody>
      </p:sp>
      <p:sp>
        <p:nvSpPr>
          <p:cNvPr id="69" name="Tabela 1: Prevalência de diagnóstico médico de asma por UF, PNS 2013 e 2019.-cell-2-1">
            <a:extLst xmlns:a="http://schemas.openxmlformats.org/drawingml/2006/main">
              <a:ext uri="{FF2B5EF4-FFF2-40B4-BE49-F238E27FC236}">
                <a16:creationId xmlns:a16="http://schemas.microsoft.com/office/drawing/2014/main" id="{88170F3B-8B1E-4841-B6CD-4751D021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5,65% [4,47%; 7,03%]</a:t>
            </a:r>
          </a:p>
        </p:txBody>
      </p:sp>
      <p:sp>
        <p:nvSpPr>
          <p:cNvPr id="70" name="Tabela 1: Prevalência de diagnóstico médico de asma por UF, PNS 2013 e 2019.-cell-2-2">
            <a:extLst xmlns:a="http://schemas.openxmlformats.org/drawingml/2006/main">
              <a:ext uri="{FF2B5EF4-FFF2-40B4-BE49-F238E27FC236}">
                <a16:creationId xmlns:a16="http://schemas.microsoft.com/office/drawing/2014/main" id="{5ED86EF0-2AA1-41EA-A638-142504FE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4,86% [3,86%; 6,02%]</a:t>
            </a:r>
          </a:p>
        </p:txBody>
      </p:sp>
      <p:sp>
        <p:nvSpPr>
          <p:cNvPr id="71" name="Tabela 1: Prevalência de diagnóstico médico de asma por UF, PNS 2013 e 2019.-cell-3-0">
            <a:extLst xmlns:a="http://schemas.openxmlformats.org/drawingml/2006/main">
              <a:ext uri="{FF2B5EF4-FFF2-40B4-BE49-F238E27FC236}">
                <a16:creationId xmlns:a16="http://schemas.microsoft.com/office/drawing/2014/main" id="{EBDAA732-88E3-4835-B258-809A725B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Roraima</a:t>
            </a:r>
          </a:p>
        </p:txBody>
      </p:sp>
      <p:sp>
        <p:nvSpPr>
          <p:cNvPr id="72" name="Tabela 1: Prevalência de diagnóstico médico de asma por UF, PNS 2013 e 2019.-cell-3-1">
            <a:extLst xmlns:a="http://schemas.openxmlformats.org/drawingml/2006/main">
              <a:ext uri="{FF2B5EF4-FFF2-40B4-BE49-F238E27FC236}">
                <a16:creationId xmlns:a16="http://schemas.microsoft.com/office/drawing/2014/main" id="{AEFE76C6-FE66-46BC-8FEE-4014A534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4,57% [3,35%; 6,06%]</a:t>
            </a:r>
          </a:p>
        </p:txBody>
      </p:sp>
      <p:sp>
        <p:nvSpPr>
          <p:cNvPr id="73" name="Tabela 1: Prevalência de diagnóstico médico de asma por UF, PNS 2013 e 2019.-cell-3-2">
            <a:extLst xmlns:a="http://schemas.openxmlformats.org/drawingml/2006/main">
              <a:ext uri="{FF2B5EF4-FFF2-40B4-BE49-F238E27FC236}">
                <a16:creationId xmlns:a16="http://schemas.microsoft.com/office/drawing/2014/main" id="{F5640D02-96CE-454D-85F6-0455A3F7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5,85% [4,03%; 8,16%]</a:t>
            </a:r>
          </a:p>
        </p:txBody>
      </p:sp>
      <p:sp>
        <p:nvSpPr>
          <p:cNvPr id="74" name="Tabela 1: Prevalência de diagnóstico médico de asma por UF, PNS 2013 e 2019.-stripe-4">
            <a:extLst xmlns:a="http://schemas.openxmlformats.org/drawingml/2006/main">
              <a:ext uri="{FF2B5EF4-FFF2-40B4-BE49-F238E27FC236}">
                <a16:creationId xmlns:a16="http://schemas.microsoft.com/office/drawing/2014/main" id="{90F3480D-F7BD-41E5-A3A9-C65225AE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42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75" name="Tabela 1: Prevalência de diagnóstico médico de asma por UF, PNS 2013 e 2019.-cell-4-0">
            <a:extLst xmlns:a="http://schemas.openxmlformats.org/drawingml/2006/main">
              <a:ext uri="{FF2B5EF4-FFF2-40B4-BE49-F238E27FC236}">
                <a16:creationId xmlns:a16="http://schemas.microsoft.com/office/drawing/2014/main" id="{CCF94170-B32F-4077-9C2E-F6C81545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Pará</a:t>
            </a:r>
          </a:p>
        </p:txBody>
      </p:sp>
      <p:sp>
        <p:nvSpPr>
          <p:cNvPr id="76" name="Tabela 1: Prevalência de diagnóstico médico de asma por UF, PNS 2013 e 2019.-cell-4-1">
            <a:extLst xmlns:a="http://schemas.openxmlformats.org/drawingml/2006/main">
              <a:ext uri="{FF2B5EF4-FFF2-40B4-BE49-F238E27FC236}">
                <a16:creationId xmlns:a16="http://schemas.microsoft.com/office/drawing/2014/main" id="{061E1FA0-65C3-4C3E-8607-6CE7AA10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4,29% [3,28%; 5,50%]</a:t>
            </a:r>
          </a:p>
        </p:txBody>
      </p:sp>
      <p:sp>
        <p:nvSpPr>
          <p:cNvPr id="77" name="Tabela 1: Prevalência de diagnóstico médico de asma por UF, PNS 2013 e 2019.-cell-4-2">
            <a:extLst xmlns:a="http://schemas.openxmlformats.org/drawingml/2006/main">
              <a:ext uri="{FF2B5EF4-FFF2-40B4-BE49-F238E27FC236}">
                <a16:creationId xmlns:a16="http://schemas.microsoft.com/office/drawing/2014/main" id="{9BF229A9-FACF-4C75-A64E-6BB86FD2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4,83% [3,90%; 5,89%]</a:t>
            </a:r>
          </a:p>
        </p:txBody>
      </p:sp>
      <p:sp>
        <p:nvSpPr>
          <p:cNvPr id="78" name="Tabela 1: Prevalência de diagnóstico médico de asma por UF, PNS 2013 e 2019.-cell-5-0">
            <a:extLst xmlns:a="http://schemas.openxmlformats.org/drawingml/2006/main">
              <a:ext uri="{FF2B5EF4-FFF2-40B4-BE49-F238E27FC236}">
                <a16:creationId xmlns:a16="http://schemas.microsoft.com/office/drawing/2014/main" id="{41FD2AA4-D275-4E92-8212-D1617C08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Amapá</a:t>
            </a:r>
          </a:p>
        </p:txBody>
      </p:sp>
      <p:sp>
        <p:nvSpPr>
          <p:cNvPr id="79" name="Tabela 1: Prevalência de diagnóstico médico de asma por UF, PNS 2013 e 2019.-cell-5-1">
            <a:extLst xmlns:a="http://schemas.openxmlformats.org/drawingml/2006/main">
              <a:ext uri="{FF2B5EF4-FFF2-40B4-BE49-F238E27FC236}">
                <a16:creationId xmlns:a16="http://schemas.microsoft.com/office/drawing/2014/main" id="{42C781EF-E7D6-4EF2-BFD8-E99A91E5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4,02% [2,82%; 5,52%]</a:t>
            </a:r>
          </a:p>
        </p:txBody>
      </p:sp>
      <p:sp>
        <p:nvSpPr>
          <p:cNvPr id="80" name="Tabela 1: Prevalência de diagnóstico médico de asma por UF, PNS 2013 e 2019.-cell-5-2">
            <a:extLst xmlns:a="http://schemas.openxmlformats.org/drawingml/2006/main">
              <a:ext uri="{FF2B5EF4-FFF2-40B4-BE49-F238E27FC236}">
                <a16:creationId xmlns:a16="http://schemas.microsoft.com/office/drawing/2014/main" id="{093A9BB7-09D5-4839-949D-304E6B47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6,63% [5,27%; 8,21%]</a:t>
            </a:r>
          </a:p>
        </p:txBody>
      </p:sp>
      <p:sp>
        <p:nvSpPr>
          <p:cNvPr id="81" name="Tabela 1: Prevalência de diagnóstico médico de asma por UF, PNS 2013 e 2019.-stripe-6">
            <a:extLst xmlns:a="http://schemas.openxmlformats.org/drawingml/2006/main">
              <a:ext uri="{FF2B5EF4-FFF2-40B4-BE49-F238E27FC236}">
                <a16:creationId xmlns:a16="http://schemas.microsoft.com/office/drawing/2014/main" id="{0A207279-CD93-4259-B19C-FB416C24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47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82" name="Tabela 1: Prevalência de diagnóstico médico de asma por UF, PNS 2013 e 2019.-cell-6-0">
            <a:extLst xmlns:a="http://schemas.openxmlformats.org/drawingml/2006/main">
              <a:ext uri="{FF2B5EF4-FFF2-40B4-BE49-F238E27FC236}">
                <a16:creationId xmlns:a16="http://schemas.microsoft.com/office/drawing/2014/main" id="{38882CA6-4F51-46BC-9FA7-66F600C9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Tocantins</a:t>
            </a:r>
          </a:p>
        </p:txBody>
      </p:sp>
      <p:sp>
        <p:nvSpPr>
          <p:cNvPr id="83" name="Tabela 1: Prevalência de diagnóstico médico de asma por UF, PNS 2013 e 2019.-cell-6-1">
            <a:extLst xmlns:a="http://schemas.openxmlformats.org/drawingml/2006/main">
              <a:ext uri="{FF2B5EF4-FFF2-40B4-BE49-F238E27FC236}">
                <a16:creationId xmlns:a16="http://schemas.microsoft.com/office/drawing/2014/main" id="{B3D72ECA-D60E-4375-96F6-89ADA634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4,96% [3,55%; 6,72%]</a:t>
            </a:r>
          </a:p>
        </p:txBody>
      </p:sp>
      <p:sp>
        <p:nvSpPr>
          <p:cNvPr id="84" name="Tabela 1: Prevalência de diagnóstico médico de asma por UF, PNS 2013 e 2019.-cell-6-2">
            <a:extLst xmlns:a="http://schemas.openxmlformats.org/drawingml/2006/main">
              <a:ext uri="{FF2B5EF4-FFF2-40B4-BE49-F238E27FC236}">
                <a16:creationId xmlns:a16="http://schemas.microsoft.com/office/drawing/2014/main" id="{419EEB1F-7CB0-4550-AE29-FFC9A935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4,36% [3,27%; 5,70%]</a:t>
            </a:r>
          </a:p>
        </p:txBody>
      </p:sp>
      <p:sp>
        <p:nvSpPr>
          <p:cNvPr id="85" name="Tabela 1: Prevalência de diagnóstico médico de asma por UF, PNS 2013 e 2019.-cell-7-0">
            <a:extLst xmlns:a="http://schemas.openxmlformats.org/drawingml/2006/main">
              <a:ext uri="{FF2B5EF4-FFF2-40B4-BE49-F238E27FC236}">
                <a16:creationId xmlns:a16="http://schemas.microsoft.com/office/drawing/2014/main" id="{F2AACE6A-F20E-46E8-B7A4-86AE35ED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Maranhão</a:t>
            </a:r>
          </a:p>
        </p:txBody>
      </p:sp>
      <p:sp>
        <p:nvSpPr>
          <p:cNvPr id="86" name="Tabela 1: Prevalência de diagnóstico médico de asma por UF, PNS 2013 e 2019.-cell-7-1">
            <a:extLst xmlns:a="http://schemas.openxmlformats.org/drawingml/2006/main">
              <a:ext uri="{FF2B5EF4-FFF2-40B4-BE49-F238E27FC236}">
                <a16:creationId xmlns:a16="http://schemas.microsoft.com/office/drawing/2014/main" id="{C638BFC5-1567-4B0A-B76B-150D8EA6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2,64% [1,59%; 4,12%]</a:t>
            </a:r>
          </a:p>
        </p:txBody>
      </p:sp>
      <p:sp>
        <p:nvSpPr>
          <p:cNvPr id="87" name="Tabela 1: Prevalência de diagnóstico médico de asma por UF, PNS 2013 e 2019.-cell-7-2">
            <a:extLst xmlns:a="http://schemas.openxmlformats.org/drawingml/2006/main">
              <a:ext uri="{FF2B5EF4-FFF2-40B4-BE49-F238E27FC236}">
                <a16:creationId xmlns:a16="http://schemas.microsoft.com/office/drawing/2014/main" id="{BF1E25CF-86B4-49C5-B1C3-964579BF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3,84% [3,14%; 4,64%]</a:t>
            </a:r>
          </a:p>
        </p:txBody>
      </p:sp>
      <p:sp>
        <p:nvSpPr>
          <p:cNvPr id="88" name="Tabela 1: Prevalência de diagnóstico médico de asma por UF, PNS 2013 e 2019.-stripe-8">
            <a:extLst xmlns:a="http://schemas.openxmlformats.org/drawingml/2006/main">
              <a:ext uri="{FF2B5EF4-FFF2-40B4-BE49-F238E27FC236}">
                <a16:creationId xmlns:a16="http://schemas.microsoft.com/office/drawing/2014/main" id="{CF6071E5-959A-41B5-A68C-68B4CC71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53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89" name="Tabela 1: Prevalência de diagnóstico médico de asma por UF, PNS 2013 e 2019.-cell-8-0">
            <a:extLst xmlns:a="http://schemas.openxmlformats.org/drawingml/2006/main">
              <a:ext uri="{FF2B5EF4-FFF2-40B4-BE49-F238E27FC236}">
                <a16:creationId xmlns:a16="http://schemas.microsoft.com/office/drawing/2014/main" id="{08E3A6C9-D843-47E6-8E46-67793DBD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Piauí</a:t>
            </a:r>
          </a:p>
        </p:txBody>
      </p:sp>
      <p:sp>
        <p:nvSpPr>
          <p:cNvPr id="90" name="Tabela 1: Prevalência de diagnóstico médico de asma por UF, PNS 2013 e 2019.-cell-8-1">
            <a:extLst xmlns:a="http://schemas.openxmlformats.org/drawingml/2006/main">
              <a:ext uri="{FF2B5EF4-FFF2-40B4-BE49-F238E27FC236}">
                <a16:creationId xmlns:a16="http://schemas.microsoft.com/office/drawing/2014/main" id="{358A0FE9-C03F-45AF-A3E5-475111D7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4,41% [3,07%; 6,12%]</a:t>
            </a:r>
          </a:p>
        </p:txBody>
      </p:sp>
      <p:sp>
        <p:nvSpPr>
          <p:cNvPr id="91" name="Tabela 1: Prevalência de diagnóstico médico de asma por UF, PNS 2013 e 2019.-cell-8-2">
            <a:extLst xmlns:a="http://schemas.openxmlformats.org/drawingml/2006/main">
              <a:ext uri="{FF2B5EF4-FFF2-40B4-BE49-F238E27FC236}">
                <a16:creationId xmlns:a16="http://schemas.microsoft.com/office/drawing/2014/main" id="{06A7641B-14F1-479C-95F1-71D76FF9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4,61% [3,66%; 5,72%]</a:t>
            </a:r>
          </a:p>
        </p:txBody>
      </p:sp>
      <p:sp>
        <p:nvSpPr>
          <p:cNvPr id="92" name="Tabela 1: Prevalência de diagnóstico médico de asma por UF, PNS 2013 e 2019.-cell-9-0">
            <a:extLst xmlns:a="http://schemas.openxmlformats.org/drawingml/2006/main">
              <a:ext uri="{FF2B5EF4-FFF2-40B4-BE49-F238E27FC236}">
                <a16:creationId xmlns:a16="http://schemas.microsoft.com/office/drawing/2014/main" id="{F41CD1F7-46CD-4DD7-9337-4A4FBCDA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Ceará</a:t>
            </a:r>
          </a:p>
        </p:txBody>
      </p:sp>
      <p:sp>
        <p:nvSpPr>
          <p:cNvPr id="93" name="Tabela 1: Prevalência de diagnóstico médico de asma por UF, PNS 2013 e 2019.-cell-9-1">
            <a:extLst xmlns:a="http://schemas.openxmlformats.org/drawingml/2006/main">
              <a:ext uri="{FF2B5EF4-FFF2-40B4-BE49-F238E27FC236}">
                <a16:creationId xmlns:a16="http://schemas.microsoft.com/office/drawing/2014/main" id="{9C9A07D5-52AD-4E3B-B75E-6657DA83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3,22% [2,53%; 4,03%]</a:t>
            </a:r>
          </a:p>
        </p:txBody>
      </p:sp>
      <p:sp>
        <p:nvSpPr>
          <p:cNvPr id="94" name="Tabela 1: Prevalência de diagnóstico médico de asma por UF, PNS 2013 e 2019.-cell-9-2">
            <a:extLst xmlns:a="http://schemas.openxmlformats.org/drawingml/2006/main">
              <a:ext uri="{FF2B5EF4-FFF2-40B4-BE49-F238E27FC236}">
                <a16:creationId xmlns:a16="http://schemas.microsoft.com/office/drawing/2014/main" id="{547D331E-2A2D-4FC0-A0B3-4EB620F1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5,01% [4,20%; 5,93%]</a:t>
            </a:r>
          </a:p>
        </p:txBody>
      </p:sp>
      <p:sp>
        <p:nvSpPr>
          <p:cNvPr id="95" name="Tabela 1: Prevalência de diagnóstico médico de asma por UF, PNS 2013 e 2019.-stripe-10">
            <a:extLst xmlns:a="http://schemas.openxmlformats.org/drawingml/2006/main">
              <a:ext uri="{FF2B5EF4-FFF2-40B4-BE49-F238E27FC236}">
                <a16:creationId xmlns:a16="http://schemas.microsoft.com/office/drawing/2014/main" id="{B225BC54-CB14-4955-9F11-A835A4E8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58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96" name="Tabela 1: Prevalência de diagnóstico médico de asma por UF, PNS 2013 e 2019.-cell-10-0">
            <a:extLst xmlns:a="http://schemas.openxmlformats.org/drawingml/2006/main">
              <a:ext uri="{FF2B5EF4-FFF2-40B4-BE49-F238E27FC236}">
                <a16:creationId xmlns:a16="http://schemas.microsoft.com/office/drawing/2014/main" id="{886D2186-7432-4CB7-BFB1-293714F2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Norte</a:t>
            </a:r>
          </a:p>
        </p:txBody>
      </p:sp>
      <p:sp>
        <p:nvSpPr>
          <p:cNvPr id="97" name="Tabela 1: Prevalência de diagnóstico médico de asma por UF, PNS 2013 e 2019.-cell-10-1">
            <a:extLst xmlns:a="http://schemas.openxmlformats.org/drawingml/2006/main">
              <a:ext uri="{FF2B5EF4-FFF2-40B4-BE49-F238E27FC236}">
                <a16:creationId xmlns:a16="http://schemas.microsoft.com/office/drawing/2014/main" id="{D735B69D-EFEA-4D7C-84EE-9E2A690A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3,65% [2,65%; 4,88%]</a:t>
            </a:r>
          </a:p>
        </p:txBody>
      </p:sp>
      <p:sp>
        <p:nvSpPr>
          <p:cNvPr id="98" name="Tabela 1: Prevalência de diagnóstico médico de asma por UF, PNS 2013 e 2019.-cell-10-2">
            <a:extLst xmlns:a="http://schemas.openxmlformats.org/drawingml/2006/main">
              <a:ext uri="{FF2B5EF4-FFF2-40B4-BE49-F238E27FC236}">
                <a16:creationId xmlns:a16="http://schemas.microsoft.com/office/drawing/2014/main" id="{CCB4A32F-1EF8-4DF2-907E-36C8CD5B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5,02% [4,08%; 6,11%]</a:t>
            </a:r>
          </a:p>
        </p:txBody>
      </p:sp>
      <p:sp>
        <p:nvSpPr>
          <p:cNvPr id="99" name="Tabela 1: Prevalência de diagnóstico médico de asma por UF, PNS 2013 e 2019.-cell-11-0">
            <a:extLst xmlns:a="http://schemas.openxmlformats.org/drawingml/2006/main">
              <a:ext uri="{FF2B5EF4-FFF2-40B4-BE49-F238E27FC236}">
                <a16:creationId xmlns:a16="http://schemas.microsoft.com/office/drawing/2014/main" id="{BCBF2CE0-4A41-45F9-BF41-B10212B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Paraíba</a:t>
            </a:r>
          </a:p>
        </p:txBody>
      </p:sp>
      <p:sp>
        <p:nvSpPr>
          <p:cNvPr id="100" name="Tabela 1: Prevalência de diagnóstico médico de asma por UF, PNS 2013 e 2019.-cell-11-1">
            <a:extLst xmlns:a="http://schemas.openxmlformats.org/drawingml/2006/main">
              <a:ext uri="{FF2B5EF4-FFF2-40B4-BE49-F238E27FC236}">
                <a16:creationId xmlns:a16="http://schemas.microsoft.com/office/drawing/2014/main" id="{5CA43C5F-54A0-4704-8AEF-E16D8007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2,83% [2,05%; 3,82%]</a:t>
            </a:r>
          </a:p>
        </p:txBody>
      </p:sp>
      <p:sp>
        <p:nvSpPr>
          <p:cNvPr id="101" name="Tabela 1: Prevalência de diagnóstico médico de asma por UF, PNS 2013 e 2019.-cell-11-2">
            <a:extLst xmlns:a="http://schemas.openxmlformats.org/drawingml/2006/main">
              <a:ext uri="{FF2B5EF4-FFF2-40B4-BE49-F238E27FC236}">
                <a16:creationId xmlns:a16="http://schemas.microsoft.com/office/drawing/2014/main" id="{6E2F53B6-0077-4819-9E19-09739E08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3,57% [2,86%; 4,39%]</a:t>
            </a:r>
          </a:p>
        </p:txBody>
      </p:sp>
      <p:sp>
        <p:nvSpPr>
          <p:cNvPr id="102" name="Tabela 1: Prevalência de diagnóstico médico de asma por UF, PNS 2013 e 2019.-stripe-12">
            <a:extLst xmlns:a="http://schemas.openxmlformats.org/drawingml/2006/main">
              <a:ext uri="{FF2B5EF4-FFF2-40B4-BE49-F238E27FC236}">
                <a16:creationId xmlns:a16="http://schemas.microsoft.com/office/drawing/2014/main" id="{223E9D03-74AD-4D22-BE72-AFDD6343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63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03" name="Tabela 1: Prevalência de diagnóstico médico de asma por UF, PNS 2013 e 2019.-cell-12-0">
            <a:extLst xmlns:a="http://schemas.openxmlformats.org/drawingml/2006/main">
              <a:ext uri="{FF2B5EF4-FFF2-40B4-BE49-F238E27FC236}">
                <a16:creationId xmlns:a16="http://schemas.microsoft.com/office/drawing/2014/main" id="{0032D7BB-F2A6-4DED-AE8C-03D6E4AC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4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Pernambuco</a:t>
            </a:r>
          </a:p>
        </p:txBody>
      </p:sp>
      <p:sp>
        <p:nvSpPr>
          <p:cNvPr id="104" name="Tabela 1: Prevalência de diagnóstico médico de asma por UF, PNS 2013 e 2019.-cell-12-1">
            <a:extLst xmlns:a="http://schemas.openxmlformats.org/drawingml/2006/main">
              <a:ext uri="{FF2B5EF4-FFF2-40B4-BE49-F238E27FC236}">
                <a16:creationId xmlns:a16="http://schemas.microsoft.com/office/drawing/2014/main" id="{150684B9-5B01-4A65-8602-3C9A5DFD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4,93% [4,03%; 5,97%]</a:t>
            </a:r>
          </a:p>
        </p:txBody>
      </p:sp>
      <p:sp>
        <p:nvSpPr>
          <p:cNvPr id="105" name="Tabela 1: Prevalência de diagnóstico médico de asma por UF, PNS 2013 e 2019.-cell-12-2">
            <a:extLst xmlns:a="http://schemas.openxmlformats.org/drawingml/2006/main">
              <a:ext uri="{FF2B5EF4-FFF2-40B4-BE49-F238E27FC236}">
                <a16:creationId xmlns:a16="http://schemas.microsoft.com/office/drawing/2014/main" id="{FFBD41E0-EA02-47B5-B056-4265BC1A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4,75% [4,00%; 5,60%]</a:t>
            </a:r>
          </a:p>
        </p:txBody>
      </p:sp>
      <p:sp>
        <p:nvSpPr>
          <p:cNvPr id="106" name="Tabela 1: Prevalência de diagnóstico médico de asma por UF, PNS 2013 e 2019.-cell-13-0">
            <a:extLst xmlns:a="http://schemas.openxmlformats.org/drawingml/2006/main">
              <a:ext uri="{FF2B5EF4-FFF2-40B4-BE49-F238E27FC236}">
                <a16:creationId xmlns:a16="http://schemas.microsoft.com/office/drawing/2014/main" id="{519BE91F-AB25-4810-A54B-6E7BBFA1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6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Alagoas</a:t>
            </a:r>
          </a:p>
        </p:txBody>
      </p:sp>
      <p:sp>
        <p:nvSpPr>
          <p:cNvPr id="107" name="Tabela 1: Prevalência de diagnóstico médico de asma por UF, PNS 2013 e 2019.-cell-13-1">
            <a:extLst xmlns:a="http://schemas.openxmlformats.org/drawingml/2006/main">
              <a:ext uri="{FF2B5EF4-FFF2-40B4-BE49-F238E27FC236}">
                <a16:creationId xmlns:a16="http://schemas.microsoft.com/office/drawing/2014/main" id="{10DD2827-2311-49C9-A0C7-75056572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2,63% [1,75%; 3,79%]</a:t>
            </a:r>
          </a:p>
        </p:txBody>
      </p:sp>
      <p:sp>
        <p:nvSpPr>
          <p:cNvPr id="108" name="Tabela 1: Prevalência de diagnóstico médico de asma por UF, PNS 2013 e 2019.-cell-13-2">
            <a:extLst xmlns:a="http://schemas.openxmlformats.org/drawingml/2006/main">
              <a:ext uri="{FF2B5EF4-FFF2-40B4-BE49-F238E27FC236}">
                <a16:creationId xmlns:a16="http://schemas.microsoft.com/office/drawing/2014/main" id="{A3470FC2-C559-4A78-9ED9-89E535C2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3,99% [3,17%; 4,94%]</a:t>
            </a:r>
          </a:p>
        </p:txBody>
      </p:sp>
      <p:sp>
        <p:nvSpPr>
          <p:cNvPr id="109" name="Tabela 1: Prevalência de diagnóstico médico de asma por UF, PNS 2013 e 2019.-stripe-14">
            <a:extLst xmlns:a="http://schemas.openxmlformats.org/drawingml/2006/main">
              <a:ext uri="{FF2B5EF4-FFF2-40B4-BE49-F238E27FC236}">
                <a16:creationId xmlns:a16="http://schemas.microsoft.com/office/drawing/2014/main" id="{F2232A14-C325-44DE-8BB6-260FE118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69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10" name="Tabela 1: Prevalência de diagnóstico médico de asma por UF, PNS 2013 e 2019.-cell-14-0">
            <a:extLst xmlns:a="http://schemas.openxmlformats.org/drawingml/2006/main">
              <a:ext uri="{FF2B5EF4-FFF2-40B4-BE49-F238E27FC236}">
                <a16:creationId xmlns:a16="http://schemas.microsoft.com/office/drawing/2014/main" id="{B7F8CD18-AC24-4733-9B63-4FA4D11A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9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Sergipe</a:t>
            </a:r>
          </a:p>
        </p:txBody>
      </p:sp>
      <p:sp>
        <p:nvSpPr>
          <p:cNvPr id="111" name="Tabela 1: Prevalência de diagnóstico médico de asma por UF, PNS 2013 e 2019.-cell-14-1">
            <a:extLst xmlns:a="http://schemas.openxmlformats.org/drawingml/2006/main">
              <a:ext uri="{FF2B5EF4-FFF2-40B4-BE49-F238E27FC236}">
                <a16:creationId xmlns:a16="http://schemas.microsoft.com/office/drawing/2014/main" id="{E72B4733-02D7-4255-9804-D650E24A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2,87% [2,03%; 3,93%]</a:t>
            </a:r>
          </a:p>
        </p:txBody>
      </p:sp>
      <p:sp>
        <p:nvSpPr>
          <p:cNvPr id="112" name="Tabela 1: Prevalência de diagnóstico médico de asma por UF, PNS 2013 e 2019.-cell-14-2">
            <a:extLst xmlns:a="http://schemas.openxmlformats.org/drawingml/2006/main">
              <a:ext uri="{FF2B5EF4-FFF2-40B4-BE49-F238E27FC236}">
                <a16:creationId xmlns:a16="http://schemas.microsoft.com/office/drawing/2014/main" id="{EF809587-CDA9-4CCE-895C-1F9E541A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4,64% [3,62%; 5,84%]</a:t>
            </a:r>
          </a:p>
        </p:txBody>
      </p:sp>
      <p:sp>
        <p:nvSpPr>
          <p:cNvPr id="113" name="Tabela 1: Prevalência de diagnóstico médico de asma por UF, PNS 2013 e 2019.-cell-15-0">
            <a:extLst xmlns:a="http://schemas.openxmlformats.org/drawingml/2006/main">
              <a:ext uri="{FF2B5EF4-FFF2-40B4-BE49-F238E27FC236}">
                <a16:creationId xmlns:a16="http://schemas.microsoft.com/office/drawing/2014/main" id="{2C46D168-A568-4746-BE93-26F1D71F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7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Bahia</a:t>
            </a:r>
          </a:p>
        </p:txBody>
      </p:sp>
      <p:sp>
        <p:nvSpPr>
          <p:cNvPr id="114" name="Tabela 1: Prevalência de diagnóstico médico de asma por UF, PNS 2013 e 2019.-cell-15-1">
            <a:extLst xmlns:a="http://schemas.openxmlformats.org/drawingml/2006/main">
              <a:ext uri="{FF2B5EF4-FFF2-40B4-BE49-F238E27FC236}">
                <a16:creationId xmlns:a16="http://schemas.microsoft.com/office/drawing/2014/main" id="{783225D3-6405-4576-AD6B-A5B3F350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2,35% [1,51%; 3,46%]</a:t>
            </a:r>
          </a:p>
        </p:txBody>
      </p:sp>
      <p:sp>
        <p:nvSpPr>
          <p:cNvPr id="115" name="Tabela 1: Prevalência de diagnóstico médico de asma por UF, PNS 2013 e 2019.-cell-15-2">
            <a:extLst xmlns:a="http://schemas.openxmlformats.org/drawingml/2006/main">
              <a:ext uri="{FF2B5EF4-FFF2-40B4-BE49-F238E27FC236}">
                <a16:creationId xmlns:a16="http://schemas.microsoft.com/office/drawing/2014/main" id="{B995AE54-B53F-4888-84E3-850183FB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3,56% [2,62%; 4,71%]</a:t>
            </a:r>
          </a:p>
        </p:txBody>
      </p:sp>
      <p:sp>
        <p:nvSpPr>
          <p:cNvPr id="116" name="Tabela 1: Prevalência de diagnóstico médico de asma por UF, PNS 2013 e 2019.-stripe-16">
            <a:extLst xmlns:a="http://schemas.openxmlformats.org/drawingml/2006/main">
              <a:ext uri="{FF2B5EF4-FFF2-40B4-BE49-F238E27FC236}">
                <a16:creationId xmlns:a16="http://schemas.microsoft.com/office/drawing/2014/main" id="{C8F15033-1C12-4FDD-A5C3-7BD147AA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74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17" name="Tabela 1: Prevalência de diagnóstico médico de asma por UF, PNS 2013 e 2019.-cell-16-0">
            <a:extLst xmlns:a="http://schemas.openxmlformats.org/drawingml/2006/main">
              <a:ext uri="{FF2B5EF4-FFF2-40B4-BE49-F238E27FC236}">
                <a16:creationId xmlns:a16="http://schemas.microsoft.com/office/drawing/2014/main" id="{E116F6A1-42F2-406E-A08F-51A61B95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7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Minas Gerais</a:t>
            </a:r>
          </a:p>
        </p:txBody>
      </p:sp>
      <p:sp>
        <p:nvSpPr>
          <p:cNvPr id="118" name="Tabela 1: Prevalência de diagnóstico médico de asma por UF, PNS 2013 e 2019.-cell-16-1">
            <a:extLst xmlns:a="http://schemas.openxmlformats.org/drawingml/2006/main">
              <a:ext uri="{FF2B5EF4-FFF2-40B4-BE49-F238E27FC236}">
                <a16:creationId xmlns:a16="http://schemas.microsoft.com/office/drawing/2014/main" id="{F3BBFF4B-DB9F-472F-9A78-6A3201AB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4,39% [3,28%; 5,75%]</a:t>
            </a:r>
          </a:p>
        </p:txBody>
      </p:sp>
      <p:sp>
        <p:nvSpPr>
          <p:cNvPr id="119" name="Tabela 1: Prevalência de diagnóstico médico de asma por UF, PNS 2013 e 2019.-cell-16-2">
            <a:extLst xmlns:a="http://schemas.openxmlformats.org/drawingml/2006/main">
              <a:ext uri="{FF2B5EF4-FFF2-40B4-BE49-F238E27FC236}">
                <a16:creationId xmlns:a16="http://schemas.microsoft.com/office/drawing/2014/main" id="{F3A879BE-CE7A-4A04-9A28-AE960A8A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6,03% [5,11%; 7,05%]</a:t>
            </a:r>
          </a:p>
        </p:txBody>
      </p:sp>
      <p:sp>
        <p:nvSpPr>
          <p:cNvPr id="120" name="Tabela 1: Prevalência de diagnóstico médico de asma por UF, PNS 2013 e 2019.-cell-17-0">
            <a:extLst xmlns:a="http://schemas.openxmlformats.org/drawingml/2006/main">
              <a:ext uri="{FF2B5EF4-FFF2-40B4-BE49-F238E27FC236}">
                <a16:creationId xmlns:a16="http://schemas.microsoft.com/office/drawing/2014/main" id="{CE950ABB-66ED-4472-BDE2-4D1F98E6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7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Espírito Santo</a:t>
            </a:r>
          </a:p>
        </p:txBody>
      </p:sp>
      <p:sp>
        <p:nvSpPr>
          <p:cNvPr id="121" name="Tabela 1: Prevalência de diagnóstico médico de asma por UF, PNS 2013 e 2019.-cell-17-1">
            <a:extLst xmlns:a="http://schemas.openxmlformats.org/drawingml/2006/main">
              <a:ext uri="{FF2B5EF4-FFF2-40B4-BE49-F238E27FC236}">
                <a16:creationId xmlns:a16="http://schemas.microsoft.com/office/drawing/2014/main" id="{23981B3D-2827-4DE3-B9F4-EADEC5E7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4,76% [3,10%; 6,94%]</a:t>
            </a:r>
          </a:p>
        </p:txBody>
      </p:sp>
      <p:sp>
        <p:nvSpPr>
          <p:cNvPr id="122" name="Tabela 1: Prevalência de diagnóstico médico de asma por UF, PNS 2013 e 2019.-cell-17-2">
            <a:extLst xmlns:a="http://schemas.openxmlformats.org/drawingml/2006/main">
              <a:ext uri="{FF2B5EF4-FFF2-40B4-BE49-F238E27FC236}">
                <a16:creationId xmlns:a16="http://schemas.microsoft.com/office/drawing/2014/main" id="{D4D99D29-3BED-4B5D-8377-D1C0D9B4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6,71% [5,66%; 7,87%]</a:t>
            </a:r>
          </a:p>
        </p:txBody>
      </p:sp>
      <p:sp>
        <p:nvSpPr>
          <p:cNvPr id="123" name="Tabela 1: Prevalência de diagnóstico médico de asma por UF, PNS 2013 e 2019.-stripe-18">
            <a:extLst xmlns:a="http://schemas.openxmlformats.org/drawingml/2006/main">
              <a:ext uri="{FF2B5EF4-FFF2-40B4-BE49-F238E27FC236}">
                <a16:creationId xmlns:a16="http://schemas.microsoft.com/office/drawing/2014/main" id="{0B6BFB82-3FDF-46DB-9CA1-CD839425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79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24" name="Tabela 1: Prevalência de diagnóstico médico de asma por UF, PNS 2013 e 2019.-cell-18-0">
            <a:extLst xmlns:a="http://schemas.openxmlformats.org/drawingml/2006/main">
              <a:ext uri="{FF2B5EF4-FFF2-40B4-BE49-F238E27FC236}">
                <a16:creationId xmlns:a16="http://schemas.microsoft.com/office/drawing/2014/main" id="{14332E47-454C-40EA-9C0A-4421C390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de Janeiro</a:t>
            </a:r>
          </a:p>
        </p:txBody>
      </p:sp>
      <p:sp>
        <p:nvSpPr>
          <p:cNvPr id="125" name="Tabela 1: Prevalência de diagnóstico médico de asma por UF, PNS 2013 e 2019.-cell-18-1">
            <a:extLst xmlns:a="http://schemas.openxmlformats.org/drawingml/2006/main">
              <a:ext uri="{FF2B5EF4-FFF2-40B4-BE49-F238E27FC236}">
                <a16:creationId xmlns:a16="http://schemas.microsoft.com/office/drawing/2014/main" id="{102BA3D1-87BA-4D73-83FA-71A67616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5,01% [4,04%; 6,13%]</a:t>
            </a:r>
          </a:p>
        </p:txBody>
      </p:sp>
      <p:sp>
        <p:nvSpPr>
          <p:cNvPr id="126" name="Tabela 1: Prevalência de diagnóstico médico de asma por UF, PNS 2013 e 2019.-cell-18-2">
            <a:extLst xmlns:a="http://schemas.openxmlformats.org/drawingml/2006/main">
              <a:ext uri="{FF2B5EF4-FFF2-40B4-BE49-F238E27FC236}">
                <a16:creationId xmlns:a16="http://schemas.microsoft.com/office/drawing/2014/main" id="{D7D9644D-3E8B-4450-869D-8F8864A9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4,60% [3,77%; 5,56%]</a:t>
            </a:r>
          </a:p>
        </p:txBody>
      </p:sp>
      <p:sp>
        <p:nvSpPr>
          <p:cNvPr id="127" name="Tabela 1: Prevalência de diagnóstico médico de asma por UF, PNS 2013 e 2019.-cell-19-0">
            <a:extLst xmlns:a="http://schemas.openxmlformats.org/drawingml/2006/main">
              <a:ext uri="{FF2B5EF4-FFF2-40B4-BE49-F238E27FC236}">
                <a16:creationId xmlns:a16="http://schemas.microsoft.com/office/drawing/2014/main" id="{B12399E0-93B5-44C8-A896-AEFE035C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São Paulo</a:t>
            </a:r>
          </a:p>
        </p:txBody>
      </p:sp>
      <p:sp>
        <p:nvSpPr>
          <p:cNvPr id="128" name="Tabela 1: Prevalência de diagnóstico médico de asma por UF, PNS 2013 e 2019.-cell-19-1">
            <a:extLst xmlns:a="http://schemas.openxmlformats.org/drawingml/2006/main">
              <a:ext uri="{FF2B5EF4-FFF2-40B4-BE49-F238E27FC236}">
                <a16:creationId xmlns:a16="http://schemas.microsoft.com/office/drawing/2014/main" id="{05D286AF-45C9-4154-AAA7-45F73D74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4,89% [4,12%; 5,75%]</a:t>
            </a:r>
          </a:p>
        </p:txBody>
      </p:sp>
      <p:sp>
        <p:nvSpPr>
          <p:cNvPr id="129" name="Tabela 1: Prevalência de diagnóstico médico de asma por UF, PNS 2013 e 2019.-cell-19-2">
            <a:extLst xmlns:a="http://schemas.openxmlformats.org/drawingml/2006/main">
              <a:ext uri="{FF2B5EF4-FFF2-40B4-BE49-F238E27FC236}">
                <a16:creationId xmlns:a16="http://schemas.microsoft.com/office/drawing/2014/main" id="{465B5055-0C9D-452A-9E9F-C4FE0008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6,40% [5,54%; 7,35%]</a:t>
            </a:r>
          </a:p>
        </p:txBody>
      </p:sp>
      <p:sp>
        <p:nvSpPr>
          <p:cNvPr id="130" name="Tabela 1: Prevalência de diagnóstico médico de asma por UF, PNS 2013 e 2019.-stripe-20">
            <a:extLst xmlns:a="http://schemas.openxmlformats.org/drawingml/2006/main">
              <a:ext uri="{FF2B5EF4-FFF2-40B4-BE49-F238E27FC236}">
                <a16:creationId xmlns:a16="http://schemas.microsoft.com/office/drawing/2014/main" id="{3F1BA52F-35C9-4AF0-B2CA-A1E4F566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85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31" name="Tabela 1: Prevalência de diagnóstico médico de asma por UF, PNS 2013 e 2019.-cell-20-0">
            <a:extLst xmlns:a="http://schemas.openxmlformats.org/drawingml/2006/main">
              <a:ext uri="{FF2B5EF4-FFF2-40B4-BE49-F238E27FC236}">
                <a16:creationId xmlns:a16="http://schemas.microsoft.com/office/drawing/2014/main" id="{98633621-246B-4125-AAD3-1A6C663E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Paraná</a:t>
            </a:r>
          </a:p>
        </p:txBody>
      </p:sp>
      <p:sp>
        <p:nvSpPr>
          <p:cNvPr id="132" name="Tabela 1: Prevalência de diagnóstico médico de asma por UF, PNS 2013 e 2019.-cell-20-1">
            <a:extLst xmlns:a="http://schemas.openxmlformats.org/drawingml/2006/main">
              <a:ext uri="{FF2B5EF4-FFF2-40B4-BE49-F238E27FC236}">
                <a16:creationId xmlns:a16="http://schemas.microsoft.com/office/drawing/2014/main" id="{A389E2CC-4838-4BF1-8B18-1DEE773B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4,55% [3,40%; 5,96%]</a:t>
            </a:r>
          </a:p>
        </p:txBody>
      </p:sp>
      <p:sp>
        <p:nvSpPr>
          <p:cNvPr id="133" name="Tabela 1: Prevalência de diagnóstico médico de asma por UF, PNS 2013 e 2019.-cell-20-2">
            <a:extLst xmlns:a="http://schemas.openxmlformats.org/drawingml/2006/main">
              <a:ext uri="{FF2B5EF4-FFF2-40B4-BE49-F238E27FC236}">
                <a16:creationId xmlns:a16="http://schemas.microsoft.com/office/drawing/2014/main" id="{C4A6A6D4-1FFF-42C7-8D79-A2C03FBB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5,18% [4,32%; 6,16%]</a:t>
            </a:r>
          </a:p>
        </p:txBody>
      </p:sp>
      <p:sp>
        <p:nvSpPr>
          <p:cNvPr id="134" name="Tabela 1: Prevalência de diagnóstico médico de asma por UF, PNS 2013 e 2019.-cell-21-0">
            <a:extLst xmlns:a="http://schemas.openxmlformats.org/drawingml/2006/main">
              <a:ext uri="{FF2B5EF4-FFF2-40B4-BE49-F238E27FC236}">
                <a16:creationId xmlns:a16="http://schemas.microsoft.com/office/drawing/2014/main" id="{9EF6D0A5-96A1-4AC3-A35C-346798FB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Santa Catarina</a:t>
            </a:r>
          </a:p>
        </p:txBody>
      </p:sp>
      <p:sp>
        <p:nvSpPr>
          <p:cNvPr id="135" name="Tabela 1: Prevalência de diagnóstico médico de asma por UF, PNS 2013 e 2019.-cell-21-1">
            <a:extLst xmlns:a="http://schemas.openxmlformats.org/drawingml/2006/main">
              <a:ext uri="{FF2B5EF4-FFF2-40B4-BE49-F238E27FC236}">
                <a16:creationId xmlns:a16="http://schemas.microsoft.com/office/drawing/2014/main" id="{6FF6204B-0362-4371-BC04-F35E8EA0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4,33% [3,09%; 5,87%]</a:t>
            </a:r>
          </a:p>
        </p:txBody>
      </p:sp>
      <p:sp>
        <p:nvSpPr>
          <p:cNvPr id="136" name="Tabela 1: Prevalência de diagnóstico médico de asma por UF, PNS 2013 e 2019.-cell-21-2">
            <a:extLst xmlns:a="http://schemas.openxmlformats.org/drawingml/2006/main">
              <a:ext uri="{FF2B5EF4-FFF2-40B4-BE49-F238E27FC236}">
                <a16:creationId xmlns:a16="http://schemas.microsoft.com/office/drawing/2014/main" id="{39AD6A36-722E-4640-8B62-808D932E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5,08% [4,18%; 6,12%]</a:t>
            </a:r>
          </a:p>
        </p:txBody>
      </p:sp>
      <p:sp>
        <p:nvSpPr>
          <p:cNvPr id="137" name="Tabela 1: Prevalência de diagnóstico médico de asma por UF, PNS 2013 e 2019.-stripe-22">
            <a:extLst xmlns:a="http://schemas.openxmlformats.org/drawingml/2006/main">
              <a:ext uri="{FF2B5EF4-FFF2-40B4-BE49-F238E27FC236}">
                <a16:creationId xmlns:a16="http://schemas.microsoft.com/office/drawing/2014/main" id="{ADFCF0B1-4DDE-4B7D-A0A1-A00BFA46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90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38" name="Tabela 1: Prevalência de diagnóstico médico de asma por UF, PNS 2013 e 2019.-cell-22-0">
            <a:extLst xmlns:a="http://schemas.openxmlformats.org/drawingml/2006/main">
              <a:ext uri="{FF2B5EF4-FFF2-40B4-BE49-F238E27FC236}">
                <a16:creationId xmlns:a16="http://schemas.microsoft.com/office/drawing/2014/main" id="{327F89D8-16E6-49B2-B655-048E6684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Sul</a:t>
            </a:r>
          </a:p>
        </p:txBody>
      </p:sp>
      <p:sp>
        <p:nvSpPr>
          <p:cNvPr id="139" name="Tabela 1: Prevalência de diagnóstico médico de asma por UF, PNS 2013 e 2019.-cell-22-1">
            <a:extLst xmlns:a="http://schemas.openxmlformats.org/drawingml/2006/main">
              <a:ext uri="{FF2B5EF4-FFF2-40B4-BE49-F238E27FC236}">
                <a16:creationId xmlns:a16="http://schemas.microsoft.com/office/drawing/2014/main" id="{B1EF61DF-4989-4929-B5B1-1F326B59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6,79% [5,56%; 8,19%]</a:t>
            </a:r>
          </a:p>
        </p:txBody>
      </p:sp>
      <p:sp>
        <p:nvSpPr>
          <p:cNvPr id="140" name="Tabela 1: Prevalência de diagnóstico médico de asma por UF, PNS 2013 e 2019.-cell-22-2">
            <a:extLst xmlns:a="http://schemas.openxmlformats.org/drawingml/2006/main">
              <a:ext uri="{FF2B5EF4-FFF2-40B4-BE49-F238E27FC236}">
                <a16:creationId xmlns:a16="http://schemas.microsoft.com/office/drawing/2014/main" id="{B0DF281D-E4DE-4A93-AB53-5FC84D59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8,55% [7,24%; 10,01%]</a:t>
            </a:r>
          </a:p>
        </p:txBody>
      </p:sp>
      <p:sp>
        <p:nvSpPr>
          <p:cNvPr id="141" name="Tabela 1: Prevalência de diagnóstico médico de asma por UF, PNS 2013 e 2019.-cell-23-0">
            <a:extLst xmlns:a="http://schemas.openxmlformats.org/drawingml/2006/main">
              <a:ext uri="{FF2B5EF4-FFF2-40B4-BE49-F238E27FC236}">
                <a16:creationId xmlns:a16="http://schemas.microsoft.com/office/drawing/2014/main" id="{B5E7EF7E-9F87-4C6C-9B9C-AA02D72D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 do Sul</a:t>
            </a:r>
          </a:p>
        </p:txBody>
      </p:sp>
      <p:sp>
        <p:nvSpPr>
          <p:cNvPr id="142" name="Tabela 1: Prevalência de diagnóstico médico de asma por UF, PNS 2013 e 2019.-cell-23-1">
            <a:extLst xmlns:a="http://schemas.openxmlformats.org/drawingml/2006/main">
              <a:ext uri="{FF2B5EF4-FFF2-40B4-BE49-F238E27FC236}">
                <a16:creationId xmlns:a16="http://schemas.microsoft.com/office/drawing/2014/main" id="{067E536E-36AD-4FB2-B463-3825F0A1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4,24% [3,28%; 5,40%]</a:t>
            </a:r>
          </a:p>
        </p:txBody>
      </p:sp>
      <p:sp>
        <p:nvSpPr>
          <p:cNvPr id="143" name="Tabela 1: Prevalência de diagnóstico médico de asma por UF, PNS 2013 e 2019.-cell-23-2">
            <a:extLst xmlns:a="http://schemas.openxmlformats.org/drawingml/2006/main">
              <a:ext uri="{FF2B5EF4-FFF2-40B4-BE49-F238E27FC236}">
                <a16:creationId xmlns:a16="http://schemas.microsoft.com/office/drawing/2014/main" id="{2F739B76-3FCE-46E7-A71D-4AD6546F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4,96% [4,15%; 5,87%]</a:t>
            </a:r>
          </a:p>
        </p:txBody>
      </p:sp>
      <p:sp>
        <p:nvSpPr>
          <p:cNvPr id="144" name="Tabela 1: Prevalência de diagnóstico médico de asma por UF, PNS 2013 e 2019.-stripe-24">
            <a:extLst xmlns:a="http://schemas.openxmlformats.org/drawingml/2006/main">
              <a:ext uri="{FF2B5EF4-FFF2-40B4-BE49-F238E27FC236}">
                <a16:creationId xmlns:a16="http://schemas.microsoft.com/office/drawing/2014/main" id="{50F8634F-B7C2-4315-871C-270E933C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95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45" name="Tabela 1: Prevalência de diagnóstico médico de asma por UF, PNS 2013 e 2019.-cell-24-0">
            <a:extLst xmlns:a="http://schemas.openxmlformats.org/drawingml/2006/main">
              <a:ext uri="{FF2B5EF4-FFF2-40B4-BE49-F238E27FC236}">
                <a16:creationId xmlns:a16="http://schemas.microsoft.com/office/drawing/2014/main" id="{7AF43C28-95E1-4463-A9B6-58F9E4D3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</a:t>
            </a:r>
          </a:p>
        </p:txBody>
      </p:sp>
      <p:sp>
        <p:nvSpPr>
          <p:cNvPr id="146" name="Tabela 1: Prevalência de diagnóstico médico de asma por UF, PNS 2013 e 2019.-cell-24-1">
            <a:extLst xmlns:a="http://schemas.openxmlformats.org/drawingml/2006/main">
              <a:ext uri="{FF2B5EF4-FFF2-40B4-BE49-F238E27FC236}">
                <a16:creationId xmlns:a16="http://schemas.microsoft.com/office/drawing/2014/main" id="{3164A5AB-2B4E-4401-B9FB-8F35D854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3,94% [2,76%; 5,44%]</a:t>
            </a:r>
          </a:p>
        </p:txBody>
      </p:sp>
      <p:sp>
        <p:nvSpPr>
          <p:cNvPr id="147" name="Tabela 1: Prevalência de diagnóstico médico de asma por UF, PNS 2013 e 2019.-cell-24-2">
            <a:extLst xmlns:a="http://schemas.openxmlformats.org/drawingml/2006/main">
              <a:ext uri="{FF2B5EF4-FFF2-40B4-BE49-F238E27FC236}">
                <a16:creationId xmlns:a16="http://schemas.microsoft.com/office/drawing/2014/main" id="{F204C2E2-5B54-4850-AAA5-39FCB279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2,91% [1,95%; 4,18%]</a:t>
            </a:r>
          </a:p>
        </p:txBody>
      </p:sp>
      <p:sp>
        <p:nvSpPr>
          <p:cNvPr id="148" name="Tabela 1: Prevalência de diagnóstico médico de asma por UF, PNS 2013 e 2019.-cell-25-0">
            <a:extLst xmlns:a="http://schemas.openxmlformats.org/drawingml/2006/main">
              <a:ext uri="{FF2B5EF4-FFF2-40B4-BE49-F238E27FC236}">
                <a16:creationId xmlns:a16="http://schemas.microsoft.com/office/drawing/2014/main" id="{22E11C3A-A06F-465B-86ED-C939353C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Goiás</a:t>
            </a:r>
          </a:p>
        </p:txBody>
      </p:sp>
      <p:sp>
        <p:nvSpPr>
          <p:cNvPr id="149" name="Tabela 1: Prevalência de diagnóstico médico de asma por UF, PNS 2013 e 2019.-cell-25-1">
            <a:extLst xmlns:a="http://schemas.openxmlformats.org/drawingml/2006/main">
              <a:ext uri="{FF2B5EF4-FFF2-40B4-BE49-F238E27FC236}">
                <a16:creationId xmlns:a16="http://schemas.microsoft.com/office/drawing/2014/main" id="{7FE508F5-F80A-4B38-8781-A1AF2A46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3,61% [2,72%; 4,68%]</a:t>
            </a:r>
          </a:p>
        </p:txBody>
      </p:sp>
      <p:sp>
        <p:nvSpPr>
          <p:cNvPr id="150" name="Tabela 1: Prevalência de diagnóstico médico de asma por UF, PNS 2013 e 2019.-cell-25-2">
            <a:extLst xmlns:a="http://schemas.openxmlformats.org/drawingml/2006/main">
              <a:ext uri="{FF2B5EF4-FFF2-40B4-BE49-F238E27FC236}">
                <a16:creationId xmlns:a16="http://schemas.microsoft.com/office/drawing/2014/main" id="{CFE98328-F7E2-4EA7-A36A-B639EA9D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5,91% [4,67%; 7,35%]</a:t>
            </a:r>
          </a:p>
        </p:txBody>
      </p:sp>
      <p:sp>
        <p:nvSpPr>
          <p:cNvPr id="151" name="Tabela 1: Prevalência de diagnóstico médico de asma por UF, PNS 2013 e 2019.-stripe-26">
            <a:extLst xmlns:a="http://schemas.openxmlformats.org/drawingml/2006/main">
              <a:ext uri="{FF2B5EF4-FFF2-40B4-BE49-F238E27FC236}">
                <a16:creationId xmlns:a16="http://schemas.microsoft.com/office/drawing/2014/main" id="{6E7D92FC-1E6E-4B65-A165-58B92F99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201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52" name="Tabela 1: Prevalência de diagnóstico médico de asma por UF, PNS 2013 e 2019.-cell-26-0">
            <a:extLst xmlns:a="http://schemas.openxmlformats.org/drawingml/2006/main">
              <a:ext uri="{FF2B5EF4-FFF2-40B4-BE49-F238E27FC236}">
                <a16:creationId xmlns:a16="http://schemas.microsoft.com/office/drawing/2014/main" id="{12767CE9-2D8C-466E-9517-06887270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20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Distrito Federal</a:t>
            </a:r>
          </a:p>
        </p:txBody>
      </p:sp>
      <p:sp>
        <p:nvSpPr>
          <p:cNvPr id="153" name="Tabela 1: Prevalência de diagnóstico médico de asma por UF, PNS 2013 e 2019.-cell-26-1">
            <a:extLst xmlns:a="http://schemas.openxmlformats.org/drawingml/2006/main">
              <a:ext uri="{FF2B5EF4-FFF2-40B4-BE49-F238E27FC236}">
                <a16:creationId xmlns:a16="http://schemas.microsoft.com/office/drawing/2014/main" id="{50D7A708-23E6-41B4-9342-F102289B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5,91% [4,62%; 7,44%]</a:t>
            </a:r>
          </a:p>
        </p:txBody>
      </p:sp>
      <p:sp>
        <p:nvSpPr>
          <p:cNvPr id="154" name="Tabela 1: Prevalência de diagnóstico médico de asma por UF, PNS 2013 e 2019.-cell-26-2">
            <a:extLst xmlns:a="http://schemas.openxmlformats.org/drawingml/2006/main">
              <a:ext uri="{FF2B5EF4-FFF2-40B4-BE49-F238E27FC236}">
                <a16:creationId xmlns:a16="http://schemas.microsoft.com/office/drawing/2014/main" id="{94F3D614-8269-4D75-8B7B-3D2533FC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4,93% [3,78%; 6,30%]</a:t>
            </a:r>
          </a:p>
        </p:txBody>
      </p:sp>
      <p:sp>
        <p:nvSpPr>
          <p:cNvPr id="155" name="Tabela 1: Prevalência de diagnóstico médico de asma por UF, PNS 2013 e 2019.-note">
            <a:extLst xmlns:a="http://schemas.openxmlformats.org/drawingml/2006/main">
              <a:ext uri="{FF2B5EF4-FFF2-40B4-BE49-F238E27FC236}">
                <a16:creationId xmlns:a16="http://schemas.microsoft.com/office/drawing/2014/main" id="{9127FB32-8D44-4AA9-9905-A0FA19B4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20412000"/>
            <a:ext cx="1231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47" b="0">
                <a:solidFill>
                  <a:srgbClr val="4F6372"/>
                </a:solidFill>
              </a:defRPr>
            </a:pPr>
            <a:r>
              <a:rPr sz="1247" b="0">
                <a:solidFill>
                  <a:srgbClr val="4F6372"/>
                </a:solidFill>
              </a:rPr>
              <a:t>Estimativas ponderadas; IC95% beta entre colchetes. Brasil sintetizado nos cards.</a:t>
            </a:r>
          </a:p>
        </p:txBody>
      </p:sp>
      <p:sp>
        <p:nvSpPr>
          <p:cNvPr id="156" name="Tabela 2: Uso de medicam">
            <a:extLst xmlns:a="http://schemas.openxmlformats.org/drawingml/2006/main">
              <a:ext uri="{FF2B5EF4-FFF2-40B4-BE49-F238E27FC236}">
                <a16:creationId xmlns:a16="http://schemas.microsoft.com/office/drawing/2014/main" id="{4E951DDE-C8FB-4D02-A387-272E83CE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1592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Tabela 2: Uso de medicamento oral ou bombinha entre pessoas com asma por UF.</a:t>
            </a:r>
          </a:p>
        </p:txBody>
      </p:sp>
      <p:sp>
        <p:nvSpPr>
          <p:cNvPr id="157" name="Tabela 2: Uso de medicamento oral ou bombinha entre pessoas com asma por UF.-frame">
            <a:extLst xmlns:a="http://schemas.openxmlformats.org/drawingml/2006/main">
              <a:ext uri="{FF2B5EF4-FFF2-40B4-BE49-F238E27FC236}">
                <a16:creationId xmlns:a16="http://schemas.microsoft.com/office/drawing/2014/main" id="{19A3217B-E1C3-4D14-8872-3E257911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2492000"/>
            <a:ext cx="12672000" cy="83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158" name="Tabela 2: Uso de medicamento oral ou bombinha entre pessoas com asma por UF.-head-bg">
            <a:extLst xmlns:a="http://schemas.openxmlformats.org/drawingml/2006/main">
              <a:ext uri="{FF2B5EF4-FFF2-40B4-BE49-F238E27FC236}">
                <a16:creationId xmlns:a16="http://schemas.microsoft.com/office/drawing/2014/main" id="{F1AFE647-DF60-4EAB-BD5C-412FB789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2672000"/>
            <a:ext cx="12312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159" name="Tabela 2: Uso de medicamento oral ou bombinha entre pessoas com asma por UF.-head-0">
            <a:extLst xmlns:a="http://schemas.openxmlformats.org/drawingml/2006/main">
              <a:ext uri="{FF2B5EF4-FFF2-40B4-BE49-F238E27FC236}">
                <a16:creationId xmlns:a16="http://schemas.microsoft.com/office/drawing/2014/main" id="{911FF975-4300-40A1-A8E1-0674010F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2744000"/>
            <a:ext cx="259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UF</a:t>
            </a:r>
          </a:p>
        </p:txBody>
      </p:sp>
      <p:sp>
        <p:nvSpPr>
          <p:cNvPr id="160" name="Tabela 2: Uso de medicamento oral ou bombinha entre pessoas com asma por UF.-head-1">
            <a:extLst xmlns:a="http://schemas.openxmlformats.org/drawingml/2006/main">
              <a:ext uri="{FF2B5EF4-FFF2-40B4-BE49-F238E27FC236}">
                <a16:creationId xmlns:a16="http://schemas.microsoft.com/office/drawing/2014/main" id="{7960C243-3A75-44BC-8988-061092B7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2013</a:t>
            </a:r>
          </a:p>
        </p:txBody>
      </p:sp>
      <p:sp>
        <p:nvSpPr>
          <p:cNvPr id="161" name="Tabela 2: Uso de medicamento oral ou bombinha entre pessoas com asma por UF.-head-2">
            <a:extLst xmlns:a="http://schemas.openxmlformats.org/drawingml/2006/main">
              <a:ext uri="{FF2B5EF4-FFF2-40B4-BE49-F238E27FC236}">
                <a16:creationId xmlns:a16="http://schemas.microsoft.com/office/drawing/2014/main" id="{F6EEBFD5-C196-4AEF-B694-CF8C9AF8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162" name="Tabela 2: Uso de medicamento oral ou bombinha entre pessoas com asma por UF.-stripe-0">
            <a:extLst xmlns:a="http://schemas.openxmlformats.org/drawingml/2006/main">
              <a:ext uri="{FF2B5EF4-FFF2-40B4-BE49-F238E27FC236}">
                <a16:creationId xmlns:a16="http://schemas.microsoft.com/office/drawing/2014/main" id="{4F5071B3-B7B1-4C5C-9548-63833F10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31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63" name="Tabela 2: Uso de medicamento oral ou bombinha entre pessoas com asma por UF.-cell-0-0">
            <a:extLst xmlns:a="http://schemas.openxmlformats.org/drawingml/2006/main">
              <a:ext uri="{FF2B5EF4-FFF2-40B4-BE49-F238E27FC236}">
                <a16:creationId xmlns:a16="http://schemas.microsoft.com/office/drawing/2014/main" id="{0ED8B4C6-742B-4D35-B0DE-F4B1288B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3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Rondônia</a:t>
            </a:r>
          </a:p>
        </p:txBody>
      </p:sp>
      <p:sp>
        <p:nvSpPr>
          <p:cNvPr id="164" name="Tabela 2: Uso de medicamento oral ou bombinha entre pessoas com asma por UF.-cell-0-1">
            <a:extLst xmlns:a="http://schemas.openxmlformats.org/drawingml/2006/main">
              <a:ext uri="{FF2B5EF4-FFF2-40B4-BE49-F238E27FC236}">
                <a16:creationId xmlns:a16="http://schemas.microsoft.com/office/drawing/2014/main" id="{6DC5D9E2-9669-4D46-8819-6DA933CB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79,94% [58,68%; 93,34%]</a:t>
            </a:r>
          </a:p>
        </p:txBody>
      </p:sp>
      <p:sp>
        <p:nvSpPr>
          <p:cNvPr id="165" name="Tabela 2: Uso de medicamento oral ou bombinha entre pessoas com asma por UF.-cell-0-2">
            <a:extLst xmlns:a="http://schemas.openxmlformats.org/drawingml/2006/main">
              <a:ext uri="{FF2B5EF4-FFF2-40B4-BE49-F238E27FC236}">
                <a16:creationId xmlns:a16="http://schemas.microsoft.com/office/drawing/2014/main" id="{5A9E4D4F-CC56-4AE1-888D-D3470F6E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79,76% [56,69%; 93,92%]</a:t>
            </a:r>
          </a:p>
        </p:txBody>
      </p:sp>
      <p:sp>
        <p:nvSpPr>
          <p:cNvPr id="166" name="Tabela 2: Uso de medicamento oral ou bombinha entre pessoas com asma por UF.-cell-1-0">
            <a:extLst xmlns:a="http://schemas.openxmlformats.org/drawingml/2006/main">
              <a:ext uri="{FF2B5EF4-FFF2-40B4-BE49-F238E27FC236}">
                <a16:creationId xmlns:a16="http://schemas.microsoft.com/office/drawing/2014/main" id="{5CD2E8B2-EA55-44FE-AE6C-8C116A01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3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Acre</a:t>
            </a:r>
          </a:p>
        </p:txBody>
      </p:sp>
      <p:sp>
        <p:nvSpPr>
          <p:cNvPr id="167" name="Tabela 2: Uso de medicamento oral ou bombinha entre pessoas com asma por UF.-cell-1-1">
            <a:extLst xmlns:a="http://schemas.openxmlformats.org/drawingml/2006/main">
              <a:ext uri="{FF2B5EF4-FFF2-40B4-BE49-F238E27FC236}">
                <a16:creationId xmlns:a16="http://schemas.microsoft.com/office/drawing/2014/main" id="{B5C03CF8-7DF8-49B2-B515-87549B2D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74,66% [43,93%; 93,83%]</a:t>
            </a:r>
          </a:p>
        </p:txBody>
      </p:sp>
      <p:sp>
        <p:nvSpPr>
          <p:cNvPr id="168" name="Tabela 2: Uso de medicamento oral ou bombinha entre pessoas com asma por UF.-cell-1-2">
            <a:extLst xmlns:a="http://schemas.openxmlformats.org/drawingml/2006/main">
              <a:ext uri="{FF2B5EF4-FFF2-40B4-BE49-F238E27FC236}">
                <a16:creationId xmlns:a16="http://schemas.microsoft.com/office/drawing/2014/main" id="{34A30E25-4B01-4278-83CF-F76EF01E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54,47% [31,58%; 76,05%]</a:t>
            </a:r>
          </a:p>
        </p:txBody>
      </p:sp>
      <p:sp>
        <p:nvSpPr>
          <p:cNvPr id="169" name="Tabela 2: Uso de medicamento oral ou bombinha entre pessoas com asma por UF.-stripe-2">
            <a:extLst xmlns:a="http://schemas.openxmlformats.org/drawingml/2006/main">
              <a:ext uri="{FF2B5EF4-FFF2-40B4-BE49-F238E27FC236}">
                <a16:creationId xmlns:a16="http://schemas.microsoft.com/office/drawing/2014/main" id="{AF541DFB-5DAD-4ED1-AF5A-C394EF1E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37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70" name="Tabela 2: Uso de medicamento oral ou bombinha entre pessoas com asma por UF.-cell-2-0">
            <a:extLst xmlns:a="http://schemas.openxmlformats.org/drawingml/2006/main">
              <a:ext uri="{FF2B5EF4-FFF2-40B4-BE49-F238E27FC236}">
                <a16:creationId xmlns:a16="http://schemas.microsoft.com/office/drawing/2014/main" id="{B970EBB3-441C-4072-92D5-773A5572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3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Amazonas</a:t>
            </a:r>
          </a:p>
        </p:txBody>
      </p:sp>
      <p:sp>
        <p:nvSpPr>
          <p:cNvPr id="171" name="Tabela 2: Uso de medicamento oral ou bombinha entre pessoas com asma por UF.-cell-2-1">
            <a:extLst xmlns:a="http://schemas.openxmlformats.org/drawingml/2006/main">
              <a:ext uri="{FF2B5EF4-FFF2-40B4-BE49-F238E27FC236}">
                <a16:creationId xmlns:a16="http://schemas.microsoft.com/office/drawing/2014/main" id="{0D74D483-EAF1-4328-AFAA-E666E682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86,72% [70,34%; 95,98%]</a:t>
            </a:r>
          </a:p>
        </p:txBody>
      </p:sp>
      <p:sp>
        <p:nvSpPr>
          <p:cNvPr id="172" name="Tabela 2: Uso de medicamento oral ou bombinha entre pessoas com asma por UF.-cell-2-2">
            <a:extLst xmlns:a="http://schemas.openxmlformats.org/drawingml/2006/main">
              <a:ext uri="{FF2B5EF4-FFF2-40B4-BE49-F238E27FC236}">
                <a16:creationId xmlns:a16="http://schemas.microsoft.com/office/drawing/2014/main" id="{5F81B305-7F57-4EE5-8279-56FDFDF9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46,70% [23,74%; 70,73%]</a:t>
            </a:r>
          </a:p>
        </p:txBody>
      </p:sp>
      <p:sp>
        <p:nvSpPr>
          <p:cNvPr id="173" name="Tabela 2: Uso de medicamento oral ou bombinha entre pessoas com asma por UF.-cell-3-0">
            <a:extLst xmlns:a="http://schemas.openxmlformats.org/drawingml/2006/main">
              <a:ext uri="{FF2B5EF4-FFF2-40B4-BE49-F238E27FC236}">
                <a16:creationId xmlns:a16="http://schemas.microsoft.com/office/drawing/2014/main" id="{C7018646-2528-46F1-BC72-06C55FFA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Roraima</a:t>
            </a:r>
          </a:p>
        </p:txBody>
      </p:sp>
      <p:sp>
        <p:nvSpPr>
          <p:cNvPr id="174" name="Tabela 2: Uso de medicamento oral ou bombinha entre pessoas com asma por UF.-cell-3-1">
            <a:extLst xmlns:a="http://schemas.openxmlformats.org/drawingml/2006/main">
              <a:ext uri="{FF2B5EF4-FFF2-40B4-BE49-F238E27FC236}">
                <a16:creationId xmlns:a16="http://schemas.microsoft.com/office/drawing/2014/main" id="{A473C773-D3E2-4466-857E-EF0AF6D9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81,69% [56,61%; 95,67%]</a:t>
            </a:r>
          </a:p>
        </p:txBody>
      </p:sp>
      <p:sp>
        <p:nvSpPr>
          <p:cNvPr id="175" name="Tabela 2: Uso de medicamento oral ou bombinha entre pessoas com asma por UF.-cell-3-2">
            <a:extLst xmlns:a="http://schemas.openxmlformats.org/drawingml/2006/main">
              <a:ext uri="{FF2B5EF4-FFF2-40B4-BE49-F238E27FC236}">
                <a16:creationId xmlns:a16="http://schemas.microsoft.com/office/drawing/2014/main" id="{1037F6E4-C0A1-4D33-8578-F9A468DB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74,36% [52,38%; 89,91%]</a:t>
            </a:r>
          </a:p>
        </p:txBody>
      </p:sp>
      <p:sp>
        <p:nvSpPr>
          <p:cNvPr id="176" name="Tabela 2: Uso de medicamento oral ou bombinha entre pessoas com asma por UF.-stripe-4">
            <a:extLst xmlns:a="http://schemas.openxmlformats.org/drawingml/2006/main">
              <a:ext uri="{FF2B5EF4-FFF2-40B4-BE49-F238E27FC236}">
                <a16:creationId xmlns:a16="http://schemas.microsoft.com/office/drawing/2014/main" id="{EE157001-4016-4116-80F7-AFB315F1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42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77" name="Tabela 2: Uso de medicamento oral ou bombinha entre pessoas com asma por UF.-cell-4-0">
            <a:extLst xmlns:a="http://schemas.openxmlformats.org/drawingml/2006/main">
              <a:ext uri="{FF2B5EF4-FFF2-40B4-BE49-F238E27FC236}">
                <a16:creationId xmlns:a16="http://schemas.microsoft.com/office/drawing/2014/main" id="{79AE4BE9-8AC2-4AA9-A323-41875EE2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Pará</a:t>
            </a:r>
          </a:p>
        </p:txBody>
      </p:sp>
      <p:sp>
        <p:nvSpPr>
          <p:cNvPr id="178" name="Tabela 2: Uso de medicamento oral ou bombinha entre pessoas com asma por UF.-cell-4-1">
            <a:extLst xmlns:a="http://schemas.openxmlformats.org/drawingml/2006/main">
              <a:ext uri="{FF2B5EF4-FFF2-40B4-BE49-F238E27FC236}">
                <a16:creationId xmlns:a16="http://schemas.microsoft.com/office/drawing/2014/main" id="{8C142E26-7CA9-4019-8B35-2DB3901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82,30% [47,71%; 98,05%]</a:t>
            </a:r>
          </a:p>
        </p:txBody>
      </p:sp>
      <p:sp>
        <p:nvSpPr>
          <p:cNvPr id="179" name="Tabela 2: Uso de medicamento oral ou bombinha entre pessoas com asma por UF.-cell-4-2">
            <a:extLst xmlns:a="http://schemas.openxmlformats.org/drawingml/2006/main">
              <a:ext uri="{FF2B5EF4-FFF2-40B4-BE49-F238E27FC236}">
                <a16:creationId xmlns:a16="http://schemas.microsoft.com/office/drawing/2014/main" id="{D0533DD4-DD07-4C3D-A2B3-C1AFE93A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63,73% [41,71%; 82,21%]</a:t>
            </a:r>
          </a:p>
        </p:txBody>
      </p:sp>
      <p:sp>
        <p:nvSpPr>
          <p:cNvPr id="180" name="Tabela 2: Uso de medicamento oral ou bombinha entre pessoas com asma por UF.-cell-5-0">
            <a:extLst xmlns:a="http://schemas.openxmlformats.org/drawingml/2006/main">
              <a:ext uri="{FF2B5EF4-FFF2-40B4-BE49-F238E27FC236}">
                <a16:creationId xmlns:a16="http://schemas.microsoft.com/office/drawing/2014/main" id="{A0E54BA3-CBE1-488E-ADCB-DB69DA79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Amapá</a:t>
            </a:r>
          </a:p>
        </p:txBody>
      </p:sp>
      <p:sp>
        <p:nvSpPr>
          <p:cNvPr id="181" name="Tabela 2: Uso de medicamento oral ou bombinha entre pessoas com asma por UF.-cell-5-1">
            <a:extLst xmlns:a="http://schemas.openxmlformats.org/drawingml/2006/main">
              <a:ext uri="{FF2B5EF4-FFF2-40B4-BE49-F238E27FC236}">
                <a16:creationId xmlns:a16="http://schemas.microsoft.com/office/drawing/2014/main" id="{1C4F913A-9042-44B9-8AEE-7F40A597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82,76% [56,11%; 96,62%]</a:t>
            </a:r>
          </a:p>
        </p:txBody>
      </p:sp>
      <p:sp>
        <p:nvSpPr>
          <p:cNvPr id="182" name="Tabela 2: Uso de medicamento oral ou bombinha entre pessoas com asma por UF.-cell-5-2">
            <a:extLst xmlns:a="http://schemas.openxmlformats.org/drawingml/2006/main">
              <a:ext uri="{FF2B5EF4-FFF2-40B4-BE49-F238E27FC236}">
                <a16:creationId xmlns:a16="http://schemas.microsoft.com/office/drawing/2014/main" id="{688ED538-BB4A-4CB3-AB68-B0BC711F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67,30% [31,93%; 92,16%]</a:t>
            </a:r>
          </a:p>
        </p:txBody>
      </p:sp>
      <p:sp>
        <p:nvSpPr>
          <p:cNvPr id="183" name="Tabela 2: Uso de medicamento oral ou bombinha entre pessoas com asma por UF.-stripe-6">
            <a:extLst xmlns:a="http://schemas.openxmlformats.org/drawingml/2006/main">
              <a:ext uri="{FF2B5EF4-FFF2-40B4-BE49-F238E27FC236}">
                <a16:creationId xmlns:a16="http://schemas.microsoft.com/office/drawing/2014/main" id="{C1D5F4F5-C797-4698-B976-2DD5C862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47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84" name="Tabela 2: Uso de medicamento oral ou bombinha entre pessoas com asma por UF.-cell-6-0">
            <a:extLst xmlns:a="http://schemas.openxmlformats.org/drawingml/2006/main">
              <a:ext uri="{FF2B5EF4-FFF2-40B4-BE49-F238E27FC236}">
                <a16:creationId xmlns:a16="http://schemas.microsoft.com/office/drawing/2014/main" id="{DE2C5C91-0AC4-45D4-B91C-900616EA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Tocantins</a:t>
            </a:r>
          </a:p>
        </p:txBody>
      </p:sp>
      <p:sp>
        <p:nvSpPr>
          <p:cNvPr id="185" name="Tabela 2: Uso de medicamento oral ou bombinha entre pessoas com asma por UF.-cell-6-1">
            <a:extLst xmlns:a="http://schemas.openxmlformats.org/drawingml/2006/main">
              <a:ext uri="{FF2B5EF4-FFF2-40B4-BE49-F238E27FC236}">
                <a16:creationId xmlns:a16="http://schemas.microsoft.com/office/drawing/2014/main" id="{6EC9EF3A-E9A6-4C7E-8950-D906F277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66,97% [36,61%; 89,49%]</a:t>
            </a:r>
          </a:p>
        </p:txBody>
      </p:sp>
      <p:sp>
        <p:nvSpPr>
          <p:cNvPr id="186" name="Tabela 2: Uso de medicamento oral ou bombinha entre pessoas com asma por UF.-cell-6-2">
            <a:extLst xmlns:a="http://schemas.openxmlformats.org/drawingml/2006/main">
              <a:ext uri="{FF2B5EF4-FFF2-40B4-BE49-F238E27FC236}">
                <a16:creationId xmlns:a16="http://schemas.microsoft.com/office/drawing/2014/main" id="{B1BBE554-7ED6-42C5-8C86-F35BCA99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49,52% [25,39%; 73,81%]</a:t>
            </a:r>
          </a:p>
        </p:txBody>
      </p:sp>
      <p:sp>
        <p:nvSpPr>
          <p:cNvPr id="187" name="Tabela 2: Uso de medicamento oral ou bombinha entre pessoas com asma por UF.-cell-7-0">
            <a:extLst xmlns:a="http://schemas.openxmlformats.org/drawingml/2006/main">
              <a:ext uri="{FF2B5EF4-FFF2-40B4-BE49-F238E27FC236}">
                <a16:creationId xmlns:a16="http://schemas.microsoft.com/office/drawing/2014/main" id="{ABA6442C-34BE-45F8-96AC-F925A7D9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Maranhão</a:t>
            </a:r>
          </a:p>
        </p:txBody>
      </p:sp>
      <p:sp>
        <p:nvSpPr>
          <p:cNvPr id="188" name="Tabela 2: Uso de medicamento oral ou bombinha entre pessoas com asma por UF.-cell-7-1">
            <a:extLst xmlns:a="http://schemas.openxmlformats.org/drawingml/2006/main">
              <a:ext uri="{FF2B5EF4-FFF2-40B4-BE49-F238E27FC236}">
                <a16:creationId xmlns:a16="http://schemas.microsoft.com/office/drawing/2014/main" id="{3ADAF6B9-D5A5-468D-88EE-FBC40ECF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53,24% [22,96%; 81,84%]</a:t>
            </a:r>
          </a:p>
        </p:txBody>
      </p:sp>
      <p:sp>
        <p:nvSpPr>
          <p:cNvPr id="189" name="Tabela 2: Uso de medicamento oral ou bombinha entre pessoas com asma por UF.-cell-7-2">
            <a:extLst xmlns:a="http://schemas.openxmlformats.org/drawingml/2006/main">
              <a:ext uri="{FF2B5EF4-FFF2-40B4-BE49-F238E27FC236}">
                <a16:creationId xmlns:a16="http://schemas.microsoft.com/office/drawing/2014/main" id="{6139F093-C912-4966-8CDC-5F8203F9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61,26% [42,46%; 77,89%]</a:t>
            </a:r>
          </a:p>
        </p:txBody>
      </p:sp>
      <p:sp>
        <p:nvSpPr>
          <p:cNvPr id="190" name="Tabela 2: Uso de medicamento oral ou bombinha entre pessoas com asma por UF.-stripe-8">
            <a:extLst xmlns:a="http://schemas.openxmlformats.org/drawingml/2006/main">
              <a:ext uri="{FF2B5EF4-FFF2-40B4-BE49-F238E27FC236}">
                <a16:creationId xmlns:a16="http://schemas.microsoft.com/office/drawing/2014/main" id="{4DFA15A6-7E16-4E61-8E45-CE3A2F96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53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91" name="Tabela 2: Uso de medicamento oral ou bombinha entre pessoas com asma por UF.-cell-8-0">
            <a:extLst xmlns:a="http://schemas.openxmlformats.org/drawingml/2006/main">
              <a:ext uri="{FF2B5EF4-FFF2-40B4-BE49-F238E27FC236}">
                <a16:creationId xmlns:a16="http://schemas.microsoft.com/office/drawing/2014/main" id="{15BD96E7-BD87-4372-9552-09E9265A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Piauí</a:t>
            </a:r>
          </a:p>
        </p:txBody>
      </p:sp>
      <p:sp>
        <p:nvSpPr>
          <p:cNvPr id="192" name="Tabela 2: Uso de medicamento oral ou bombinha entre pessoas com asma por UF.-cell-8-1">
            <a:extLst xmlns:a="http://schemas.openxmlformats.org/drawingml/2006/main">
              <a:ext uri="{FF2B5EF4-FFF2-40B4-BE49-F238E27FC236}">
                <a16:creationId xmlns:a16="http://schemas.microsoft.com/office/drawing/2014/main" id="{0044F163-8A26-4252-88F2-9686BE5D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68,25% [37,26%; 90,53%]</a:t>
            </a:r>
          </a:p>
        </p:txBody>
      </p:sp>
      <p:sp>
        <p:nvSpPr>
          <p:cNvPr id="193" name="Tabela 2: Uso de medicamento oral ou bombinha entre pessoas com asma por UF.-cell-8-2">
            <a:extLst xmlns:a="http://schemas.openxmlformats.org/drawingml/2006/main">
              <a:ext uri="{FF2B5EF4-FFF2-40B4-BE49-F238E27FC236}">
                <a16:creationId xmlns:a16="http://schemas.microsoft.com/office/drawing/2014/main" id="{A66CA21D-E9A7-456F-8578-2A7CAFE8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53,03% [31,04%; 74,19%]</a:t>
            </a:r>
          </a:p>
        </p:txBody>
      </p:sp>
      <p:sp>
        <p:nvSpPr>
          <p:cNvPr id="194" name="Tabela 2: Uso de medicamento oral ou bombinha entre pessoas com asma por UF.-cell-9-0">
            <a:extLst xmlns:a="http://schemas.openxmlformats.org/drawingml/2006/main">
              <a:ext uri="{FF2B5EF4-FFF2-40B4-BE49-F238E27FC236}">
                <a16:creationId xmlns:a16="http://schemas.microsoft.com/office/drawing/2014/main" id="{D694AE0C-4285-465F-9047-BE35AFDA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Ceará</a:t>
            </a:r>
          </a:p>
        </p:txBody>
      </p:sp>
      <p:sp>
        <p:nvSpPr>
          <p:cNvPr id="195" name="Tabela 2: Uso de medicamento oral ou bombinha entre pessoas com asma por UF.-cell-9-1">
            <a:extLst xmlns:a="http://schemas.openxmlformats.org/drawingml/2006/main">
              <a:ext uri="{FF2B5EF4-FFF2-40B4-BE49-F238E27FC236}">
                <a16:creationId xmlns:a16="http://schemas.microsoft.com/office/drawing/2014/main" id="{B95372C2-AD47-4032-8456-6A963CB7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78,81% [58,75%; 92,11%]</a:t>
            </a:r>
          </a:p>
        </p:txBody>
      </p:sp>
      <p:sp>
        <p:nvSpPr>
          <p:cNvPr id="196" name="Tabela 2: Uso de medicamento oral ou bombinha entre pessoas com asma por UF.-cell-9-2">
            <a:extLst xmlns:a="http://schemas.openxmlformats.org/drawingml/2006/main">
              <a:ext uri="{FF2B5EF4-FFF2-40B4-BE49-F238E27FC236}">
                <a16:creationId xmlns:a16="http://schemas.microsoft.com/office/drawing/2014/main" id="{5A85B98D-33D4-4819-B1F0-D757E3AD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44,49% [30,19%; 59,49%]</a:t>
            </a:r>
          </a:p>
        </p:txBody>
      </p:sp>
      <p:sp>
        <p:nvSpPr>
          <p:cNvPr id="197" name="Tabela 2: Uso de medicamento oral ou bombinha entre pessoas com asma por UF.-stripe-10">
            <a:extLst xmlns:a="http://schemas.openxmlformats.org/drawingml/2006/main">
              <a:ext uri="{FF2B5EF4-FFF2-40B4-BE49-F238E27FC236}">
                <a16:creationId xmlns:a16="http://schemas.microsoft.com/office/drawing/2014/main" id="{B97C0CB6-78D0-4337-AC3E-8654A4F4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58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98" name="Tabela 2: Uso de medicamento oral ou bombinha entre pessoas com asma por UF.-cell-10-0">
            <a:extLst xmlns:a="http://schemas.openxmlformats.org/drawingml/2006/main">
              <a:ext uri="{FF2B5EF4-FFF2-40B4-BE49-F238E27FC236}">
                <a16:creationId xmlns:a16="http://schemas.microsoft.com/office/drawing/2014/main" id="{9BF54067-5D91-4E81-88AD-B2C377FF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Norte</a:t>
            </a:r>
          </a:p>
        </p:txBody>
      </p:sp>
      <p:sp>
        <p:nvSpPr>
          <p:cNvPr id="199" name="Tabela 2: Uso de medicamento oral ou bombinha entre pessoas com asma por UF.-cell-10-1">
            <a:extLst xmlns:a="http://schemas.openxmlformats.org/drawingml/2006/main">
              <a:ext uri="{FF2B5EF4-FFF2-40B4-BE49-F238E27FC236}">
                <a16:creationId xmlns:a16="http://schemas.microsoft.com/office/drawing/2014/main" id="{45BBE1A0-0BF3-4441-A482-DD715FEB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68,53% [38,21%; 90,35%]</a:t>
            </a:r>
          </a:p>
        </p:txBody>
      </p:sp>
      <p:sp>
        <p:nvSpPr>
          <p:cNvPr id="200" name="Tabela 2: Uso de medicamento oral ou bombinha entre pessoas com asma por UF.-cell-10-2">
            <a:extLst xmlns:a="http://schemas.openxmlformats.org/drawingml/2006/main">
              <a:ext uri="{FF2B5EF4-FFF2-40B4-BE49-F238E27FC236}">
                <a16:creationId xmlns:a16="http://schemas.microsoft.com/office/drawing/2014/main" id="{01F81E68-3CD4-4990-B2E8-7D2CF0B3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61,69% [41,26%; 79,48%]</a:t>
            </a:r>
          </a:p>
        </p:txBody>
      </p:sp>
      <p:sp>
        <p:nvSpPr>
          <p:cNvPr id="201" name="Tabela 2: Uso de medicamento oral ou bombinha entre pessoas com asma por UF.-cell-11-0">
            <a:extLst xmlns:a="http://schemas.openxmlformats.org/drawingml/2006/main">
              <a:ext uri="{FF2B5EF4-FFF2-40B4-BE49-F238E27FC236}">
                <a16:creationId xmlns:a16="http://schemas.microsoft.com/office/drawing/2014/main" id="{F154CB0D-CD97-43D6-856A-4E965AD2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Paraíba</a:t>
            </a:r>
          </a:p>
        </p:txBody>
      </p:sp>
      <p:sp>
        <p:nvSpPr>
          <p:cNvPr id="202" name="Tabela 2: Uso de medicamento oral ou bombinha entre pessoas com asma por UF.-cell-11-1">
            <a:extLst xmlns:a="http://schemas.openxmlformats.org/drawingml/2006/main">
              <a:ext uri="{FF2B5EF4-FFF2-40B4-BE49-F238E27FC236}">
                <a16:creationId xmlns:a16="http://schemas.microsoft.com/office/drawing/2014/main" id="{31B96E87-F2F9-4E2B-B56E-8C6B87AF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77,50% [58,84%; 90,53%]</a:t>
            </a:r>
          </a:p>
        </p:txBody>
      </p:sp>
      <p:sp>
        <p:nvSpPr>
          <p:cNvPr id="203" name="Tabela 2: Uso de medicamento oral ou bombinha entre pessoas com asma por UF.-cell-11-2">
            <a:extLst xmlns:a="http://schemas.openxmlformats.org/drawingml/2006/main">
              <a:ext uri="{FF2B5EF4-FFF2-40B4-BE49-F238E27FC236}">
                <a16:creationId xmlns:a16="http://schemas.microsoft.com/office/drawing/2014/main" id="{65CEAB77-DEFF-4AD4-A7C6-1BAEED39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56,03% [37,07%; 73,79%]</a:t>
            </a:r>
          </a:p>
        </p:txBody>
      </p:sp>
      <p:sp>
        <p:nvSpPr>
          <p:cNvPr id="204" name="Tabela 2: Uso de medicamento oral ou bombinha entre pessoas com asma por UF.-stripe-12">
            <a:extLst xmlns:a="http://schemas.openxmlformats.org/drawingml/2006/main">
              <a:ext uri="{FF2B5EF4-FFF2-40B4-BE49-F238E27FC236}">
                <a16:creationId xmlns:a16="http://schemas.microsoft.com/office/drawing/2014/main" id="{72574061-121C-4556-B64E-054C6D6F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63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05" name="Tabela 2: Uso de medicamento oral ou bombinha entre pessoas com asma por UF.-cell-12-0">
            <a:extLst xmlns:a="http://schemas.openxmlformats.org/drawingml/2006/main">
              <a:ext uri="{FF2B5EF4-FFF2-40B4-BE49-F238E27FC236}">
                <a16:creationId xmlns:a16="http://schemas.microsoft.com/office/drawing/2014/main" id="{5296CA58-2BFA-43CD-B9D5-FED2C283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4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Pernambuco</a:t>
            </a:r>
          </a:p>
        </p:txBody>
      </p:sp>
      <p:sp>
        <p:nvSpPr>
          <p:cNvPr id="206" name="Tabela 2: Uso de medicamento oral ou bombinha entre pessoas com asma por UF.-cell-12-1">
            <a:extLst xmlns:a="http://schemas.openxmlformats.org/drawingml/2006/main">
              <a:ext uri="{FF2B5EF4-FFF2-40B4-BE49-F238E27FC236}">
                <a16:creationId xmlns:a16="http://schemas.microsoft.com/office/drawing/2014/main" id="{7A914E2D-FE25-4345-B5F4-17329E1E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68,46% [49,08%; 84,06%]</a:t>
            </a:r>
          </a:p>
        </p:txBody>
      </p:sp>
      <p:sp>
        <p:nvSpPr>
          <p:cNvPr id="207" name="Tabela 2: Uso de medicamento oral ou bombinha entre pessoas com asma por UF.-cell-12-2">
            <a:extLst xmlns:a="http://schemas.openxmlformats.org/drawingml/2006/main">
              <a:ext uri="{FF2B5EF4-FFF2-40B4-BE49-F238E27FC236}">
                <a16:creationId xmlns:a16="http://schemas.microsoft.com/office/drawing/2014/main" id="{098EAE8A-0465-455C-9375-703D889F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60,93% [44,32%; 75,86%]</a:t>
            </a:r>
          </a:p>
        </p:txBody>
      </p:sp>
      <p:sp>
        <p:nvSpPr>
          <p:cNvPr id="208" name="Tabela 2: Uso de medicamento oral ou bombinha entre pessoas com asma por UF.-cell-13-0">
            <a:extLst xmlns:a="http://schemas.openxmlformats.org/drawingml/2006/main">
              <a:ext uri="{FF2B5EF4-FFF2-40B4-BE49-F238E27FC236}">
                <a16:creationId xmlns:a16="http://schemas.microsoft.com/office/drawing/2014/main" id="{1810F5AA-7E47-4A30-8139-854EBDB1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6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Alagoas</a:t>
            </a:r>
          </a:p>
        </p:txBody>
      </p:sp>
      <p:sp>
        <p:nvSpPr>
          <p:cNvPr id="209" name="Tabela 2: Uso de medicamento oral ou bombinha entre pessoas com asma por UF.-cell-13-1">
            <a:extLst xmlns:a="http://schemas.openxmlformats.org/drawingml/2006/main">
              <a:ext uri="{FF2B5EF4-FFF2-40B4-BE49-F238E27FC236}">
                <a16:creationId xmlns:a16="http://schemas.microsoft.com/office/drawing/2014/main" id="{A6CD3949-23A9-40BA-82CC-600DF8CC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85,95% [58,87%; 98,07%]</a:t>
            </a:r>
          </a:p>
        </p:txBody>
      </p:sp>
      <p:sp>
        <p:nvSpPr>
          <p:cNvPr id="210" name="Tabela 2: Uso de medicamento oral ou bombinha entre pessoas com asma por UF.-cell-13-2">
            <a:extLst xmlns:a="http://schemas.openxmlformats.org/drawingml/2006/main">
              <a:ext uri="{FF2B5EF4-FFF2-40B4-BE49-F238E27FC236}">
                <a16:creationId xmlns:a16="http://schemas.microsoft.com/office/drawing/2014/main" id="{2CC365AC-58C2-4F7A-840A-3E9A7B35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62,04% [43,17%; 78,58%]</a:t>
            </a:r>
          </a:p>
        </p:txBody>
      </p:sp>
      <p:sp>
        <p:nvSpPr>
          <p:cNvPr id="211" name="Tabela 2: Uso de medicamento oral ou bombinha entre pessoas com asma por UF.-stripe-14">
            <a:extLst xmlns:a="http://schemas.openxmlformats.org/drawingml/2006/main">
              <a:ext uri="{FF2B5EF4-FFF2-40B4-BE49-F238E27FC236}">
                <a16:creationId xmlns:a16="http://schemas.microsoft.com/office/drawing/2014/main" id="{909F735D-004B-4D7F-874F-A98751FB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69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12" name="Tabela 2: Uso de medicamento oral ou bombinha entre pessoas com asma por UF.-cell-14-0">
            <a:extLst xmlns:a="http://schemas.openxmlformats.org/drawingml/2006/main">
              <a:ext uri="{FF2B5EF4-FFF2-40B4-BE49-F238E27FC236}">
                <a16:creationId xmlns:a16="http://schemas.microsoft.com/office/drawing/2014/main" id="{FC4C5940-BDBF-4F05-88DB-DA27631E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9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Sergipe</a:t>
            </a:r>
          </a:p>
        </p:txBody>
      </p:sp>
      <p:sp>
        <p:nvSpPr>
          <p:cNvPr id="213" name="Tabela 2: Uso de medicamento oral ou bombinha entre pessoas com asma por UF.-cell-14-1">
            <a:extLst xmlns:a="http://schemas.openxmlformats.org/drawingml/2006/main">
              <a:ext uri="{FF2B5EF4-FFF2-40B4-BE49-F238E27FC236}">
                <a16:creationId xmlns:a16="http://schemas.microsoft.com/office/drawing/2014/main" id="{E31CE32E-CD5F-4583-8500-FD716759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87,58% [59,92%; 98,72%]</a:t>
            </a:r>
          </a:p>
        </p:txBody>
      </p:sp>
      <p:sp>
        <p:nvSpPr>
          <p:cNvPr id="214" name="Tabela 2: Uso de medicamento oral ou bombinha entre pessoas com asma por UF.-cell-14-2">
            <a:extLst xmlns:a="http://schemas.openxmlformats.org/drawingml/2006/main">
              <a:ext uri="{FF2B5EF4-FFF2-40B4-BE49-F238E27FC236}">
                <a16:creationId xmlns:a16="http://schemas.microsoft.com/office/drawing/2014/main" id="{11E7C6B8-A8B8-4821-A93B-72551183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80,23% [60,76%; 92,82%]</a:t>
            </a:r>
          </a:p>
        </p:txBody>
      </p:sp>
      <p:sp>
        <p:nvSpPr>
          <p:cNvPr id="215" name="Tabela 2: Uso de medicamento oral ou bombinha entre pessoas com asma por UF.-cell-15-0">
            <a:extLst xmlns:a="http://schemas.openxmlformats.org/drawingml/2006/main">
              <a:ext uri="{FF2B5EF4-FFF2-40B4-BE49-F238E27FC236}">
                <a16:creationId xmlns:a16="http://schemas.microsoft.com/office/drawing/2014/main" id="{3DB164D2-C40F-45A4-810C-907D211B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7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Bahia</a:t>
            </a:r>
          </a:p>
        </p:txBody>
      </p:sp>
      <p:sp>
        <p:nvSpPr>
          <p:cNvPr id="216" name="Tabela 2: Uso de medicamento oral ou bombinha entre pessoas com asma por UF.-cell-15-1">
            <a:extLst xmlns:a="http://schemas.openxmlformats.org/drawingml/2006/main">
              <a:ext uri="{FF2B5EF4-FFF2-40B4-BE49-F238E27FC236}">
                <a16:creationId xmlns:a16="http://schemas.microsoft.com/office/drawing/2014/main" id="{43FE83ED-93E6-49E9-B7A7-E04C2369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84,22% [55,45%; 97,71%]</a:t>
            </a:r>
          </a:p>
        </p:txBody>
      </p:sp>
      <p:sp>
        <p:nvSpPr>
          <p:cNvPr id="217" name="Tabela 2: Uso de medicamento oral ou bombinha entre pessoas com asma por UF.-cell-15-2">
            <a:extLst xmlns:a="http://schemas.openxmlformats.org/drawingml/2006/main">
              <a:ext uri="{FF2B5EF4-FFF2-40B4-BE49-F238E27FC236}">
                <a16:creationId xmlns:a16="http://schemas.microsoft.com/office/drawing/2014/main" id="{FE011B62-C0E1-4CD6-82F7-BC94CD17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74,04% [42,37%; 93,86%]</a:t>
            </a:r>
          </a:p>
        </p:txBody>
      </p:sp>
      <p:sp>
        <p:nvSpPr>
          <p:cNvPr id="218" name="Tabela 2: Uso de medicamento oral ou bombinha entre pessoas com asma por UF.-stripe-16">
            <a:extLst xmlns:a="http://schemas.openxmlformats.org/drawingml/2006/main">
              <a:ext uri="{FF2B5EF4-FFF2-40B4-BE49-F238E27FC236}">
                <a16:creationId xmlns:a16="http://schemas.microsoft.com/office/drawing/2014/main" id="{E0537442-2D1B-471A-BB93-9062E115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74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19" name="Tabela 2: Uso de medicamento oral ou bombinha entre pessoas com asma por UF.-cell-16-0">
            <a:extLst xmlns:a="http://schemas.openxmlformats.org/drawingml/2006/main">
              <a:ext uri="{FF2B5EF4-FFF2-40B4-BE49-F238E27FC236}">
                <a16:creationId xmlns:a16="http://schemas.microsoft.com/office/drawing/2014/main" id="{96E290CB-3E67-4343-8C16-2E78A886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7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Minas Gerais</a:t>
            </a:r>
          </a:p>
        </p:txBody>
      </p:sp>
      <p:sp>
        <p:nvSpPr>
          <p:cNvPr id="220" name="Tabela 2: Uso de medicamento oral ou bombinha entre pessoas com asma por UF.-cell-16-1">
            <a:extLst xmlns:a="http://schemas.openxmlformats.org/drawingml/2006/main">
              <a:ext uri="{FF2B5EF4-FFF2-40B4-BE49-F238E27FC236}">
                <a16:creationId xmlns:a16="http://schemas.microsoft.com/office/drawing/2014/main" id="{F282BB35-0087-45AC-AFA0-F7F8288D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71,82% [43,99%; 91,07%]</a:t>
            </a:r>
          </a:p>
        </p:txBody>
      </p:sp>
      <p:sp>
        <p:nvSpPr>
          <p:cNvPr id="221" name="Tabela 2: Uso de medicamento oral ou bombinha entre pessoas com asma por UF.-cell-16-2">
            <a:extLst xmlns:a="http://schemas.openxmlformats.org/drawingml/2006/main">
              <a:ext uri="{FF2B5EF4-FFF2-40B4-BE49-F238E27FC236}">
                <a16:creationId xmlns:a16="http://schemas.microsoft.com/office/drawing/2014/main" id="{54D9C196-F1EC-4503-8AFD-124C46EF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64,00% [50,05%; 76,42%]</a:t>
            </a:r>
          </a:p>
        </p:txBody>
      </p:sp>
      <p:sp>
        <p:nvSpPr>
          <p:cNvPr id="222" name="Tabela 2: Uso de medicamento oral ou bombinha entre pessoas com asma por UF.-cell-17-0">
            <a:extLst xmlns:a="http://schemas.openxmlformats.org/drawingml/2006/main">
              <a:ext uri="{FF2B5EF4-FFF2-40B4-BE49-F238E27FC236}">
                <a16:creationId xmlns:a16="http://schemas.microsoft.com/office/drawing/2014/main" id="{E5A672DF-0CA1-43E1-A020-4563136E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7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Espírito Santo</a:t>
            </a:r>
          </a:p>
        </p:txBody>
      </p:sp>
      <p:sp>
        <p:nvSpPr>
          <p:cNvPr id="223" name="Tabela 2: Uso de medicamento oral ou bombinha entre pessoas com asma por UF.-cell-17-1">
            <a:extLst xmlns:a="http://schemas.openxmlformats.org/drawingml/2006/main">
              <a:ext uri="{FF2B5EF4-FFF2-40B4-BE49-F238E27FC236}">
                <a16:creationId xmlns:a16="http://schemas.microsoft.com/office/drawing/2014/main" id="{F7ADBAAD-844A-44E7-994E-BA68AF73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64,90% [32,88%; 89,27%]</a:t>
            </a:r>
          </a:p>
        </p:txBody>
      </p:sp>
      <p:sp>
        <p:nvSpPr>
          <p:cNvPr id="224" name="Tabela 2: Uso de medicamento oral ou bombinha entre pessoas com asma por UF.-cell-17-2">
            <a:extLst xmlns:a="http://schemas.openxmlformats.org/drawingml/2006/main">
              <a:ext uri="{FF2B5EF4-FFF2-40B4-BE49-F238E27FC236}">
                <a16:creationId xmlns:a16="http://schemas.microsoft.com/office/drawing/2014/main" id="{8931E283-9DA8-4819-B430-B33D8D76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76,46% [63,42%; 86,65%]</a:t>
            </a:r>
          </a:p>
        </p:txBody>
      </p:sp>
      <p:sp>
        <p:nvSpPr>
          <p:cNvPr id="225" name="Tabela 2: Uso de medicamento oral ou bombinha entre pessoas com asma por UF.-stripe-18">
            <a:extLst xmlns:a="http://schemas.openxmlformats.org/drawingml/2006/main">
              <a:ext uri="{FF2B5EF4-FFF2-40B4-BE49-F238E27FC236}">
                <a16:creationId xmlns:a16="http://schemas.microsoft.com/office/drawing/2014/main" id="{DADFE75E-C9F8-47E1-8849-E2681E6E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79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26" name="Tabela 2: Uso de medicamento oral ou bombinha entre pessoas com asma por UF.-cell-18-0">
            <a:extLst xmlns:a="http://schemas.openxmlformats.org/drawingml/2006/main">
              <a:ext uri="{FF2B5EF4-FFF2-40B4-BE49-F238E27FC236}">
                <a16:creationId xmlns:a16="http://schemas.microsoft.com/office/drawing/2014/main" id="{C02F8DD9-E9E3-4DE2-8D24-CD39E935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de Janeiro</a:t>
            </a:r>
          </a:p>
        </p:txBody>
      </p:sp>
      <p:sp>
        <p:nvSpPr>
          <p:cNvPr id="227" name="Tabela 2: Uso de medicamento oral ou bombinha entre pessoas com asma por UF.-cell-18-1">
            <a:extLst xmlns:a="http://schemas.openxmlformats.org/drawingml/2006/main">
              <a:ext uri="{FF2B5EF4-FFF2-40B4-BE49-F238E27FC236}">
                <a16:creationId xmlns:a16="http://schemas.microsoft.com/office/drawing/2014/main" id="{0AAAD9B1-5167-492F-BF89-1B64A49C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91,98% [82,45%; 97,29%]</a:t>
            </a:r>
          </a:p>
        </p:txBody>
      </p:sp>
      <p:sp>
        <p:nvSpPr>
          <p:cNvPr id="228" name="Tabela 2: Uso de medicamento oral ou bombinha entre pessoas com asma por UF.-cell-18-2">
            <a:extLst xmlns:a="http://schemas.openxmlformats.org/drawingml/2006/main">
              <a:ext uri="{FF2B5EF4-FFF2-40B4-BE49-F238E27FC236}">
                <a16:creationId xmlns:a16="http://schemas.microsoft.com/office/drawing/2014/main" id="{8257D7B8-4DFA-4719-8242-A9D607B5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54,29% [35,89%; 71,87%]</a:t>
            </a:r>
          </a:p>
        </p:txBody>
      </p:sp>
      <p:sp>
        <p:nvSpPr>
          <p:cNvPr id="229" name="Tabela 2: Uso de medicamento oral ou bombinha entre pessoas com asma por UF.-cell-19-0">
            <a:extLst xmlns:a="http://schemas.openxmlformats.org/drawingml/2006/main">
              <a:ext uri="{FF2B5EF4-FFF2-40B4-BE49-F238E27FC236}">
                <a16:creationId xmlns:a16="http://schemas.microsoft.com/office/drawing/2014/main" id="{634263A3-C93E-4726-A297-A5AB37C0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São Paulo</a:t>
            </a:r>
          </a:p>
        </p:txBody>
      </p:sp>
      <p:sp>
        <p:nvSpPr>
          <p:cNvPr id="230" name="Tabela 2: Uso de medicamento oral ou bombinha entre pessoas com asma por UF.-cell-19-1">
            <a:extLst xmlns:a="http://schemas.openxmlformats.org/drawingml/2006/main">
              <a:ext uri="{FF2B5EF4-FFF2-40B4-BE49-F238E27FC236}">
                <a16:creationId xmlns:a16="http://schemas.microsoft.com/office/drawing/2014/main" id="{D4C508CA-80C3-41B7-81E0-ED5E1F57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88,46% [80,12%; 94,17%]</a:t>
            </a:r>
          </a:p>
        </p:txBody>
      </p:sp>
      <p:sp>
        <p:nvSpPr>
          <p:cNvPr id="231" name="Tabela 2: Uso de medicamento oral ou bombinha entre pessoas com asma por UF.-cell-19-2">
            <a:extLst xmlns:a="http://schemas.openxmlformats.org/drawingml/2006/main">
              <a:ext uri="{FF2B5EF4-FFF2-40B4-BE49-F238E27FC236}">
                <a16:creationId xmlns:a16="http://schemas.microsoft.com/office/drawing/2014/main" id="{DA02F8D0-387C-48F2-BBCC-88A642A0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69,34% [56,38%; 80,39%]</a:t>
            </a:r>
          </a:p>
        </p:txBody>
      </p:sp>
      <p:sp>
        <p:nvSpPr>
          <p:cNvPr id="232" name="Tabela 2: Uso de medicamento oral ou bombinha entre pessoas com asma por UF.-stripe-20">
            <a:extLst xmlns:a="http://schemas.openxmlformats.org/drawingml/2006/main">
              <a:ext uri="{FF2B5EF4-FFF2-40B4-BE49-F238E27FC236}">
                <a16:creationId xmlns:a16="http://schemas.microsoft.com/office/drawing/2014/main" id="{B9039C0D-A892-4223-A49D-E6199CEF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85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33" name="Tabela 2: Uso de medicamento oral ou bombinha entre pessoas com asma por UF.-cell-20-0">
            <a:extLst xmlns:a="http://schemas.openxmlformats.org/drawingml/2006/main">
              <a:ext uri="{FF2B5EF4-FFF2-40B4-BE49-F238E27FC236}">
                <a16:creationId xmlns:a16="http://schemas.microsoft.com/office/drawing/2014/main" id="{18017CAA-115D-4EC6-B6E1-FA09D738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Paraná</a:t>
            </a:r>
          </a:p>
        </p:txBody>
      </p:sp>
      <p:sp>
        <p:nvSpPr>
          <p:cNvPr id="234" name="Tabela 2: Uso de medicamento oral ou bombinha entre pessoas com asma por UF.-cell-20-1">
            <a:extLst xmlns:a="http://schemas.openxmlformats.org/drawingml/2006/main">
              <a:ext uri="{FF2B5EF4-FFF2-40B4-BE49-F238E27FC236}">
                <a16:creationId xmlns:a16="http://schemas.microsoft.com/office/drawing/2014/main" id="{BA4A20E6-98C2-41DB-A478-E9221D5C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85,31% [70,59%; 94,46%]</a:t>
            </a:r>
          </a:p>
        </p:txBody>
      </p:sp>
      <p:sp>
        <p:nvSpPr>
          <p:cNvPr id="235" name="Tabela 2: Uso de medicamento oral ou bombinha entre pessoas com asma por UF.-cell-20-2">
            <a:extLst xmlns:a="http://schemas.openxmlformats.org/drawingml/2006/main">
              <a:ext uri="{FF2B5EF4-FFF2-40B4-BE49-F238E27FC236}">
                <a16:creationId xmlns:a16="http://schemas.microsoft.com/office/drawing/2014/main" id="{9512CADA-1A73-48E4-B29B-C378CA61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74,79% [60,28%; 86,14%]</a:t>
            </a:r>
          </a:p>
        </p:txBody>
      </p:sp>
      <p:sp>
        <p:nvSpPr>
          <p:cNvPr id="236" name="Tabela 2: Uso de medicamento oral ou bombinha entre pessoas com asma por UF.-cell-21-0">
            <a:extLst xmlns:a="http://schemas.openxmlformats.org/drawingml/2006/main">
              <a:ext uri="{FF2B5EF4-FFF2-40B4-BE49-F238E27FC236}">
                <a16:creationId xmlns:a16="http://schemas.microsoft.com/office/drawing/2014/main" id="{D4CDFA48-DB09-4E3A-A70D-96B0EEC1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Santa Catarina</a:t>
            </a:r>
          </a:p>
        </p:txBody>
      </p:sp>
      <p:sp>
        <p:nvSpPr>
          <p:cNvPr id="237" name="Tabela 2: Uso de medicamento oral ou bombinha entre pessoas com asma por UF.-cell-21-1">
            <a:extLst xmlns:a="http://schemas.openxmlformats.org/drawingml/2006/main">
              <a:ext uri="{FF2B5EF4-FFF2-40B4-BE49-F238E27FC236}">
                <a16:creationId xmlns:a16="http://schemas.microsoft.com/office/drawing/2014/main" id="{118F392A-FBCC-4A50-90FF-DF1FA795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67,01% [30,86%; 92,39%]</a:t>
            </a:r>
          </a:p>
        </p:txBody>
      </p:sp>
      <p:sp>
        <p:nvSpPr>
          <p:cNvPr id="238" name="Tabela 2: Uso de medicamento oral ou bombinha entre pessoas com asma por UF.-cell-21-2">
            <a:extLst xmlns:a="http://schemas.openxmlformats.org/drawingml/2006/main">
              <a:ext uri="{FF2B5EF4-FFF2-40B4-BE49-F238E27FC236}">
                <a16:creationId xmlns:a16="http://schemas.microsoft.com/office/drawing/2014/main" id="{95233F3B-0E3B-4AB2-A64C-85C3AB96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65,68% [45,89%; 82,15%]</a:t>
            </a:r>
          </a:p>
        </p:txBody>
      </p:sp>
      <p:sp>
        <p:nvSpPr>
          <p:cNvPr id="239" name="Tabela 2: Uso de medicamento oral ou bombinha entre pessoas com asma por UF.-stripe-22">
            <a:extLst xmlns:a="http://schemas.openxmlformats.org/drawingml/2006/main">
              <a:ext uri="{FF2B5EF4-FFF2-40B4-BE49-F238E27FC236}">
                <a16:creationId xmlns:a16="http://schemas.microsoft.com/office/drawing/2014/main" id="{6F6EF4FB-8B67-4E29-921C-2134C1A7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90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40" name="Tabela 2: Uso de medicamento oral ou bombinha entre pessoas com asma por UF.-cell-22-0">
            <a:extLst xmlns:a="http://schemas.openxmlformats.org/drawingml/2006/main">
              <a:ext uri="{FF2B5EF4-FFF2-40B4-BE49-F238E27FC236}">
                <a16:creationId xmlns:a16="http://schemas.microsoft.com/office/drawing/2014/main" id="{82678B3A-006A-4145-ADAC-CB1F420F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Sul</a:t>
            </a:r>
          </a:p>
        </p:txBody>
      </p:sp>
      <p:sp>
        <p:nvSpPr>
          <p:cNvPr id="241" name="Tabela 2: Uso de medicamento oral ou bombinha entre pessoas com asma por UF.-cell-22-1">
            <a:extLst xmlns:a="http://schemas.openxmlformats.org/drawingml/2006/main">
              <a:ext uri="{FF2B5EF4-FFF2-40B4-BE49-F238E27FC236}">
                <a16:creationId xmlns:a16="http://schemas.microsoft.com/office/drawing/2014/main" id="{02FD3025-4700-459C-AD58-927BC944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83,19% [64,65%; 94,43%]</a:t>
            </a:r>
          </a:p>
        </p:txBody>
      </p:sp>
      <p:sp>
        <p:nvSpPr>
          <p:cNvPr id="242" name="Tabela 2: Uso de medicamento oral ou bombinha entre pessoas com asma por UF.-cell-22-2">
            <a:extLst xmlns:a="http://schemas.openxmlformats.org/drawingml/2006/main">
              <a:ext uri="{FF2B5EF4-FFF2-40B4-BE49-F238E27FC236}">
                <a16:creationId xmlns:a16="http://schemas.microsoft.com/office/drawing/2014/main" id="{20789C45-AFEA-47D2-8B35-737A3B24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61,33% [45,42%; 75,65%]</a:t>
            </a:r>
          </a:p>
        </p:txBody>
      </p:sp>
      <p:sp>
        <p:nvSpPr>
          <p:cNvPr id="243" name="Tabela 2: Uso de medicamento oral ou bombinha entre pessoas com asma por UF.-cell-23-0">
            <a:extLst xmlns:a="http://schemas.openxmlformats.org/drawingml/2006/main">
              <a:ext uri="{FF2B5EF4-FFF2-40B4-BE49-F238E27FC236}">
                <a16:creationId xmlns:a16="http://schemas.microsoft.com/office/drawing/2014/main" id="{DD0219B2-8A99-488B-9CF8-E7DE6298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 do Sul</a:t>
            </a:r>
          </a:p>
        </p:txBody>
      </p:sp>
      <p:sp>
        <p:nvSpPr>
          <p:cNvPr id="244" name="Tabela 2: Uso de medicamento oral ou bombinha entre pessoas com asma por UF.-cell-23-1">
            <a:extLst xmlns:a="http://schemas.openxmlformats.org/drawingml/2006/main">
              <a:ext uri="{FF2B5EF4-FFF2-40B4-BE49-F238E27FC236}">
                <a16:creationId xmlns:a16="http://schemas.microsoft.com/office/drawing/2014/main" id="{EDF9BCC4-A01E-45D2-8210-886EC3AE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80,53% [61,07%; 93,02%]</a:t>
            </a:r>
          </a:p>
        </p:txBody>
      </p:sp>
      <p:sp>
        <p:nvSpPr>
          <p:cNvPr id="245" name="Tabela 2: Uso de medicamento oral ou bombinha entre pessoas com asma por UF.-cell-23-2">
            <a:extLst xmlns:a="http://schemas.openxmlformats.org/drawingml/2006/main">
              <a:ext uri="{FF2B5EF4-FFF2-40B4-BE49-F238E27FC236}">
                <a16:creationId xmlns:a16="http://schemas.microsoft.com/office/drawing/2014/main" id="{1944EB8B-92C8-425C-BD53-44B95EDE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69,40% [51,51%; 83,83%]</a:t>
            </a:r>
          </a:p>
        </p:txBody>
      </p:sp>
      <p:sp>
        <p:nvSpPr>
          <p:cNvPr id="246" name="Tabela 2: Uso de medicamento oral ou bombinha entre pessoas com asma por UF.-stripe-24">
            <a:extLst xmlns:a="http://schemas.openxmlformats.org/drawingml/2006/main">
              <a:ext uri="{FF2B5EF4-FFF2-40B4-BE49-F238E27FC236}">
                <a16:creationId xmlns:a16="http://schemas.microsoft.com/office/drawing/2014/main" id="{02959D80-A22C-414C-BB65-5E5C96E7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95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47" name="Tabela 2: Uso de medicamento oral ou bombinha entre pessoas com asma por UF.-cell-24-0">
            <a:extLst xmlns:a="http://schemas.openxmlformats.org/drawingml/2006/main">
              <a:ext uri="{FF2B5EF4-FFF2-40B4-BE49-F238E27FC236}">
                <a16:creationId xmlns:a16="http://schemas.microsoft.com/office/drawing/2014/main" id="{0A28C8E2-8C3D-4AA8-8EE1-EBED7221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</a:t>
            </a:r>
          </a:p>
        </p:txBody>
      </p:sp>
      <p:sp>
        <p:nvSpPr>
          <p:cNvPr id="248" name="Tabela 2: Uso de medicamento oral ou bombinha entre pessoas com asma por UF.-cell-24-1">
            <a:extLst xmlns:a="http://schemas.openxmlformats.org/drawingml/2006/main">
              <a:ext uri="{FF2B5EF4-FFF2-40B4-BE49-F238E27FC236}">
                <a16:creationId xmlns:a16="http://schemas.microsoft.com/office/drawing/2014/main" id="{09EA575D-E689-4F1B-B15E-3D2AB5BB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86,59% [61,99%; 97,89%]</a:t>
            </a:r>
          </a:p>
        </p:txBody>
      </p:sp>
      <p:sp>
        <p:nvSpPr>
          <p:cNvPr id="249" name="Tabela 2: Uso de medicamento oral ou bombinha entre pessoas com asma por UF.-cell-24-2">
            <a:extLst xmlns:a="http://schemas.openxmlformats.org/drawingml/2006/main">
              <a:ext uri="{FF2B5EF4-FFF2-40B4-BE49-F238E27FC236}">
                <a16:creationId xmlns:a16="http://schemas.microsoft.com/office/drawing/2014/main" id="{C21354C7-FA6C-46CF-99E1-DB34FD60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71,01% [37,48%; 93,10%]</a:t>
            </a:r>
          </a:p>
        </p:txBody>
      </p:sp>
      <p:sp>
        <p:nvSpPr>
          <p:cNvPr id="250" name="Tabela 2: Uso de medicamento oral ou bombinha entre pessoas com asma por UF.-cell-25-0">
            <a:extLst xmlns:a="http://schemas.openxmlformats.org/drawingml/2006/main">
              <a:ext uri="{FF2B5EF4-FFF2-40B4-BE49-F238E27FC236}">
                <a16:creationId xmlns:a16="http://schemas.microsoft.com/office/drawing/2014/main" id="{801260C0-0E09-4C8B-8872-5536F26D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Goiás</a:t>
            </a:r>
          </a:p>
        </p:txBody>
      </p:sp>
      <p:sp>
        <p:nvSpPr>
          <p:cNvPr id="251" name="Tabela 2: Uso de medicamento oral ou bombinha entre pessoas com asma por UF.-cell-25-1">
            <a:extLst xmlns:a="http://schemas.openxmlformats.org/drawingml/2006/main">
              <a:ext uri="{FF2B5EF4-FFF2-40B4-BE49-F238E27FC236}">
                <a16:creationId xmlns:a16="http://schemas.microsoft.com/office/drawing/2014/main" id="{305CFAE9-2AB1-4813-845B-1B4DEC6A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80,41% [63,61%; 91,80%]</a:t>
            </a:r>
          </a:p>
        </p:txBody>
      </p:sp>
      <p:sp>
        <p:nvSpPr>
          <p:cNvPr id="252" name="Tabela 2: Uso de medicamento oral ou bombinha entre pessoas com asma por UF.-cell-25-2">
            <a:extLst xmlns:a="http://schemas.openxmlformats.org/drawingml/2006/main">
              <a:ext uri="{FF2B5EF4-FFF2-40B4-BE49-F238E27FC236}">
                <a16:creationId xmlns:a16="http://schemas.microsoft.com/office/drawing/2014/main" id="{2F18488B-89CD-46B9-AE53-6C91B76F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60,59% [43,81%; 75,73%]</a:t>
            </a:r>
          </a:p>
        </p:txBody>
      </p:sp>
      <p:sp>
        <p:nvSpPr>
          <p:cNvPr id="253" name="Tabela 2: Uso de medicamento oral ou bombinha entre pessoas com asma por UF.-stripe-26">
            <a:extLst xmlns:a="http://schemas.openxmlformats.org/drawingml/2006/main">
              <a:ext uri="{FF2B5EF4-FFF2-40B4-BE49-F238E27FC236}">
                <a16:creationId xmlns:a16="http://schemas.microsoft.com/office/drawing/2014/main" id="{41D21C6D-CD95-4BE1-A6D1-8F4A7379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201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54" name="Tabela 2: Uso de medicamento oral ou bombinha entre pessoas com asma por UF.-cell-26-0">
            <a:extLst xmlns:a="http://schemas.openxmlformats.org/drawingml/2006/main">
              <a:ext uri="{FF2B5EF4-FFF2-40B4-BE49-F238E27FC236}">
                <a16:creationId xmlns:a16="http://schemas.microsoft.com/office/drawing/2014/main" id="{B0A88DBF-463F-4CFF-9129-1945F86E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20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Distrito Federal</a:t>
            </a:r>
          </a:p>
        </p:txBody>
      </p:sp>
      <p:sp>
        <p:nvSpPr>
          <p:cNvPr id="255" name="Tabela 2: Uso de medicamento oral ou bombinha entre pessoas com asma por UF.-cell-26-1">
            <a:extLst xmlns:a="http://schemas.openxmlformats.org/drawingml/2006/main">
              <a:ext uri="{FF2B5EF4-FFF2-40B4-BE49-F238E27FC236}">
                <a16:creationId xmlns:a16="http://schemas.microsoft.com/office/drawing/2014/main" id="{E73F075D-EF73-4CE6-A6E7-E766B017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77,45% [49,84%; 94,19%]</a:t>
            </a:r>
          </a:p>
        </p:txBody>
      </p:sp>
      <p:sp>
        <p:nvSpPr>
          <p:cNvPr id="256" name="Tabela 2: Uso de medicamento oral ou bombinha entre pessoas com asma por UF.-cell-26-2">
            <a:extLst xmlns:a="http://schemas.openxmlformats.org/drawingml/2006/main">
              <a:ext uri="{FF2B5EF4-FFF2-40B4-BE49-F238E27FC236}">
                <a16:creationId xmlns:a16="http://schemas.microsoft.com/office/drawing/2014/main" id="{A0D9B430-1BF6-4A4E-BE61-239F48B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52,79% [32,84%; 72,12%]</a:t>
            </a:r>
          </a:p>
        </p:txBody>
      </p:sp>
      <p:sp>
        <p:nvSpPr>
          <p:cNvPr id="257" name="Tabela 2: Uso de medicamento oral ou bombinha entre pessoas com asma por UF.-note">
            <a:extLst xmlns:a="http://schemas.openxmlformats.org/drawingml/2006/main">
              <a:ext uri="{FF2B5EF4-FFF2-40B4-BE49-F238E27FC236}">
                <a16:creationId xmlns:a16="http://schemas.microsoft.com/office/drawing/2014/main" id="{D0D9AF33-9ACB-491D-85A0-591111BF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20412000"/>
            <a:ext cx="1231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47" b="0">
                <a:solidFill>
                  <a:srgbClr val="4F6372"/>
                </a:solidFill>
              </a:defRPr>
            </a:pPr>
            <a:r>
              <a:rPr sz="1247" b="0">
                <a:solidFill>
                  <a:srgbClr val="4F6372"/>
                </a:solidFill>
              </a:rPr>
              <a:t>Estimativas ponderadas; IC95% beta entre colchetes. Brasil sintetizado nos cards.</a:t>
            </a:r>
          </a:p>
        </p:txBody>
      </p:sp>
      <p:sp>
        <p:nvSpPr>
          <p:cNvPr id="258" name="Figura 1: Absenteísmo po">
            <a:extLst xmlns:a="http://schemas.openxmlformats.org/drawingml/2006/main">
              <a:ext uri="{FF2B5EF4-FFF2-40B4-BE49-F238E27FC236}">
                <a16:creationId xmlns:a16="http://schemas.microsoft.com/office/drawing/2014/main" id="{BF2FCF8E-C6A2-43A4-BED3-E7ADF95C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1636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Figura 1: Absenteísmo por motivo de saúde no Brasil, com destaque para causas respiratórias, PNS 2019.</a:t>
            </a:r>
          </a:p>
        </p:txBody>
      </p:sp>
      <p:sp>
        <p:nvSpPr>
          <p:cNvPr id="259" name="Figura 1: Absenteísmo por motivo de saúde no Brasil, com destaque para causas respiratórias, PNS 2019.-frame">
            <a:extLst xmlns:a="http://schemas.openxmlformats.org/drawingml/2006/main">
              <a:ext uri="{FF2B5EF4-FFF2-40B4-BE49-F238E27FC236}">
                <a16:creationId xmlns:a16="http://schemas.microsoft.com/office/drawing/2014/main" id="{704372D8-B8C9-4E8D-B5F3-35A6119D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2500000"/>
            <a:ext cx="12672000" cy="57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5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e3591f958409f"/>
          <a:stretch xmlns:a="http://schemas.openxmlformats.org/drawingml/2006/main"/>
        </p:blipFill>
        <p:spPr>
          <a:xfrm xmlns:a="http://schemas.openxmlformats.org/drawingml/2006/main">
            <a:off x="11093538" y="22644000"/>
            <a:ext cx="8628923" cy="5472000"/>
          </a:xfrm>
          <a:prstGeom xmlns:a="http://schemas.openxmlformats.org/drawingml/2006/main" prst="rect">
            <a:avLst/>
          </a:prstGeom>
        </p:spPr>
      </p:pic>
      <p:sp>
        <p:nvSpPr>
          <p:cNvPr id="261" name="Figura 2: Média de dias ">
            <a:extLst xmlns:a="http://schemas.openxmlformats.org/drawingml/2006/main">
              <a:ext uri="{FF2B5EF4-FFF2-40B4-BE49-F238E27FC236}">
                <a16:creationId xmlns:a16="http://schemas.microsoft.com/office/drawing/2014/main" id="{1A5E6138-A568-4D4C-AA97-3BAF16A9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1636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Figura 2: Média de dias perdidos por motivo de saúde no Brasil, com destaque para causas respiratórias, PNS 2019.</a:t>
            </a:r>
          </a:p>
        </p:txBody>
      </p:sp>
      <p:sp>
        <p:nvSpPr>
          <p:cNvPr id="262" name="Figura 2: Média de dias perdidos por motivo de saúde no Brasil, com destaque para causas respiratórias, PNS 2019.-frame">
            <a:extLst xmlns:a="http://schemas.openxmlformats.org/drawingml/2006/main">
              <a:ext uri="{FF2B5EF4-FFF2-40B4-BE49-F238E27FC236}">
                <a16:creationId xmlns:a16="http://schemas.microsoft.com/office/drawing/2014/main" id="{781C114C-C8C8-40E0-A56D-4C6A0B3D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2500000"/>
            <a:ext cx="12672000" cy="57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5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1c7a5e6864110"/>
          <a:stretch xmlns:a="http://schemas.openxmlformats.org/drawingml/2006/main"/>
        </p:blipFill>
        <p:spPr>
          <a:xfrm xmlns:a="http://schemas.openxmlformats.org/drawingml/2006/main">
            <a:off x="24197538" y="22644000"/>
            <a:ext cx="8628923" cy="5472000"/>
          </a:xfrm>
          <a:prstGeom xmlns:a="http://schemas.openxmlformats.org/drawingml/2006/main" prst="rect">
            <a:avLst/>
          </a:prstGeom>
        </p:spPr>
      </p:pic>
      <p:pic>
        <p:nvPicPr>
          <p:cNvPr id="5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ebc67c47f4a9a"/>
          <a:stretch xmlns:a="http://schemas.openxmlformats.org/drawingml/2006/main"/>
        </p:blipFill>
        <p:spPr>
          <a:xfrm xmlns:a="http://schemas.openxmlformats.org/drawingml/2006/main">
            <a:off x="19260000" y="28656000"/>
            <a:ext cx="2592000" cy="2592000"/>
          </a:xfrm>
          <a:prstGeom xmlns:a="http://schemas.openxmlformats.org/drawingml/2006/main" prst="rect">
            <a:avLst/>
          </a:prstGeom>
        </p:spPr>
      </p:pic>
      <p:sp>
        <p:nvSpPr>
          <p:cNvPr id="265" name="qr-arrow">
            <a:extLst xmlns:a="http://schemas.openxmlformats.org/drawingml/2006/main">
              <a:ext uri="{FF2B5EF4-FFF2-40B4-BE49-F238E27FC236}">
                <a16:creationId xmlns:a16="http://schemas.microsoft.com/office/drawing/2014/main" id="{7B96A38C-A0CA-4973-B402-B68E3D6C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2000" y="29484000"/>
            <a:ext cx="6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19" b="1">
                <a:solidFill>
                  <a:srgbClr val="153F59"/>
                </a:solidFill>
              </a:defRPr>
            </a:pPr>
            <a:r>
              <a:rPr sz="4819" b="1">
                <a:solidFill>
                  <a:srgbClr val="153F59"/>
                </a:solidFill>
              </a:rPr>
              <a:t>←</a:t>
            </a:r>
          </a:p>
        </p:txBody>
      </p:sp>
      <p:sp>
        <p:nvSpPr>
          <p:cNvPr id="266" name="qr-label">
            <a:extLst xmlns:a="http://schemas.openxmlformats.org/drawingml/2006/main">
              <a:ext uri="{FF2B5EF4-FFF2-40B4-BE49-F238E27FC236}">
                <a16:creationId xmlns:a16="http://schemas.microsoft.com/office/drawing/2014/main" id="{62394181-54DA-4CDC-B89C-BFB52A3B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2000" y="28944000"/>
            <a:ext cx="648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11" b="1">
                <a:solidFill>
                  <a:srgbClr val="153F59"/>
                </a:solidFill>
              </a:defRPr>
            </a:pPr>
            <a:r>
              <a:rPr sz="2211" b="1">
                <a:solidFill>
                  <a:srgbClr val="153F59"/>
                </a:solidFill>
              </a:rPr>
              <a:t>Aponte para acessar o relatório metodológico</a:t>
            </a:r>
          </a:p>
          <a:p xmlns:a="http://schemas.openxmlformats.org/drawingml/2006/main">
            <a:pPr algn="l">
              <a:defRPr sz="2211" b="1">
                <a:solidFill>
                  <a:srgbClr val="153F59"/>
                </a:solidFill>
              </a:defRPr>
            </a:pPr>
            <a:r>
              <a:rPr sz="2211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26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C9FF032-B3BF-45B7-8E83-524BBA0C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5400000"/>
            <a:ext cx="6840000" cy="12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25" b="1">
                <a:solidFill>
                  <a:srgbClr val="102536"/>
                </a:solidFill>
              </a:defRPr>
            </a:pPr>
            <a:r>
              <a:rPr sz="4025" b="1">
                <a:solidFill>
                  <a:srgbClr val="102536"/>
                </a:solidFill>
              </a:rPr>
              <a:t>Discussão e Implicações</a:t>
            </a:r>
          </a:p>
        </p:txBody>
      </p:sp>
      <p:sp>
        <p:nvSpPr>
          <p:cNvPr id="268" name="right-discussion">
            <a:extLst xmlns:a="http://schemas.openxmlformats.org/drawingml/2006/main">
              <a:ext uri="{FF2B5EF4-FFF2-40B4-BE49-F238E27FC236}">
                <a16:creationId xmlns:a16="http://schemas.microsoft.com/office/drawing/2014/main" id="{1291F459-171E-4F0F-AA84-BF04E549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6840000"/>
            <a:ext cx="7092000" cy="154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DISCUSSÃO APLICADA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O aumento de diagnóstico pode refletir maior ocorrência, melhor acesso diagnóstico ou ambos.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Crises recentes estáveis indicam que maior detecção não se traduz automaticamente em melhor controle clínico.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A queda no uso de medicamentos entre asmáticos deve ser lida com cautela: denominador, composição dos diagnosticados e IC95% mudam a interpretação.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O impacto funcional interessa à economia: crises e sintomas respiratórios podem aumentar faltas, dias perdidos, perda de produtividade e pressão financeira sobre famílias e serviços.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IC BETA E INFERÊNCIA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Proporções em UFs e subgrupos podem ter poucos eventos e limites próximos de 0 ou 1.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O IC de Wald pode gerar cobertura instável e limites impossíveis.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O IC beta respeita a escala 0-1 e foi usado nas proporções estimadas pelo survey::svyciprop(method = "beta").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Comparações entre anos/UFs combinam magnitude e sobreposição dos IC95%.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ETL, OMOP E ECONOMIA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O fluxo documenta extração, tratamento, desenho amostral e visualização reprodutível.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A PNS não é base clínica longitudinal, mas pode servir como camada populacional de referência para OMOP/OHDSI.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A harmonização de indicadores apoia interoperabilidade, comparação com bases assistenciais e priorização de políticas.</a:t>
            </a:r>
          </a:p>
        </p:txBody>
      </p:sp>
      <p:sp>
        <p:nvSpPr>
          <p:cNvPr id="269" name="refs-heading">
            <a:extLst xmlns:a="http://schemas.openxmlformats.org/drawingml/2006/main">
              <a:ext uri="{FF2B5EF4-FFF2-40B4-BE49-F238E27FC236}">
                <a16:creationId xmlns:a16="http://schemas.microsoft.com/office/drawing/2014/main" id="{A2613B2E-A851-4925-9D11-4F61C100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2788000"/>
            <a:ext cx="72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53" b="1">
                <a:solidFill>
                  <a:srgbClr val="153F59"/>
                </a:solidFill>
              </a:defRPr>
            </a:pPr>
            <a:r>
              <a:rPr sz="2353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270" name="refs-left">
            <a:extLst xmlns:a="http://schemas.openxmlformats.org/drawingml/2006/main">
              <a:ext uri="{FF2B5EF4-FFF2-40B4-BE49-F238E27FC236}">
                <a16:creationId xmlns:a16="http://schemas.microsoft.com/office/drawing/2014/main" id="{3C4D5CE2-B76D-42D2-BEDA-29DA232E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271" name="refs-right">
            <a:extLst xmlns:a="http://schemas.openxmlformats.org/drawingml/2006/main">
              <a:ext uri="{FF2B5EF4-FFF2-40B4-BE49-F238E27FC236}">
                <a16:creationId xmlns:a16="http://schemas.microsoft.com/office/drawing/2014/main" id="{FE04961C-D569-41DE-BC46-C7E47E4A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272" name="author-footer">
            <a:extLst xmlns:a="http://schemas.openxmlformats.org/drawingml/2006/main">
              <a:ext uri="{FF2B5EF4-FFF2-40B4-BE49-F238E27FC236}">
                <a16:creationId xmlns:a16="http://schemas.microsoft.com/office/drawing/2014/main" id="{40608E32-5919-4F3F-8B33-01C266C2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7600" y="28080000"/>
            <a:ext cx="4248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41" b="0">
                <a:solidFill>
                  <a:srgbClr val="102536"/>
                </a:solidFill>
              </a:defRPr>
            </a:pPr>
            <a:r>
              <a:rPr sz="2041" b="0">
                <a:solidFill>
                  <a:srgbClr val="102536"/>
                </a:solidFill>
              </a:rPr>
              <a:t>I. Dube; M. E. L. Silva</a:t>
            </a:r>
          </a:p>
          <a:p xmlns:a="http://schemas.openxmlformats.org/drawingml/2006/main">
            <a:pPr algn="l">
              <a:defRPr sz="2041" b="0">
                <a:solidFill>
                  <a:srgbClr val="102536"/>
                </a:solidFill>
              </a:defRPr>
            </a:pPr>
            <a:r>
              <a:rPr sz="2041" b="0">
                <a:solidFill>
                  <a:srgbClr val="102536"/>
                </a:solidFill>
              </a:rPr>
              <a:t>PNS 2013-2019 | Brasil</a:t>
            </a:r>
          </a:p>
        </p:txBody>
      </p:sp>
    </p:spTree>
    <p:extLst>
      <p:ext uri="{BB962C8B-B14F-4D97-AF65-F5344CB8AC3E}">
        <p14:creationId xmlns:p14="http://schemas.microsoft.com/office/powerpoint/2010/main" val="1481944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2026-07-22T11:01:36.5610000Z</dcterms:created>
  <dcterms:modified xsi:type="dcterms:W3CDTF">2026-07-22T11:01:36.5610000Z</dcterms:modified>
</coreProperties>
</file>