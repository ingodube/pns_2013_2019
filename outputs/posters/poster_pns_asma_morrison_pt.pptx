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f8222bdb624738" /><Relationship Type="http://schemas.openxmlformats.org/officeDocument/2006/relationships/extended-properties" Target="/docProps/app.xml" Id="R84dcdf4302314a65" /><Relationship Type="http://schemas.openxmlformats.org/officeDocument/2006/relationships/officeDocument" Target="/ppt/presentation.xml" Id="Rf1a178ccbee842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26e86e909748f5"/>
  </p:sldMasterIdLst>
  <p:notesMasterIdLst>
    <p:notesMasterId xmlns:r="http://schemas.openxmlformats.org/officeDocument/2006/relationships" r:id="R4c3a566e6ff64318"/>
  </p:notesMasterIdLst>
  <p:sldIdLst>
    <p:sldId xmlns:r="http://schemas.openxmlformats.org/officeDocument/2006/relationships" id="256" r:id="R98ab52e38c7a4eeb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e173699c7b45a0" /><Relationship Type="http://schemas.openxmlformats.org/officeDocument/2006/relationships/slideMaster" Target="/ppt/slideMasters/slideMaster1.xml" Id="R8e26e86e909748f5" /><Relationship Type="http://schemas.openxmlformats.org/officeDocument/2006/relationships/notesMaster" Target="/ppt/notesMasters/notesMaster1.xml" Id="R4c3a566e6ff64318" /><Relationship Type="http://schemas.openxmlformats.org/officeDocument/2006/relationships/presProps" Target="/ppt/presProps.xml" Id="Rf8c27cab13134aa5" /><Relationship Type="http://schemas.openxmlformats.org/officeDocument/2006/relationships/tableStyles" Target="/ppt/tableStyles.xml" Id="R246039c9a0e84d06" /><Relationship Type="http://schemas.openxmlformats.org/officeDocument/2006/relationships/slide" Target="/ppt/slides/slide1.xml" Id="R98ab52e38c7a4e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6a9ee19bc249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34ccc24a374f56" /><Relationship Type="http://schemas.openxmlformats.org/officeDocument/2006/relationships/notesMaster" Target="/ppt/notesMasters/notesMaster1.xml" Id="R22ce549f31c643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0400fa0b3341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d1993b5eaa4332" /><Relationship Type="http://schemas.openxmlformats.org/officeDocument/2006/relationships/slideLayout" Target="/ppt/slideLayouts/slideLayout1.xml" Id="Rc718a7631f9342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18a7631f9342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d21b85a884a83" /><Relationship Type="http://schemas.openxmlformats.org/officeDocument/2006/relationships/image" Target="/ppt/media/image.png" Id="R804da1e0f8c54f06" /><Relationship Type="http://schemas.openxmlformats.org/officeDocument/2006/relationships/image" Target="/ppt/media/image2.png" Id="Rc2d09cf539d74b21" /><Relationship Type="http://schemas.openxmlformats.org/officeDocument/2006/relationships/image" Target="/ppt/media/image3.png" Id="Rc03a3b0feb5243d9" /><Relationship Type="http://schemas.openxmlformats.org/officeDocument/2006/relationships/image" Target="/ppt/media/image4.png" Id="R500fbfc193004f3d" /><Relationship Type="http://schemas.openxmlformats.org/officeDocument/2006/relationships/image" Target="/ppt/media/image5.png" Id="R8518ec643a714a36" /><Relationship Type="http://schemas.openxmlformats.org/officeDocument/2006/relationships/image" Target="/ppt/media/image6.png" Id="Rceacb6d959c541c0" /><Relationship Type="http://schemas.openxmlformats.org/officeDocument/2006/relationships/image" Target="/ppt/media/image7.png" Id="Rb24a78f8f44a49db" /><Relationship Type="http://schemas.openxmlformats.org/officeDocument/2006/relationships/image" Target="/ppt/media/image8.png" Id="Rbe7bb5e0a05847c7" /><Relationship Type="http://schemas.openxmlformats.org/officeDocument/2006/relationships/notesSlide" Target="/ppt/notesSlides/notesSlide1.xml" Id="Rcfdaa0d850de41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da1e0f8c54f06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09cf539d74b21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a3b0feb5243d9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FD6CBFC7-298D-4D4F-9E2E-5C75C9FD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978CF487-5F99-4125-8F9F-33D7F698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C6FC31EF-FEF0-42BE-853F-16372860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médico de asma aumentou no Brasil; crises e uso de medicamentos não indicam melhora proporcional no controle da doença.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34CF10AC-6E94-46A9-B20F-18B79813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CE2FB94C-2EFC-4480-8ABF-6AD93ABF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2AACDA5F-D629-4615-B837-6E96B3D4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F0E09A3B-A148-4E0D-95A4-949F7072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D815F590-51C3-45EB-8FA8-1056CF3E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3ADD3848-D76B-427F-B683-DBC9C969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065C6C8A-74F9-4E03-9417-4105943C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9AC97C48-EC0A-40C4-AEC3-F36F3DF7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9DFCF7F7-83BD-4596-962C-7DBE38D9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2C1F9F61-EFB1-428A-90DD-2938C04E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CDF1327E-241A-4A43-B2D3-F98B2B46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884FF527-FA3D-46D8-A5C9-B3F0C8F2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59C830D3-27C4-4C17-B249-DB70347E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EA319A14-732E-4689-AA43-3E17D357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4910B5D6-A0D8-4A26-8639-A32DC7FC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ABD53E3F-B5EA-46B7-A644-52DF3C65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9D95D76F-96CE-4B15-97B4-5E7B9502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534CD50B-5F27-474A-9AE9-7EC1DBD3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CAA84EA6-5620-406B-A813-C906CD31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451A8BFF-7881-49BA-A014-DD910FE0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0572038C-09F7-457E-9335-D98E3D8B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1452CA8E-644B-49AF-8B72-E217A03A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87BFC95B-3BFC-4B2B-ADBF-C20A9CD6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nacional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4CB2DDCA-B043-47E5-B9B3-CBD474E8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E0E34893-8784-46EB-9265-D23C68D5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Crises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D1004D25-8B4D-4B09-9782-08426757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38,3%→37,7%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74075461-50F3-4A20-8E1C-65594301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Sem melhora proporcional no controle.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1011BFCC-7D91-4B8B-B8B2-1D38CF21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2C1D1D96-0FB8-475F-8520-99235942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8BBE1F44-E4AA-4274-8A2A-C247BC3C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F5C7AFDB-537E-4F66-8C9F-5556227F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Interpretar por denominador e IC.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CB17EF48-F14F-4ED1-BEEF-F552292A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22A54F7B-7669-4620-8C80-D0D69F2A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bfc193004f3d"/>
          <a:stretch xmlns:a="http://schemas.openxmlformats.org/drawingml/2006/main"/>
        </p:blipFill>
        <p:spPr>
          <a:xfrm xmlns:a="http://schemas.openxmlformats.org/drawingml/2006/main">
            <a:off x="3219450" y="5052616"/>
            <a:ext cx="3562350" cy="1039019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FB235164-E891-40AA-81A9-67993677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A4D96CA4-A13A-4279-981C-EF6143C3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8ec643a714a36"/>
          <a:stretch xmlns:a="http://schemas.openxmlformats.org/drawingml/2006/main"/>
        </p:blipFill>
        <p:spPr>
          <a:xfrm xmlns:a="http://schemas.openxmlformats.org/drawingml/2006/main">
            <a:off x="3219450" y="7719616"/>
            <a:ext cx="3562350" cy="1039019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1B9ACC21-703B-4A1A-A487-D310731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Taxa de fumantes ativos por 100 mil habitantes por UF, PNS 2013 e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9044F082-166C-43E7-9D11-A89C2962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cb6d959c541c0"/>
          <a:stretch xmlns:a="http://schemas.openxmlformats.org/drawingml/2006/main"/>
        </p:blipFill>
        <p:spPr>
          <a:xfrm xmlns:a="http://schemas.openxmlformats.org/drawingml/2006/main">
            <a:off x="3219450" y="10291366"/>
            <a:ext cx="3562350" cy="1039019"/>
          </a:xfrm>
          <a:prstGeom xmlns:a="http://schemas.openxmlformats.org/drawingml/2006/main" prst="rect">
            <a:avLst/>
          </a:prstGeom>
        </p:spPr>
      </p:pic>
      <p:sp>
        <p:nvSpPr>
          <p:cNvPr id="47" name="5-Achados principais-box">
            <a:extLst xmlns:a="http://schemas.openxmlformats.org/drawingml/2006/main">
              <a:ext uri="{FF2B5EF4-FFF2-40B4-BE49-F238E27FC236}">
                <a16:creationId xmlns:a16="http://schemas.microsoft.com/office/drawing/2014/main" id="{22B74718-9BCE-4144-A18E-282BC2BF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Achados principais-head">
            <a:extLst xmlns:a="http://schemas.openxmlformats.org/drawingml/2006/main">
              <a:ext uri="{FF2B5EF4-FFF2-40B4-BE49-F238E27FC236}">
                <a16:creationId xmlns:a16="http://schemas.microsoft.com/office/drawing/2014/main" id="{7A785CF9-55BA-43A7-8BAB-C6C93B55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Achados principais-title">
            <a:extLst xmlns:a="http://schemas.openxmlformats.org/drawingml/2006/main">
              <a:ext uri="{FF2B5EF4-FFF2-40B4-BE49-F238E27FC236}">
                <a16:creationId xmlns:a16="http://schemas.microsoft.com/office/drawing/2014/main" id="{FE8943B6-76F2-4BB1-9D43-F3CB3B7D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Achados principais</a:t>
            </a:r>
          </a:p>
        </p:txBody>
      </p:sp>
      <p:sp>
        <p:nvSpPr>
          <p:cNvPr id="50" name="5-Achados principais-body">
            <a:extLst xmlns:a="http://schemas.openxmlformats.org/drawingml/2006/main">
              <a:ext uri="{FF2B5EF4-FFF2-40B4-BE49-F238E27FC236}">
                <a16:creationId xmlns:a16="http://schemas.microsoft.com/office/drawing/2014/main" id="{44E5D511-DE4B-4F71-96D6-BAD380CA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Diagnóstico médico de asma: 4,41% em 2013 para 5,40% em 2019, com ICs sem sobreposição.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Crises nos últimos 12 meses: 38,3% para 37,7%, indicando estabilidade aproximada.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Uso de medicamento oral/bombinha entre asmáticos: 81,5% para 64,4%; leitura exige cautela por denominador e IC95%.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Tabagismo caiu em várias UFs; a taxa nacional citada foi de 14.650 para 12.151 por 100 mil.</a:t>
            </a:r>
          </a:p>
        </p:txBody>
      </p:sp>
      <p:sp>
        <p:nvSpPr>
          <p:cNvPr id="51" name="6-Discussão aplicada-box">
            <a:extLst xmlns:a="http://schemas.openxmlformats.org/drawingml/2006/main">
              <a:ext uri="{FF2B5EF4-FFF2-40B4-BE49-F238E27FC236}">
                <a16:creationId xmlns:a16="http://schemas.microsoft.com/office/drawing/2014/main" id="{F538C73A-AF08-4526-9B9F-31E391B8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Discussão aplicada-head">
            <a:extLst xmlns:a="http://schemas.openxmlformats.org/drawingml/2006/main">
              <a:ext uri="{FF2B5EF4-FFF2-40B4-BE49-F238E27FC236}">
                <a16:creationId xmlns:a16="http://schemas.microsoft.com/office/drawing/2014/main" id="{70973DD5-A7F2-41B4-AF9A-2030F7D4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Discussão aplicada-title">
            <a:extLst xmlns:a="http://schemas.openxmlformats.org/drawingml/2006/main">
              <a:ext uri="{FF2B5EF4-FFF2-40B4-BE49-F238E27FC236}">
                <a16:creationId xmlns:a16="http://schemas.microsoft.com/office/drawing/2014/main" id="{355E61F6-BD01-4E03-B2F4-87B04180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45782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Discussão aplicada</a:t>
            </a:r>
          </a:p>
        </p:txBody>
      </p:sp>
      <p:sp>
        <p:nvSpPr>
          <p:cNvPr id="54" name="6-Discussão aplicada-body">
            <a:extLst xmlns:a="http://schemas.openxmlformats.org/drawingml/2006/main">
              <a:ext uri="{FF2B5EF4-FFF2-40B4-BE49-F238E27FC236}">
                <a16:creationId xmlns:a16="http://schemas.microsoft.com/office/drawing/2014/main" id="{6548D00C-A4AD-4920-A521-FE4A1892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 aumento do diagnóstico pode refletir maior ocorrência, melhor acesso ao diagnóstico ou ambos.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 estabilidade das crises sugere que o manejo clínico não melhorou na mesma proporção.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 controle da asma depende de acesso farmacológico, seguimento clínico, educação, controle de exposições e intervenções não farmacológicas.</a:t>
            </a:r>
          </a:p>
        </p:txBody>
      </p:sp>
      <p:sp>
        <p:nvSpPr>
          <p:cNvPr id="55" name="7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5C35EA91-C768-4BF4-8E08-C6CA1B4C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6" name="7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15746539-B06C-4093-BA79-B434B855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7" name="7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300DF54D-8108-48A0-A216-3FBCFAEE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Conclusão central</a:t>
            </a:r>
          </a:p>
        </p:txBody>
      </p:sp>
      <p:sp>
        <p:nvSpPr>
          <p:cNvPr id="58" name="7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A41A022B-4BED-48CC-BF8E-003E5696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 Brasil apresentou aumento de diagnóstico, mas não evidência equivalente de melhora no controle.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gráficos por UF devem ser lidos com IC95%, pois várias comparações têm intervalos sobrepostos.</a:t>
            </a:r>
          </a:p>
        </p:txBody>
      </p:sp>
      <p:sp>
        <p:nvSpPr>
          <p:cNvPr id="59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A31DF33E-7B65-4DD9-AF99-DE707C28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Prevalência (%) de crise de asma nos últimos 12 meses por UF e Brasil, PNS 2013 e 2019.</a:t>
            </a:r>
          </a:p>
        </p:txBody>
      </p:sp>
      <p:sp>
        <p:nvSpPr>
          <p:cNvPr id="60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FBA9B421-9FCF-4781-B32F-68C47EED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a78f8f44a49db"/>
          <a:stretch xmlns:a="http://schemas.openxmlformats.org/drawingml/2006/main"/>
        </p:blipFill>
        <p:spPr>
          <a:xfrm xmlns:a="http://schemas.openxmlformats.org/drawingml/2006/main">
            <a:off x="7048500" y="9130506"/>
            <a:ext cx="2247900" cy="655638"/>
          </a:xfrm>
          <a:prstGeom xmlns:a="http://schemas.openxmlformats.org/drawingml/2006/main" prst="rect">
            <a:avLst/>
          </a:prstGeom>
        </p:spPr>
      </p:pic>
      <p:sp>
        <p:nvSpPr>
          <p:cNvPr id="62" name="qr-box">
            <a:extLst xmlns:a="http://schemas.openxmlformats.org/drawingml/2006/main">
              <a:ext uri="{FF2B5EF4-FFF2-40B4-BE49-F238E27FC236}">
                <a16:creationId xmlns:a16="http://schemas.microsoft.com/office/drawing/2014/main" id="{16D68B07-D765-4201-A88E-E1BE68AB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bb5e0a05847c7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4" name="qr-label">
            <a:extLst xmlns:a="http://schemas.openxmlformats.org/drawingml/2006/main">
              <a:ext uri="{FF2B5EF4-FFF2-40B4-BE49-F238E27FC236}">
                <a16:creationId xmlns:a16="http://schemas.microsoft.com/office/drawing/2014/main" id="{2FB86C6B-C0A2-47C0-87F6-8BDC6D5D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5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2C22741A-0A98-497B-93B7-454B1104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37B0B62D-278C-479D-B306-780EE277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7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8A317760-4BA4-4E67-BE52-3485AF31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9050373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2026-07-21T21:28:41.9960000Z</dcterms:created>
  <dcterms:modified xsi:type="dcterms:W3CDTF">2026-07-21T21:28:41.9960000Z</dcterms:modified>
</coreProperties>
</file>