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0b646f885f4596" /><Relationship Type="http://schemas.openxmlformats.org/officeDocument/2006/relationships/extended-properties" Target="/docProps/app.xml" Id="Rabcb519984eb467c" /><Relationship Type="http://schemas.openxmlformats.org/officeDocument/2006/relationships/officeDocument" Target="/ppt/presentation.xml" Id="R364a329548e74d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29cbe0211847c2"/>
  </p:sldMasterIdLst>
  <p:notesMasterIdLst>
    <p:notesMasterId xmlns:r="http://schemas.openxmlformats.org/officeDocument/2006/relationships" r:id="R7760c29369884543"/>
  </p:notesMasterIdLst>
  <p:sldIdLst>
    <p:sldId xmlns:r="http://schemas.openxmlformats.org/officeDocument/2006/relationships" id="256" r:id="R90140ea82f9d4a98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d3b475085f483d" /><Relationship Type="http://schemas.openxmlformats.org/officeDocument/2006/relationships/slideMaster" Target="/ppt/slideMasters/slideMaster1.xml" Id="Rc229cbe0211847c2" /><Relationship Type="http://schemas.openxmlformats.org/officeDocument/2006/relationships/notesMaster" Target="/ppt/notesMasters/notesMaster1.xml" Id="R7760c29369884543" /><Relationship Type="http://schemas.openxmlformats.org/officeDocument/2006/relationships/presProps" Target="/ppt/presProps.xml" Id="R76822919d8e2435b" /><Relationship Type="http://schemas.openxmlformats.org/officeDocument/2006/relationships/tableStyles" Target="/ppt/tableStyles.xml" Id="R5636041aae00461a" /><Relationship Type="http://schemas.openxmlformats.org/officeDocument/2006/relationships/slide" Target="/ppt/slides/slide1.xml" Id="R90140ea82f9d4a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72311b858340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502bf10c4c4d20" /><Relationship Type="http://schemas.openxmlformats.org/officeDocument/2006/relationships/notesMaster" Target="/ppt/notesMasters/notesMaster1.xml" Id="Rb066b8896a0846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cc927a76ce48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7991750b6f48e3" /><Relationship Type="http://schemas.openxmlformats.org/officeDocument/2006/relationships/slideLayout" Target="/ppt/slideLayouts/slideLayout1.xml" Id="R61afa3a7682741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afa3a7682741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f0116d50c46ce" /><Relationship Type="http://schemas.openxmlformats.org/officeDocument/2006/relationships/image" Target="/ppt/media/image.png" Id="Rf3b0b13a99b64af0" /><Relationship Type="http://schemas.openxmlformats.org/officeDocument/2006/relationships/image" Target="/ppt/media/image2.png" Id="R7521a4b7fc024cc1" /><Relationship Type="http://schemas.openxmlformats.org/officeDocument/2006/relationships/image" Target="/ppt/media/image3.png" Id="Rf6ca54a529f34951" /><Relationship Type="http://schemas.openxmlformats.org/officeDocument/2006/relationships/image" Target="/ppt/media/image4.png" Id="Rd60fc84301804af9" /><Relationship Type="http://schemas.openxmlformats.org/officeDocument/2006/relationships/image" Target="/ppt/media/image5.png" Id="R3f27720275534a9d" /><Relationship Type="http://schemas.openxmlformats.org/officeDocument/2006/relationships/image" Target="/ppt/media/image6.png" Id="Rcb3367ee2792482e" /><Relationship Type="http://schemas.openxmlformats.org/officeDocument/2006/relationships/image" Target="/ppt/media/image7.png" Id="R6b8688a2b7f24574" /><Relationship Type="http://schemas.openxmlformats.org/officeDocument/2006/relationships/image" Target="/ppt/media/image8.png" Id="R2deb6d6218ad44a7" /><Relationship Type="http://schemas.openxmlformats.org/officeDocument/2006/relationships/notesSlide" Target="/ppt/notesSlides/notesSlide1.xml" Id="Rb8efe32c3ff646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b0b13a99b64af0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1a4b7fc024cc1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ca54a529f34951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CDC78026-7EBF-4E94-97E2-9C6A901B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F2E23AB8-546F-405A-9A50-60116CBA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721984F2-5C1A-447A-9CBB-13902A94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Diagnóstico médico de asma aumentou no Brasil; crises e uso de medicamentos não indicam melhora proporcional no controle da doença.</a:t>
            </a:r>
          </a:p>
        </p:txBody>
      </p:sp>
      <p:sp>
        <p:nvSpPr>
          <p:cNvPr id="7" name="1-Método em uma linha-box">
            <a:extLst xmlns:a="http://schemas.openxmlformats.org/drawingml/2006/main">
              <a:ext uri="{FF2B5EF4-FFF2-40B4-BE49-F238E27FC236}">
                <a16:creationId xmlns:a16="http://schemas.microsoft.com/office/drawing/2014/main" id="{D25256DB-03CB-4BFF-9C45-3EE132E4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étodo em uma linha-head">
            <a:extLst xmlns:a="http://schemas.openxmlformats.org/drawingml/2006/main">
              <a:ext uri="{FF2B5EF4-FFF2-40B4-BE49-F238E27FC236}">
                <a16:creationId xmlns:a16="http://schemas.microsoft.com/office/drawing/2014/main" id="{705E452E-9F76-45FD-A4DF-38807F85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étodo em uma linha-title">
            <a:extLst xmlns:a="http://schemas.openxmlformats.org/drawingml/2006/main">
              <a:ext uri="{FF2B5EF4-FFF2-40B4-BE49-F238E27FC236}">
                <a16:creationId xmlns:a16="http://schemas.microsoft.com/office/drawing/2014/main" id="{7439B484-F639-4E20-808C-116BBB51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Método em uma linha</a:t>
            </a:r>
          </a:p>
        </p:txBody>
      </p:sp>
      <p:sp>
        <p:nvSpPr>
          <p:cNvPr id="10" name="1-Método em uma linha-body">
            <a:extLst xmlns:a="http://schemas.openxmlformats.org/drawingml/2006/main">
              <a:ext uri="{FF2B5EF4-FFF2-40B4-BE49-F238E27FC236}">
                <a16:creationId xmlns:a16="http://schemas.microsoft.com/office/drawing/2014/main" id="{C110E8B0-31E1-4342-9BFA-474D25DE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ACAC9EFA-9362-47E2-B2DC-3DDABC73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C9807E6D-0253-41BF-A0E5-23B3BDC4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D1E9BD37-45CE-41B3-B673-64A3D030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14" name="2-Dados e denominadores-box">
            <a:extLst xmlns:a="http://schemas.openxmlformats.org/drawingml/2006/main">
              <a:ext uri="{FF2B5EF4-FFF2-40B4-BE49-F238E27FC236}">
                <a16:creationId xmlns:a16="http://schemas.microsoft.com/office/drawing/2014/main" id="{36CC5312-5571-4EC6-96D5-E2B9E8BC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dos e denominadores-head">
            <a:extLst xmlns:a="http://schemas.openxmlformats.org/drawingml/2006/main">
              <a:ext uri="{FF2B5EF4-FFF2-40B4-BE49-F238E27FC236}">
                <a16:creationId xmlns:a16="http://schemas.microsoft.com/office/drawing/2014/main" id="{445F6E0C-9EC7-492A-B900-B24E1BFBD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dos e denominadores-title">
            <a:extLst xmlns:a="http://schemas.openxmlformats.org/drawingml/2006/main">
              <a:ext uri="{FF2B5EF4-FFF2-40B4-BE49-F238E27FC236}">
                <a16:creationId xmlns:a16="http://schemas.microsoft.com/office/drawing/2014/main" id="{78C5D026-6256-439A-B949-F77F3BC7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Dados e denominadores</a:t>
            </a:r>
          </a:p>
        </p:txBody>
      </p:sp>
      <p:sp>
        <p:nvSpPr>
          <p:cNvPr id="17" name="2-Dados e denominadores-body">
            <a:extLst xmlns:a="http://schemas.openxmlformats.org/drawingml/2006/main">
              <a:ext uri="{FF2B5EF4-FFF2-40B4-BE49-F238E27FC236}">
                <a16:creationId xmlns:a16="http://schemas.microsoft.com/office/drawing/2014/main" id="{27D78EA8-BB3E-44A2-B62D-8095E58D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3-Por que IC beta?-box">
            <a:extLst xmlns:a="http://schemas.openxmlformats.org/drawingml/2006/main">
              <a:ext uri="{FF2B5EF4-FFF2-40B4-BE49-F238E27FC236}">
                <a16:creationId xmlns:a16="http://schemas.microsoft.com/office/drawing/2014/main" id="{56827A92-3A71-4B79-BA4C-C6197E93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Por que IC beta?-head">
            <a:extLst xmlns:a="http://schemas.openxmlformats.org/drawingml/2006/main">
              <a:ext uri="{FF2B5EF4-FFF2-40B4-BE49-F238E27FC236}">
                <a16:creationId xmlns:a16="http://schemas.microsoft.com/office/drawing/2014/main" id="{91A06BA8-D441-47CA-92CC-B98F2217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Por que IC beta?-title">
            <a:extLst xmlns:a="http://schemas.openxmlformats.org/drawingml/2006/main">
              <a:ext uri="{FF2B5EF4-FFF2-40B4-BE49-F238E27FC236}">
                <a16:creationId xmlns:a16="http://schemas.microsoft.com/office/drawing/2014/main" id="{F18C0336-F7AF-4A4D-B2DD-8D894030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Por que IC beta?</a:t>
            </a:r>
          </a:p>
        </p:txBody>
      </p:sp>
      <p:sp>
        <p:nvSpPr>
          <p:cNvPr id="21" name="3-Por que IC beta?-body">
            <a:extLst xmlns:a="http://schemas.openxmlformats.org/drawingml/2006/main">
              <a:ext uri="{FF2B5EF4-FFF2-40B4-BE49-F238E27FC236}">
                <a16:creationId xmlns:a16="http://schemas.microsoft.com/office/drawing/2014/main" id="{1CDCA99B-3985-405E-9BC1-A8046860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22" name="4-ETL e interoperabilidade-box">
            <a:extLst xmlns:a="http://schemas.openxmlformats.org/drawingml/2006/main">
              <a:ext uri="{FF2B5EF4-FFF2-40B4-BE49-F238E27FC236}">
                <a16:creationId xmlns:a16="http://schemas.microsoft.com/office/drawing/2014/main" id="{9DE70B74-8626-4120-8C28-DD0DB6A2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e interoperabilidade-head">
            <a:extLst xmlns:a="http://schemas.openxmlformats.org/drawingml/2006/main">
              <a:ext uri="{FF2B5EF4-FFF2-40B4-BE49-F238E27FC236}">
                <a16:creationId xmlns:a16="http://schemas.microsoft.com/office/drawing/2014/main" id="{641670A1-FB6B-4785-98C1-B2B55048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e interoperabilidade-title">
            <a:extLst xmlns:a="http://schemas.openxmlformats.org/drawingml/2006/main">
              <a:ext uri="{FF2B5EF4-FFF2-40B4-BE49-F238E27FC236}">
                <a16:creationId xmlns:a16="http://schemas.microsoft.com/office/drawing/2014/main" id="{83DB0548-512D-4F9B-BA00-93470398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e interoperabilidade</a:t>
            </a:r>
          </a:p>
        </p:txBody>
      </p:sp>
      <p:sp>
        <p:nvSpPr>
          <p:cNvPr id="25" name="4-ETL e interoperabilidade-body">
            <a:extLst xmlns:a="http://schemas.openxmlformats.org/drawingml/2006/main">
              <a:ext uri="{FF2B5EF4-FFF2-40B4-BE49-F238E27FC236}">
                <a16:creationId xmlns:a16="http://schemas.microsoft.com/office/drawing/2014/main" id="{3C309690-F490-463A-A277-363926CB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316B6707-E6EA-4E34-8011-6971B74A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13F0A14E-458B-4C7E-A292-852A8A1E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Diagnóstico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608BB46A-3F18-44B8-922F-FAFF168D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C4A21E27-95E5-4ED7-81B6-9437F832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Aumento nacional com IC95% sem sobreposição.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581BC252-403A-4816-ABF3-726F9828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58EE0526-9800-4C08-B48C-40C8F728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Crises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98077A75-D065-4962-829A-2510CC6A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38,3%→37,7%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C76529BE-7BE9-4833-83A7-20F69A45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Sem melhora proporcional no controle.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454F5A88-5134-409F-8782-1F1EEE52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FE98CC23-4AC5-4A2B-9B61-E8087DCB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Medicamentos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920F66BB-63EA-4049-BE27-EF6EBF53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6A44B4BA-DE1C-416F-A9CA-5ABA653B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Interpretar por denominador e IC.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409E3753-3059-4E0C-8BBB-E56C1A07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7315D717-2892-4993-A0FE-F8797DD3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fc84301804af9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3385B534-C72F-4CC1-BF23-C93043B8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E2725ACD-8399-414D-BF20-C7935745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7720275534a9d"/>
          <a:stretch xmlns:a="http://schemas.openxmlformats.org/drawingml/2006/main"/>
        </p:blipFill>
        <p:spPr>
          <a:xfrm xmlns:a="http://schemas.openxmlformats.org/drawingml/2006/main">
            <a:off x="3480513" y="7143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A8891358-44FA-4398-B314-2BC1011E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Taxa de fumantes ativos por 100 mil habitantes por UF, PNS 2013 e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62D3C550-004E-4CC9-B6E6-0C22A4BB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367ee2792482e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Achados principais-box">
            <a:extLst xmlns:a="http://schemas.openxmlformats.org/drawingml/2006/main">
              <a:ext uri="{FF2B5EF4-FFF2-40B4-BE49-F238E27FC236}">
                <a16:creationId xmlns:a16="http://schemas.microsoft.com/office/drawing/2014/main" id="{3B53B0CC-F556-4B07-89CC-95CED24F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Achados principais-head">
            <a:extLst xmlns:a="http://schemas.openxmlformats.org/drawingml/2006/main">
              <a:ext uri="{FF2B5EF4-FFF2-40B4-BE49-F238E27FC236}">
                <a16:creationId xmlns:a16="http://schemas.microsoft.com/office/drawing/2014/main" id="{08F0B65C-5F28-4CCD-9D28-EFE4FD1D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Achados principais-title">
            <a:extLst xmlns:a="http://schemas.openxmlformats.org/drawingml/2006/main">
              <a:ext uri="{FF2B5EF4-FFF2-40B4-BE49-F238E27FC236}">
                <a16:creationId xmlns:a16="http://schemas.microsoft.com/office/drawing/2014/main" id="{8EA6C322-137B-48D2-8651-BFE67F7A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Achados principais</a:t>
            </a:r>
          </a:p>
        </p:txBody>
      </p:sp>
      <p:sp>
        <p:nvSpPr>
          <p:cNvPr id="50" name="5-Achados principais-body">
            <a:extLst xmlns:a="http://schemas.openxmlformats.org/drawingml/2006/main">
              <a:ext uri="{FF2B5EF4-FFF2-40B4-BE49-F238E27FC236}">
                <a16:creationId xmlns:a16="http://schemas.microsoft.com/office/drawing/2014/main" id="{5B9593E5-C329-4420-8D43-59C7DAAC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Diagnóstico médico de asma: 4,41% em 2013 para 5,40% em 2019, com ICs sem sobreposição.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Crises nos últimos 12 meses: 38,3% para 37,7%, indicando estabilidade aproximada.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Uso de medicamento oral/bombinha entre asmáticos: 81,5% para 64,4%; leitura exige cautela por denominador e IC95%.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Tabagismo caiu em várias UFs; a taxa nacional citada foi de 14.650 para 12.151 por 100 mil.</a:t>
            </a:r>
          </a:p>
        </p:txBody>
      </p:sp>
      <p:sp>
        <p:nvSpPr>
          <p:cNvPr id="51" name="6-Discussão aplicada-box">
            <a:extLst xmlns:a="http://schemas.openxmlformats.org/drawingml/2006/main">
              <a:ext uri="{FF2B5EF4-FFF2-40B4-BE49-F238E27FC236}">
                <a16:creationId xmlns:a16="http://schemas.microsoft.com/office/drawing/2014/main" id="{4AA7A28B-722F-4DB1-AF71-667B5BFC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Discussão aplicada-head">
            <a:extLst xmlns:a="http://schemas.openxmlformats.org/drawingml/2006/main">
              <a:ext uri="{FF2B5EF4-FFF2-40B4-BE49-F238E27FC236}">
                <a16:creationId xmlns:a16="http://schemas.microsoft.com/office/drawing/2014/main" id="{611E4F33-EC68-4900-B644-E0E4209B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Discussão aplicada-title">
            <a:extLst xmlns:a="http://schemas.openxmlformats.org/drawingml/2006/main">
              <a:ext uri="{FF2B5EF4-FFF2-40B4-BE49-F238E27FC236}">
                <a16:creationId xmlns:a16="http://schemas.microsoft.com/office/drawing/2014/main" id="{D510D03F-9114-48D4-95DB-6A595962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45782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Discussão aplicada</a:t>
            </a:r>
          </a:p>
        </p:txBody>
      </p:sp>
      <p:sp>
        <p:nvSpPr>
          <p:cNvPr id="54" name="6-Discussão aplicada-body">
            <a:extLst xmlns:a="http://schemas.openxmlformats.org/drawingml/2006/main">
              <a:ext uri="{FF2B5EF4-FFF2-40B4-BE49-F238E27FC236}">
                <a16:creationId xmlns:a16="http://schemas.microsoft.com/office/drawing/2014/main" id="{6A123CC0-992B-4AF0-820A-07240F5B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53100"/>
            <a:ext cx="2171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O aumento do diagnóstico pode refletir maior ocorrência, melhor acesso ao diagnóstico ou ambos.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A estabilidade das crises sugere que o manejo clínico não melhorou na mesma proporção.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O controle da asma depende de acesso farmacológico, seguimento clínico, educação, controle de exposições e intervenções não farmacológicas.</a:t>
            </a:r>
          </a:p>
        </p:txBody>
      </p:sp>
      <p:sp>
        <p:nvSpPr>
          <p:cNvPr id="55" name="7-Conclusão central-box">
            <a:extLst xmlns:a="http://schemas.openxmlformats.org/drawingml/2006/main">
              <a:ext uri="{FF2B5EF4-FFF2-40B4-BE49-F238E27FC236}">
                <a16:creationId xmlns:a16="http://schemas.microsoft.com/office/drawing/2014/main" id="{4B663093-0152-442B-BFEB-52C5E62F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6" name="7-Conclusão central-head">
            <a:extLst xmlns:a="http://schemas.openxmlformats.org/drawingml/2006/main">
              <a:ext uri="{FF2B5EF4-FFF2-40B4-BE49-F238E27FC236}">
                <a16:creationId xmlns:a16="http://schemas.microsoft.com/office/drawing/2014/main" id="{CB402F80-DD27-4C13-B620-CD81AEC5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7" name="7-Conclusão central-title">
            <a:extLst xmlns:a="http://schemas.openxmlformats.org/drawingml/2006/main">
              <a:ext uri="{FF2B5EF4-FFF2-40B4-BE49-F238E27FC236}">
                <a16:creationId xmlns:a16="http://schemas.microsoft.com/office/drawing/2014/main" id="{C795B29F-6AF3-44A5-A145-99B93F3C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Conclusão central</a:t>
            </a:r>
          </a:p>
        </p:txBody>
      </p:sp>
      <p:sp>
        <p:nvSpPr>
          <p:cNvPr id="58" name="7-Conclusão central-body">
            <a:extLst xmlns:a="http://schemas.openxmlformats.org/drawingml/2006/main">
              <a:ext uri="{FF2B5EF4-FFF2-40B4-BE49-F238E27FC236}">
                <a16:creationId xmlns:a16="http://schemas.microsoft.com/office/drawing/2014/main" id="{73669CEC-4DC1-4319-8F94-8856727A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 Brasil apresentou aumento de diagnóstico, mas não evidência equivalente de melhora no controle.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Os gráficos por UF devem ser lidos com IC95%, pois várias comparações têm intervalos sobrepostos.</a:t>
            </a:r>
          </a:p>
        </p:txBody>
      </p:sp>
      <p:sp>
        <p:nvSpPr>
          <p:cNvPr id="59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66A1119F-1B7F-4325-B194-E420CE5F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Prevalência (%) de crise de asma nos últimos 12 meses por UF e Brasil, PNS 2013 e 2019.</a:t>
            </a:r>
          </a:p>
        </p:txBody>
      </p:sp>
      <p:sp>
        <p:nvSpPr>
          <p:cNvPr id="60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84AD392C-5E9C-4A98-8DA6-1DC28EE7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688a2b7f24574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62" name="qr-box">
            <a:extLst xmlns:a="http://schemas.openxmlformats.org/drawingml/2006/main">
              <a:ext uri="{FF2B5EF4-FFF2-40B4-BE49-F238E27FC236}">
                <a16:creationId xmlns:a16="http://schemas.microsoft.com/office/drawing/2014/main" id="{1553CCDD-408B-4272-9585-68CDC4B7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eb6d6218ad44a7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4" name="qr-label">
            <a:extLst xmlns:a="http://schemas.openxmlformats.org/drawingml/2006/main">
              <a:ext uri="{FF2B5EF4-FFF2-40B4-BE49-F238E27FC236}">
                <a16:creationId xmlns:a16="http://schemas.microsoft.com/office/drawing/2014/main" id="{530C85A4-C357-47CF-8DDD-F2CA2F0B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5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EF125D51-E50D-46D3-A1BB-43CEE0BE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382500"/>
            <a:ext cx="8877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F667B099-916C-4E28-A426-F02BB0FC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4491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67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192C0DA4-2392-4770-A78C-25F6808E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49200"/>
            <a:ext cx="872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1827596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2026-07-21T21:42:10.0130000Z</dcterms:created>
  <dcterms:modified xsi:type="dcterms:W3CDTF">2026-07-21T21:42:10.0130000Z</dcterms:modified>
</coreProperties>
</file>