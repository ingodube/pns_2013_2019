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1963bbae5c4fdb" /><Relationship Type="http://schemas.openxmlformats.org/officeDocument/2006/relationships/extended-properties" Target="/docProps/app.xml" Id="R74776ce4358f4d0f" /><Relationship Type="http://schemas.openxmlformats.org/officeDocument/2006/relationships/officeDocument" Target="/ppt/presentation.xml" Id="Rf52b86032c3b47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b22f14b1ff425f"/>
  </p:sldMasterIdLst>
  <p:notesMasterIdLst>
    <p:notesMasterId xmlns:r="http://schemas.openxmlformats.org/officeDocument/2006/relationships" r:id="Rb540e2d24ae24235"/>
  </p:notesMasterIdLst>
  <p:sldIdLst>
    <p:sldId xmlns:r="http://schemas.openxmlformats.org/officeDocument/2006/relationships" id="256" r:id="R26954b1e6a4f48d8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0b173837224949" /><Relationship Type="http://schemas.openxmlformats.org/officeDocument/2006/relationships/slideMaster" Target="/ppt/slideMasters/slideMaster1.xml" Id="Rcfb22f14b1ff425f" /><Relationship Type="http://schemas.openxmlformats.org/officeDocument/2006/relationships/notesMaster" Target="/ppt/notesMasters/notesMaster1.xml" Id="Rb540e2d24ae24235" /><Relationship Type="http://schemas.openxmlformats.org/officeDocument/2006/relationships/presProps" Target="/ppt/presProps.xml" Id="R2a4929fd3a9144a3" /><Relationship Type="http://schemas.openxmlformats.org/officeDocument/2006/relationships/tableStyles" Target="/ppt/tableStyles.xml" Id="Rcbeb4953cada48f1" /><Relationship Type="http://schemas.openxmlformats.org/officeDocument/2006/relationships/slide" Target="/ppt/slides/slide1.xml" Id="R26954b1e6a4f48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0598b7f97e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60b91726d44f28" /><Relationship Type="http://schemas.openxmlformats.org/officeDocument/2006/relationships/notesMaster" Target="/ppt/notesMasters/notesMaster1.xml" Id="R0991de02ee314b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faaec0170740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0873216c1e4774" /><Relationship Type="http://schemas.openxmlformats.org/officeDocument/2006/relationships/slideLayout" Target="/ppt/slideLayouts/slideLayout1.xml" Id="Rf3d87da348ae49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d87da348ae49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301a0fb9e493a" /><Relationship Type="http://schemas.openxmlformats.org/officeDocument/2006/relationships/image" Target="/ppt/media/image.png" Id="R4245c49f0b5b4226" /><Relationship Type="http://schemas.openxmlformats.org/officeDocument/2006/relationships/image" Target="/ppt/media/image2.png" Id="Rcb66e9a9174a4cbb" /><Relationship Type="http://schemas.openxmlformats.org/officeDocument/2006/relationships/image" Target="/ppt/media/image3.png" Id="Rc7f8f5139322439b" /><Relationship Type="http://schemas.openxmlformats.org/officeDocument/2006/relationships/image" Target="/ppt/media/image4.png" Id="Rff02e8ade14142e1" /><Relationship Type="http://schemas.openxmlformats.org/officeDocument/2006/relationships/image" Target="/ppt/media/image5.png" Id="R916883f91e874b1a" /><Relationship Type="http://schemas.openxmlformats.org/officeDocument/2006/relationships/image" Target="/ppt/media/image6.png" Id="R9f999176a9c74e6c" /><Relationship Type="http://schemas.openxmlformats.org/officeDocument/2006/relationships/image" Target="/ppt/media/image7.png" Id="Rb54da17543ae4fe9" /><Relationship Type="http://schemas.openxmlformats.org/officeDocument/2006/relationships/image" Target="/ppt/media/image8.png" Id="Rccd77efb35fd475b" /><Relationship Type="http://schemas.openxmlformats.org/officeDocument/2006/relationships/notesSlide" Target="/ppt/notesSlides/notesSlide1.xml" Id="R55c5add05c6b4cf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age-bg">
            <a:extLst xmlns:a="http://schemas.openxmlformats.org/drawingml/2006/main">
              <a:ext uri="{FF2B5EF4-FFF2-40B4-BE49-F238E27FC236}">
                <a16:creationId xmlns:a16="http://schemas.microsoft.com/office/drawing/2014/main" id="{0655B959-1920-4A41-913A-E67318CA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entral-blue-panel">
            <a:extLst xmlns:a="http://schemas.openxmlformats.org/drawingml/2006/main">
              <a:ext uri="{FF2B5EF4-FFF2-40B4-BE49-F238E27FC236}">
                <a16:creationId xmlns:a16="http://schemas.microsoft.com/office/drawing/2014/main" id="{DDD1E9FC-E0D1-432E-B362-1BA1BA40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4800" y="4698000"/>
            <a:ext cx="26974800" cy="2822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E2F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5c49f0b5b4226"/>
          <a:stretch xmlns:a="http://schemas.openxmlformats.org/drawingml/2006/main"/>
        </p:blipFill>
        <p:spPr>
          <a:xfrm xmlns:a="http://schemas.openxmlformats.org/drawingml/2006/main">
            <a:off x="0" y="1088"/>
            <a:ext cx="43891200" cy="4695825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6e9a9174a4cbb"/>
          <a:stretch xmlns:a="http://schemas.openxmlformats.org/drawingml/2006/main"/>
        </p:blipFill>
        <p:spPr>
          <a:xfrm xmlns:a="http://schemas.openxmlformats.org/drawingml/2006/main">
            <a:off x="37728000" y="29300889"/>
            <a:ext cx="5976000" cy="3246222"/>
          </a:xfrm>
          <a:prstGeom xmlns:a="http://schemas.openxmlformats.org/drawingml/2006/main" prst="rect">
            <a:avLst/>
          </a:prstGeom>
        </p:spPr>
      </p:pic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D9B1C06E-32C0-43C5-B4D3-0697E91F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5220000"/>
            <a:ext cx="7704000" cy="15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54" b="1">
                <a:solidFill>
                  <a:srgbClr val="153F59"/>
                </a:solidFill>
              </a:defRPr>
            </a:pPr>
            <a:r>
              <a:rPr sz="2154" b="1">
                <a:solidFill>
                  <a:srgbClr val="153F59"/>
                </a:solidFill>
              </a:rPr>
              <a:t>Asma no Brasil, 2013-2019</a:t>
            </a:r>
          </a:p>
          <a:p xmlns:a="http://schemas.openxmlformats.org/drawingml/2006/main">
            <a:pPr algn="l">
              <a:defRPr sz="2154" b="1">
                <a:solidFill>
                  <a:srgbClr val="153F59"/>
                </a:solidFill>
              </a:defRPr>
            </a:pPr>
            <a:r>
              <a:rPr sz="2154" b="1">
                <a:solidFill>
                  <a:srgbClr val="153F59"/>
                </a:solidFill>
              </a:rPr>
              <a:t>Implementação do plano amostral da PNS no R</a:t>
            </a:r>
          </a:p>
        </p:txBody>
      </p:sp>
      <p:sp>
        <p:nvSpPr>
          <p:cNvPr id="6" name="presenter">
            <a:extLst xmlns:a="http://schemas.openxmlformats.org/drawingml/2006/main">
              <a:ext uri="{FF2B5EF4-FFF2-40B4-BE49-F238E27FC236}">
                <a16:creationId xmlns:a16="http://schemas.microsoft.com/office/drawing/2014/main" id="{BB7CE395-4F9D-4CDA-BD5D-FD06B23C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" y="7272000"/>
            <a:ext cx="709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28" b="0">
                <a:solidFill>
                  <a:srgbClr val="4F6372"/>
                </a:solidFill>
              </a:defRPr>
            </a:pPr>
            <a:r>
              <a:rPr sz="1928" b="0">
                <a:solidFill>
                  <a:srgbClr val="4F6372"/>
                </a:solidFill>
              </a:rPr>
              <a:t>APRESENTAÇÃO: I. Dube; M. E. L. Silva</a:t>
            </a:r>
          </a:p>
        </p:txBody>
      </p:sp>
      <p:sp>
        <p:nvSpPr>
          <p:cNvPr id="7" name="INTRODUÇÃO-heading">
            <a:extLst xmlns:a="http://schemas.openxmlformats.org/drawingml/2006/main">
              <a:ext uri="{FF2B5EF4-FFF2-40B4-BE49-F238E27FC236}">
                <a16:creationId xmlns:a16="http://schemas.microsoft.com/office/drawing/2014/main" id="{AB4CDB86-D738-4DC4-AECF-7013C040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8460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INTRODUÇÃO</a:t>
            </a:r>
          </a:p>
        </p:txBody>
      </p:sp>
      <p:sp>
        <p:nvSpPr>
          <p:cNvPr id="8" name="INTRODUÇÃO-body">
            <a:extLst xmlns:a="http://schemas.openxmlformats.org/drawingml/2006/main">
              <a:ext uri="{FF2B5EF4-FFF2-40B4-BE49-F238E27FC236}">
                <a16:creationId xmlns:a16="http://schemas.microsoft.com/office/drawing/2014/main" id="{04730247-12F5-41D7-8095-7B9F166C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9108000"/>
            <a:ext cx="7704000" cy="38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Indicadores epidemiológicos transformam respostas individuais em evidências para vigilância, planejamento e políticas públicas.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A asma combina diagnóstico, crises, uso de medicamentos, fatores de risco e limitação funcional.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A PNS permite comparar Brasil e UFs, mas suas estimativas só são válidas quando pesos, estratos e conglomerados são incorporados.</a:t>
            </a:r>
          </a:p>
        </p:txBody>
      </p:sp>
      <p:sp>
        <p:nvSpPr>
          <p:cNvPr id="9" name="METODOLOGIA-heading">
            <a:extLst xmlns:a="http://schemas.openxmlformats.org/drawingml/2006/main">
              <a:ext uri="{FF2B5EF4-FFF2-40B4-BE49-F238E27FC236}">
                <a16:creationId xmlns:a16="http://schemas.microsoft.com/office/drawing/2014/main" id="{7956DD91-9113-46B5-BCA8-DE9C04B4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392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7A3B73"/>
                </a:solidFill>
              </a:defRPr>
            </a:pPr>
            <a:r>
              <a:rPr sz="2381" b="1">
                <a:solidFill>
                  <a:srgbClr val="7A3B73"/>
                </a:solidFill>
              </a:rPr>
              <a:t>METODOLOGIA</a:t>
            </a:r>
          </a:p>
        </p:txBody>
      </p:sp>
      <p:sp>
        <p:nvSpPr>
          <p:cNvPr id="10" name="METODOLOGIA-body">
            <a:extLst xmlns:a="http://schemas.openxmlformats.org/drawingml/2006/main">
              <a:ext uri="{FF2B5EF4-FFF2-40B4-BE49-F238E27FC236}">
                <a16:creationId xmlns:a16="http://schemas.microsoft.com/office/drawing/2014/main" id="{9FE96765-5661-40DB-B417-30D66868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4040000"/>
            <a:ext cx="7704000" cy="38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Microdados PNS 2013/2019 do morador selecionado.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Variáveis centrais: Q074 diagnóstico de asma; Q076 crise recente; Q07701/Q07704/Q07708 medicamento; P050 tabagismo; J002/J003/J00402 absenteísmo e dias perdidos.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Desenho complexo implementado com PNSIBGE::pns_design() e estimação pelo pacote survey.</a:t>
            </a:r>
          </a:p>
        </p:txBody>
      </p:sp>
      <p:sp>
        <p:nvSpPr>
          <p:cNvPr id="11" name="FLUXO ETL-heading">
            <a:extLst xmlns:a="http://schemas.openxmlformats.org/drawingml/2006/main">
              <a:ext uri="{FF2B5EF4-FFF2-40B4-BE49-F238E27FC236}">
                <a16:creationId xmlns:a16="http://schemas.microsoft.com/office/drawing/2014/main" id="{AE654C03-4098-4C29-A2FE-E046E32E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8432000"/>
            <a:ext cx="770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FLUXO ETL</a:t>
            </a:r>
          </a:p>
        </p:txBody>
      </p:sp>
      <p:sp>
        <p:nvSpPr>
          <p:cNvPr id="12" name="etl-node-0">
            <a:extLst xmlns:a="http://schemas.openxmlformats.org/drawingml/2006/main">
              <a:ext uri="{FF2B5EF4-FFF2-40B4-BE49-F238E27FC236}">
                <a16:creationId xmlns:a16="http://schemas.microsoft.com/office/drawing/2014/main" id="{2D50146E-3CFA-44DD-A3EF-9D28ED86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3" name="etl-node-text-0">
            <a:extLst xmlns:a="http://schemas.openxmlformats.org/drawingml/2006/main">
              <a:ext uri="{FF2B5EF4-FFF2-40B4-BE49-F238E27FC236}">
                <a16:creationId xmlns:a16="http://schemas.microsoft.com/office/drawing/2014/main" id="{11EEBCB8-5989-4434-A213-9BF6EB36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PNSIBGE/get_pns</a:t>
            </a:r>
          </a:p>
        </p:txBody>
      </p:sp>
      <p:sp>
        <p:nvSpPr>
          <p:cNvPr id="14" name="etl-arrow-0">
            <a:extLst xmlns:a="http://schemas.openxmlformats.org/drawingml/2006/main">
              <a:ext uri="{FF2B5EF4-FFF2-40B4-BE49-F238E27FC236}">
                <a16:creationId xmlns:a16="http://schemas.microsoft.com/office/drawing/2014/main" id="{4E4E8597-C118-45BE-977D-2296926E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15" name="etl-node-1">
            <a:extLst xmlns:a="http://schemas.openxmlformats.org/drawingml/2006/main">
              <a:ext uri="{FF2B5EF4-FFF2-40B4-BE49-F238E27FC236}">
                <a16:creationId xmlns:a16="http://schemas.microsoft.com/office/drawing/2014/main" id="{F84EF06E-E8A1-4BA7-846C-E1998DCC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6" name="etl-node-text-1">
            <a:extLst xmlns:a="http://schemas.openxmlformats.org/drawingml/2006/main">
              <a:ext uri="{FF2B5EF4-FFF2-40B4-BE49-F238E27FC236}">
                <a16:creationId xmlns:a16="http://schemas.microsoft.com/office/drawing/2014/main" id="{62F2DFD3-2265-4538-AC19-699791D4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Recodificação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de indicadores</a:t>
            </a:r>
          </a:p>
        </p:txBody>
      </p:sp>
      <p:sp>
        <p:nvSpPr>
          <p:cNvPr id="17" name="etl-arrow-1">
            <a:extLst xmlns:a="http://schemas.openxmlformats.org/drawingml/2006/main">
              <a:ext uri="{FF2B5EF4-FFF2-40B4-BE49-F238E27FC236}">
                <a16:creationId xmlns:a16="http://schemas.microsoft.com/office/drawing/2014/main" id="{826A17A0-E223-471C-9753-5D024048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18" name="etl-node-2">
            <a:extLst xmlns:a="http://schemas.openxmlformats.org/drawingml/2006/main">
              <a:ext uri="{FF2B5EF4-FFF2-40B4-BE49-F238E27FC236}">
                <a16:creationId xmlns:a16="http://schemas.microsoft.com/office/drawing/2014/main" id="{B2D595D5-C351-44CF-8D61-C0D0A1D5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9" name="etl-node-text-2">
            <a:extLst xmlns:a="http://schemas.openxmlformats.org/drawingml/2006/main">
              <a:ext uri="{FF2B5EF4-FFF2-40B4-BE49-F238E27FC236}">
                <a16:creationId xmlns:a16="http://schemas.microsoft.com/office/drawing/2014/main" id="{4A83ACD6-F6ED-4194-98DA-6D24324F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pns_design()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PSU/estratos/pesos</a:t>
            </a:r>
          </a:p>
        </p:txBody>
      </p:sp>
      <p:sp>
        <p:nvSpPr>
          <p:cNvPr id="20" name="etl-arrow-2">
            <a:extLst xmlns:a="http://schemas.openxmlformats.org/drawingml/2006/main">
              <a:ext uri="{FF2B5EF4-FFF2-40B4-BE49-F238E27FC236}">
                <a16:creationId xmlns:a16="http://schemas.microsoft.com/office/drawing/2014/main" id="{DACCA5EB-38D9-4FD4-BD3D-17886BE5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21" name="etl-node-3">
            <a:extLst xmlns:a="http://schemas.openxmlformats.org/drawingml/2006/main">
              <a:ext uri="{FF2B5EF4-FFF2-40B4-BE49-F238E27FC236}">
                <a16:creationId xmlns:a16="http://schemas.microsoft.com/office/drawing/2014/main" id="{BF4051F9-3E46-4731-BCB0-598DD174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22" name="etl-node-text-3">
            <a:extLst xmlns:a="http://schemas.openxmlformats.org/drawingml/2006/main">
              <a:ext uri="{FF2B5EF4-FFF2-40B4-BE49-F238E27FC236}">
                <a16:creationId xmlns:a16="http://schemas.microsoft.com/office/drawing/2014/main" id="{E3344257-4255-45B8-847C-38C36CD7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survey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estimadores + IC</a:t>
            </a:r>
          </a:p>
        </p:txBody>
      </p:sp>
      <p:sp>
        <p:nvSpPr>
          <p:cNvPr id="23" name="etl-arrow-3">
            <a:extLst xmlns:a="http://schemas.openxmlformats.org/drawingml/2006/main">
              <a:ext uri="{FF2B5EF4-FFF2-40B4-BE49-F238E27FC236}">
                <a16:creationId xmlns:a16="http://schemas.microsoft.com/office/drawing/2014/main" id="{D3D02748-0088-4117-980D-F1B03E66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24" name="etl-node-4">
            <a:extLst xmlns:a="http://schemas.openxmlformats.org/drawingml/2006/main">
              <a:ext uri="{FF2B5EF4-FFF2-40B4-BE49-F238E27FC236}">
                <a16:creationId xmlns:a16="http://schemas.microsoft.com/office/drawing/2014/main" id="{B8CAEBF9-02C7-4034-A0C7-6F01EFEE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25" name="etl-node-text-4">
            <a:extLst xmlns:a="http://schemas.openxmlformats.org/drawingml/2006/main">
              <a:ext uri="{FF2B5EF4-FFF2-40B4-BE49-F238E27FC236}">
                <a16:creationId xmlns:a16="http://schemas.microsoft.com/office/drawing/2014/main" id="{510A272C-3357-4300-8FA6-3A9C070C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Tabelas,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gráficos e relatório</a:t>
            </a:r>
          </a:p>
        </p:txBody>
      </p:sp>
      <p:sp>
        <p:nvSpPr>
          <p:cNvPr id="26" name="formula-heading">
            <a:extLst xmlns:a="http://schemas.openxmlformats.org/drawingml/2006/main">
              <a:ext uri="{FF2B5EF4-FFF2-40B4-BE49-F238E27FC236}">
                <a16:creationId xmlns:a16="http://schemas.microsoft.com/office/drawing/2014/main" id="{1AC66331-81E8-42AF-96EA-3B8F9FF0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1168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ESTIMADORES</a:t>
            </a:r>
          </a:p>
        </p:txBody>
      </p:sp>
      <p:sp>
        <p:nvSpPr>
          <p:cNvPr id="27" name="formula-box">
            <a:extLst xmlns:a="http://schemas.openxmlformats.org/drawingml/2006/main">
              <a:ext uri="{FF2B5EF4-FFF2-40B4-BE49-F238E27FC236}">
                <a16:creationId xmlns:a16="http://schemas.microsoft.com/office/drawing/2014/main" id="{AD785E5D-2DE2-44B9-89FB-E2C5B90A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1852000"/>
            <a:ext cx="7560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8f5139322439b"/>
          <a:stretch xmlns:a="http://schemas.openxmlformats.org/drawingml/2006/main"/>
        </p:blipFill>
        <p:spPr>
          <a:xfrm xmlns:a="http://schemas.openxmlformats.org/drawingml/2006/main">
            <a:off x="1510915" y="22032000"/>
            <a:ext cx="5402171" cy="3888000"/>
          </a:xfrm>
          <a:prstGeom xmlns:a="http://schemas.openxmlformats.org/drawingml/2006/main" prst="rect">
            <a:avLst/>
          </a:prstGeom>
        </p:spPr>
      </p:pic>
      <p:sp>
        <p:nvSpPr>
          <p:cNvPr id="29" name="formula-legend">
            <a:extLst xmlns:a="http://schemas.openxmlformats.org/drawingml/2006/main">
              <a:ext uri="{FF2B5EF4-FFF2-40B4-BE49-F238E27FC236}">
                <a16:creationId xmlns:a16="http://schemas.microsoft.com/office/drawing/2014/main" id="{FAA23172-4A40-45C2-8BAB-6C8AC99C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5992000"/>
            <a:ext cx="6984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74" b="0">
                <a:solidFill>
                  <a:srgbClr val="102536"/>
                </a:solidFill>
              </a:defRPr>
            </a:pPr>
            <a:r>
              <a:rPr sz="1474" b="0">
                <a:solidFill>
                  <a:srgbClr val="102536"/>
                </a:solidFill>
              </a:rPr>
              <a:t>wᵢ = peso amostral; yᵢ = indicador binário; xᵢ = variável contínua.</a:t>
            </a:r>
          </a:p>
        </p:txBody>
      </p:sp>
      <p:sp>
        <p:nvSpPr>
          <p:cNvPr id="30" name="LEITURA RÁPIDA-heading">
            <a:extLst xmlns:a="http://schemas.openxmlformats.org/drawingml/2006/main">
              <a:ext uri="{FF2B5EF4-FFF2-40B4-BE49-F238E27FC236}">
                <a16:creationId xmlns:a16="http://schemas.microsoft.com/office/drawing/2014/main" id="{52DF9BDC-2957-4C03-ADDB-4A5B377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7360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LEITURA RÁPIDA</a:t>
            </a:r>
          </a:p>
        </p:txBody>
      </p:sp>
      <p:sp>
        <p:nvSpPr>
          <p:cNvPr id="31" name="LEITURA RÁPIDA-body">
            <a:extLst xmlns:a="http://schemas.openxmlformats.org/drawingml/2006/main">
              <a:ext uri="{FF2B5EF4-FFF2-40B4-BE49-F238E27FC236}">
                <a16:creationId xmlns:a16="http://schemas.microsoft.com/office/drawing/2014/main" id="{43F9CA0E-379A-4123-9D5D-5437C66D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8008000"/>
            <a:ext cx="7704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Estimativas são ponderadas.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IC95% beta é parte da mensagem, não detalhe técnico.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Diferenças por UF precisam ser lidas com incerteza.</a:t>
            </a:r>
          </a:p>
        </p:txBody>
      </p:sp>
      <p:sp>
        <p:nvSpPr>
          <p:cNvPr id="32" name="main-finding">
            <a:extLst xmlns:a="http://schemas.openxmlformats.org/drawingml/2006/main">
              <a:ext uri="{FF2B5EF4-FFF2-40B4-BE49-F238E27FC236}">
                <a16:creationId xmlns:a16="http://schemas.microsoft.com/office/drawing/2014/main" id="{D3E2A67F-2E39-4A24-93E2-0033B00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000" y="5760000"/>
            <a:ext cx="25380000" cy="33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803" b="1">
                <a:solidFill>
                  <a:srgbClr val="153F59"/>
                </a:solidFill>
              </a:defRPr>
            </a:pPr>
            <a:r>
              <a:rPr sz="6803" b="1">
                <a:solidFill>
                  <a:srgbClr val="153F59"/>
                </a:solidFill>
              </a:rPr>
              <a:t>Diagnóstico de asma aumentou; controle, acesso terapêutico e impacto funcional precisam ser lidos com o plano amostral da PNS.</a:t>
            </a:r>
          </a:p>
        </p:txBody>
      </p:sp>
      <p:sp>
        <p:nvSpPr>
          <p:cNvPr id="33" name="finding-underline">
            <a:extLst xmlns:a="http://schemas.openxmlformats.org/drawingml/2006/main">
              <a:ext uri="{FF2B5EF4-FFF2-40B4-BE49-F238E27FC236}">
                <a16:creationId xmlns:a16="http://schemas.microsoft.com/office/drawing/2014/main" id="{C25C0AE8-EE39-4031-A52F-76D84F93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0" y="9036000"/>
            <a:ext cx="207000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34" name="Tabela 1: Prevalênci">
            <a:extLst xmlns:a="http://schemas.openxmlformats.org/drawingml/2006/main">
              <a:ext uri="{FF2B5EF4-FFF2-40B4-BE49-F238E27FC236}">
                <a16:creationId xmlns:a16="http://schemas.microsoft.com/office/drawing/2014/main" id="{0290DF44-B0B1-4F14-86C9-1CEEAAF0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0296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Tabela 1: Prevalência de diagnóstico médico de asma por UF e Brasil, PNS 2013 e 2019.</a:t>
            </a:r>
          </a:p>
        </p:txBody>
      </p:sp>
      <p:sp>
        <p:nvSpPr>
          <p:cNvPr id="35" name="Tabela 1: Prevalência de diagnóstico médico de asma por UF e Brasil, PNS 2013 e 2019.-frame">
            <a:extLst xmlns:a="http://schemas.openxmlformats.org/drawingml/2006/main">
              <a:ext uri="{FF2B5EF4-FFF2-40B4-BE49-F238E27FC236}">
                <a16:creationId xmlns:a16="http://schemas.microsoft.com/office/drawing/2014/main" id="{04792E7E-25D1-4225-B859-B46DE0C9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0944000"/>
            <a:ext cx="12672000" cy="9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2e8ade14142e1"/>
          <a:stretch xmlns:a="http://schemas.openxmlformats.org/drawingml/2006/main"/>
        </p:blipFill>
        <p:spPr>
          <a:xfrm xmlns:a="http://schemas.openxmlformats.org/drawingml/2006/main">
            <a:off x="9216000" y="11306118"/>
            <a:ext cx="12384000" cy="8923765"/>
          </a:xfrm>
          <a:prstGeom xmlns:a="http://schemas.openxmlformats.org/drawingml/2006/main" prst="rect">
            <a:avLst/>
          </a:prstGeom>
        </p:spPr>
      </p:pic>
      <p:sp>
        <p:nvSpPr>
          <p:cNvPr id="37" name="Tabela 2: Uso de med">
            <a:extLst xmlns:a="http://schemas.openxmlformats.org/drawingml/2006/main">
              <a:ext uri="{FF2B5EF4-FFF2-40B4-BE49-F238E27FC236}">
                <a16:creationId xmlns:a16="http://schemas.microsoft.com/office/drawing/2014/main" id="{5D25BD25-79F1-4568-A947-63E93496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0296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Tabela 2: Uso de medicamento oral ou bombinha entre pessoas com diagnóstico médico de asma por UF e Brasil.</a:t>
            </a:r>
          </a:p>
        </p:txBody>
      </p:sp>
      <p:sp>
        <p:nvSpPr>
          <p:cNvPr id="38" name="Tabela 2: Uso de medicamento oral ou bombinha entre pessoas com diagnóstico médico de asma por UF e Brasil.-frame">
            <a:extLst xmlns:a="http://schemas.openxmlformats.org/drawingml/2006/main">
              <a:ext uri="{FF2B5EF4-FFF2-40B4-BE49-F238E27FC236}">
                <a16:creationId xmlns:a16="http://schemas.microsoft.com/office/drawing/2014/main" id="{72D48444-DD77-4E79-934A-0D73585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0944000"/>
            <a:ext cx="12672000" cy="9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883f91e874b1a"/>
          <a:stretch xmlns:a="http://schemas.openxmlformats.org/drawingml/2006/main"/>
        </p:blipFill>
        <p:spPr>
          <a:xfrm xmlns:a="http://schemas.openxmlformats.org/drawingml/2006/main">
            <a:off x="22320000" y="11306118"/>
            <a:ext cx="12384000" cy="8923765"/>
          </a:xfrm>
          <a:prstGeom xmlns:a="http://schemas.openxmlformats.org/drawingml/2006/main" prst="rect">
            <a:avLst/>
          </a:prstGeom>
        </p:spPr>
      </p:pic>
      <p:sp>
        <p:nvSpPr>
          <p:cNvPr id="40" name="Figura 1: Absenteísm">
            <a:extLst xmlns:a="http://schemas.openxmlformats.org/drawingml/2006/main">
              <a:ext uri="{FF2B5EF4-FFF2-40B4-BE49-F238E27FC236}">
                <a16:creationId xmlns:a16="http://schemas.microsoft.com/office/drawing/2014/main" id="{F725B704-57ED-4A2D-B19B-2F41A9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1384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Figura 1: Absenteísmo por motivo de saúde no Brasil, com destaque para causas respiratórias, PNS 2019.</a:t>
            </a:r>
          </a:p>
        </p:txBody>
      </p:sp>
      <p:sp>
        <p:nvSpPr>
          <p:cNvPr id="41" name="Figura 1: Absenteísmo por motivo de saúde no Brasil, com destaque para causas respiratórias, PNS 2019.-frame">
            <a:extLst xmlns:a="http://schemas.openxmlformats.org/drawingml/2006/main">
              <a:ext uri="{FF2B5EF4-FFF2-40B4-BE49-F238E27FC236}">
                <a16:creationId xmlns:a16="http://schemas.microsoft.com/office/drawing/2014/main" id="{58B73B4B-09BB-4E8E-8ADC-F953A861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2032000"/>
            <a:ext cx="12672000" cy="61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99176a9c74e6c"/>
          <a:stretch xmlns:a="http://schemas.openxmlformats.org/drawingml/2006/main"/>
        </p:blipFill>
        <p:spPr>
          <a:xfrm xmlns:a="http://schemas.openxmlformats.org/drawingml/2006/main">
            <a:off x="10752923" y="22176000"/>
            <a:ext cx="9310154" cy="5904000"/>
          </a:xfrm>
          <a:prstGeom xmlns:a="http://schemas.openxmlformats.org/drawingml/2006/main" prst="rect">
            <a:avLst/>
          </a:prstGeom>
        </p:spPr>
      </p:pic>
      <p:sp>
        <p:nvSpPr>
          <p:cNvPr id="43" name="Figura 2: Média de d">
            <a:extLst xmlns:a="http://schemas.openxmlformats.org/drawingml/2006/main">
              <a:ext uri="{FF2B5EF4-FFF2-40B4-BE49-F238E27FC236}">
                <a16:creationId xmlns:a16="http://schemas.microsoft.com/office/drawing/2014/main" id="{EFE4B153-EE67-4905-9FA6-A510CE7E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1384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Figura 2: Média de dias perdidos por motivo de saúde no Brasil, com destaque para causas respiratórias, PNS 2019.</a:t>
            </a:r>
          </a:p>
        </p:txBody>
      </p:sp>
      <p:sp>
        <p:nvSpPr>
          <p:cNvPr id="44" name="Figura 2: Média de dias perdidos por motivo de saúde no Brasil, com destaque para causas respiratórias, PNS 2019.-frame">
            <a:extLst xmlns:a="http://schemas.openxmlformats.org/drawingml/2006/main">
              <a:ext uri="{FF2B5EF4-FFF2-40B4-BE49-F238E27FC236}">
                <a16:creationId xmlns:a16="http://schemas.microsoft.com/office/drawing/2014/main" id="{AACEFFC9-CB90-4F38-BA43-C4938E69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2032000"/>
            <a:ext cx="12672000" cy="61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da17543ae4fe9"/>
          <a:stretch xmlns:a="http://schemas.openxmlformats.org/drawingml/2006/main"/>
        </p:blipFill>
        <p:spPr>
          <a:xfrm xmlns:a="http://schemas.openxmlformats.org/drawingml/2006/main">
            <a:off x="23856923" y="22176000"/>
            <a:ext cx="9310154" cy="5904000"/>
          </a:xfrm>
          <a:prstGeom xmlns:a="http://schemas.openxmlformats.org/drawingml/2006/main" prst="rect">
            <a:avLst/>
          </a:prstGeom>
        </p:spPr>
      </p:pic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77efb35fd475b"/>
          <a:stretch xmlns:a="http://schemas.openxmlformats.org/drawingml/2006/main"/>
        </p:blipFill>
        <p:spPr>
          <a:xfrm xmlns:a="http://schemas.openxmlformats.org/drawingml/2006/main">
            <a:off x="19260000" y="28980000"/>
            <a:ext cx="2808000" cy="2808000"/>
          </a:xfrm>
          <a:prstGeom xmlns:a="http://schemas.openxmlformats.org/drawingml/2006/main" prst="rect">
            <a:avLst/>
          </a:prstGeom>
        </p:spPr>
      </p:pic>
      <p:sp>
        <p:nvSpPr>
          <p:cNvPr id="47" name="qr-arrow">
            <a:extLst xmlns:a="http://schemas.openxmlformats.org/drawingml/2006/main">
              <a:ext uri="{FF2B5EF4-FFF2-40B4-BE49-F238E27FC236}">
                <a16:creationId xmlns:a16="http://schemas.microsoft.com/office/drawing/2014/main" id="{9F4E4496-A043-4023-B4C7-6AEE4AA6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2000" y="29880000"/>
            <a:ext cx="6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535" b="1">
                <a:solidFill>
                  <a:srgbClr val="153F59"/>
                </a:solidFill>
              </a:defRPr>
            </a:pPr>
            <a:r>
              <a:rPr sz="4535" b="1">
                <a:solidFill>
                  <a:srgbClr val="153F59"/>
                </a:solidFill>
              </a:rPr>
              <a:t>←</a:t>
            </a:r>
          </a:p>
        </p:txBody>
      </p:sp>
      <p:sp>
        <p:nvSpPr>
          <p:cNvPr id="48" name="qr-label">
            <a:extLst xmlns:a="http://schemas.openxmlformats.org/drawingml/2006/main">
              <a:ext uri="{FF2B5EF4-FFF2-40B4-BE49-F238E27FC236}">
                <a16:creationId xmlns:a16="http://schemas.microsoft.com/office/drawing/2014/main" id="{A908C7BA-514C-4CD9-9BB3-2E17DFE1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2000" y="29412000"/>
            <a:ext cx="61200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41" b="1">
                <a:solidFill>
                  <a:srgbClr val="153F59"/>
                </a:solidFill>
              </a:defRPr>
            </a:pPr>
            <a:r>
              <a:rPr sz="2041" b="1">
                <a:solidFill>
                  <a:srgbClr val="153F59"/>
                </a:solidFill>
              </a:rPr>
              <a:t>Aponte para acessar o relatório metodológico</a:t>
            </a:r>
          </a:p>
          <a:p xmlns:a="http://schemas.openxmlformats.org/drawingml/2006/main">
            <a:pPr algn="l">
              <a:defRPr sz="2041" b="1">
                <a:solidFill>
                  <a:srgbClr val="153F59"/>
                </a:solidFill>
              </a:defRPr>
            </a:pPr>
            <a:r>
              <a:rPr sz="2041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49" name="right-title">
            <a:extLst xmlns:a="http://schemas.openxmlformats.org/drawingml/2006/main">
              <a:ext uri="{FF2B5EF4-FFF2-40B4-BE49-F238E27FC236}">
                <a16:creationId xmlns:a16="http://schemas.microsoft.com/office/drawing/2014/main" id="{2C963053-F745-411A-B5C2-FAA1F01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5400000"/>
            <a:ext cx="64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5" b="1">
                <a:solidFill>
                  <a:srgbClr val="102536"/>
                </a:solidFill>
              </a:defRPr>
            </a:pPr>
            <a:r>
              <a:rPr sz="3685" b="1">
                <a:solidFill>
                  <a:srgbClr val="102536"/>
                </a:solidFill>
              </a:rPr>
              <a:t>AMMO BAR</a:t>
            </a:r>
          </a:p>
        </p:txBody>
      </p:sp>
      <p:sp>
        <p:nvSpPr>
          <p:cNvPr id="50" name="right-discussion">
            <a:extLst xmlns:a="http://schemas.openxmlformats.org/drawingml/2006/main">
              <a:ext uri="{FF2B5EF4-FFF2-40B4-BE49-F238E27FC236}">
                <a16:creationId xmlns:a16="http://schemas.microsoft.com/office/drawing/2014/main" id="{1FB46D92-2B2A-4A13-AC8A-485139D3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6552000"/>
            <a:ext cx="7092000" cy="15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DISCUSSÃO APLICADA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A prevalência nacional de diagnóstico médico de asma aumentou de 4,41% para 5,40%, com IC95% sem sobreposição.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Crises recentes não indicam melhora proporcional do controle clínico.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O uso de medicamentos entre asmáticos caiu de 81,5% para 64,4%; a leitura depende do denominador, do perfil dos diagnosticados e dos IC95%.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Causas respiratórias responderam por cerca de 15,2% do absenteísmo por motivo de saúde e média de 4,8 dias perdidos.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IC BETA E INFERÊNCIA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O intervalo de Wald pode ter cobertura instável em proporções extremas e domínios pequenos.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O IC beta respeita o intervalo natural 0-1 e reduz limites impossíveis.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A comparação entre anos/UFs deve combinar magnitude e sobreposição dos IC95%.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ETL, OMOP E ECONOMIA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O fluxo documenta extração, transformação e carga de tabelas analíticas reprodutíveis.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PNS não é base clínica longitudinal, mas pode servir como camada populacional de referência para OMOP/OHDSI.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Melhor controle da asma pode reduzir faltas, dias perdidos, perda de produtividade e pressão econômica sobre famílias e serviços.</a:t>
            </a:r>
          </a:p>
        </p:txBody>
      </p:sp>
      <p:sp>
        <p:nvSpPr>
          <p:cNvPr id="51" name="refs-heading">
            <a:extLst xmlns:a="http://schemas.openxmlformats.org/drawingml/2006/main">
              <a:ext uri="{FF2B5EF4-FFF2-40B4-BE49-F238E27FC236}">
                <a16:creationId xmlns:a16="http://schemas.microsoft.com/office/drawing/2014/main" id="{9FC649EA-6710-4BF9-B417-6836138A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2788000"/>
            <a:ext cx="72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53" b="1">
                <a:solidFill>
                  <a:srgbClr val="153F59"/>
                </a:solidFill>
              </a:defRPr>
            </a:pPr>
            <a:r>
              <a:rPr sz="2353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52" name="refs-left">
            <a:extLst xmlns:a="http://schemas.openxmlformats.org/drawingml/2006/main">
              <a:ext uri="{FF2B5EF4-FFF2-40B4-BE49-F238E27FC236}">
                <a16:creationId xmlns:a16="http://schemas.microsoft.com/office/drawing/2014/main" id="{19A0A19B-255F-4F97-9102-9F80F557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53" name="refs-right">
            <a:extLst xmlns:a="http://schemas.openxmlformats.org/drawingml/2006/main">
              <a:ext uri="{FF2B5EF4-FFF2-40B4-BE49-F238E27FC236}">
                <a16:creationId xmlns:a16="http://schemas.microsoft.com/office/drawing/2014/main" id="{738587A3-2B62-4142-9597-85628FA4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54" name="author-footer">
            <a:extLst xmlns:a="http://schemas.openxmlformats.org/drawingml/2006/main">
              <a:ext uri="{FF2B5EF4-FFF2-40B4-BE49-F238E27FC236}">
                <a16:creationId xmlns:a16="http://schemas.microsoft.com/office/drawing/2014/main" id="{C2F44261-6F84-4535-985B-82A7BF31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7600" y="28080000"/>
            <a:ext cx="4248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28" b="0">
                <a:solidFill>
                  <a:srgbClr val="102536"/>
                </a:solidFill>
              </a:defRPr>
            </a:pPr>
            <a:r>
              <a:rPr sz="1928" b="0">
                <a:solidFill>
                  <a:srgbClr val="102536"/>
                </a:solidFill>
              </a:rPr>
              <a:t>I. Dube; M. E. L. Silva</a:t>
            </a:r>
          </a:p>
          <a:p xmlns:a="http://schemas.openxmlformats.org/drawingml/2006/main">
            <a:pPr algn="l">
              <a:defRPr sz="1928" b="0">
                <a:solidFill>
                  <a:srgbClr val="102536"/>
                </a:solidFill>
              </a:defRPr>
            </a:pPr>
            <a:r>
              <a:rPr sz="1928" b="0">
                <a:solidFill>
                  <a:srgbClr val="102536"/>
                </a:solidFill>
              </a:rPr>
              <a:t>PNS 2013-2019 | Brasil</a:t>
            </a:r>
          </a:p>
        </p:txBody>
      </p:sp>
    </p:spTree>
    <p:extLst>
      <p:ext uri="{BB962C8B-B14F-4D97-AF65-F5344CB8AC3E}">
        <p14:creationId xmlns:p14="http://schemas.microsoft.com/office/powerpoint/2010/main" val="2011633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2026-07-22T10:09:57.2750000Z</dcterms:created>
  <dcterms:modified xsi:type="dcterms:W3CDTF">2026-07-22T10:09:57.2750000Z</dcterms:modified>
</coreProperties>
</file>