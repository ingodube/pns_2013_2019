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7" d="100"/>
          <a:sy n="27" d="100"/>
        </p:scale>
        <p:origin x="139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age-bg">
            <a:extLst>
              <a:ext uri="{FF2B5EF4-FFF2-40B4-BE49-F238E27FC236}">
                <a16:creationId xmlns:a16="http://schemas.microsoft.com/office/drawing/2014/main" id="{ED3CB1EA-DE82-498E-A01E-17B708A32A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central-blue-panel">
            <a:extLst>
              <a:ext uri="{FF2B5EF4-FFF2-40B4-BE49-F238E27FC236}">
                <a16:creationId xmlns:a16="http://schemas.microsoft.com/office/drawing/2014/main" id="{91FA644D-14DF-4A67-9996-F6874DB846A3}"/>
              </a:ext>
            </a:extLst>
          </p:cNvPr>
          <p:cNvSpPr>
            <a:spLocks noGrp="1"/>
          </p:cNvSpPr>
          <p:nvPr/>
        </p:nvSpPr>
        <p:spPr>
          <a:xfrm>
            <a:off x="8434800" y="4698000"/>
            <a:ext cx="26974800" cy="28220400"/>
          </a:xfrm>
          <a:prstGeom prst="rect">
            <a:avLst/>
          </a:prstGeom>
          <a:solidFill>
            <a:srgbClr val="BFE2F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5" name="Imagem 27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088"/>
            <a:ext cx="43891200" cy="4695825"/>
          </a:xfrm>
          <a:prstGeom prst="rect">
            <a:avLst/>
          </a:prstGeom>
        </p:spPr>
      </p:pic>
      <p:pic>
        <p:nvPicPr>
          <p:cNvPr id="276" name="Imagem 27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7728000" y="29300889"/>
            <a:ext cx="5976000" cy="3246222"/>
          </a:xfrm>
          <a:prstGeom prst="rect">
            <a:avLst/>
          </a:prstGeom>
        </p:spPr>
      </p:pic>
      <p:sp>
        <p:nvSpPr>
          <p:cNvPr id="5" name="left-title">
            <a:extLst>
              <a:ext uri="{FF2B5EF4-FFF2-40B4-BE49-F238E27FC236}">
                <a16:creationId xmlns:a16="http://schemas.microsoft.com/office/drawing/2014/main" id="{DE2988AD-8A76-4DCA-8006-5BFAEA516E8F}"/>
              </a:ext>
            </a:extLst>
          </p:cNvPr>
          <p:cNvSpPr>
            <a:spLocks noGrp="1"/>
          </p:cNvSpPr>
          <p:nvPr/>
        </p:nvSpPr>
        <p:spPr>
          <a:xfrm>
            <a:off x="252000" y="5220000"/>
            <a:ext cx="7704000" cy="208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83" b="1">
                <a:solidFill>
                  <a:srgbClr val="153F59"/>
                </a:solidFill>
              </a:defRPr>
            </a:pPr>
            <a:r>
              <a:rPr sz="2183" b="1">
                <a:solidFill>
                  <a:srgbClr val="153F59"/>
                </a:solidFill>
              </a:rPr>
              <a:t>Implementação do plano amostral da Pesquisa Nacional da Saúde no R: um estudo de caso sobre a asma no Brasil.</a:t>
            </a:r>
          </a:p>
        </p:txBody>
      </p:sp>
      <p:sp>
        <p:nvSpPr>
          <p:cNvPr id="6" name="presenter">
            <a:extLst>
              <a:ext uri="{FF2B5EF4-FFF2-40B4-BE49-F238E27FC236}">
                <a16:creationId xmlns:a16="http://schemas.microsoft.com/office/drawing/2014/main" id="{93053951-FB68-42E7-9554-69704ABE6C5A}"/>
              </a:ext>
            </a:extLst>
          </p:cNvPr>
          <p:cNvSpPr>
            <a:spLocks noGrp="1"/>
          </p:cNvSpPr>
          <p:nvPr/>
        </p:nvSpPr>
        <p:spPr>
          <a:xfrm>
            <a:off x="828000" y="7560000"/>
            <a:ext cx="7092000" cy="57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98" b="0">
                <a:solidFill>
                  <a:srgbClr val="4F6372"/>
                </a:solidFill>
              </a:defRPr>
            </a:pPr>
            <a:r>
              <a:rPr sz="2098" b="0">
                <a:solidFill>
                  <a:srgbClr val="4F6372"/>
                </a:solidFill>
              </a:rPr>
              <a:t>APRESENTAÇÃO: I. Dube; M. E. L. Silva</a:t>
            </a:r>
          </a:p>
        </p:txBody>
      </p:sp>
      <p:sp>
        <p:nvSpPr>
          <p:cNvPr id="7" name="INTRODUÇÃO-heading">
            <a:extLst>
              <a:ext uri="{FF2B5EF4-FFF2-40B4-BE49-F238E27FC236}">
                <a16:creationId xmlns:a16="http://schemas.microsoft.com/office/drawing/2014/main" id="{AAFD17A4-0F6E-4599-B209-657B761CBDFC}"/>
              </a:ext>
            </a:extLst>
          </p:cNvPr>
          <p:cNvSpPr>
            <a:spLocks noGrp="1"/>
          </p:cNvSpPr>
          <p:nvPr/>
        </p:nvSpPr>
        <p:spPr>
          <a:xfrm>
            <a:off x="252000" y="8640000"/>
            <a:ext cx="7704000" cy="61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91" b="1">
                <a:solidFill>
                  <a:srgbClr val="153F59"/>
                </a:solidFill>
              </a:defRPr>
            </a:pPr>
            <a:r>
              <a:rPr sz="2891" b="1">
                <a:solidFill>
                  <a:srgbClr val="153F59"/>
                </a:solidFill>
              </a:rPr>
              <a:t>INTRODUÇÃO</a:t>
            </a:r>
          </a:p>
        </p:txBody>
      </p:sp>
      <p:sp>
        <p:nvSpPr>
          <p:cNvPr id="8" name="INTRODUÇÃO-body">
            <a:extLst>
              <a:ext uri="{FF2B5EF4-FFF2-40B4-BE49-F238E27FC236}">
                <a16:creationId xmlns:a16="http://schemas.microsoft.com/office/drawing/2014/main" id="{10AC0DF4-5462-4B18-B883-CE37C573BF10}"/>
              </a:ext>
            </a:extLst>
          </p:cNvPr>
          <p:cNvSpPr>
            <a:spLocks noGrp="1"/>
          </p:cNvSpPr>
          <p:nvPr/>
        </p:nvSpPr>
        <p:spPr>
          <a:xfrm>
            <a:off x="252000" y="9360000"/>
            <a:ext cx="7704000" cy="352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39" b="0">
                <a:solidFill>
                  <a:srgbClr val="102536"/>
                </a:solidFill>
              </a:defRPr>
            </a:pPr>
            <a:r>
              <a:rPr sz="2339" b="0">
                <a:solidFill>
                  <a:srgbClr val="102536"/>
                </a:solidFill>
              </a:rPr>
              <a:t>• Indicadores epidemiológicos transformam respostas individuais em evidências para vigilância, planejamento e políticas públicas.</a:t>
            </a:r>
          </a:p>
          <a:p>
            <a:pPr algn="l">
              <a:defRPr sz="2339" b="0">
                <a:solidFill>
                  <a:srgbClr val="102536"/>
                </a:solidFill>
              </a:defRPr>
            </a:pPr>
            <a:r>
              <a:rPr sz="2339" b="0">
                <a:solidFill>
                  <a:srgbClr val="102536"/>
                </a:solidFill>
              </a:rPr>
              <a:t>• A asma combina diagnóstico, crises, uso de medicamentos, fatores de risco e limitação funcional.</a:t>
            </a:r>
          </a:p>
          <a:p>
            <a:pPr algn="l">
              <a:defRPr sz="2339" b="0">
                <a:solidFill>
                  <a:srgbClr val="102536"/>
                </a:solidFill>
              </a:defRPr>
            </a:pPr>
            <a:r>
              <a:rPr sz="2339" b="0">
                <a:solidFill>
                  <a:srgbClr val="102536"/>
                </a:solidFill>
              </a:rPr>
              <a:t>• A PNS permite comparar Brasil e UFs quando pesos, estratos e conglomerados são incorporados.</a:t>
            </a:r>
          </a:p>
        </p:txBody>
      </p:sp>
      <p:sp>
        <p:nvSpPr>
          <p:cNvPr id="9" name="METODOLOGIA-heading">
            <a:extLst>
              <a:ext uri="{FF2B5EF4-FFF2-40B4-BE49-F238E27FC236}">
                <a16:creationId xmlns:a16="http://schemas.microsoft.com/office/drawing/2014/main" id="{804B0BE4-52BD-4D02-BC45-F2951C29BEC8}"/>
              </a:ext>
            </a:extLst>
          </p:cNvPr>
          <p:cNvSpPr>
            <a:spLocks noGrp="1"/>
          </p:cNvSpPr>
          <p:nvPr/>
        </p:nvSpPr>
        <p:spPr>
          <a:xfrm>
            <a:off x="252000" y="13212000"/>
            <a:ext cx="7704000" cy="61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91" b="1">
                <a:solidFill>
                  <a:srgbClr val="7A3B73"/>
                </a:solidFill>
              </a:defRPr>
            </a:pPr>
            <a:r>
              <a:rPr sz="2891" b="1">
                <a:solidFill>
                  <a:srgbClr val="7A3B73"/>
                </a:solidFill>
              </a:rPr>
              <a:t>METODOLOGIA</a:t>
            </a:r>
          </a:p>
        </p:txBody>
      </p:sp>
      <p:sp>
        <p:nvSpPr>
          <p:cNvPr id="10" name="METODOLOGIA-body">
            <a:extLst>
              <a:ext uri="{FF2B5EF4-FFF2-40B4-BE49-F238E27FC236}">
                <a16:creationId xmlns:a16="http://schemas.microsoft.com/office/drawing/2014/main" id="{15A726CD-45E1-4C3C-B8B4-65EECD4B93F8}"/>
              </a:ext>
            </a:extLst>
          </p:cNvPr>
          <p:cNvSpPr>
            <a:spLocks noGrp="1"/>
          </p:cNvSpPr>
          <p:nvPr/>
        </p:nvSpPr>
        <p:spPr>
          <a:xfrm>
            <a:off x="252000" y="13932000"/>
            <a:ext cx="7704000" cy="352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39" b="0">
                <a:solidFill>
                  <a:srgbClr val="102536"/>
                </a:solidFill>
              </a:defRPr>
            </a:pPr>
            <a:r>
              <a:rPr sz="2339" b="0">
                <a:solidFill>
                  <a:srgbClr val="102536"/>
                </a:solidFill>
              </a:rPr>
              <a:t>• Microdados PNS 2013/2019 do morador selecionado.</a:t>
            </a:r>
          </a:p>
          <a:p>
            <a:pPr algn="l">
              <a:defRPr sz="2339" b="0">
                <a:solidFill>
                  <a:srgbClr val="102536"/>
                </a:solidFill>
              </a:defRPr>
            </a:pPr>
            <a:r>
              <a:rPr sz="2339" b="0">
                <a:solidFill>
                  <a:srgbClr val="102536"/>
                </a:solidFill>
              </a:rPr>
              <a:t>• Variáveis: Q074 asma; Q076 crise recente; Q07701/Q07704/Q07708 medicamentos; P050 tabagismo; J002/J003/J00402 absenteísmo e dias perdidos.</a:t>
            </a:r>
          </a:p>
          <a:p>
            <a:pPr algn="l">
              <a:defRPr sz="2339" b="0">
                <a:solidFill>
                  <a:srgbClr val="102536"/>
                </a:solidFill>
              </a:defRPr>
            </a:pPr>
            <a:r>
              <a:rPr sz="2339" b="0">
                <a:solidFill>
                  <a:srgbClr val="102536"/>
                </a:solidFill>
              </a:rPr>
              <a:t>• Desenho complexo via PNSIBGE::pns_design(), com UPA/PSU, estratos e pesos calibrados; estimação pelo survey.</a:t>
            </a:r>
          </a:p>
        </p:txBody>
      </p:sp>
      <p:sp>
        <p:nvSpPr>
          <p:cNvPr id="11" name="FLUXO ETL-heading">
            <a:extLst>
              <a:ext uri="{FF2B5EF4-FFF2-40B4-BE49-F238E27FC236}">
                <a16:creationId xmlns:a16="http://schemas.microsoft.com/office/drawing/2014/main" id="{5F853A1A-9794-40E0-BA2B-4CB4305168C6}"/>
              </a:ext>
            </a:extLst>
          </p:cNvPr>
          <p:cNvSpPr>
            <a:spLocks noGrp="1"/>
          </p:cNvSpPr>
          <p:nvPr/>
        </p:nvSpPr>
        <p:spPr>
          <a:xfrm>
            <a:off x="252000" y="17928000"/>
            <a:ext cx="7704000" cy="61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21" b="1">
                <a:solidFill>
                  <a:srgbClr val="153F59"/>
                </a:solidFill>
              </a:defRPr>
            </a:pPr>
            <a:r>
              <a:rPr sz="2721" b="1">
                <a:solidFill>
                  <a:srgbClr val="153F59"/>
                </a:solidFill>
              </a:rPr>
              <a:t>FLUXO ETL</a:t>
            </a:r>
          </a:p>
        </p:txBody>
      </p:sp>
      <p:sp>
        <p:nvSpPr>
          <p:cNvPr id="12" name="etl-main-0">
            <a:extLst>
              <a:ext uri="{FF2B5EF4-FFF2-40B4-BE49-F238E27FC236}">
                <a16:creationId xmlns:a16="http://schemas.microsoft.com/office/drawing/2014/main" id="{9E916CEB-2847-4B1F-8CD9-360F31ACDDAD}"/>
              </a:ext>
            </a:extLst>
          </p:cNvPr>
          <p:cNvSpPr>
            <a:spLocks noGrp="1"/>
          </p:cNvSpPr>
          <p:nvPr/>
        </p:nvSpPr>
        <p:spPr>
          <a:xfrm>
            <a:off x="1548000" y="18756000"/>
            <a:ext cx="5112000" cy="1044000"/>
          </a:xfrm>
          <a:prstGeom prst="rect">
            <a:avLst/>
          </a:prstGeom>
          <a:solidFill>
            <a:srgbClr val="1F5673"/>
          </a:solidFill>
          <a:ln w="36000">
            <a:solidFill>
              <a:srgbClr val="153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etl-main-text-0">
            <a:extLst>
              <a:ext uri="{FF2B5EF4-FFF2-40B4-BE49-F238E27FC236}">
                <a16:creationId xmlns:a16="http://schemas.microsoft.com/office/drawing/2014/main" id="{5F6D1EDE-28B4-40A7-8E98-06B04E75A6BD}"/>
              </a:ext>
            </a:extLst>
          </p:cNvPr>
          <p:cNvSpPr>
            <a:spLocks noGrp="1"/>
          </p:cNvSpPr>
          <p:nvPr/>
        </p:nvSpPr>
        <p:spPr>
          <a:xfrm>
            <a:off x="1764000" y="18936000"/>
            <a:ext cx="4680000" cy="75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28" b="1">
                <a:solidFill>
                  <a:srgbClr val="FFFFFF"/>
                </a:solidFill>
              </a:defRPr>
            </a:pPr>
            <a:r>
              <a:rPr sz="1928" b="1">
                <a:solidFill>
                  <a:srgbClr val="FFFFFF"/>
                </a:solidFill>
              </a:rPr>
              <a:t>Extração dos dados</a:t>
            </a:r>
          </a:p>
          <a:p>
            <a:pPr algn="ctr">
              <a:defRPr sz="1928" b="1">
                <a:solidFill>
                  <a:srgbClr val="FFFFFF"/>
                </a:solidFill>
              </a:defRPr>
            </a:pPr>
            <a:r>
              <a:rPr sz="1928" b="1">
                <a:solidFill>
                  <a:srgbClr val="FFFFFF"/>
                </a:solidFill>
              </a:rPr>
              <a:t>da PNS 2013/2019</a:t>
            </a:r>
          </a:p>
        </p:txBody>
      </p:sp>
      <p:sp>
        <p:nvSpPr>
          <p:cNvPr id="14" name="etl-down-0">
            <a:extLst>
              <a:ext uri="{FF2B5EF4-FFF2-40B4-BE49-F238E27FC236}">
                <a16:creationId xmlns:a16="http://schemas.microsoft.com/office/drawing/2014/main" id="{0166E6B1-254F-4693-8977-BD0EA11C0E87}"/>
              </a:ext>
            </a:extLst>
          </p:cNvPr>
          <p:cNvSpPr>
            <a:spLocks noGrp="1"/>
          </p:cNvSpPr>
          <p:nvPr/>
        </p:nvSpPr>
        <p:spPr>
          <a:xfrm>
            <a:off x="3888000" y="19872000"/>
            <a:ext cx="432000" cy="39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21" b="1">
                <a:solidFill>
                  <a:srgbClr val="153F59"/>
                </a:solidFill>
              </a:defRPr>
            </a:pPr>
            <a:r>
              <a:rPr sz="2721" b="1">
                <a:solidFill>
                  <a:srgbClr val="153F59"/>
                </a:solidFill>
              </a:rPr>
              <a:t>↓</a:t>
            </a:r>
          </a:p>
        </p:txBody>
      </p:sp>
      <p:sp>
        <p:nvSpPr>
          <p:cNvPr id="15" name="etl-main-1">
            <a:extLst>
              <a:ext uri="{FF2B5EF4-FFF2-40B4-BE49-F238E27FC236}">
                <a16:creationId xmlns:a16="http://schemas.microsoft.com/office/drawing/2014/main" id="{0E9789B3-A13F-401E-864A-3F1B8CCED1B2}"/>
              </a:ext>
            </a:extLst>
          </p:cNvPr>
          <p:cNvSpPr>
            <a:spLocks noGrp="1"/>
          </p:cNvSpPr>
          <p:nvPr/>
        </p:nvSpPr>
        <p:spPr>
          <a:xfrm>
            <a:off x="1548000" y="20268000"/>
            <a:ext cx="5112000" cy="1044000"/>
          </a:xfrm>
          <a:prstGeom prst="rect">
            <a:avLst/>
          </a:prstGeom>
          <a:solidFill>
            <a:srgbClr val="1F5673"/>
          </a:solidFill>
          <a:ln w="36000">
            <a:solidFill>
              <a:srgbClr val="153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etl-main-text-1">
            <a:extLst>
              <a:ext uri="{FF2B5EF4-FFF2-40B4-BE49-F238E27FC236}">
                <a16:creationId xmlns:a16="http://schemas.microsoft.com/office/drawing/2014/main" id="{AB3B302D-43E2-4CB1-9470-4F50BA76CC34}"/>
              </a:ext>
            </a:extLst>
          </p:cNvPr>
          <p:cNvSpPr>
            <a:spLocks noGrp="1"/>
          </p:cNvSpPr>
          <p:nvPr/>
        </p:nvSpPr>
        <p:spPr>
          <a:xfrm>
            <a:off x="1764000" y="20448000"/>
            <a:ext cx="4680000" cy="75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28" b="1">
                <a:solidFill>
                  <a:srgbClr val="FFFFFF"/>
                </a:solidFill>
              </a:defRPr>
            </a:pPr>
            <a:r>
              <a:rPr sz="1928" b="1">
                <a:solidFill>
                  <a:srgbClr val="FFFFFF"/>
                </a:solidFill>
              </a:rPr>
              <a:t>Tratamento das</a:t>
            </a:r>
          </a:p>
          <a:p>
            <a:pPr algn="ctr">
              <a:defRPr sz="1928" b="1">
                <a:solidFill>
                  <a:srgbClr val="FFFFFF"/>
                </a:solidFill>
              </a:defRPr>
            </a:pPr>
            <a:r>
              <a:rPr sz="1928" b="1">
                <a:solidFill>
                  <a:srgbClr val="FFFFFF"/>
                </a:solidFill>
              </a:rPr>
              <a:t>variáveis indicadoras</a:t>
            </a:r>
          </a:p>
        </p:txBody>
      </p:sp>
      <p:sp>
        <p:nvSpPr>
          <p:cNvPr id="17" name="etl-down-1">
            <a:extLst>
              <a:ext uri="{FF2B5EF4-FFF2-40B4-BE49-F238E27FC236}">
                <a16:creationId xmlns:a16="http://schemas.microsoft.com/office/drawing/2014/main" id="{F42CF1D8-869E-408A-9C05-D871DA68BF8D}"/>
              </a:ext>
            </a:extLst>
          </p:cNvPr>
          <p:cNvSpPr>
            <a:spLocks noGrp="1"/>
          </p:cNvSpPr>
          <p:nvPr/>
        </p:nvSpPr>
        <p:spPr>
          <a:xfrm>
            <a:off x="3888000" y="21384000"/>
            <a:ext cx="432000" cy="39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21" b="1">
                <a:solidFill>
                  <a:srgbClr val="153F59"/>
                </a:solidFill>
              </a:defRPr>
            </a:pPr>
            <a:r>
              <a:rPr sz="2721" b="1">
                <a:solidFill>
                  <a:srgbClr val="153F59"/>
                </a:solidFill>
              </a:rPr>
              <a:t>↓</a:t>
            </a:r>
          </a:p>
        </p:txBody>
      </p:sp>
      <p:sp>
        <p:nvSpPr>
          <p:cNvPr id="18" name="etl-main-2">
            <a:extLst>
              <a:ext uri="{FF2B5EF4-FFF2-40B4-BE49-F238E27FC236}">
                <a16:creationId xmlns:a16="http://schemas.microsoft.com/office/drawing/2014/main" id="{5A817D02-4A33-4718-812F-B384F3BBA269}"/>
              </a:ext>
            </a:extLst>
          </p:cNvPr>
          <p:cNvSpPr>
            <a:spLocks noGrp="1"/>
          </p:cNvSpPr>
          <p:nvPr/>
        </p:nvSpPr>
        <p:spPr>
          <a:xfrm>
            <a:off x="1548000" y="21780000"/>
            <a:ext cx="5112000" cy="1044000"/>
          </a:xfrm>
          <a:prstGeom prst="rect">
            <a:avLst/>
          </a:prstGeom>
          <a:solidFill>
            <a:srgbClr val="1F5673"/>
          </a:solidFill>
          <a:ln w="36000">
            <a:solidFill>
              <a:srgbClr val="153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etl-main-text-2">
            <a:extLst>
              <a:ext uri="{FF2B5EF4-FFF2-40B4-BE49-F238E27FC236}">
                <a16:creationId xmlns:a16="http://schemas.microsoft.com/office/drawing/2014/main" id="{0E5E8EA3-DF03-4928-945A-9ED648AFAB1E}"/>
              </a:ext>
            </a:extLst>
          </p:cNvPr>
          <p:cNvSpPr>
            <a:spLocks noGrp="1"/>
          </p:cNvSpPr>
          <p:nvPr/>
        </p:nvSpPr>
        <p:spPr>
          <a:xfrm>
            <a:off x="1764000" y="21960000"/>
            <a:ext cx="4680000" cy="75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28" b="1">
                <a:solidFill>
                  <a:srgbClr val="FFFFFF"/>
                </a:solidFill>
              </a:defRPr>
            </a:pPr>
            <a:r>
              <a:rPr sz="1928" b="1">
                <a:solidFill>
                  <a:srgbClr val="FFFFFF"/>
                </a:solidFill>
              </a:rPr>
              <a:t>Implementação do</a:t>
            </a:r>
          </a:p>
          <a:p>
            <a:pPr algn="ctr">
              <a:defRPr sz="1928" b="1">
                <a:solidFill>
                  <a:srgbClr val="FFFFFF"/>
                </a:solidFill>
              </a:defRPr>
            </a:pPr>
            <a:r>
              <a:rPr sz="1928" b="1">
                <a:solidFill>
                  <a:srgbClr val="FFFFFF"/>
                </a:solidFill>
              </a:rPr>
              <a:t>plano amostral</a:t>
            </a:r>
          </a:p>
        </p:txBody>
      </p:sp>
      <p:sp>
        <p:nvSpPr>
          <p:cNvPr id="20" name="etl-branch-symbol">
            <a:extLst>
              <a:ext uri="{FF2B5EF4-FFF2-40B4-BE49-F238E27FC236}">
                <a16:creationId xmlns:a16="http://schemas.microsoft.com/office/drawing/2014/main" id="{2A32ABBE-2E4B-4405-B585-42AC52D91C27}"/>
              </a:ext>
            </a:extLst>
          </p:cNvPr>
          <p:cNvSpPr>
            <a:spLocks noGrp="1"/>
          </p:cNvSpPr>
          <p:nvPr/>
        </p:nvSpPr>
        <p:spPr>
          <a:xfrm>
            <a:off x="1260000" y="23292000"/>
            <a:ext cx="5688000" cy="54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35" b="1">
                <a:solidFill>
                  <a:srgbClr val="153F59"/>
                </a:solidFill>
              </a:defRPr>
            </a:pPr>
            <a:r>
              <a:rPr sz="2835" b="1">
                <a:solidFill>
                  <a:srgbClr val="153F59"/>
                </a:solidFill>
              </a:rPr>
              <a:t>↙       ↓       ↘</a:t>
            </a:r>
          </a:p>
        </p:txBody>
      </p:sp>
      <p:sp>
        <p:nvSpPr>
          <p:cNvPr id="21" name="etl-branch-0">
            <a:extLst>
              <a:ext uri="{FF2B5EF4-FFF2-40B4-BE49-F238E27FC236}">
                <a16:creationId xmlns:a16="http://schemas.microsoft.com/office/drawing/2014/main" id="{3C1FD3D6-FF7E-4EB9-9D29-0DE56620AE7C}"/>
              </a:ext>
            </a:extLst>
          </p:cNvPr>
          <p:cNvSpPr>
            <a:spLocks noGrp="1"/>
          </p:cNvSpPr>
          <p:nvPr/>
        </p:nvSpPr>
        <p:spPr>
          <a:xfrm>
            <a:off x="252000" y="23940000"/>
            <a:ext cx="2304000" cy="864000"/>
          </a:xfrm>
          <a:prstGeom prst="rect">
            <a:avLst/>
          </a:prstGeom>
          <a:solidFill>
            <a:srgbClr val="1F5673"/>
          </a:solidFill>
          <a:ln w="36000">
            <a:solidFill>
              <a:srgbClr val="153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etl-branch-text-0">
            <a:extLst>
              <a:ext uri="{FF2B5EF4-FFF2-40B4-BE49-F238E27FC236}">
                <a16:creationId xmlns:a16="http://schemas.microsoft.com/office/drawing/2014/main" id="{431350F9-E5A2-4448-B45B-41591A99D622}"/>
              </a:ext>
            </a:extLst>
          </p:cNvPr>
          <p:cNvSpPr>
            <a:spLocks noGrp="1"/>
          </p:cNvSpPr>
          <p:nvPr/>
        </p:nvSpPr>
        <p:spPr>
          <a:xfrm>
            <a:off x="360000" y="24156000"/>
            <a:ext cx="2088000" cy="46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84" b="1">
                <a:solidFill>
                  <a:srgbClr val="FFFFFF"/>
                </a:solidFill>
              </a:defRPr>
            </a:pPr>
            <a:r>
              <a:rPr sz="1984" b="1">
                <a:solidFill>
                  <a:srgbClr val="FFFFFF"/>
                </a:solidFill>
              </a:rPr>
              <a:t>Médias</a:t>
            </a:r>
          </a:p>
        </p:txBody>
      </p:sp>
      <p:sp>
        <p:nvSpPr>
          <p:cNvPr id="23" name="etl-branch-down-0">
            <a:extLst>
              <a:ext uri="{FF2B5EF4-FFF2-40B4-BE49-F238E27FC236}">
                <a16:creationId xmlns:a16="http://schemas.microsoft.com/office/drawing/2014/main" id="{4FB6322F-D5BC-40AA-A6AB-FADB9804FBE5}"/>
              </a:ext>
            </a:extLst>
          </p:cNvPr>
          <p:cNvSpPr>
            <a:spLocks noGrp="1"/>
          </p:cNvSpPr>
          <p:nvPr/>
        </p:nvSpPr>
        <p:spPr>
          <a:xfrm>
            <a:off x="1224000" y="24840000"/>
            <a:ext cx="360000" cy="3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68" b="1">
                <a:solidFill>
                  <a:srgbClr val="153F59"/>
                </a:solidFill>
              </a:defRPr>
            </a:pPr>
            <a:r>
              <a:rPr sz="2268" b="1">
                <a:solidFill>
                  <a:srgbClr val="153F59"/>
                </a:solidFill>
              </a:rPr>
              <a:t>↓</a:t>
            </a:r>
          </a:p>
        </p:txBody>
      </p:sp>
      <p:sp>
        <p:nvSpPr>
          <p:cNvPr id="24" name="etl-ci-0">
            <a:extLst>
              <a:ext uri="{FF2B5EF4-FFF2-40B4-BE49-F238E27FC236}">
                <a16:creationId xmlns:a16="http://schemas.microsoft.com/office/drawing/2014/main" id="{63998FAF-8E79-45DA-B8F6-22D96ACA6E15}"/>
              </a:ext>
            </a:extLst>
          </p:cNvPr>
          <p:cNvSpPr>
            <a:spLocks noGrp="1"/>
          </p:cNvSpPr>
          <p:nvPr/>
        </p:nvSpPr>
        <p:spPr>
          <a:xfrm>
            <a:off x="396000" y="25308000"/>
            <a:ext cx="2016000" cy="1224000"/>
          </a:xfrm>
          <a:prstGeom prst="rect">
            <a:avLst/>
          </a:prstGeom>
          <a:solidFill>
            <a:srgbClr val="1F5673"/>
          </a:solidFill>
          <a:ln w="36000">
            <a:solidFill>
              <a:srgbClr val="153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etl-ci-text-0">
            <a:extLst>
              <a:ext uri="{FF2B5EF4-FFF2-40B4-BE49-F238E27FC236}">
                <a16:creationId xmlns:a16="http://schemas.microsoft.com/office/drawing/2014/main" id="{113BCA53-CA08-4AF3-B38B-25704CEF476F}"/>
              </a:ext>
            </a:extLst>
          </p:cNvPr>
          <p:cNvSpPr>
            <a:spLocks noGrp="1"/>
          </p:cNvSpPr>
          <p:nvPr/>
        </p:nvSpPr>
        <p:spPr>
          <a:xfrm>
            <a:off x="504000" y="25524000"/>
            <a:ext cx="1800000" cy="82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6" b="1">
                <a:solidFill>
                  <a:srgbClr val="FFFFFF"/>
                </a:solidFill>
              </a:defRPr>
            </a:pPr>
            <a:r>
              <a:rPr sz="1956" b="1">
                <a:solidFill>
                  <a:srgbClr val="FFFFFF"/>
                </a:solidFill>
              </a:rPr>
              <a:t>IC95%</a:t>
            </a:r>
          </a:p>
          <a:p>
            <a:pPr algn="ctr">
              <a:defRPr sz="1956" b="1">
                <a:solidFill>
                  <a:srgbClr val="FFFFFF"/>
                </a:solidFill>
              </a:defRPr>
            </a:pPr>
            <a:r>
              <a:rPr sz="1956" b="1">
                <a:solidFill>
                  <a:srgbClr val="FFFFFF"/>
                </a:solidFill>
              </a:rPr>
              <a:t>Normal</a:t>
            </a:r>
          </a:p>
        </p:txBody>
      </p:sp>
      <p:sp>
        <p:nvSpPr>
          <p:cNvPr id="26" name="etl-branch-1">
            <a:extLst>
              <a:ext uri="{FF2B5EF4-FFF2-40B4-BE49-F238E27FC236}">
                <a16:creationId xmlns:a16="http://schemas.microsoft.com/office/drawing/2014/main" id="{7E9E1B2F-8FC6-4B22-9446-7958F5AAD5DC}"/>
              </a:ext>
            </a:extLst>
          </p:cNvPr>
          <p:cNvSpPr>
            <a:spLocks noGrp="1"/>
          </p:cNvSpPr>
          <p:nvPr/>
        </p:nvSpPr>
        <p:spPr>
          <a:xfrm>
            <a:off x="2952000" y="23940000"/>
            <a:ext cx="2304000" cy="864000"/>
          </a:xfrm>
          <a:prstGeom prst="rect">
            <a:avLst/>
          </a:prstGeom>
          <a:solidFill>
            <a:srgbClr val="1F5673"/>
          </a:solidFill>
          <a:ln w="36000">
            <a:solidFill>
              <a:srgbClr val="153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etl-branch-text-1">
            <a:extLst>
              <a:ext uri="{FF2B5EF4-FFF2-40B4-BE49-F238E27FC236}">
                <a16:creationId xmlns:a16="http://schemas.microsoft.com/office/drawing/2014/main" id="{C676E107-76B4-436B-ABE3-7B5A91D28CF0}"/>
              </a:ext>
            </a:extLst>
          </p:cNvPr>
          <p:cNvSpPr>
            <a:spLocks noGrp="1"/>
          </p:cNvSpPr>
          <p:nvPr/>
        </p:nvSpPr>
        <p:spPr>
          <a:xfrm>
            <a:off x="3060000" y="24156000"/>
            <a:ext cx="2088000" cy="46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84" b="1">
                <a:solidFill>
                  <a:srgbClr val="FFFFFF"/>
                </a:solidFill>
              </a:defRPr>
            </a:pPr>
            <a:r>
              <a:rPr sz="1984" b="1">
                <a:solidFill>
                  <a:srgbClr val="FFFFFF"/>
                </a:solidFill>
              </a:rPr>
              <a:t>Proporções</a:t>
            </a:r>
          </a:p>
        </p:txBody>
      </p:sp>
      <p:sp>
        <p:nvSpPr>
          <p:cNvPr id="28" name="etl-branch-down-1">
            <a:extLst>
              <a:ext uri="{FF2B5EF4-FFF2-40B4-BE49-F238E27FC236}">
                <a16:creationId xmlns:a16="http://schemas.microsoft.com/office/drawing/2014/main" id="{574CD5FB-4C41-4FCD-A2CB-0C1C17926CB1}"/>
              </a:ext>
            </a:extLst>
          </p:cNvPr>
          <p:cNvSpPr>
            <a:spLocks noGrp="1"/>
          </p:cNvSpPr>
          <p:nvPr/>
        </p:nvSpPr>
        <p:spPr>
          <a:xfrm>
            <a:off x="3924000" y="24840000"/>
            <a:ext cx="360000" cy="3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68" b="1">
                <a:solidFill>
                  <a:srgbClr val="153F59"/>
                </a:solidFill>
              </a:defRPr>
            </a:pPr>
            <a:r>
              <a:rPr sz="2268" b="1">
                <a:solidFill>
                  <a:srgbClr val="153F59"/>
                </a:solidFill>
              </a:rPr>
              <a:t>↓</a:t>
            </a:r>
          </a:p>
        </p:txBody>
      </p:sp>
      <p:sp>
        <p:nvSpPr>
          <p:cNvPr id="29" name="etl-ci-1">
            <a:extLst>
              <a:ext uri="{FF2B5EF4-FFF2-40B4-BE49-F238E27FC236}">
                <a16:creationId xmlns:a16="http://schemas.microsoft.com/office/drawing/2014/main" id="{202CAC3B-F9B4-4A33-8080-EC725B3DD267}"/>
              </a:ext>
            </a:extLst>
          </p:cNvPr>
          <p:cNvSpPr>
            <a:spLocks noGrp="1"/>
          </p:cNvSpPr>
          <p:nvPr/>
        </p:nvSpPr>
        <p:spPr>
          <a:xfrm>
            <a:off x="3096000" y="25308000"/>
            <a:ext cx="2016000" cy="1224000"/>
          </a:xfrm>
          <a:prstGeom prst="rect">
            <a:avLst/>
          </a:prstGeom>
          <a:solidFill>
            <a:srgbClr val="1F5673"/>
          </a:solidFill>
          <a:ln w="36000">
            <a:solidFill>
              <a:srgbClr val="153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etl-ci-text-1">
            <a:extLst>
              <a:ext uri="{FF2B5EF4-FFF2-40B4-BE49-F238E27FC236}">
                <a16:creationId xmlns:a16="http://schemas.microsoft.com/office/drawing/2014/main" id="{D71D8C83-01B7-4235-B3D4-6105602F3F25}"/>
              </a:ext>
            </a:extLst>
          </p:cNvPr>
          <p:cNvSpPr>
            <a:spLocks noGrp="1"/>
          </p:cNvSpPr>
          <p:nvPr/>
        </p:nvSpPr>
        <p:spPr>
          <a:xfrm>
            <a:off x="3204000" y="25524000"/>
            <a:ext cx="1800000" cy="82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6" b="1">
                <a:solidFill>
                  <a:srgbClr val="FFFFFF"/>
                </a:solidFill>
              </a:defRPr>
            </a:pPr>
            <a:r>
              <a:rPr sz="1956" b="1">
                <a:solidFill>
                  <a:srgbClr val="FFFFFF"/>
                </a:solidFill>
              </a:rPr>
              <a:t>IC95%</a:t>
            </a:r>
          </a:p>
          <a:p>
            <a:pPr algn="ctr">
              <a:defRPr sz="1956" b="1">
                <a:solidFill>
                  <a:srgbClr val="FFFFFF"/>
                </a:solidFill>
              </a:defRPr>
            </a:pPr>
            <a:r>
              <a:rPr sz="1956" b="1">
                <a:solidFill>
                  <a:srgbClr val="FFFFFF"/>
                </a:solidFill>
              </a:rPr>
              <a:t>Beta</a:t>
            </a:r>
          </a:p>
        </p:txBody>
      </p:sp>
      <p:sp>
        <p:nvSpPr>
          <p:cNvPr id="31" name="etl-branch-2">
            <a:extLst>
              <a:ext uri="{FF2B5EF4-FFF2-40B4-BE49-F238E27FC236}">
                <a16:creationId xmlns:a16="http://schemas.microsoft.com/office/drawing/2014/main" id="{E3C3D779-E8BA-41F0-865E-D624D1A4394D}"/>
              </a:ext>
            </a:extLst>
          </p:cNvPr>
          <p:cNvSpPr>
            <a:spLocks noGrp="1"/>
          </p:cNvSpPr>
          <p:nvPr/>
        </p:nvSpPr>
        <p:spPr>
          <a:xfrm>
            <a:off x="5652000" y="23940000"/>
            <a:ext cx="2304000" cy="864000"/>
          </a:xfrm>
          <a:prstGeom prst="rect">
            <a:avLst/>
          </a:prstGeom>
          <a:solidFill>
            <a:srgbClr val="1F5673"/>
          </a:solidFill>
          <a:ln w="36000">
            <a:solidFill>
              <a:srgbClr val="153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etl-branch-text-2">
            <a:extLst>
              <a:ext uri="{FF2B5EF4-FFF2-40B4-BE49-F238E27FC236}">
                <a16:creationId xmlns:a16="http://schemas.microsoft.com/office/drawing/2014/main" id="{487E7798-CC13-49EF-83FA-C1E683C6500B}"/>
              </a:ext>
            </a:extLst>
          </p:cNvPr>
          <p:cNvSpPr>
            <a:spLocks noGrp="1"/>
          </p:cNvSpPr>
          <p:nvPr/>
        </p:nvSpPr>
        <p:spPr>
          <a:xfrm>
            <a:off x="5760000" y="24156000"/>
            <a:ext cx="2088000" cy="46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84" b="1">
                <a:solidFill>
                  <a:srgbClr val="FFFFFF"/>
                </a:solidFill>
              </a:defRPr>
            </a:pPr>
            <a:r>
              <a:rPr sz="1984" b="1">
                <a:solidFill>
                  <a:srgbClr val="FFFFFF"/>
                </a:solidFill>
              </a:rPr>
              <a:t>Totais/taxas</a:t>
            </a:r>
          </a:p>
        </p:txBody>
      </p:sp>
      <p:sp>
        <p:nvSpPr>
          <p:cNvPr id="33" name="etl-branch-down-2">
            <a:extLst>
              <a:ext uri="{FF2B5EF4-FFF2-40B4-BE49-F238E27FC236}">
                <a16:creationId xmlns:a16="http://schemas.microsoft.com/office/drawing/2014/main" id="{8EF65DB0-6B1E-4C5D-9D1B-05FCE8974459}"/>
              </a:ext>
            </a:extLst>
          </p:cNvPr>
          <p:cNvSpPr>
            <a:spLocks noGrp="1"/>
          </p:cNvSpPr>
          <p:nvPr/>
        </p:nvSpPr>
        <p:spPr>
          <a:xfrm>
            <a:off x="6624000" y="24840000"/>
            <a:ext cx="360000" cy="3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68" b="1">
                <a:solidFill>
                  <a:srgbClr val="153F59"/>
                </a:solidFill>
              </a:defRPr>
            </a:pPr>
            <a:r>
              <a:rPr sz="2268" b="1">
                <a:solidFill>
                  <a:srgbClr val="153F59"/>
                </a:solidFill>
              </a:rPr>
              <a:t>↓</a:t>
            </a:r>
          </a:p>
        </p:txBody>
      </p:sp>
      <p:sp>
        <p:nvSpPr>
          <p:cNvPr id="34" name="etl-ci-2">
            <a:extLst>
              <a:ext uri="{FF2B5EF4-FFF2-40B4-BE49-F238E27FC236}">
                <a16:creationId xmlns:a16="http://schemas.microsoft.com/office/drawing/2014/main" id="{32C69890-F799-4B66-953B-B6C5320D80B8}"/>
              </a:ext>
            </a:extLst>
          </p:cNvPr>
          <p:cNvSpPr>
            <a:spLocks noGrp="1"/>
          </p:cNvSpPr>
          <p:nvPr/>
        </p:nvSpPr>
        <p:spPr>
          <a:xfrm>
            <a:off x="5796000" y="25308000"/>
            <a:ext cx="2016000" cy="1224000"/>
          </a:xfrm>
          <a:prstGeom prst="rect">
            <a:avLst/>
          </a:prstGeom>
          <a:solidFill>
            <a:srgbClr val="1F5673"/>
          </a:solidFill>
          <a:ln w="36000">
            <a:solidFill>
              <a:srgbClr val="153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etl-ci-text-2">
            <a:extLst>
              <a:ext uri="{FF2B5EF4-FFF2-40B4-BE49-F238E27FC236}">
                <a16:creationId xmlns:a16="http://schemas.microsoft.com/office/drawing/2014/main" id="{E4438987-F4AC-4D28-B5F8-D6FFC3AC7CD4}"/>
              </a:ext>
            </a:extLst>
          </p:cNvPr>
          <p:cNvSpPr>
            <a:spLocks noGrp="1"/>
          </p:cNvSpPr>
          <p:nvPr/>
        </p:nvSpPr>
        <p:spPr>
          <a:xfrm>
            <a:off x="5904000" y="25524000"/>
            <a:ext cx="1800000" cy="82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59" b="1">
                <a:solidFill>
                  <a:srgbClr val="FFFFFF"/>
                </a:solidFill>
              </a:defRPr>
            </a:pPr>
            <a:r>
              <a:rPr sz="1559" b="1">
                <a:solidFill>
                  <a:srgbClr val="FFFFFF"/>
                </a:solidFill>
              </a:rPr>
              <a:t>IC95%</a:t>
            </a:r>
          </a:p>
          <a:p>
            <a:pPr algn="ctr">
              <a:defRPr sz="1559" b="1">
                <a:solidFill>
                  <a:srgbClr val="FFFFFF"/>
                </a:solidFill>
              </a:defRPr>
            </a:pPr>
            <a:r>
              <a:rPr sz="1559" b="1">
                <a:solidFill>
                  <a:srgbClr val="FFFFFF"/>
                </a:solidFill>
              </a:rPr>
              <a:t>conforme</a:t>
            </a:r>
          </a:p>
          <a:p>
            <a:pPr algn="ctr">
              <a:defRPr sz="1559" b="1">
                <a:solidFill>
                  <a:srgbClr val="FFFFFF"/>
                </a:solidFill>
              </a:defRPr>
            </a:pPr>
            <a:r>
              <a:rPr sz="1559" b="1">
                <a:solidFill>
                  <a:srgbClr val="FFFFFF"/>
                </a:solidFill>
              </a:rPr>
              <a:t>estimador</a:t>
            </a:r>
          </a:p>
        </p:txBody>
      </p:sp>
      <p:sp>
        <p:nvSpPr>
          <p:cNvPr id="36" name="formula-heading">
            <a:extLst>
              <a:ext uri="{FF2B5EF4-FFF2-40B4-BE49-F238E27FC236}">
                <a16:creationId xmlns:a16="http://schemas.microsoft.com/office/drawing/2014/main" id="{25AAF035-E025-4878-960A-B36924461F51}"/>
              </a:ext>
            </a:extLst>
          </p:cNvPr>
          <p:cNvSpPr>
            <a:spLocks noGrp="1"/>
          </p:cNvSpPr>
          <p:nvPr/>
        </p:nvSpPr>
        <p:spPr>
          <a:xfrm>
            <a:off x="252000" y="26856000"/>
            <a:ext cx="7704000" cy="61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21" b="1">
                <a:solidFill>
                  <a:srgbClr val="153F59"/>
                </a:solidFill>
              </a:defRPr>
            </a:pPr>
            <a:r>
              <a:rPr sz="2721" b="1">
                <a:solidFill>
                  <a:srgbClr val="153F59"/>
                </a:solidFill>
              </a:rPr>
              <a:t>ESTIMADORES</a:t>
            </a:r>
          </a:p>
        </p:txBody>
      </p:sp>
      <p:sp>
        <p:nvSpPr>
          <p:cNvPr id="37" name="formula-box">
            <a:extLst>
              <a:ext uri="{FF2B5EF4-FFF2-40B4-BE49-F238E27FC236}">
                <a16:creationId xmlns:a16="http://schemas.microsoft.com/office/drawing/2014/main" id="{817ED84C-82AD-4B2C-A423-0EFB2CD5DA14}"/>
              </a:ext>
            </a:extLst>
          </p:cNvPr>
          <p:cNvSpPr>
            <a:spLocks noGrp="1"/>
          </p:cNvSpPr>
          <p:nvPr/>
        </p:nvSpPr>
        <p:spPr>
          <a:xfrm>
            <a:off x="432000" y="27576000"/>
            <a:ext cx="7560000" cy="4680000"/>
          </a:xfrm>
          <a:prstGeom prst="rect">
            <a:avLst/>
          </a:prstGeom>
          <a:solidFill>
            <a:srgbClr val="FFFFFF"/>
          </a:solidFill>
          <a:ln w="36000">
            <a:solidFill>
              <a:srgbClr val="9BC5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0" name="Imagem 30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4000" y="27852360"/>
            <a:ext cx="7056000" cy="2867279"/>
          </a:xfrm>
          <a:prstGeom prst="rect">
            <a:avLst/>
          </a:prstGeom>
        </p:spPr>
      </p:pic>
      <p:sp>
        <p:nvSpPr>
          <p:cNvPr id="39" name="normal-ci-code">
            <a:extLst>
              <a:ext uri="{FF2B5EF4-FFF2-40B4-BE49-F238E27FC236}">
                <a16:creationId xmlns:a16="http://schemas.microsoft.com/office/drawing/2014/main" id="{42C31AB7-E194-4D48-B0A7-C16ADEC28F40}"/>
              </a:ext>
            </a:extLst>
          </p:cNvPr>
          <p:cNvSpPr>
            <a:spLocks noGrp="1"/>
          </p:cNvSpPr>
          <p:nvPr/>
        </p:nvSpPr>
        <p:spPr>
          <a:xfrm>
            <a:off x="720000" y="30888000"/>
            <a:ext cx="6984000" cy="50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01" b="1">
                <a:solidFill>
                  <a:srgbClr val="153F59"/>
                </a:solidFill>
              </a:defRPr>
            </a:pPr>
            <a:r>
              <a:rPr sz="1701" b="1">
                <a:solidFill>
                  <a:srgbClr val="153F59"/>
                </a:solidFill>
              </a:rPr>
              <a:t>IC95% normal: survey::svymean(~x, design) + confint()</a:t>
            </a:r>
          </a:p>
        </p:txBody>
      </p:sp>
      <p:sp>
        <p:nvSpPr>
          <p:cNvPr id="40" name="formula-legend">
            <a:extLst>
              <a:ext uri="{FF2B5EF4-FFF2-40B4-BE49-F238E27FC236}">
                <a16:creationId xmlns:a16="http://schemas.microsoft.com/office/drawing/2014/main" id="{79BF4477-607B-49B1-BA66-88ED91245866}"/>
              </a:ext>
            </a:extLst>
          </p:cNvPr>
          <p:cNvSpPr>
            <a:spLocks noGrp="1"/>
          </p:cNvSpPr>
          <p:nvPr/>
        </p:nvSpPr>
        <p:spPr>
          <a:xfrm>
            <a:off x="720000" y="31428000"/>
            <a:ext cx="6984000" cy="61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2" b="0">
                <a:solidFill>
                  <a:srgbClr val="102536"/>
                </a:solidFill>
              </a:defRPr>
            </a:pPr>
            <a:r>
              <a:rPr sz="1502" b="0">
                <a:solidFill>
                  <a:srgbClr val="102536"/>
                </a:solidFill>
              </a:rPr>
              <a:t>wᵢ = peso amostral; yᵢ = indicador binário; xᵢ = variável contínua.</a:t>
            </a:r>
          </a:p>
        </p:txBody>
      </p:sp>
      <p:sp>
        <p:nvSpPr>
          <p:cNvPr id="41" name="main-finding">
            <a:extLst>
              <a:ext uri="{FF2B5EF4-FFF2-40B4-BE49-F238E27FC236}">
                <a16:creationId xmlns:a16="http://schemas.microsoft.com/office/drawing/2014/main" id="{F15559C2-914F-41F8-A834-095FAC48D6BF}"/>
              </a:ext>
            </a:extLst>
          </p:cNvPr>
          <p:cNvSpPr>
            <a:spLocks noGrp="1"/>
          </p:cNvSpPr>
          <p:nvPr/>
        </p:nvSpPr>
        <p:spPr>
          <a:xfrm>
            <a:off x="9180000" y="5220000"/>
            <a:ext cx="25380000" cy="25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180" b="1">
                <a:solidFill>
                  <a:srgbClr val="153F59"/>
                </a:solidFill>
              </a:defRPr>
            </a:pPr>
            <a:r>
              <a:rPr sz="6180" b="1">
                <a:solidFill>
                  <a:srgbClr val="153F59"/>
                </a:solidFill>
              </a:rPr>
              <a:t>Diagnóstico de asma aumentou; controle, acesso terapêutico e impacto funcional precisam ser lidos com o plano amostral da PNS.</a:t>
            </a:r>
          </a:p>
        </p:txBody>
      </p:sp>
      <p:sp>
        <p:nvSpPr>
          <p:cNvPr id="42" name="finding-underline">
            <a:extLst>
              <a:ext uri="{FF2B5EF4-FFF2-40B4-BE49-F238E27FC236}">
                <a16:creationId xmlns:a16="http://schemas.microsoft.com/office/drawing/2014/main" id="{62CB96C5-A534-4A2F-AA6D-3FA6BE0F52C2}"/>
              </a:ext>
            </a:extLst>
          </p:cNvPr>
          <p:cNvSpPr>
            <a:spLocks noGrp="1"/>
          </p:cNvSpPr>
          <p:nvPr/>
        </p:nvSpPr>
        <p:spPr>
          <a:xfrm>
            <a:off x="11700000" y="7848000"/>
            <a:ext cx="20340000" cy="108000"/>
          </a:xfrm>
          <a:prstGeom prst="rect">
            <a:avLst/>
          </a:prstGeom>
          <a:solidFill>
            <a:srgbClr val="153F59"/>
          </a:solidFill>
          <a:ln w="0">
            <a:solidFill>
              <a:srgbClr val="153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Diagnóstico no Brasil-card">
            <a:extLst>
              <a:ext uri="{FF2B5EF4-FFF2-40B4-BE49-F238E27FC236}">
                <a16:creationId xmlns:a16="http://schemas.microsoft.com/office/drawing/2014/main" id="{49570B6A-2A33-469D-AACE-94C4B60109BF}"/>
              </a:ext>
            </a:extLst>
          </p:cNvPr>
          <p:cNvSpPr>
            <a:spLocks noGrp="1"/>
          </p:cNvSpPr>
          <p:nvPr/>
        </p:nvSpPr>
        <p:spPr>
          <a:xfrm>
            <a:off x="9360000" y="8316000"/>
            <a:ext cx="7632000" cy="2304000"/>
          </a:xfrm>
          <a:prstGeom prst="rect">
            <a:avLst/>
          </a:prstGeom>
          <a:solidFill>
            <a:srgbClr val="F7FBFD"/>
          </a:solidFill>
          <a:ln w="36000">
            <a:solidFill>
              <a:srgbClr val="9BC5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Diagnóstico no Brasil-card-title">
            <a:extLst>
              <a:ext uri="{FF2B5EF4-FFF2-40B4-BE49-F238E27FC236}">
                <a16:creationId xmlns:a16="http://schemas.microsoft.com/office/drawing/2014/main" id="{4445683D-A9E3-497F-B638-C1CB4C58D221}"/>
              </a:ext>
            </a:extLst>
          </p:cNvPr>
          <p:cNvSpPr>
            <a:spLocks noGrp="1"/>
          </p:cNvSpPr>
          <p:nvPr/>
        </p:nvSpPr>
        <p:spPr>
          <a:xfrm>
            <a:off x="9648000" y="8403975"/>
            <a:ext cx="7056000" cy="43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1" b="1">
                <a:solidFill>
                  <a:srgbClr val="153F59"/>
                </a:solidFill>
              </a:defRPr>
            </a:pPr>
            <a:r>
              <a:rPr lang="pt-BR" sz="3600" b="1" dirty="0">
                <a:solidFill>
                  <a:srgbClr val="153F59"/>
                </a:solidFill>
              </a:rPr>
              <a:t>Média d</a:t>
            </a:r>
            <a:r>
              <a:rPr sz="3600" b="1" dirty="0" err="1">
                <a:solidFill>
                  <a:srgbClr val="153F59"/>
                </a:solidFill>
              </a:rPr>
              <a:t>iagnóstico</a:t>
            </a:r>
            <a:r>
              <a:rPr sz="3600" b="1" dirty="0">
                <a:solidFill>
                  <a:srgbClr val="153F59"/>
                </a:solidFill>
              </a:rPr>
              <a:t> no </a:t>
            </a:r>
            <a:r>
              <a:rPr sz="3600" b="1" dirty="0" err="1">
                <a:solidFill>
                  <a:srgbClr val="153F59"/>
                </a:solidFill>
              </a:rPr>
              <a:t>Brasil</a:t>
            </a:r>
            <a:endParaRPr sz="3600" b="1" dirty="0">
              <a:solidFill>
                <a:srgbClr val="153F59"/>
              </a:solidFill>
            </a:endParaRPr>
          </a:p>
        </p:txBody>
      </p:sp>
      <p:sp>
        <p:nvSpPr>
          <p:cNvPr id="45" name="Diagnóstico no Brasil-card-value">
            <a:extLst>
              <a:ext uri="{FF2B5EF4-FFF2-40B4-BE49-F238E27FC236}">
                <a16:creationId xmlns:a16="http://schemas.microsoft.com/office/drawing/2014/main" id="{C5A1A659-7F2B-49AD-9B80-7CE04BE987D5}"/>
              </a:ext>
            </a:extLst>
          </p:cNvPr>
          <p:cNvSpPr>
            <a:spLocks noGrp="1"/>
          </p:cNvSpPr>
          <p:nvPr/>
        </p:nvSpPr>
        <p:spPr>
          <a:xfrm>
            <a:off x="9648000" y="9144000"/>
            <a:ext cx="7056000" cy="6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706" b="1">
                <a:solidFill>
                  <a:srgbClr val="153F59"/>
                </a:solidFill>
              </a:defRPr>
            </a:pPr>
            <a:r>
              <a:rPr sz="4706" b="1" dirty="0">
                <a:solidFill>
                  <a:srgbClr val="153F59"/>
                </a:solidFill>
              </a:rPr>
              <a:t>4,41% → 5,40%</a:t>
            </a:r>
          </a:p>
        </p:txBody>
      </p:sp>
      <p:sp>
        <p:nvSpPr>
          <p:cNvPr id="46" name="Diagnóstico no Brasil-card-note">
            <a:extLst>
              <a:ext uri="{FF2B5EF4-FFF2-40B4-BE49-F238E27FC236}">
                <a16:creationId xmlns:a16="http://schemas.microsoft.com/office/drawing/2014/main" id="{E1987335-5793-4A36-A05D-AB68922AA2ED}"/>
              </a:ext>
            </a:extLst>
          </p:cNvPr>
          <p:cNvSpPr>
            <a:spLocks noGrp="1"/>
          </p:cNvSpPr>
          <p:nvPr/>
        </p:nvSpPr>
        <p:spPr>
          <a:xfrm>
            <a:off x="9648000" y="9936000"/>
            <a:ext cx="7056000" cy="57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72" b="0">
                <a:solidFill>
                  <a:srgbClr val="102536"/>
                </a:solidFill>
              </a:defRPr>
            </a:pPr>
            <a:r>
              <a:rPr sz="1672" b="0">
                <a:solidFill>
                  <a:srgbClr val="102536"/>
                </a:solidFill>
              </a:rPr>
              <a:t>Prevalência de diagnóstico médico de asma; IC95% sem sobreposição.</a:t>
            </a:r>
          </a:p>
        </p:txBody>
      </p:sp>
      <p:sp>
        <p:nvSpPr>
          <p:cNvPr id="47" name="Medicamentos no Brasil-card">
            <a:extLst>
              <a:ext uri="{FF2B5EF4-FFF2-40B4-BE49-F238E27FC236}">
                <a16:creationId xmlns:a16="http://schemas.microsoft.com/office/drawing/2014/main" id="{219EAB9F-F206-4AE0-87A3-542A5808703C}"/>
              </a:ext>
            </a:extLst>
          </p:cNvPr>
          <p:cNvSpPr>
            <a:spLocks noGrp="1"/>
          </p:cNvSpPr>
          <p:nvPr/>
        </p:nvSpPr>
        <p:spPr>
          <a:xfrm>
            <a:off x="17748000" y="8316000"/>
            <a:ext cx="7632000" cy="2304000"/>
          </a:xfrm>
          <a:prstGeom prst="rect">
            <a:avLst/>
          </a:prstGeom>
          <a:solidFill>
            <a:srgbClr val="F7FBFD"/>
          </a:solidFill>
          <a:ln w="36000">
            <a:solidFill>
              <a:srgbClr val="9BC5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Medicamentos no Brasil-card-title">
            <a:extLst>
              <a:ext uri="{FF2B5EF4-FFF2-40B4-BE49-F238E27FC236}">
                <a16:creationId xmlns:a16="http://schemas.microsoft.com/office/drawing/2014/main" id="{8D855027-478B-4416-BDDC-C608A241A251}"/>
              </a:ext>
            </a:extLst>
          </p:cNvPr>
          <p:cNvSpPr>
            <a:spLocks noGrp="1"/>
          </p:cNvSpPr>
          <p:nvPr/>
        </p:nvSpPr>
        <p:spPr>
          <a:xfrm>
            <a:off x="18036000" y="8403975"/>
            <a:ext cx="7056000" cy="43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1" b="1">
                <a:solidFill>
                  <a:srgbClr val="153F59"/>
                </a:solidFill>
              </a:defRPr>
            </a:pPr>
            <a:r>
              <a:rPr lang="pt-BR" sz="3200" b="1" dirty="0">
                <a:solidFill>
                  <a:srgbClr val="153F59"/>
                </a:solidFill>
              </a:rPr>
              <a:t>Uso de m</a:t>
            </a:r>
            <a:r>
              <a:rPr sz="3200" b="1" dirty="0" err="1">
                <a:solidFill>
                  <a:srgbClr val="153F59"/>
                </a:solidFill>
              </a:rPr>
              <a:t>edicamentos</a:t>
            </a:r>
            <a:r>
              <a:rPr sz="3200" b="1" dirty="0">
                <a:solidFill>
                  <a:srgbClr val="153F59"/>
                </a:solidFill>
              </a:rPr>
              <a:t> no </a:t>
            </a:r>
            <a:r>
              <a:rPr sz="3200" b="1" dirty="0" err="1">
                <a:solidFill>
                  <a:srgbClr val="153F59"/>
                </a:solidFill>
              </a:rPr>
              <a:t>Brasil</a:t>
            </a:r>
            <a:endParaRPr sz="3200" b="1" dirty="0">
              <a:solidFill>
                <a:srgbClr val="153F59"/>
              </a:solidFill>
            </a:endParaRPr>
          </a:p>
        </p:txBody>
      </p:sp>
      <p:sp>
        <p:nvSpPr>
          <p:cNvPr id="49" name="Medicamentos no Brasil-card-value">
            <a:extLst>
              <a:ext uri="{FF2B5EF4-FFF2-40B4-BE49-F238E27FC236}">
                <a16:creationId xmlns:a16="http://schemas.microsoft.com/office/drawing/2014/main" id="{8B2F926C-9ED6-465C-8DF3-7EFA7D43C910}"/>
              </a:ext>
            </a:extLst>
          </p:cNvPr>
          <p:cNvSpPr>
            <a:spLocks noGrp="1"/>
          </p:cNvSpPr>
          <p:nvPr/>
        </p:nvSpPr>
        <p:spPr>
          <a:xfrm>
            <a:off x="18036000" y="9144000"/>
            <a:ext cx="7056000" cy="6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706" b="1">
                <a:solidFill>
                  <a:srgbClr val="153F59"/>
                </a:solidFill>
              </a:defRPr>
            </a:pPr>
            <a:r>
              <a:rPr sz="4706" b="1">
                <a:solidFill>
                  <a:srgbClr val="153F59"/>
                </a:solidFill>
              </a:rPr>
              <a:t>81,5% → 64,4%</a:t>
            </a:r>
          </a:p>
        </p:txBody>
      </p:sp>
      <p:sp>
        <p:nvSpPr>
          <p:cNvPr id="50" name="Medicamentos no Brasil-card-note">
            <a:extLst>
              <a:ext uri="{FF2B5EF4-FFF2-40B4-BE49-F238E27FC236}">
                <a16:creationId xmlns:a16="http://schemas.microsoft.com/office/drawing/2014/main" id="{3CF4C29E-4F0A-4F26-B9FE-19CDACE83E43}"/>
              </a:ext>
            </a:extLst>
          </p:cNvPr>
          <p:cNvSpPr>
            <a:spLocks noGrp="1"/>
          </p:cNvSpPr>
          <p:nvPr/>
        </p:nvSpPr>
        <p:spPr>
          <a:xfrm>
            <a:off x="18036000" y="9936000"/>
            <a:ext cx="7056000" cy="57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72" b="0">
                <a:solidFill>
                  <a:srgbClr val="102536"/>
                </a:solidFill>
              </a:defRPr>
            </a:pPr>
            <a:r>
              <a:rPr sz="1672" b="0" dirty="0">
                <a:solidFill>
                  <a:srgbClr val="102536"/>
                </a:solidFill>
              </a:rPr>
              <a:t>Uso oral </a:t>
            </a:r>
            <a:r>
              <a:rPr sz="1672" b="0" dirty="0" err="1">
                <a:solidFill>
                  <a:srgbClr val="102536"/>
                </a:solidFill>
              </a:rPr>
              <a:t>ou</a:t>
            </a:r>
            <a:r>
              <a:rPr sz="1672" b="0" dirty="0">
                <a:solidFill>
                  <a:srgbClr val="102536"/>
                </a:solidFill>
              </a:rPr>
              <a:t> </a:t>
            </a:r>
            <a:r>
              <a:rPr sz="1672" b="0" dirty="0" err="1">
                <a:solidFill>
                  <a:srgbClr val="102536"/>
                </a:solidFill>
              </a:rPr>
              <a:t>bombinha</a:t>
            </a:r>
            <a:r>
              <a:rPr sz="1672" b="0" dirty="0">
                <a:solidFill>
                  <a:srgbClr val="102536"/>
                </a:solidFill>
              </a:rPr>
              <a:t> entre </a:t>
            </a:r>
            <a:r>
              <a:rPr sz="1672" b="0" dirty="0" err="1">
                <a:solidFill>
                  <a:srgbClr val="102536"/>
                </a:solidFill>
              </a:rPr>
              <a:t>pessoas</a:t>
            </a:r>
            <a:r>
              <a:rPr sz="1672" b="0" dirty="0">
                <a:solidFill>
                  <a:srgbClr val="102536"/>
                </a:solidFill>
              </a:rPr>
              <a:t> com </a:t>
            </a:r>
            <a:r>
              <a:rPr sz="1672" b="0" dirty="0" err="1">
                <a:solidFill>
                  <a:srgbClr val="102536"/>
                </a:solidFill>
              </a:rPr>
              <a:t>asma</a:t>
            </a:r>
            <a:r>
              <a:rPr sz="1672" b="0" dirty="0">
                <a:solidFill>
                  <a:srgbClr val="102536"/>
                </a:solidFill>
              </a:rPr>
              <a:t>; </a:t>
            </a:r>
            <a:r>
              <a:rPr sz="1672" b="0" dirty="0" err="1">
                <a:solidFill>
                  <a:srgbClr val="102536"/>
                </a:solidFill>
              </a:rPr>
              <a:t>leitura</a:t>
            </a:r>
            <a:r>
              <a:rPr sz="1672" b="0" dirty="0">
                <a:solidFill>
                  <a:srgbClr val="102536"/>
                </a:solidFill>
              </a:rPr>
              <a:t> com </a:t>
            </a:r>
            <a:r>
              <a:rPr sz="1672" b="0" dirty="0" err="1">
                <a:solidFill>
                  <a:srgbClr val="102536"/>
                </a:solidFill>
              </a:rPr>
              <a:t>denominador</a:t>
            </a:r>
            <a:r>
              <a:rPr sz="1672" b="0" dirty="0">
                <a:solidFill>
                  <a:srgbClr val="102536"/>
                </a:solidFill>
              </a:rPr>
              <a:t> e IC.</a:t>
            </a:r>
          </a:p>
        </p:txBody>
      </p:sp>
      <p:sp>
        <p:nvSpPr>
          <p:cNvPr id="51" name="Impacto funcional-card">
            <a:extLst>
              <a:ext uri="{FF2B5EF4-FFF2-40B4-BE49-F238E27FC236}">
                <a16:creationId xmlns:a16="http://schemas.microsoft.com/office/drawing/2014/main" id="{0E3D4EA6-4B5A-4828-88A4-7129AD8D4976}"/>
              </a:ext>
            </a:extLst>
          </p:cNvPr>
          <p:cNvSpPr>
            <a:spLocks noGrp="1"/>
          </p:cNvSpPr>
          <p:nvPr/>
        </p:nvSpPr>
        <p:spPr>
          <a:xfrm>
            <a:off x="26136000" y="8316000"/>
            <a:ext cx="7632000" cy="2304000"/>
          </a:xfrm>
          <a:prstGeom prst="rect">
            <a:avLst/>
          </a:prstGeom>
          <a:solidFill>
            <a:srgbClr val="F7FBFD"/>
          </a:solidFill>
          <a:ln w="36000">
            <a:solidFill>
              <a:srgbClr val="9BC5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Impacto funcional-card-title">
            <a:extLst>
              <a:ext uri="{FF2B5EF4-FFF2-40B4-BE49-F238E27FC236}">
                <a16:creationId xmlns:a16="http://schemas.microsoft.com/office/drawing/2014/main" id="{CC2B323E-E500-4C3B-B97F-CF023ED5D8AF}"/>
              </a:ext>
            </a:extLst>
          </p:cNvPr>
          <p:cNvSpPr>
            <a:spLocks noGrp="1"/>
          </p:cNvSpPr>
          <p:nvPr/>
        </p:nvSpPr>
        <p:spPr>
          <a:xfrm>
            <a:off x="26424000" y="8403975"/>
            <a:ext cx="7056000" cy="43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1" b="1">
                <a:solidFill>
                  <a:srgbClr val="153F59"/>
                </a:solidFill>
              </a:defRPr>
            </a:pPr>
            <a:r>
              <a:rPr sz="3200" dirty="0">
                <a:solidFill>
                  <a:srgbClr val="153F59"/>
                </a:solidFill>
              </a:rPr>
              <a:t>Impacto </a:t>
            </a:r>
            <a:r>
              <a:rPr sz="3200" dirty="0" err="1">
                <a:solidFill>
                  <a:srgbClr val="153F59"/>
                </a:solidFill>
              </a:rPr>
              <a:t>funcional</a:t>
            </a:r>
            <a:endParaRPr sz="3200" dirty="0">
              <a:solidFill>
                <a:srgbClr val="153F59"/>
              </a:solidFill>
            </a:endParaRPr>
          </a:p>
        </p:txBody>
      </p:sp>
      <p:sp>
        <p:nvSpPr>
          <p:cNvPr id="53" name="Impacto funcional-card-value">
            <a:extLst>
              <a:ext uri="{FF2B5EF4-FFF2-40B4-BE49-F238E27FC236}">
                <a16:creationId xmlns:a16="http://schemas.microsoft.com/office/drawing/2014/main" id="{AB2B3C2F-CD06-4F8C-9D3D-F1D1C648F6C7}"/>
              </a:ext>
            </a:extLst>
          </p:cNvPr>
          <p:cNvSpPr>
            <a:spLocks noGrp="1"/>
          </p:cNvSpPr>
          <p:nvPr/>
        </p:nvSpPr>
        <p:spPr>
          <a:xfrm>
            <a:off x="26424000" y="9144000"/>
            <a:ext cx="7056000" cy="6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706" b="1">
                <a:solidFill>
                  <a:srgbClr val="153F59"/>
                </a:solidFill>
              </a:defRPr>
            </a:pPr>
            <a:r>
              <a:rPr sz="4706" b="1">
                <a:solidFill>
                  <a:srgbClr val="153F59"/>
                </a:solidFill>
              </a:rPr>
              <a:t>15,2% e 4,8 dias</a:t>
            </a:r>
          </a:p>
        </p:txBody>
      </p:sp>
      <p:sp>
        <p:nvSpPr>
          <p:cNvPr id="54" name="Impacto funcional-card-note">
            <a:extLst>
              <a:ext uri="{FF2B5EF4-FFF2-40B4-BE49-F238E27FC236}">
                <a16:creationId xmlns:a16="http://schemas.microsoft.com/office/drawing/2014/main" id="{0C85EEB7-39AE-40D8-B2B8-5B0B3763BCB2}"/>
              </a:ext>
            </a:extLst>
          </p:cNvPr>
          <p:cNvSpPr>
            <a:spLocks noGrp="1"/>
          </p:cNvSpPr>
          <p:nvPr/>
        </p:nvSpPr>
        <p:spPr>
          <a:xfrm>
            <a:off x="26424000" y="9936000"/>
            <a:ext cx="7056000" cy="57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72" b="0">
                <a:solidFill>
                  <a:srgbClr val="102536"/>
                </a:solidFill>
              </a:defRPr>
            </a:pPr>
            <a:r>
              <a:rPr sz="1672" b="0">
                <a:solidFill>
                  <a:srgbClr val="102536"/>
                </a:solidFill>
              </a:rPr>
              <a:t>Absenteísmo respiratório e média de dias perdidos em 2019.</a:t>
            </a:r>
          </a:p>
        </p:txBody>
      </p:sp>
      <p:sp>
        <p:nvSpPr>
          <p:cNvPr id="55" name="Tabela 1: Prevalência de">
            <a:extLst>
              <a:ext uri="{FF2B5EF4-FFF2-40B4-BE49-F238E27FC236}">
                <a16:creationId xmlns:a16="http://schemas.microsoft.com/office/drawing/2014/main" id="{865FEEA6-5C7D-46ED-AD51-E38B17B33DA2}"/>
              </a:ext>
            </a:extLst>
          </p:cNvPr>
          <p:cNvSpPr>
            <a:spLocks noGrp="1"/>
          </p:cNvSpPr>
          <p:nvPr/>
        </p:nvSpPr>
        <p:spPr>
          <a:xfrm>
            <a:off x="9072000" y="11052000"/>
            <a:ext cx="12672000" cy="86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23" b="1">
                <a:solidFill>
                  <a:srgbClr val="153F59"/>
                </a:solidFill>
              </a:defRPr>
            </a:pPr>
            <a:r>
              <a:rPr sz="2523" b="1">
                <a:solidFill>
                  <a:srgbClr val="153F59"/>
                </a:solidFill>
              </a:rPr>
              <a:t>Tabela 1: Prevalência de diagnóstico médico de asma por UF, PNS 2013 e 2019.</a:t>
            </a:r>
          </a:p>
        </p:txBody>
      </p:sp>
      <p:sp>
        <p:nvSpPr>
          <p:cNvPr id="56" name="Tabela 1: Prevalência de diagnóstico médico de asma por UF, PNS 2013 e 2019.-frame">
            <a:extLst>
              <a:ext uri="{FF2B5EF4-FFF2-40B4-BE49-F238E27FC236}">
                <a16:creationId xmlns:a16="http://schemas.microsoft.com/office/drawing/2014/main" id="{6325566A-88F3-419F-B0A1-872284744C6E}"/>
              </a:ext>
            </a:extLst>
          </p:cNvPr>
          <p:cNvSpPr>
            <a:spLocks noGrp="1"/>
          </p:cNvSpPr>
          <p:nvPr/>
        </p:nvSpPr>
        <p:spPr>
          <a:xfrm>
            <a:off x="9072000" y="11988000"/>
            <a:ext cx="12672000" cy="11232000"/>
          </a:xfrm>
          <a:prstGeom prst="rect">
            <a:avLst/>
          </a:prstGeom>
          <a:solidFill>
            <a:srgbClr val="FFFFFF"/>
          </a:solidFill>
          <a:ln w="36000">
            <a:solidFill>
              <a:srgbClr val="9BC5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abela 1: Prevalência de diagnóstico médico de asma por UF, PNS 2013 e 2019.-head-bg">
            <a:extLst>
              <a:ext uri="{FF2B5EF4-FFF2-40B4-BE49-F238E27FC236}">
                <a16:creationId xmlns:a16="http://schemas.microsoft.com/office/drawing/2014/main" id="{981EBD25-5CB2-4CF7-87BD-6F56CEBEDFAB}"/>
              </a:ext>
            </a:extLst>
          </p:cNvPr>
          <p:cNvSpPr>
            <a:spLocks noGrp="1"/>
          </p:cNvSpPr>
          <p:nvPr/>
        </p:nvSpPr>
        <p:spPr>
          <a:xfrm>
            <a:off x="10836000" y="12168000"/>
            <a:ext cx="9144000" cy="648000"/>
          </a:xfrm>
          <a:prstGeom prst="rect">
            <a:avLst/>
          </a:prstGeom>
          <a:solidFill>
            <a:srgbClr val="153F59"/>
          </a:solidFill>
          <a:ln w="0">
            <a:solidFill>
              <a:srgbClr val="153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abela 1: Prevalência de diagnóstico médico de asma por UF, PNS 2013 e 2019.-head-0">
            <a:extLst>
              <a:ext uri="{FF2B5EF4-FFF2-40B4-BE49-F238E27FC236}">
                <a16:creationId xmlns:a16="http://schemas.microsoft.com/office/drawing/2014/main" id="{AA93619F-E7F2-45ED-8089-E90A0A91FFB5}"/>
              </a:ext>
            </a:extLst>
          </p:cNvPr>
          <p:cNvSpPr>
            <a:spLocks noGrp="1"/>
          </p:cNvSpPr>
          <p:nvPr/>
        </p:nvSpPr>
        <p:spPr>
          <a:xfrm>
            <a:off x="10908000" y="12276000"/>
            <a:ext cx="1080000" cy="50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39" b="1">
                <a:solidFill>
                  <a:srgbClr val="FFFFFF"/>
                </a:solidFill>
              </a:defRPr>
            </a:pPr>
            <a:r>
              <a:rPr sz="2239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59" name="Tabela 1: Prevalência de diagnóstico médico de asma por UF, PNS 2013 e 2019.-head-1">
            <a:extLst>
              <a:ext uri="{FF2B5EF4-FFF2-40B4-BE49-F238E27FC236}">
                <a16:creationId xmlns:a16="http://schemas.microsoft.com/office/drawing/2014/main" id="{5ED8B7C6-29F1-4DD3-9550-67F784099B44}"/>
              </a:ext>
            </a:extLst>
          </p:cNvPr>
          <p:cNvSpPr>
            <a:spLocks noGrp="1"/>
          </p:cNvSpPr>
          <p:nvPr/>
        </p:nvSpPr>
        <p:spPr>
          <a:xfrm>
            <a:off x="12132000" y="12276000"/>
            <a:ext cx="3816000" cy="50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39" b="1">
                <a:solidFill>
                  <a:srgbClr val="FFFFFF"/>
                </a:solidFill>
              </a:defRPr>
            </a:pPr>
            <a:r>
              <a:rPr sz="2239" b="1">
                <a:solidFill>
                  <a:srgbClr val="FFFFFF"/>
                </a:solidFill>
              </a:rPr>
              <a:t>2013</a:t>
            </a:r>
          </a:p>
        </p:txBody>
      </p:sp>
      <p:sp>
        <p:nvSpPr>
          <p:cNvPr id="60" name="Tabela 1: Prevalência de diagnóstico médico de asma por UF, PNS 2013 e 2019.-head-2">
            <a:extLst>
              <a:ext uri="{FF2B5EF4-FFF2-40B4-BE49-F238E27FC236}">
                <a16:creationId xmlns:a16="http://schemas.microsoft.com/office/drawing/2014/main" id="{7FB7096A-D870-49B5-9B2E-9ADA5EA9B631}"/>
              </a:ext>
            </a:extLst>
          </p:cNvPr>
          <p:cNvSpPr>
            <a:spLocks noGrp="1"/>
          </p:cNvSpPr>
          <p:nvPr/>
        </p:nvSpPr>
        <p:spPr>
          <a:xfrm>
            <a:off x="16092000" y="12276000"/>
            <a:ext cx="3816000" cy="50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39" b="1">
                <a:solidFill>
                  <a:srgbClr val="FFFFFF"/>
                </a:solidFill>
              </a:defRPr>
            </a:pPr>
            <a:r>
              <a:rPr sz="2239" b="1">
                <a:solidFill>
                  <a:srgbClr val="FFFFFF"/>
                </a:solidFill>
              </a:rPr>
              <a:t>2019</a:t>
            </a:r>
          </a:p>
        </p:txBody>
      </p:sp>
      <p:sp>
        <p:nvSpPr>
          <p:cNvPr id="61" name="Tabela 1: Prevalência de diagnóstico médico de asma por UF, PNS 2013 e 2019.-stripe-0">
            <a:extLst>
              <a:ext uri="{FF2B5EF4-FFF2-40B4-BE49-F238E27FC236}">
                <a16:creationId xmlns:a16="http://schemas.microsoft.com/office/drawing/2014/main" id="{D99FB99B-7692-40CE-A7D7-4A3C97323FE2}"/>
              </a:ext>
            </a:extLst>
          </p:cNvPr>
          <p:cNvSpPr>
            <a:spLocks noGrp="1"/>
          </p:cNvSpPr>
          <p:nvPr/>
        </p:nvSpPr>
        <p:spPr>
          <a:xfrm>
            <a:off x="10836000" y="12816000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abela 1: Prevalência de diagnóstico médico de asma por UF, PNS 2013 e 2019.-cell-0-0">
            <a:extLst>
              <a:ext uri="{FF2B5EF4-FFF2-40B4-BE49-F238E27FC236}">
                <a16:creationId xmlns:a16="http://schemas.microsoft.com/office/drawing/2014/main" id="{DE0FA41F-6CDE-42C6-AD3E-342163FF513B}"/>
              </a:ext>
            </a:extLst>
          </p:cNvPr>
          <p:cNvSpPr>
            <a:spLocks noGrp="1"/>
          </p:cNvSpPr>
          <p:nvPr/>
        </p:nvSpPr>
        <p:spPr>
          <a:xfrm>
            <a:off x="10879200" y="12852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RO</a:t>
            </a:r>
          </a:p>
        </p:txBody>
      </p:sp>
      <p:sp>
        <p:nvSpPr>
          <p:cNvPr id="63" name="Tabela 1: Prevalência de diagnóstico médico de asma por UF, PNS 2013 e 2019.-cell-0-1">
            <a:extLst>
              <a:ext uri="{FF2B5EF4-FFF2-40B4-BE49-F238E27FC236}">
                <a16:creationId xmlns:a16="http://schemas.microsoft.com/office/drawing/2014/main" id="{6C890AAC-3CD2-4F54-8C6F-C3DDD82AE61A}"/>
              </a:ext>
            </a:extLst>
          </p:cNvPr>
          <p:cNvSpPr>
            <a:spLocks noGrp="1"/>
          </p:cNvSpPr>
          <p:nvPr/>
        </p:nvSpPr>
        <p:spPr>
          <a:xfrm>
            <a:off x="12103200" y="12852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 dirty="0">
                <a:solidFill>
                  <a:srgbClr val="102536"/>
                </a:solidFill>
              </a:rPr>
              <a:t>4,20 [3,02-5,67]</a:t>
            </a:r>
          </a:p>
        </p:txBody>
      </p:sp>
      <p:sp>
        <p:nvSpPr>
          <p:cNvPr id="64" name="Tabela 1: Prevalência de diagnóstico médico de asma por UF, PNS 2013 e 2019.-cell-0-2">
            <a:extLst>
              <a:ext uri="{FF2B5EF4-FFF2-40B4-BE49-F238E27FC236}">
                <a16:creationId xmlns:a16="http://schemas.microsoft.com/office/drawing/2014/main" id="{D8C4AF73-A4F0-401B-93D1-D2F704E7F061}"/>
              </a:ext>
            </a:extLst>
          </p:cNvPr>
          <p:cNvSpPr>
            <a:spLocks noGrp="1"/>
          </p:cNvSpPr>
          <p:nvPr/>
        </p:nvSpPr>
        <p:spPr>
          <a:xfrm>
            <a:off x="16063200" y="12852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3,43 [2,70-4,30]</a:t>
            </a:r>
          </a:p>
        </p:txBody>
      </p:sp>
      <p:sp>
        <p:nvSpPr>
          <p:cNvPr id="65" name="Tabela 1: Prevalência de diagnóstico médico de asma por UF, PNS 2013 e 2019.-cell-1-0">
            <a:extLst>
              <a:ext uri="{FF2B5EF4-FFF2-40B4-BE49-F238E27FC236}">
                <a16:creationId xmlns:a16="http://schemas.microsoft.com/office/drawing/2014/main" id="{AB133713-0397-4751-B732-068D5E8ED27D}"/>
              </a:ext>
            </a:extLst>
          </p:cNvPr>
          <p:cNvSpPr>
            <a:spLocks noGrp="1"/>
          </p:cNvSpPr>
          <p:nvPr/>
        </p:nvSpPr>
        <p:spPr>
          <a:xfrm>
            <a:off x="10879200" y="13217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AC</a:t>
            </a:r>
          </a:p>
        </p:txBody>
      </p:sp>
      <p:sp>
        <p:nvSpPr>
          <p:cNvPr id="66" name="Tabela 1: Prevalência de diagnóstico médico de asma por UF, PNS 2013 e 2019.-cell-1-1">
            <a:extLst>
              <a:ext uri="{FF2B5EF4-FFF2-40B4-BE49-F238E27FC236}">
                <a16:creationId xmlns:a16="http://schemas.microsoft.com/office/drawing/2014/main" id="{6B0FC3FC-5E2D-470C-8E43-35175C8E60BB}"/>
              </a:ext>
            </a:extLst>
          </p:cNvPr>
          <p:cNvSpPr>
            <a:spLocks noGrp="1"/>
          </p:cNvSpPr>
          <p:nvPr/>
        </p:nvSpPr>
        <p:spPr>
          <a:xfrm>
            <a:off x="12103200" y="13217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4,07 [2,95-5,45]</a:t>
            </a:r>
          </a:p>
        </p:txBody>
      </p:sp>
      <p:sp>
        <p:nvSpPr>
          <p:cNvPr id="67" name="Tabela 1: Prevalência de diagnóstico médico de asma por UF, PNS 2013 e 2019.-cell-1-2">
            <a:extLst>
              <a:ext uri="{FF2B5EF4-FFF2-40B4-BE49-F238E27FC236}">
                <a16:creationId xmlns:a16="http://schemas.microsoft.com/office/drawing/2014/main" id="{610C839F-ACF5-4932-98CF-055CA4A821F8}"/>
              </a:ext>
            </a:extLst>
          </p:cNvPr>
          <p:cNvSpPr>
            <a:spLocks noGrp="1"/>
          </p:cNvSpPr>
          <p:nvPr/>
        </p:nvSpPr>
        <p:spPr>
          <a:xfrm>
            <a:off x="16063200" y="13217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3,87 [2,99-4,91]</a:t>
            </a:r>
          </a:p>
        </p:txBody>
      </p:sp>
      <p:sp>
        <p:nvSpPr>
          <p:cNvPr id="68" name="Tabela 1: Prevalência de diagnóstico médico de asma por UF, PNS 2013 e 2019.-stripe-2">
            <a:extLst>
              <a:ext uri="{FF2B5EF4-FFF2-40B4-BE49-F238E27FC236}">
                <a16:creationId xmlns:a16="http://schemas.microsoft.com/office/drawing/2014/main" id="{533BE15A-3705-4EE6-AA42-352092D233DA}"/>
              </a:ext>
            </a:extLst>
          </p:cNvPr>
          <p:cNvSpPr>
            <a:spLocks noGrp="1"/>
          </p:cNvSpPr>
          <p:nvPr/>
        </p:nvSpPr>
        <p:spPr>
          <a:xfrm>
            <a:off x="10836000" y="13546667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abela 1: Prevalência de diagnóstico médico de asma por UF, PNS 2013 e 2019.-cell-2-0">
            <a:extLst>
              <a:ext uri="{FF2B5EF4-FFF2-40B4-BE49-F238E27FC236}">
                <a16:creationId xmlns:a16="http://schemas.microsoft.com/office/drawing/2014/main" id="{9FD2255D-C2F6-4C75-BFB1-8B42FA4FB1F2}"/>
              </a:ext>
            </a:extLst>
          </p:cNvPr>
          <p:cNvSpPr>
            <a:spLocks noGrp="1"/>
          </p:cNvSpPr>
          <p:nvPr/>
        </p:nvSpPr>
        <p:spPr>
          <a:xfrm>
            <a:off x="10879200" y="13582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AM</a:t>
            </a:r>
          </a:p>
        </p:txBody>
      </p:sp>
      <p:sp>
        <p:nvSpPr>
          <p:cNvPr id="70" name="Tabela 1: Prevalência de diagnóstico médico de asma por UF, PNS 2013 e 2019.-cell-2-1">
            <a:extLst>
              <a:ext uri="{FF2B5EF4-FFF2-40B4-BE49-F238E27FC236}">
                <a16:creationId xmlns:a16="http://schemas.microsoft.com/office/drawing/2014/main" id="{6FE31006-E57D-4709-B6EC-B9D2A02068BA}"/>
              </a:ext>
            </a:extLst>
          </p:cNvPr>
          <p:cNvSpPr>
            <a:spLocks noGrp="1"/>
          </p:cNvSpPr>
          <p:nvPr/>
        </p:nvSpPr>
        <p:spPr>
          <a:xfrm>
            <a:off x="12103200" y="13582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5,65 [4,47-7,03]</a:t>
            </a:r>
          </a:p>
        </p:txBody>
      </p:sp>
      <p:sp>
        <p:nvSpPr>
          <p:cNvPr id="71" name="Tabela 1: Prevalência de diagnóstico médico de asma por UF, PNS 2013 e 2019.-cell-2-2">
            <a:extLst>
              <a:ext uri="{FF2B5EF4-FFF2-40B4-BE49-F238E27FC236}">
                <a16:creationId xmlns:a16="http://schemas.microsoft.com/office/drawing/2014/main" id="{9BD1C575-7568-4FCC-B5A8-3A70B6B8B555}"/>
              </a:ext>
            </a:extLst>
          </p:cNvPr>
          <p:cNvSpPr>
            <a:spLocks noGrp="1"/>
          </p:cNvSpPr>
          <p:nvPr/>
        </p:nvSpPr>
        <p:spPr>
          <a:xfrm>
            <a:off x="16063200" y="13582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4,86 [3,86-6,02]</a:t>
            </a:r>
          </a:p>
        </p:txBody>
      </p:sp>
      <p:sp>
        <p:nvSpPr>
          <p:cNvPr id="72" name="Tabela 1: Prevalência de diagnóstico médico de asma por UF, PNS 2013 e 2019.-cell-3-0">
            <a:extLst>
              <a:ext uri="{FF2B5EF4-FFF2-40B4-BE49-F238E27FC236}">
                <a16:creationId xmlns:a16="http://schemas.microsoft.com/office/drawing/2014/main" id="{6EE8231C-C793-49AB-A26F-90EBFDC1F5EB}"/>
              </a:ext>
            </a:extLst>
          </p:cNvPr>
          <p:cNvSpPr>
            <a:spLocks noGrp="1"/>
          </p:cNvSpPr>
          <p:nvPr/>
        </p:nvSpPr>
        <p:spPr>
          <a:xfrm>
            <a:off x="10879200" y="13948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RR</a:t>
            </a:r>
          </a:p>
        </p:txBody>
      </p:sp>
      <p:sp>
        <p:nvSpPr>
          <p:cNvPr id="73" name="Tabela 1: Prevalência de diagnóstico médico de asma por UF, PNS 2013 e 2019.-cell-3-1">
            <a:extLst>
              <a:ext uri="{FF2B5EF4-FFF2-40B4-BE49-F238E27FC236}">
                <a16:creationId xmlns:a16="http://schemas.microsoft.com/office/drawing/2014/main" id="{2D47101F-4876-484A-8458-3C71733D2C7E}"/>
              </a:ext>
            </a:extLst>
          </p:cNvPr>
          <p:cNvSpPr>
            <a:spLocks noGrp="1"/>
          </p:cNvSpPr>
          <p:nvPr/>
        </p:nvSpPr>
        <p:spPr>
          <a:xfrm>
            <a:off x="12103200" y="13948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4,57 [3,35-6,06]</a:t>
            </a:r>
          </a:p>
        </p:txBody>
      </p:sp>
      <p:sp>
        <p:nvSpPr>
          <p:cNvPr id="74" name="Tabela 1: Prevalência de diagnóstico médico de asma por UF, PNS 2013 e 2019.-cell-3-2">
            <a:extLst>
              <a:ext uri="{FF2B5EF4-FFF2-40B4-BE49-F238E27FC236}">
                <a16:creationId xmlns:a16="http://schemas.microsoft.com/office/drawing/2014/main" id="{7AD2CD40-5279-455D-95E6-533E953FCC7F}"/>
              </a:ext>
            </a:extLst>
          </p:cNvPr>
          <p:cNvSpPr>
            <a:spLocks noGrp="1"/>
          </p:cNvSpPr>
          <p:nvPr/>
        </p:nvSpPr>
        <p:spPr>
          <a:xfrm>
            <a:off x="16063200" y="13948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5,85 [4,03-8,16]</a:t>
            </a:r>
          </a:p>
        </p:txBody>
      </p:sp>
      <p:sp>
        <p:nvSpPr>
          <p:cNvPr id="75" name="Tabela 1: Prevalência de diagnóstico médico de asma por UF, PNS 2013 e 2019.-stripe-4">
            <a:extLst>
              <a:ext uri="{FF2B5EF4-FFF2-40B4-BE49-F238E27FC236}">
                <a16:creationId xmlns:a16="http://schemas.microsoft.com/office/drawing/2014/main" id="{5FAC28AF-61CC-4EF0-BA08-5280575A8DE1}"/>
              </a:ext>
            </a:extLst>
          </p:cNvPr>
          <p:cNvSpPr>
            <a:spLocks noGrp="1"/>
          </p:cNvSpPr>
          <p:nvPr/>
        </p:nvSpPr>
        <p:spPr>
          <a:xfrm>
            <a:off x="10836000" y="14277333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abela 1: Prevalência de diagnóstico médico de asma por UF, PNS 2013 e 2019.-cell-4-0">
            <a:extLst>
              <a:ext uri="{FF2B5EF4-FFF2-40B4-BE49-F238E27FC236}">
                <a16:creationId xmlns:a16="http://schemas.microsoft.com/office/drawing/2014/main" id="{41F254BB-3E69-4566-894C-ECE3E87049DD}"/>
              </a:ext>
            </a:extLst>
          </p:cNvPr>
          <p:cNvSpPr>
            <a:spLocks noGrp="1"/>
          </p:cNvSpPr>
          <p:nvPr/>
        </p:nvSpPr>
        <p:spPr>
          <a:xfrm>
            <a:off x="10879200" y="14313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PA</a:t>
            </a:r>
          </a:p>
        </p:txBody>
      </p:sp>
      <p:sp>
        <p:nvSpPr>
          <p:cNvPr id="77" name="Tabela 1: Prevalência de diagnóstico médico de asma por UF, PNS 2013 e 2019.-cell-4-1">
            <a:extLst>
              <a:ext uri="{FF2B5EF4-FFF2-40B4-BE49-F238E27FC236}">
                <a16:creationId xmlns:a16="http://schemas.microsoft.com/office/drawing/2014/main" id="{C0BD6CFB-A826-4ED9-AD05-777270E0A9A4}"/>
              </a:ext>
            </a:extLst>
          </p:cNvPr>
          <p:cNvSpPr>
            <a:spLocks noGrp="1"/>
          </p:cNvSpPr>
          <p:nvPr/>
        </p:nvSpPr>
        <p:spPr>
          <a:xfrm>
            <a:off x="12103200" y="14313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4,29 [3,28-5,50]</a:t>
            </a:r>
          </a:p>
        </p:txBody>
      </p:sp>
      <p:sp>
        <p:nvSpPr>
          <p:cNvPr id="78" name="Tabela 1: Prevalência de diagnóstico médico de asma por UF, PNS 2013 e 2019.-cell-4-2">
            <a:extLst>
              <a:ext uri="{FF2B5EF4-FFF2-40B4-BE49-F238E27FC236}">
                <a16:creationId xmlns:a16="http://schemas.microsoft.com/office/drawing/2014/main" id="{BE457ECE-213F-41BC-A325-9971FE56AFE7}"/>
              </a:ext>
            </a:extLst>
          </p:cNvPr>
          <p:cNvSpPr>
            <a:spLocks noGrp="1"/>
          </p:cNvSpPr>
          <p:nvPr/>
        </p:nvSpPr>
        <p:spPr>
          <a:xfrm>
            <a:off x="16063200" y="14313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4,83 [3,90-5,89]</a:t>
            </a:r>
          </a:p>
        </p:txBody>
      </p:sp>
      <p:sp>
        <p:nvSpPr>
          <p:cNvPr id="79" name="Tabela 1: Prevalência de diagnóstico médico de asma por UF, PNS 2013 e 2019.-cell-5-0">
            <a:extLst>
              <a:ext uri="{FF2B5EF4-FFF2-40B4-BE49-F238E27FC236}">
                <a16:creationId xmlns:a16="http://schemas.microsoft.com/office/drawing/2014/main" id="{0FE389E4-C5D4-4EBA-9EC4-A22AEB4179CD}"/>
              </a:ext>
            </a:extLst>
          </p:cNvPr>
          <p:cNvSpPr>
            <a:spLocks noGrp="1"/>
          </p:cNvSpPr>
          <p:nvPr/>
        </p:nvSpPr>
        <p:spPr>
          <a:xfrm>
            <a:off x="10879200" y="14678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AP</a:t>
            </a:r>
          </a:p>
        </p:txBody>
      </p:sp>
      <p:sp>
        <p:nvSpPr>
          <p:cNvPr id="80" name="Tabela 1: Prevalência de diagnóstico médico de asma por UF, PNS 2013 e 2019.-cell-5-1">
            <a:extLst>
              <a:ext uri="{FF2B5EF4-FFF2-40B4-BE49-F238E27FC236}">
                <a16:creationId xmlns:a16="http://schemas.microsoft.com/office/drawing/2014/main" id="{4D36C89A-397D-43B4-9ED5-90F2C8384682}"/>
              </a:ext>
            </a:extLst>
          </p:cNvPr>
          <p:cNvSpPr>
            <a:spLocks noGrp="1"/>
          </p:cNvSpPr>
          <p:nvPr/>
        </p:nvSpPr>
        <p:spPr>
          <a:xfrm>
            <a:off x="12103200" y="14678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4,02 [2,82-5,52]</a:t>
            </a:r>
          </a:p>
        </p:txBody>
      </p:sp>
      <p:sp>
        <p:nvSpPr>
          <p:cNvPr id="81" name="Tabela 1: Prevalência de diagnóstico médico de asma por UF, PNS 2013 e 2019.-cell-5-2">
            <a:extLst>
              <a:ext uri="{FF2B5EF4-FFF2-40B4-BE49-F238E27FC236}">
                <a16:creationId xmlns:a16="http://schemas.microsoft.com/office/drawing/2014/main" id="{44FA6DCD-187A-4217-B974-E05E543C9C89}"/>
              </a:ext>
            </a:extLst>
          </p:cNvPr>
          <p:cNvSpPr>
            <a:spLocks noGrp="1"/>
          </p:cNvSpPr>
          <p:nvPr/>
        </p:nvSpPr>
        <p:spPr>
          <a:xfrm>
            <a:off x="16063200" y="14678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6,63 [5,27-8,21]</a:t>
            </a:r>
          </a:p>
        </p:txBody>
      </p:sp>
      <p:sp>
        <p:nvSpPr>
          <p:cNvPr id="82" name="Tabela 1: Prevalência de diagnóstico médico de asma por UF, PNS 2013 e 2019.-stripe-6">
            <a:extLst>
              <a:ext uri="{FF2B5EF4-FFF2-40B4-BE49-F238E27FC236}">
                <a16:creationId xmlns:a16="http://schemas.microsoft.com/office/drawing/2014/main" id="{14B77D3D-E381-48CA-A6F1-E0DF4827180C}"/>
              </a:ext>
            </a:extLst>
          </p:cNvPr>
          <p:cNvSpPr>
            <a:spLocks noGrp="1"/>
          </p:cNvSpPr>
          <p:nvPr/>
        </p:nvSpPr>
        <p:spPr>
          <a:xfrm>
            <a:off x="10836000" y="15008000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abela 1: Prevalência de diagnóstico médico de asma por UF, PNS 2013 e 2019.-cell-6-0">
            <a:extLst>
              <a:ext uri="{FF2B5EF4-FFF2-40B4-BE49-F238E27FC236}">
                <a16:creationId xmlns:a16="http://schemas.microsoft.com/office/drawing/2014/main" id="{4A72C092-98A8-4772-8814-F875E1D1AD6D}"/>
              </a:ext>
            </a:extLst>
          </p:cNvPr>
          <p:cNvSpPr>
            <a:spLocks noGrp="1"/>
          </p:cNvSpPr>
          <p:nvPr/>
        </p:nvSpPr>
        <p:spPr>
          <a:xfrm>
            <a:off x="10879200" y="15044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TO</a:t>
            </a:r>
          </a:p>
        </p:txBody>
      </p:sp>
      <p:sp>
        <p:nvSpPr>
          <p:cNvPr id="84" name="Tabela 1: Prevalência de diagnóstico médico de asma por UF, PNS 2013 e 2019.-cell-6-1">
            <a:extLst>
              <a:ext uri="{FF2B5EF4-FFF2-40B4-BE49-F238E27FC236}">
                <a16:creationId xmlns:a16="http://schemas.microsoft.com/office/drawing/2014/main" id="{1E7596CC-786A-42D6-8A24-153F1178A8F9}"/>
              </a:ext>
            </a:extLst>
          </p:cNvPr>
          <p:cNvSpPr>
            <a:spLocks noGrp="1"/>
          </p:cNvSpPr>
          <p:nvPr/>
        </p:nvSpPr>
        <p:spPr>
          <a:xfrm>
            <a:off x="12103200" y="15044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4,96 [3,55-6,72]</a:t>
            </a:r>
          </a:p>
        </p:txBody>
      </p:sp>
      <p:sp>
        <p:nvSpPr>
          <p:cNvPr id="85" name="Tabela 1: Prevalência de diagnóstico médico de asma por UF, PNS 2013 e 2019.-cell-6-2">
            <a:extLst>
              <a:ext uri="{FF2B5EF4-FFF2-40B4-BE49-F238E27FC236}">
                <a16:creationId xmlns:a16="http://schemas.microsoft.com/office/drawing/2014/main" id="{FB230490-5F55-4FAD-A8C2-A2831C89518D}"/>
              </a:ext>
            </a:extLst>
          </p:cNvPr>
          <p:cNvSpPr>
            <a:spLocks noGrp="1"/>
          </p:cNvSpPr>
          <p:nvPr/>
        </p:nvSpPr>
        <p:spPr>
          <a:xfrm>
            <a:off x="16063200" y="15044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4,36 [3,27-5,70]</a:t>
            </a:r>
          </a:p>
        </p:txBody>
      </p:sp>
      <p:sp>
        <p:nvSpPr>
          <p:cNvPr id="86" name="Tabela 1: Prevalência de diagnóstico médico de asma por UF, PNS 2013 e 2019.-cell-7-0">
            <a:extLst>
              <a:ext uri="{FF2B5EF4-FFF2-40B4-BE49-F238E27FC236}">
                <a16:creationId xmlns:a16="http://schemas.microsoft.com/office/drawing/2014/main" id="{4B4B4530-65FB-4893-A43F-FADCBF895AFD}"/>
              </a:ext>
            </a:extLst>
          </p:cNvPr>
          <p:cNvSpPr>
            <a:spLocks noGrp="1"/>
          </p:cNvSpPr>
          <p:nvPr/>
        </p:nvSpPr>
        <p:spPr>
          <a:xfrm>
            <a:off x="10879200" y="15409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MA</a:t>
            </a:r>
          </a:p>
        </p:txBody>
      </p:sp>
      <p:sp>
        <p:nvSpPr>
          <p:cNvPr id="87" name="Tabela 1: Prevalência de diagnóstico médico de asma por UF, PNS 2013 e 2019.-cell-7-1">
            <a:extLst>
              <a:ext uri="{FF2B5EF4-FFF2-40B4-BE49-F238E27FC236}">
                <a16:creationId xmlns:a16="http://schemas.microsoft.com/office/drawing/2014/main" id="{973A4663-92F1-440A-A7A5-EC761C6C4364}"/>
              </a:ext>
            </a:extLst>
          </p:cNvPr>
          <p:cNvSpPr>
            <a:spLocks noGrp="1"/>
          </p:cNvSpPr>
          <p:nvPr/>
        </p:nvSpPr>
        <p:spPr>
          <a:xfrm>
            <a:off x="12103200" y="15409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2,64 [1,59-4,12]</a:t>
            </a:r>
          </a:p>
        </p:txBody>
      </p:sp>
      <p:sp>
        <p:nvSpPr>
          <p:cNvPr id="88" name="Tabela 1: Prevalência de diagnóstico médico de asma por UF, PNS 2013 e 2019.-cell-7-2">
            <a:extLst>
              <a:ext uri="{FF2B5EF4-FFF2-40B4-BE49-F238E27FC236}">
                <a16:creationId xmlns:a16="http://schemas.microsoft.com/office/drawing/2014/main" id="{F37F1BA7-7FC2-4B50-931C-C22E6CEEBADA}"/>
              </a:ext>
            </a:extLst>
          </p:cNvPr>
          <p:cNvSpPr>
            <a:spLocks noGrp="1"/>
          </p:cNvSpPr>
          <p:nvPr/>
        </p:nvSpPr>
        <p:spPr>
          <a:xfrm>
            <a:off x="16063200" y="15409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3,84 [3,14-4,64]</a:t>
            </a:r>
          </a:p>
        </p:txBody>
      </p:sp>
      <p:sp>
        <p:nvSpPr>
          <p:cNvPr id="89" name="Tabela 1: Prevalência de diagnóstico médico de asma por UF, PNS 2013 e 2019.-stripe-8">
            <a:extLst>
              <a:ext uri="{FF2B5EF4-FFF2-40B4-BE49-F238E27FC236}">
                <a16:creationId xmlns:a16="http://schemas.microsoft.com/office/drawing/2014/main" id="{D284CA08-8D4F-47B0-8F51-3B60B0EEF20D}"/>
              </a:ext>
            </a:extLst>
          </p:cNvPr>
          <p:cNvSpPr>
            <a:spLocks noGrp="1"/>
          </p:cNvSpPr>
          <p:nvPr/>
        </p:nvSpPr>
        <p:spPr>
          <a:xfrm>
            <a:off x="10836000" y="15738667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abela 1: Prevalência de diagnóstico médico de asma por UF, PNS 2013 e 2019.-cell-8-0">
            <a:extLst>
              <a:ext uri="{FF2B5EF4-FFF2-40B4-BE49-F238E27FC236}">
                <a16:creationId xmlns:a16="http://schemas.microsoft.com/office/drawing/2014/main" id="{EE09D357-268C-4B47-997F-27E2DEBB9951}"/>
              </a:ext>
            </a:extLst>
          </p:cNvPr>
          <p:cNvSpPr>
            <a:spLocks noGrp="1"/>
          </p:cNvSpPr>
          <p:nvPr/>
        </p:nvSpPr>
        <p:spPr>
          <a:xfrm>
            <a:off x="10879200" y="15774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PI</a:t>
            </a:r>
          </a:p>
        </p:txBody>
      </p:sp>
      <p:sp>
        <p:nvSpPr>
          <p:cNvPr id="91" name="Tabela 1: Prevalência de diagnóstico médico de asma por UF, PNS 2013 e 2019.-cell-8-1">
            <a:extLst>
              <a:ext uri="{FF2B5EF4-FFF2-40B4-BE49-F238E27FC236}">
                <a16:creationId xmlns:a16="http://schemas.microsoft.com/office/drawing/2014/main" id="{56AE611B-38BA-49C5-ACBC-A59F57222AAD}"/>
              </a:ext>
            </a:extLst>
          </p:cNvPr>
          <p:cNvSpPr>
            <a:spLocks noGrp="1"/>
          </p:cNvSpPr>
          <p:nvPr/>
        </p:nvSpPr>
        <p:spPr>
          <a:xfrm>
            <a:off x="12103200" y="15774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4,41 [3,07-6,12]</a:t>
            </a:r>
          </a:p>
        </p:txBody>
      </p:sp>
      <p:sp>
        <p:nvSpPr>
          <p:cNvPr id="92" name="Tabela 1: Prevalência de diagnóstico médico de asma por UF, PNS 2013 e 2019.-cell-8-2">
            <a:extLst>
              <a:ext uri="{FF2B5EF4-FFF2-40B4-BE49-F238E27FC236}">
                <a16:creationId xmlns:a16="http://schemas.microsoft.com/office/drawing/2014/main" id="{55AC2C1B-80DB-4799-859E-FF2FCABF24D8}"/>
              </a:ext>
            </a:extLst>
          </p:cNvPr>
          <p:cNvSpPr>
            <a:spLocks noGrp="1"/>
          </p:cNvSpPr>
          <p:nvPr/>
        </p:nvSpPr>
        <p:spPr>
          <a:xfrm>
            <a:off x="16063200" y="15774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4,61 [3,66-5,72]</a:t>
            </a:r>
          </a:p>
        </p:txBody>
      </p:sp>
      <p:sp>
        <p:nvSpPr>
          <p:cNvPr id="93" name="Tabela 1: Prevalência de diagnóstico médico de asma por UF, PNS 2013 e 2019.-cell-9-0">
            <a:extLst>
              <a:ext uri="{FF2B5EF4-FFF2-40B4-BE49-F238E27FC236}">
                <a16:creationId xmlns:a16="http://schemas.microsoft.com/office/drawing/2014/main" id="{2AC6659F-1EB1-4E91-A696-740A4E4505AC}"/>
              </a:ext>
            </a:extLst>
          </p:cNvPr>
          <p:cNvSpPr>
            <a:spLocks noGrp="1"/>
          </p:cNvSpPr>
          <p:nvPr/>
        </p:nvSpPr>
        <p:spPr>
          <a:xfrm>
            <a:off x="10879200" y="16140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CE</a:t>
            </a:r>
          </a:p>
        </p:txBody>
      </p:sp>
      <p:sp>
        <p:nvSpPr>
          <p:cNvPr id="94" name="Tabela 1: Prevalência de diagnóstico médico de asma por UF, PNS 2013 e 2019.-cell-9-1">
            <a:extLst>
              <a:ext uri="{FF2B5EF4-FFF2-40B4-BE49-F238E27FC236}">
                <a16:creationId xmlns:a16="http://schemas.microsoft.com/office/drawing/2014/main" id="{2EE30BCD-7306-4471-A82F-0D0F12F560FD}"/>
              </a:ext>
            </a:extLst>
          </p:cNvPr>
          <p:cNvSpPr>
            <a:spLocks noGrp="1"/>
          </p:cNvSpPr>
          <p:nvPr/>
        </p:nvSpPr>
        <p:spPr>
          <a:xfrm>
            <a:off x="12103200" y="16140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3,22 [2,53-4,03]</a:t>
            </a:r>
          </a:p>
        </p:txBody>
      </p:sp>
      <p:sp>
        <p:nvSpPr>
          <p:cNvPr id="95" name="Tabela 1: Prevalência de diagnóstico médico de asma por UF, PNS 2013 e 2019.-cell-9-2">
            <a:extLst>
              <a:ext uri="{FF2B5EF4-FFF2-40B4-BE49-F238E27FC236}">
                <a16:creationId xmlns:a16="http://schemas.microsoft.com/office/drawing/2014/main" id="{A1888EED-BD74-4F95-AB7A-DB756120E4EC}"/>
              </a:ext>
            </a:extLst>
          </p:cNvPr>
          <p:cNvSpPr>
            <a:spLocks noGrp="1"/>
          </p:cNvSpPr>
          <p:nvPr/>
        </p:nvSpPr>
        <p:spPr>
          <a:xfrm>
            <a:off x="16063200" y="16140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5,01 [4,20-5,93]</a:t>
            </a:r>
          </a:p>
        </p:txBody>
      </p:sp>
      <p:sp>
        <p:nvSpPr>
          <p:cNvPr id="96" name="Tabela 1: Prevalência de diagnóstico médico de asma por UF, PNS 2013 e 2019.-stripe-10">
            <a:extLst>
              <a:ext uri="{FF2B5EF4-FFF2-40B4-BE49-F238E27FC236}">
                <a16:creationId xmlns:a16="http://schemas.microsoft.com/office/drawing/2014/main" id="{F879F902-BEA5-42A8-A8D7-967BBD9C80DA}"/>
              </a:ext>
            </a:extLst>
          </p:cNvPr>
          <p:cNvSpPr>
            <a:spLocks noGrp="1"/>
          </p:cNvSpPr>
          <p:nvPr/>
        </p:nvSpPr>
        <p:spPr>
          <a:xfrm>
            <a:off x="10836000" y="16469333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abela 1: Prevalência de diagnóstico médico de asma por UF, PNS 2013 e 2019.-cell-10-0">
            <a:extLst>
              <a:ext uri="{FF2B5EF4-FFF2-40B4-BE49-F238E27FC236}">
                <a16:creationId xmlns:a16="http://schemas.microsoft.com/office/drawing/2014/main" id="{9E4FEB3F-FDE0-45CF-9F5D-83B82B6DCE62}"/>
              </a:ext>
            </a:extLst>
          </p:cNvPr>
          <p:cNvSpPr>
            <a:spLocks noGrp="1"/>
          </p:cNvSpPr>
          <p:nvPr/>
        </p:nvSpPr>
        <p:spPr>
          <a:xfrm>
            <a:off x="10879200" y="16505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RN</a:t>
            </a:r>
          </a:p>
        </p:txBody>
      </p:sp>
      <p:sp>
        <p:nvSpPr>
          <p:cNvPr id="98" name="Tabela 1: Prevalência de diagnóstico médico de asma por UF, PNS 2013 e 2019.-cell-10-1">
            <a:extLst>
              <a:ext uri="{FF2B5EF4-FFF2-40B4-BE49-F238E27FC236}">
                <a16:creationId xmlns:a16="http://schemas.microsoft.com/office/drawing/2014/main" id="{7EB6FB69-4DF5-4D05-8F0F-9321E1DCC406}"/>
              </a:ext>
            </a:extLst>
          </p:cNvPr>
          <p:cNvSpPr>
            <a:spLocks noGrp="1"/>
          </p:cNvSpPr>
          <p:nvPr/>
        </p:nvSpPr>
        <p:spPr>
          <a:xfrm>
            <a:off x="12103200" y="16505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3,65 [2,65-4,88]</a:t>
            </a:r>
          </a:p>
        </p:txBody>
      </p:sp>
      <p:sp>
        <p:nvSpPr>
          <p:cNvPr id="99" name="Tabela 1: Prevalência de diagnóstico médico de asma por UF, PNS 2013 e 2019.-cell-10-2">
            <a:extLst>
              <a:ext uri="{FF2B5EF4-FFF2-40B4-BE49-F238E27FC236}">
                <a16:creationId xmlns:a16="http://schemas.microsoft.com/office/drawing/2014/main" id="{C5051772-0185-4911-BF7A-B997C3E8AABC}"/>
              </a:ext>
            </a:extLst>
          </p:cNvPr>
          <p:cNvSpPr>
            <a:spLocks noGrp="1"/>
          </p:cNvSpPr>
          <p:nvPr/>
        </p:nvSpPr>
        <p:spPr>
          <a:xfrm>
            <a:off x="16063200" y="16505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5,02 [4,08-6,11]</a:t>
            </a:r>
          </a:p>
        </p:txBody>
      </p:sp>
      <p:sp>
        <p:nvSpPr>
          <p:cNvPr id="100" name="Tabela 1: Prevalência de diagnóstico médico de asma por UF, PNS 2013 e 2019.-cell-11-0">
            <a:extLst>
              <a:ext uri="{FF2B5EF4-FFF2-40B4-BE49-F238E27FC236}">
                <a16:creationId xmlns:a16="http://schemas.microsoft.com/office/drawing/2014/main" id="{1502AE29-BD76-48C4-8B32-4D2E4FCF3FCE}"/>
              </a:ext>
            </a:extLst>
          </p:cNvPr>
          <p:cNvSpPr>
            <a:spLocks noGrp="1"/>
          </p:cNvSpPr>
          <p:nvPr/>
        </p:nvSpPr>
        <p:spPr>
          <a:xfrm>
            <a:off x="10879200" y="16870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PB</a:t>
            </a:r>
          </a:p>
        </p:txBody>
      </p:sp>
      <p:sp>
        <p:nvSpPr>
          <p:cNvPr id="101" name="Tabela 1: Prevalência de diagnóstico médico de asma por UF, PNS 2013 e 2019.-cell-11-1">
            <a:extLst>
              <a:ext uri="{FF2B5EF4-FFF2-40B4-BE49-F238E27FC236}">
                <a16:creationId xmlns:a16="http://schemas.microsoft.com/office/drawing/2014/main" id="{58D56426-C00A-43E3-9F12-E6260F6411CB}"/>
              </a:ext>
            </a:extLst>
          </p:cNvPr>
          <p:cNvSpPr>
            <a:spLocks noGrp="1"/>
          </p:cNvSpPr>
          <p:nvPr/>
        </p:nvSpPr>
        <p:spPr>
          <a:xfrm>
            <a:off x="12103200" y="16870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2,83 [2,05-3,82]</a:t>
            </a:r>
          </a:p>
        </p:txBody>
      </p:sp>
      <p:sp>
        <p:nvSpPr>
          <p:cNvPr id="102" name="Tabela 1: Prevalência de diagnóstico médico de asma por UF, PNS 2013 e 2019.-cell-11-2">
            <a:extLst>
              <a:ext uri="{FF2B5EF4-FFF2-40B4-BE49-F238E27FC236}">
                <a16:creationId xmlns:a16="http://schemas.microsoft.com/office/drawing/2014/main" id="{1D671D15-A3DF-4D3D-BF37-CDBF10BD8D5E}"/>
              </a:ext>
            </a:extLst>
          </p:cNvPr>
          <p:cNvSpPr>
            <a:spLocks noGrp="1"/>
          </p:cNvSpPr>
          <p:nvPr/>
        </p:nvSpPr>
        <p:spPr>
          <a:xfrm>
            <a:off x="16063200" y="16870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3,57 [2,86-4,39]</a:t>
            </a:r>
          </a:p>
        </p:txBody>
      </p:sp>
      <p:sp>
        <p:nvSpPr>
          <p:cNvPr id="103" name="Tabela 1: Prevalência de diagnóstico médico de asma por UF, PNS 2013 e 2019.-stripe-12">
            <a:extLst>
              <a:ext uri="{FF2B5EF4-FFF2-40B4-BE49-F238E27FC236}">
                <a16:creationId xmlns:a16="http://schemas.microsoft.com/office/drawing/2014/main" id="{889D5A6C-8EF7-4EE2-A9BF-8AB9E5455901}"/>
              </a:ext>
            </a:extLst>
          </p:cNvPr>
          <p:cNvSpPr>
            <a:spLocks noGrp="1"/>
          </p:cNvSpPr>
          <p:nvPr/>
        </p:nvSpPr>
        <p:spPr>
          <a:xfrm>
            <a:off x="10836000" y="17200000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abela 1: Prevalência de diagnóstico médico de asma por UF, PNS 2013 e 2019.-cell-12-0">
            <a:extLst>
              <a:ext uri="{FF2B5EF4-FFF2-40B4-BE49-F238E27FC236}">
                <a16:creationId xmlns:a16="http://schemas.microsoft.com/office/drawing/2014/main" id="{84FCAD0B-3B73-483F-B9E0-2528AF14A2E1}"/>
              </a:ext>
            </a:extLst>
          </p:cNvPr>
          <p:cNvSpPr>
            <a:spLocks noGrp="1"/>
          </p:cNvSpPr>
          <p:nvPr/>
        </p:nvSpPr>
        <p:spPr>
          <a:xfrm>
            <a:off x="10879200" y="17236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PE</a:t>
            </a:r>
          </a:p>
        </p:txBody>
      </p:sp>
      <p:sp>
        <p:nvSpPr>
          <p:cNvPr id="105" name="Tabela 1: Prevalência de diagnóstico médico de asma por UF, PNS 2013 e 2019.-cell-12-1">
            <a:extLst>
              <a:ext uri="{FF2B5EF4-FFF2-40B4-BE49-F238E27FC236}">
                <a16:creationId xmlns:a16="http://schemas.microsoft.com/office/drawing/2014/main" id="{8E1E447F-3202-4B8B-BBB1-0A92AC36BEA1}"/>
              </a:ext>
            </a:extLst>
          </p:cNvPr>
          <p:cNvSpPr>
            <a:spLocks noGrp="1"/>
          </p:cNvSpPr>
          <p:nvPr/>
        </p:nvSpPr>
        <p:spPr>
          <a:xfrm>
            <a:off x="12103200" y="17236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4,93 [4,03-5,97]</a:t>
            </a:r>
          </a:p>
        </p:txBody>
      </p:sp>
      <p:sp>
        <p:nvSpPr>
          <p:cNvPr id="106" name="Tabela 1: Prevalência de diagnóstico médico de asma por UF, PNS 2013 e 2019.-cell-12-2">
            <a:extLst>
              <a:ext uri="{FF2B5EF4-FFF2-40B4-BE49-F238E27FC236}">
                <a16:creationId xmlns:a16="http://schemas.microsoft.com/office/drawing/2014/main" id="{5D9ABF57-18C6-4E7C-BED4-FDC3AFA13711}"/>
              </a:ext>
            </a:extLst>
          </p:cNvPr>
          <p:cNvSpPr>
            <a:spLocks noGrp="1"/>
          </p:cNvSpPr>
          <p:nvPr/>
        </p:nvSpPr>
        <p:spPr>
          <a:xfrm>
            <a:off x="16063200" y="17236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4,75 [4,00-5,60]</a:t>
            </a:r>
          </a:p>
        </p:txBody>
      </p:sp>
      <p:sp>
        <p:nvSpPr>
          <p:cNvPr id="107" name="Tabela 1: Prevalência de diagnóstico médico de asma por UF, PNS 2013 e 2019.-cell-13-0">
            <a:extLst>
              <a:ext uri="{FF2B5EF4-FFF2-40B4-BE49-F238E27FC236}">
                <a16:creationId xmlns:a16="http://schemas.microsoft.com/office/drawing/2014/main" id="{6E42CC8A-908C-4449-83EE-CCB997B3A676}"/>
              </a:ext>
            </a:extLst>
          </p:cNvPr>
          <p:cNvSpPr>
            <a:spLocks noGrp="1"/>
          </p:cNvSpPr>
          <p:nvPr/>
        </p:nvSpPr>
        <p:spPr>
          <a:xfrm>
            <a:off x="10879200" y="17601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AL</a:t>
            </a:r>
          </a:p>
        </p:txBody>
      </p:sp>
      <p:sp>
        <p:nvSpPr>
          <p:cNvPr id="108" name="Tabela 1: Prevalência de diagnóstico médico de asma por UF, PNS 2013 e 2019.-cell-13-1">
            <a:extLst>
              <a:ext uri="{FF2B5EF4-FFF2-40B4-BE49-F238E27FC236}">
                <a16:creationId xmlns:a16="http://schemas.microsoft.com/office/drawing/2014/main" id="{4583292B-3AE0-4741-A2C2-66A60987D316}"/>
              </a:ext>
            </a:extLst>
          </p:cNvPr>
          <p:cNvSpPr>
            <a:spLocks noGrp="1"/>
          </p:cNvSpPr>
          <p:nvPr/>
        </p:nvSpPr>
        <p:spPr>
          <a:xfrm>
            <a:off x="12103200" y="17601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2,63 [1,75-3,79]</a:t>
            </a:r>
          </a:p>
        </p:txBody>
      </p:sp>
      <p:sp>
        <p:nvSpPr>
          <p:cNvPr id="109" name="Tabela 1: Prevalência de diagnóstico médico de asma por UF, PNS 2013 e 2019.-cell-13-2">
            <a:extLst>
              <a:ext uri="{FF2B5EF4-FFF2-40B4-BE49-F238E27FC236}">
                <a16:creationId xmlns:a16="http://schemas.microsoft.com/office/drawing/2014/main" id="{5357991D-C6A1-4574-96BD-D1AE163147E1}"/>
              </a:ext>
            </a:extLst>
          </p:cNvPr>
          <p:cNvSpPr>
            <a:spLocks noGrp="1"/>
          </p:cNvSpPr>
          <p:nvPr/>
        </p:nvSpPr>
        <p:spPr>
          <a:xfrm>
            <a:off x="16063200" y="17601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3,99 [3,17-4,94]</a:t>
            </a:r>
          </a:p>
        </p:txBody>
      </p:sp>
      <p:sp>
        <p:nvSpPr>
          <p:cNvPr id="110" name="Tabela 1: Prevalência de diagnóstico médico de asma por UF, PNS 2013 e 2019.-stripe-14">
            <a:extLst>
              <a:ext uri="{FF2B5EF4-FFF2-40B4-BE49-F238E27FC236}">
                <a16:creationId xmlns:a16="http://schemas.microsoft.com/office/drawing/2014/main" id="{0B690820-0386-4EEB-8784-DEB958989971}"/>
              </a:ext>
            </a:extLst>
          </p:cNvPr>
          <p:cNvSpPr>
            <a:spLocks noGrp="1"/>
          </p:cNvSpPr>
          <p:nvPr/>
        </p:nvSpPr>
        <p:spPr>
          <a:xfrm>
            <a:off x="10836000" y="17930667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abela 1: Prevalência de diagnóstico médico de asma por UF, PNS 2013 e 2019.-cell-14-0">
            <a:extLst>
              <a:ext uri="{FF2B5EF4-FFF2-40B4-BE49-F238E27FC236}">
                <a16:creationId xmlns:a16="http://schemas.microsoft.com/office/drawing/2014/main" id="{BA8A5125-2074-485C-B19E-119E6EE06060}"/>
              </a:ext>
            </a:extLst>
          </p:cNvPr>
          <p:cNvSpPr>
            <a:spLocks noGrp="1"/>
          </p:cNvSpPr>
          <p:nvPr/>
        </p:nvSpPr>
        <p:spPr>
          <a:xfrm>
            <a:off x="10879200" y="17966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SE</a:t>
            </a:r>
          </a:p>
        </p:txBody>
      </p:sp>
      <p:sp>
        <p:nvSpPr>
          <p:cNvPr id="112" name="Tabela 1: Prevalência de diagnóstico médico de asma por UF, PNS 2013 e 2019.-cell-14-1">
            <a:extLst>
              <a:ext uri="{FF2B5EF4-FFF2-40B4-BE49-F238E27FC236}">
                <a16:creationId xmlns:a16="http://schemas.microsoft.com/office/drawing/2014/main" id="{72C2EB77-4437-428B-B59D-D9871DDA2ACF}"/>
              </a:ext>
            </a:extLst>
          </p:cNvPr>
          <p:cNvSpPr>
            <a:spLocks noGrp="1"/>
          </p:cNvSpPr>
          <p:nvPr/>
        </p:nvSpPr>
        <p:spPr>
          <a:xfrm>
            <a:off x="12103200" y="17966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2,87 [2,03-3,93]</a:t>
            </a:r>
          </a:p>
        </p:txBody>
      </p:sp>
      <p:sp>
        <p:nvSpPr>
          <p:cNvPr id="113" name="Tabela 1: Prevalência de diagnóstico médico de asma por UF, PNS 2013 e 2019.-cell-14-2">
            <a:extLst>
              <a:ext uri="{FF2B5EF4-FFF2-40B4-BE49-F238E27FC236}">
                <a16:creationId xmlns:a16="http://schemas.microsoft.com/office/drawing/2014/main" id="{17A8868B-6C69-4A2C-9268-F96C66C09364}"/>
              </a:ext>
            </a:extLst>
          </p:cNvPr>
          <p:cNvSpPr>
            <a:spLocks noGrp="1"/>
          </p:cNvSpPr>
          <p:nvPr/>
        </p:nvSpPr>
        <p:spPr>
          <a:xfrm>
            <a:off x="16063200" y="17966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4,64 [3,62-5,84]</a:t>
            </a:r>
          </a:p>
        </p:txBody>
      </p:sp>
      <p:sp>
        <p:nvSpPr>
          <p:cNvPr id="114" name="Tabela 1: Prevalência de diagnóstico médico de asma por UF, PNS 2013 e 2019.-cell-15-0">
            <a:extLst>
              <a:ext uri="{FF2B5EF4-FFF2-40B4-BE49-F238E27FC236}">
                <a16:creationId xmlns:a16="http://schemas.microsoft.com/office/drawing/2014/main" id="{2590D150-C979-43C9-A3EE-6D4D0CEBF3C6}"/>
              </a:ext>
            </a:extLst>
          </p:cNvPr>
          <p:cNvSpPr>
            <a:spLocks noGrp="1"/>
          </p:cNvSpPr>
          <p:nvPr/>
        </p:nvSpPr>
        <p:spPr>
          <a:xfrm>
            <a:off x="10879200" y="18332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BA</a:t>
            </a:r>
          </a:p>
        </p:txBody>
      </p:sp>
      <p:sp>
        <p:nvSpPr>
          <p:cNvPr id="115" name="Tabela 1: Prevalência de diagnóstico médico de asma por UF, PNS 2013 e 2019.-cell-15-1">
            <a:extLst>
              <a:ext uri="{FF2B5EF4-FFF2-40B4-BE49-F238E27FC236}">
                <a16:creationId xmlns:a16="http://schemas.microsoft.com/office/drawing/2014/main" id="{CF37863B-B49B-4175-BA7C-ED4FE4E4F5BA}"/>
              </a:ext>
            </a:extLst>
          </p:cNvPr>
          <p:cNvSpPr>
            <a:spLocks noGrp="1"/>
          </p:cNvSpPr>
          <p:nvPr/>
        </p:nvSpPr>
        <p:spPr>
          <a:xfrm>
            <a:off x="12103200" y="18332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2,35 [1,51-3,46]</a:t>
            </a:r>
          </a:p>
        </p:txBody>
      </p:sp>
      <p:sp>
        <p:nvSpPr>
          <p:cNvPr id="116" name="Tabela 1: Prevalência de diagnóstico médico de asma por UF, PNS 2013 e 2019.-cell-15-2">
            <a:extLst>
              <a:ext uri="{FF2B5EF4-FFF2-40B4-BE49-F238E27FC236}">
                <a16:creationId xmlns:a16="http://schemas.microsoft.com/office/drawing/2014/main" id="{B63DC7BA-0306-46CD-A637-1A18B0924150}"/>
              </a:ext>
            </a:extLst>
          </p:cNvPr>
          <p:cNvSpPr>
            <a:spLocks noGrp="1"/>
          </p:cNvSpPr>
          <p:nvPr/>
        </p:nvSpPr>
        <p:spPr>
          <a:xfrm>
            <a:off x="16063200" y="18332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3,56 [2,62-4,71]</a:t>
            </a:r>
          </a:p>
        </p:txBody>
      </p:sp>
      <p:sp>
        <p:nvSpPr>
          <p:cNvPr id="117" name="Tabela 1: Prevalência de diagnóstico médico de asma por UF, PNS 2013 e 2019.-stripe-16">
            <a:extLst>
              <a:ext uri="{FF2B5EF4-FFF2-40B4-BE49-F238E27FC236}">
                <a16:creationId xmlns:a16="http://schemas.microsoft.com/office/drawing/2014/main" id="{23914D54-82A2-433F-8B3F-B8C17EE618F1}"/>
              </a:ext>
            </a:extLst>
          </p:cNvPr>
          <p:cNvSpPr>
            <a:spLocks noGrp="1"/>
          </p:cNvSpPr>
          <p:nvPr/>
        </p:nvSpPr>
        <p:spPr>
          <a:xfrm>
            <a:off x="10836000" y="18661333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abela 1: Prevalência de diagnóstico médico de asma por UF, PNS 2013 e 2019.-cell-16-0">
            <a:extLst>
              <a:ext uri="{FF2B5EF4-FFF2-40B4-BE49-F238E27FC236}">
                <a16:creationId xmlns:a16="http://schemas.microsoft.com/office/drawing/2014/main" id="{13073D1E-ACD5-4A7F-BB8D-89E7BEFF93BF}"/>
              </a:ext>
            </a:extLst>
          </p:cNvPr>
          <p:cNvSpPr>
            <a:spLocks noGrp="1"/>
          </p:cNvSpPr>
          <p:nvPr/>
        </p:nvSpPr>
        <p:spPr>
          <a:xfrm>
            <a:off x="10879200" y="18697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MG</a:t>
            </a:r>
          </a:p>
        </p:txBody>
      </p:sp>
      <p:sp>
        <p:nvSpPr>
          <p:cNvPr id="119" name="Tabela 1: Prevalência de diagnóstico médico de asma por UF, PNS 2013 e 2019.-cell-16-1">
            <a:extLst>
              <a:ext uri="{FF2B5EF4-FFF2-40B4-BE49-F238E27FC236}">
                <a16:creationId xmlns:a16="http://schemas.microsoft.com/office/drawing/2014/main" id="{658CC889-6EC3-4ED7-AFA7-E80C737F7478}"/>
              </a:ext>
            </a:extLst>
          </p:cNvPr>
          <p:cNvSpPr>
            <a:spLocks noGrp="1"/>
          </p:cNvSpPr>
          <p:nvPr/>
        </p:nvSpPr>
        <p:spPr>
          <a:xfrm>
            <a:off x="12103200" y="18697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4,39 [3,28-5,75]</a:t>
            </a:r>
          </a:p>
        </p:txBody>
      </p:sp>
      <p:sp>
        <p:nvSpPr>
          <p:cNvPr id="120" name="Tabela 1: Prevalência de diagnóstico médico de asma por UF, PNS 2013 e 2019.-cell-16-2">
            <a:extLst>
              <a:ext uri="{FF2B5EF4-FFF2-40B4-BE49-F238E27FC236}">
                <a16:creationId xmlns:a16="http://schemas.microsoft.com/office/drawing/2014/main" id="{1FC7BF67-D784-428B-8493-DE32EA4F26CC}"/>
              </a:ext>
            </a:extLst>
          </p:cNvPr>
          <p:cNvSpPr>
            <a:spLocks noGrp="1"/>
          </p:cNvSpPr>
          <p:nvPr/>
        </p:nvSpPr>
        <p:spPr>
          <a:xfrm>
            <a:off x="16063200" y="18697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6,03 [5,11-7,05]</a:t>
            </a:r>
          </a:p>
        </p:txBody>
      </p:sp>
      <p:sp>
        <p:nvSpPr>
          <p:cNvPr id="121" name="Tabela 1: Prevalência de diagnóstico médico de asma por UF, PNS 2013 e 2019.-cell-17-0">
            <a:extLst>
              <a:ext uri="{FF2B5EF4-FFF2-40B4-BE49-F238E27FC236}">
                <a16:creationId xmlns:a16="http://schemas.microsoft.com/office/drawing/2014/main" id="{C93EFFEA-D906-49E8-A5F6-4ACEC1C54270}"/>
              </a:ext>
            </a:extLst>
          </p:cNvPr>
          <p:cNvSpPr>
            <a:spLocks noGrp="1"/>
          </p:cNvSpPr>
          <p:nvPr/>
        </p:nvSpPr>
        <p:spPr>
          <a:xfrm>
            <a:off x="10879200" y="19062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ES</a:t>
            </a:r>
          </a:p>
        </p:txBody>
      </p:sp>
      <p:sp>
        <p:nvSpPr>
          <p:cNvPr id="122" name="Tabela 1: Prevalência de diagnóstico médico de asma por UF, PNS 2013 e 2019.-cell-17-1">
            <a:extLst>
              <a:ext uri="{FF2B5EF4-FFF2-40B4-BE49-F238E27FC236}">
                <a16:creationId xmlns:a16="http://schemas.microsoft.com/office/drawing/2014/main" id="{398DF2FF-5DB8-422A-A37E-51F3E472E345}"/>
              </a:ext>
            </a:extLst>
          </p:cNvPr>
          <p:cNvSpPr>
            <a:spLocks noGrp="1"/>
          </p:cNvSpPr>
          <p:nvPr/>
        </p:nvSpPr>
        <p:spPr>
          <a:xfrm>
            <a:off x="12103200" y="19062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4,76 [3,10-6,94]</a:t>
            </a:r>
          </a:p>
        </p:txBody>
      </p:sp>
      <p:sp>
        <p:nvSpPr>
          <p:cNvPr id="123" name="Tabela 1: Prevalência de diagnóstico médico de asma por UF, PNS 2013 e 2019.-cell-17-2">
            <a:extLst>
              <a:ext uri="{FF2B5EF4-FFF2-40B4-BE49-F238E27FC236}">
                <a16:creationId xmlns:a16="http://schemas.microsoft.com/office/drawing/2014/main" id="{87683249-48BA-47D4-BB01-DEDFC9B787AB}"/>
              </a:ext>
            </a:extLst>
          </p:cNvPr>
          <p:cNvSpPr>
            <a:spLocks noGrp="1"/>
          </p:cNvSpPr>
          <p:nvPr/>
        </p:nvSpPr>
        <p:spPr>
          <a:xfrm>
            <a:off x="16063200" y="19062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6,71 [5,66-7,87]</a:t>
            </a:r>
          </a:p>
        </p:txBody>
      </p:sp>
      <p:sp>
        <p:nvSpPr>
          <p:cNvPr id="124" name="Tabela 1: Prevalência de diagnóstico médico de asma por UF, PNS 2013 e 2019.-stripe-18">
            <a:extLst>
              <a:ext uri="{FF2B5EF4-FFF2-40B4-BE49-F238E27FC236}">
                <a16:creationId xmlns:a16="http://schemas.microsoft.com/office/drawing/2014/main" id="{B5371B8C-8C4B-4B6F-8CC3-2424F6D268E7}"/>
              </a:ext>
            </a:extLst>
          </p:cNvPr>
          <p:cNvSpPr>
            <a:spLocks noGrp="1"/>
          </p:cNvSpPr>
          <p:nvPr/>
        </p:nvSpPr>
        <p:spPr>
          <a:xfrm>
            <a:off x="10836000" y="19392000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abela 1: Prevalência de diagnóstico médico de asma por UF, PNS 2013 e 2019.-cell-18-0">
            <a:extLst>
              <a:ext uri="{FF2B5EF4-FFF2-40B4-BE49-F238E27FC236}">
                <a16:creationId xmlns:a16="http://schemas.microsoft.com/office/drawing/2014/main" id="{97CAE2FE-0DB0-41A3-8BFE-5B5F5FF7855B}"/>
              </a:ext>
            </a:extLst>
          </p:cNvPr>
          <p:cNvSpPr>
            <a:spLocks noGrp="1"/>
          </p:cNvSpPr>
          <p:nvPr/>
        </p:nvSpPr>
        <p:spPr>
          <a:xfrm>
            <a:off x="10879200" y="19428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RJ</a:t>
            </a:r>
          </a:p>
        </p:txBody>
      </p:sp>
      <p:sp>
        <p:nvSpPr>
          <p:cNvPr id="126" name="Tabela 1: Prevalência de diagnóstico médico de asma por UF, PNS 2013 e 2019.-cell-18-1">
            <a:extLst>
              <a:ext uri="{FF2B5EF4-FFF2-40B4-BE49-F238E27FC236}">
                <a16:creationId xmlns:a16="http://schemas.microsoft.com/office/drawing/2014/main" id="{45BBACE1-4994-4B88-ACF5-C3148F3F370E}"/>
              </a:ext>
            </a:extLst>
          </p:cNvPr>
          <p:cNvSpPr>
            <a:spLocks noGrp="1"/>
          </p:cNvSpPr>
          <p:nvPr/>
        </p:nvSpPr>
        <p:spPr>
          <a:xfrm>
            <a:off x="12103200" y="19428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5,01 [4,04-6,13]</a:t>
            </a:r>
          </a:p>
        </p:txBody>
      </p:sp>
      <p:sp>
        <p:nvSpPr>
          <p:cNvPr id="127" name="Tabela 1: Prevalência de diagnóstico médico de asma por UF, PNS 2013 e 2019.-cell-18-2">
            <a:extLst>
              <a:ext uri="{FF2B5EF4-FFF2-40B4-BE49-F238E27FC236}">
                <a16:creationId xmlns:a16="http://schemas.microsoft.com/office/drawing/2014/main" id="{57B4BE98-AAB2-413D-88B6-6523EB36A882}"/>
              </a:ext>
            </a:extLst>
          </p:cNvPr>
          <p:cNvSpPr>
            <a:spLocks noGrp="1"/>
          </p:cNvSpPr>
          <p:nvPr/>
        </p:nvSpPr>
        <p:spPr>
          <a:xfrm>
            <a:off x="16063200" y="19428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4,60 [3,77-5,56]</a:t>
            </a:r>
          </a:p>
        </p:txBody>
      </p:sp>
      <p:sp>
        <p:nvSpPr>
          <p:cNvPr id="128" name="Tabela 1: Prevalência de diagnóstico médico de asma por UF, PNS 2013 e 2019.-cell-19-0">
            <a:extLst>
              <a:ext uri="{FF2B5EF4-FFF2-40B4-BE49-F238E27FC236}">
                <a16:creationId xmlns:a16="http://schemas.microsoft.com/office/drawing/2014/main" id="{DFB6673A-C5FD-4D48-96E3-B67376CF576E}"/>
              </a:ext>
            </a:extLst>
          </p:cNvPr>
          <p:cNvSpPr>
            <a:spLocks noGrp="1"/>
          </p:cNvSpPr>
          <p:nvPr/>
        </p:nvSpPr>
        <p:spPr>
          <a:xfrm>
            <a:off x="10879200" y="19793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SP</a:t>
            </a:r>
          </a:p>
        </p:txBody>
      </p:sp>
      <p:sp>
        <p:nvSpPr>
          <p:cNvPr id="129" name="Tabela 1: Prevalência de diagnóstico médico de asma por UF, PNS 2013 e 2019.-cell-19-1">
            <a:extLst>
              <a:ext uri="{FF2B5EF4-FFF2-40B4-BE49-F238E27FC236}">
                <a16:creationId xmlns:a16="http://schemas.microsoft.com/office/drawing/2014/main" id="{71DC157A-0E53-47B3-895B-D84DFD0DAA8E}"/>
              </a:ext>
            </a:extLst>
          </p:cNvPr>
          <p:cNvSpPr>
            <a:spLocks noGrp="1"/>
          </p:cNvSpPr>
          <p:nvPr/>
        </p:nvSpPr>
        <p:spPr>
          <a:xfrm>
            <a:off x="12103200" y="19793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4,89 [4,12-5,75]</a:t>
            </a:r>
          </a:p>
        </p:txBody>
      </p:sp>
      <p:sp>
        <p:nvSpPr>
          <p:cNvPr id="130" name="Tabela 1: Prevalência de diagnóstico médico de asma por UF, PNS 2013 e 2019.-cell-19-2">
            <a:extLst>
              <a:ext uri="{FF2B5EF4-FFF2-40B4-BE49-F238E27FC236}">
                <a16:creationId xmlns:a16="http://schemas.microsoft.com/office/drawing/2014/main" id="{82CFA55C-AD30-4C2C-8043-1E5EA3F8887C}"/>
              </a:ext>
            </a:extLst>
          </p:cNvPr>
          <p:cNvSpPr>
            <a:spLocks noGrp="1"/>
          </p:cNvSpPr>
          <p:nvPr/>
        </p:nvSpPr>
        <p:spPr>
          <a:xfrm>
            <a:off x="16063200" y="19793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6,40 [5,54-7,35]</a:t>
            </a:r>
          </a:p>
        </p:txBody>
      </p:sp>
      <p:sp>
        <p:nvSpPr>
          <p:cNvPr id="131" name="Tabela 1: Prevalência de diagnóstico médico de asma por UF, PNS 2013 e 2019.-stripe-20">
            <a:extLst>
              <a:ext uri="{FF2B5EF4-FFF2-40B4-BE49-F238E27FC236}">
                <a16:creationId xmlns:a16="http://schemas.microsoft.com/office/drawing/2014/main" id="{2B881C58-4473-46D3-B247-78CB6417571B}"/>
              </a:ext>
            </a:extLst>
          </p:cNvPr>
          <p:cNvSpPr>
            <a:spLocks noGrp="1"/>
          </p:cNvSpPr>
          <p:nvPr/>
        </p:nvSpPr>
        <p:spPr>
          <a:xfrm>
            <a:off x="10836000" y="20122667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abela 1: Prevalência de diagnóstico médico de asma por UF, PNS 2013 e 2019.-cell-20-0">
            <a:extLst>
              <a:ext uri="{FF2B5EF4-FFF2-40B4-BE49-F238E27FC236}">
                <a16:creationId xmlns:a16="http://schemas.microsoft.com/office/drawing/2014/main" id="{4E45DCF2-4C52-4505-A31B-A64F7AA0171A}"/>
              </a:ext>
            </a:extLst>
          </p:cNvPr>
          <p:cNvSpPr>
            <a:spLocks noGrp="1"/>
          </p:cNvSpPr>
          <p:nvPr/>
        </p:nvSpPr>
        <p:spPr>
          <a:xfrm>
            <a:off x="10879200" y="20158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PR</a:t>
            </a:r>
          </a:p>
        </p:txBody>
      </p:sp>
      <p:sp>
        <p:nvSpPr>
          <p:cNvPr id="133" name="Tabela 1: Prevalência de diagnóstico médico de asma por UF, PNS 2013 e 2019.-cell-20-1">
            <a:extLst>
              <a:ext uri="{FF2B5EF4-FFF2-40B4-BE49-F238E27FC236}">
                <a16:creationId xmlns:a16="http://schemas.microsoft.com/office/drawing/2014/main" id="{122A43E9-644B-4713-BCC3-71703E4A55F4}"/>
              </a:ext>
            </a:extLst>
          </p:cNvPr>
          <p:cNvSpPr>
            <a:spLocks noGrp="1"/>
          </p:cNvSpPr>
          <p:nvPr/>
        </p:nvSpPr>
        <p:spPr>
          <a:xfrm>
            <a:off x="12103200" y="20158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4,55 [3,40-5,96]</a:t>
            </a:r>
          </a:p>
        </p:txBody>
      </p:sp>
      <p:sp>
        <p:nvSpPr>
          <p:cNvPr id="134" name="Tabela 1: Prevalência de diagnóstico médico de asma por UF, PNS 2013 e 2019.-cell-20-2">
            <a:extLst>
              <a:ext uri="{FF2B5EF4-FFF2-40B4-BE49-F238E27FC236}">
                <a16:creationId xmlns:a16="http://schemas.microsoft.com/office/drawing/2014/main" id="{49BA15E3-C176-4DB4-932A-681D4A32655A}"/>
              </a:ext>
            </a:extLst>
          </p:cNvPr>
          <p:cNvSpPr>
            <a:spLocks noGrp="1"/>
          </p:cNvSpPr>
          <p:nvPr/>
        </p:nvSpPr>
        <p:spPr>
          <a:xfrm>
            <a:off x="16063200" y="20158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5,18 [4,32-6,16]</a:t>
            </a:r>
          </a:p>
        </p:txBody>
      </p:sp>
      <p:sp>
        <p:nvSpPr>
          <p:cNvPr id="135" name="Tabela 1: Prevalência de diagnóstico médico de asma por UF, PNS 2013 e 2019.-cell-21-0">
            <a:extLst>
              <a:ext uri="{FF2B5EF4-FFF2-40B4-BE49-F238E27FC236}">
                <a16:creationId xmlns:a16="http://schemas.microsoft.com/office/drawing/2014/main" id="{00163A6D-F8DE-40C7-859B-0FB9FE9CC7F9}"/>
              </a:ext>
            </a:extLst>
          </p:cNvPr>
          <p:cNvSpPr>
            <a:spLocks noGrp="1"/>
          </p:cNvSpPr>
          <p:nvPr/>
        </p:nvSpPr>
        <p:spPr>
          <a:xfrm>
            <a:off x="10879200" y="20524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SC</a:t>
            </a:r>
          </a:p>
        </p:txBody>
      </p:sp>
      <p:sp>
        <p:nvSpPr>
          <p:cNvPr id="136" name="Tabela 1: Prevalência de diagnóstico médico de asma por UF, PNS 2013 e 2019.-cell-21-1">
            <a:extLst>
              <a:ext uri="{FF2B5EF4-FFF2-40B4-BE49-F238E27FC236}">
                <a16:creationId xmlns:a16="http://schemas.microsoft.com/office/drawing/2014/main" id="{3E372C30-E2F2-4ADC-812A-0823F1F6EC0C}"/>
              </a:ext>
            </a:extLst>
          </p:cNvPr>
          <p:cNvSpPr>
            <a:spLocks noGrp="1"/>
          </p:cNvSpPr>
          <p:nvPr/>
        </p:nvSpPr>
        <p:spPr>
          <a:xfrm>
            <a:off x="12103200" y="20524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4,33 [3,09-5,87]</a:t>
            </a:r>
          </a:p>
        </p:txBody>
      </p:sp>
      <p:sp>
        <p:nvSpPr>
          <p:cNvPr id="137" name="Tabela 1: Prevalência de diagnóstico médico de asma por UF, PNS 2013 e 2019.-cell-21-2">
            <a:extLst>
              <a:ext uri="{FF2B5EF4-FFF2-40B4-BE49-F238E27FC236}">
                <a16:creationId xmlns:a16="http://schemas.microsoft.com/office/drawing/2014/main" id="{D40AB97B-6BCA-4C1A-9A13-93451FB83B0A}"/>
              </a:ext>
            </a:extLst>
          </p:cNvPr>
          <p:cNvSpPr>
            <a:spLocks noGrp="1"/>
          </p:cNvSpPr>
          <p:nvPr/>
        </p:nvSpPr>
        <p:spPr>
          <a:xfrm>
            <a:off x="16063200" y="20524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5,08 [4,18-6,12]</a:t>
            </a:r>
          </a:p>
        </p:txBody>
      </p:sp>
      <p:sp>
        <p:nvSpPr>
          <p:cNvPr id="138" name="Tabela 1: Prevalência de diagnóstico médico de asma por UF, PNS 2013 e 2019.-stripe-22">
            <a:extLst>
              <a:ext uri="{FF2B5EF4-FFF2-40B4-BE49-F238E27FC236}">
                <a16:creationId xmlns:a16="http://schemas.microsoft.com/office/drawing/2014/main" id="{FF797C3F-0303-4D42-A532-CE2AA09E6F0E}"/>
              </a:ext>
            </a:extLst>
          </p:cNvPr>
          <p:cNvSpPr>
            <a:spLocks noGrp="1"/>
          </p:cNvSpPr>
          <p:nvPr/>
        </p:nvSpPr>
        <p:spPr>
          <a:xfrm>
            <a:off x="10836000" y="20853333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abela 1: Prevalência de diagnóstico médico de asma por UF, PNS 2013 e 2019.-cell-22-0">
            <a:extLst>
              <a:ext uri="{FF2B5EF4-FFF2-40B4-BE49-F238E27FC236}">
                <a16:creationId xmlns:a16="http://schemas.microsoft.com/office/drawing/2014/main" id="{CAECC62B-0066-413F-AF6E-A6F00284F3B7}"/>
              </a:ext>
            </a:extLst>
          </p:cNvPr>
          <p:cNvSpPr>
            <a:spLocks noGrp="1"/>
          </p:cNvSpPr>
          <p:nvPr/>
        </p:nvSpPr>
        <p:spPr>
          <a:xfrm>
            <a:off x="10879200" y="20889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RS</a:t>
            </a:r>
          </a:p>
        </p:txBody>
      </p:sp>
      <p:sp>
        <p:nvSpPr>
          <p:cNvPr id="140" name="Tabela 1: Prevalência de diagnóstico médico de asma por UF, PNS 2013 e 2019.-cell-22-1">
            <a:extLst>
              <a:ext uri="{FF2B5EF4-FFF2-40B4-BE49-F238E27FC236}">
                <a16:creationId xmlns:a16="http://schemas.microsoft.com/office/drawing/2014/main" id="{21206CEC-F42D-4510-A750-80F6B0D5EC23}"/>
              </a:ext>
            </a:extLst>
          </p:cNvPr>
          <p:cNvSpPr>
            <a:spLocks noGrp="1"/>
          </p:cNvSpPr>
          <p:nvPr/>
        </p:nvSpPr>
        <p:spPr>
          <a:xfrm>
            <a:off x="12103200" y="20889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6,79 [5,56-8,19]</a:t>
            </a:r>
          </a:p>
        </p:txBody>
      </p:sp>
      <p:sp>
        <p:nvSpPr>
          <p:cNvPr id="141" name="Tabela 1: Prevalência de diagnóstico médico de asma por UF, PNS 2013 e 2019.-cell-22-2">
            <a:extLst>
              <a:ext uri="{FF2B5EF4-FFF2-40B4-BE49-F238E27FC236}">
                <a16:creationId xmlns:a16="http://schemas.microsoft.com/office/drawing/2014/main" id="{2F08B129-4F54-4277-BAD5-069237D4183B}"/>
              </a:ext>
            </a:extLst>
          </p:cNvPr>
          <p:cNvSpPr>
            <a:spLocks noGrp="1"/>
          </p:cNvSpPr>
          <p:nvPr/>
        </p:nvSpPr>
        <p:spPr>
          <a:xfrm>
            <a:off x="16063200" y="20889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8,55 [7,24-10,01]</a:t>
            </a:r>
          </a:p>
        </p:txBody>
      </p:sp>
      <p:sp>
        <p:nvSpPr>
          <p:cNvPr id="142" name="Tabela 1: Prevalência de diagnóstico médico de asma por UF, PNS 2013 e 2019.-cell-23-0">
            <a:extLst>
              <a:ext uri="{FF2B5EF4-FFF2-40B4-BE49-F238E27FC236}">
                <a16:creationId xmlns:a16="http://schemas.microsoft.com/office/drawing/2014/main" id="{FD019692-FE90-4815-99D5-7918AC606C69}"/>
              </a:ext>
            </a:extLst>
          </p:cNvPr>
          <p:cNvSpPr>
            <a:spLocks noGrp="1"/>
          </p:cNvSpPr>
          <p:nvPr/>
        </p:nvSpPr>
        <p:spPr>
          <a:xfrm>
            <a:off x="10879200" y="21254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MS</a:t>
            </a:r>
          </a:p>
        </p:txBody>
      </p:sp>
      <p:sp>
        <p:nvSpPr>
          <p:cNvPr id="143" name="Tabela 1: Prevalência de diagnóstico médico de asma por UF, PNS 2013 e 2019.-cell-23-1">
            <a:extLst>
              <a:ext uri="{FF2B5EF4-FFF2-40B4-BE49-F238E27FC236}">
                <a16:creationId xmlns:a16="http://schemas.microsoft.com/office/drawing/2014/main" id="{59483A2E-D63B-44AD-8783-5637E5B4A385}"/>
              </a:ext>
            </a:extLst>
          </p:cNvPr>
          <p:cNvSpPr>
            <a:spLocks noGrp="1"/>
          </p:cNvSpPr>
          <p:nvPr/>
        </p:nvSpPr>
        <p:spPr>
          <a:xfrm>
            <a:off x="12103200" y="21254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4,24 [3,28-5,40]</a:t>
            </a:r>
          </a:p>
        </p:txBody>
      </p:sp>
      <p:sp>
        <p:nvSpPr>
          <p:cNvPr id="144" name="Tabela 1: Prevalência de diagnóstico médico de asma por UF, PNS 2013 e 2019.-cell-23-2">
            <a:extLst>
              <a:ext uri="{FF2B5EF4-FFF2-40B4-BE49-F238E27FC236}">
                <a16:creationId xmlns:a16="http://schemas.microsoft.com/office/drawing/2014/main" id="{C80A8EC9-34F0-42FA-81EE-82DF7A9D8BFB}"/>
              </a:ext>
            </a:extLst>
          </p:cNvPr>
          <p:cNvSpPr>
            <a:spLocks noGrp="1"/>
          </p:cNvSpPr>
          <p:nvPr/>
        </p:nvSpPr>
        <p:spPr>
          <a:xfrm>
            <a:off x="16063200" y="21254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4,96 [4,15-5,87]</a:t>
            </a:r>
          </a:p>
        </p:txBody>
      </p:sp>
      <p:sp>
        <p:nvSpPr>
          <p:cNvPr id="145" name="Tabela 1: Prevalência de diagnóstico médico de asma por UF, PNS 2013 e 2019.-stripe-24">
            <a:extLst>
              <a:ext uri="{FF2B5EF4-FFF2-40B4-BE49-F238E27FC236}">
                <a16:creationId xmlns:a16="http://schemas.microsoft.com/office/drawing/2014/main" id="{57CF7A0F-85BE-475D-BD4C-95AED2FF3F81}"/>
              </a:ext>
            </a:extLst>
          </p:cNvPr>
          <p:cNvSpPr>
            <a:spLocks noGrp="1"/>
          </p:cNvSpPr>
          <p:nvPr/>
        </p:nvSpPr>
        <p:spPr>
          <a:xfrm>
            <a:off x="10836000" y="21584000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abela 1: Prevalência de diagnóstico médico de asma por UF, PNS 2013 e 2019.-cell-24-0">
            <a:extLst>
              <a:ext uri="{FF2B5EF4-FFF2-40B4-BE49-F238E27FC236}">
                <a16:creationId xmlns:a16="http://schemas.microsoft.com/office/drawing/2014/main" id="{6C9A5F2A-8021-4FF1-B935-632EDA40C64D}"/>
              </a:ext>
            </a:extLst>
          </p:cNvPr>
          <p:cNvSpPr>
            <a:spLocks noGrp="1"/>
          </p:cNvSpPr>
          <p:nvPr/>
        </p:nvSpPr>
        <p:spPr>
          <a:xfrm>
            <a:off x="10879200" y="21620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MT</a:t>
            </a:r>
          </a:p>
        </p:txBody>
      </p:sp>
      <p:sp>
        <p:nvSpPr>
          <p:cNvPr id="147" name="Tabela 1: Prevalência de diagnóstico médico de asma por UF, PNS 2013 e 2019.-cell-24-1">
            <a:extLst>
              <a:ext uri="{FF2B5EF4-FFF2-40B4-BE49-F238E27FC236}">
                <a16:creationId xmlns:a16="http://schemas.microsoft.com/office/drawing/2014/main" id="{068F94AE-7D36-4E07-834E-DB31EF791202}"/>
              </a:ext>
            </a:extLst>
          </p:cNvPr>
          <p:cNvSpPr>
            <a:spLocks noGrp="1"/>
          </p:cNvSpPr>
          <p:nvPr/>
        </p:nvSpPr>
        <p:spPr>
          <a:xfrm>
            <a:off x="12103200" y="21620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3,94 [2,76-5,44]</a:t>
            </a:r>
          </a:p>
        </p:txBody>
      </p:sp>
      <p:sp>
        <p:nvSpPr>
          <p:cNvPr id="148" name="Tabela 1: Prevalência de diagnóstico médico de asma por UF, PNS 2013 e 2019.-cell-24-2">
            <a:extLst>
              <a:ext uri="{FF2B5EF4-FFF2-40B4-BE49-F238E27FC236}">
                <a16:creationId xmlns:a16="http://schemas.microsoft.com/office/drawing/2014/main" id="{A9FA64E9-2952-413B-8CF6-13A8D149AA8E}"/>
              </a:ext>
            </a:extLst>
          </p:cNvPr>
          <p:cNvSpPr>
            <a:spLocks noGrp="1"/>
          </p:cNvSpPr>
          <p:nvPr/>
        </p:nvSpPr>
        <p:spPr>
          <a:xfrm>
            <a:off x="16063200" y="21620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2,91 [1,95-4,18]</a:t>
            </a:r>
          </a:p>
        </p:txBody>
      </p:sp>
      <p:sp>
        <p:nvSpPr>
          <p:cNvPr id="149" name="Tabela 1: Prevalência de diagnóstico médico de asma por UF, PNS 2013 e 2019.-cell-25-0">
            <a:extLst>
              <a:ext uri="{FF2B5EF4-FFF2-40B4-BE49-F238E27FC236}">
                <a16:creationId xmlns:a16="http://schemas.microsoft.com/office/drawing/2014/main" id="{56B8ADA0-C196-4C12-BE7D-5124AFEEEA5F}"/>
              </a:ext>
            </a:extLst>
          </p:cNvPr>
          <p:cNvSpPr>
            <a:spLocks noGrp="1"/>
          </p:cNvSpPr>
          <p:nvPr/>
        </p:nvSpPr>
        <p:spPr>
          <a:xfrm>
            <a:off x="10879200" y="21985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GO</a:t>
            </a:r>
          </a:p>
        </p:txBody>
      </p:sp>
      <p:sp>
        <p:nvSpPr>
          <p:cNvPr id="150" name="Tabela 1: Prevalência de diagnóstico médico de asma por UF, PNS 2013 e 2019.-cell-25-1">
            <a:extLst>
              <a:ext uri="{FF2B5EF4-FFF2-40B4-BE49-F238E27FC236}">
                <a16:creationId xmlns:a16="http://schemas.microsoft.com/office/drawing/2014/main" id="{BE2DC0B4-F884-4115-BD0F-7561ABDC37BA}"/>
              </a:ext>
            </a:extLst>
          </p:cNvPr>
          <p:cNvSpPr>
            <a:spLocks noGrp="1"/>
          </p:cNvSpPr>
          <p:nvPr/>
        </p:nvSpPr>
        <p:spPr>
          <a:xfrm>
            <a:off x="12103200" y="21985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3,61 [2,72-4,68]</a:t>
            </a:r>
          </a:p>
        </p:txBody>
      </p:sp>
      <p:sp>
        <p:nvSpPr>
          <p:cNvPr id="151" name="Tabela 1: Prevalência de diagnóstico médico de asma por UF, PNS 2013 e 2019.-cell-25-2">
            <a:extLst>
              <a:ext uri="{FF2B5EF4-FFF2-40B4-BE49-F238E27FC236}">
                <a16:creationId xmlns:a16="http://schemas.microsoft.com/office/drawing/2014/main" id="{8E604854-F388-4F7D-927C-549AE70E9133}"/>
              </a:ext>
            </a:extLst>
          </p:cNvPr>
          <p:cNvSpPr>
            <a:spLocks noGrp="1"/>
          </p:cNvSpPr>
          <p:nvPr/>
        </p:nvSpPr>
        <p:spPr>
          <a:xfrm>
            <a:off x="16063200" y="21985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5,91 [4,67-7,35]</a:t>
            </a:r>
          </a:p>
        </p:txBody>
      </p:sp>
      <p:sp>
        <p:nvSpPr>
          <p:cNvPr id="152" name="Tabela 1: Prevalência de diagnóstico médico de asma por UF, PNS 2013 e 2019.-stripe-26">
            <a:extLst>
              <a:ext uri="{FF2B5EF4-FFF2-40B4-BE49-F238E27FC236}">
                <a16:creationId xmlns:a16="http://schemas.microsoft.com/office/drawing/2014/main" id="{7A32B6F0-4E7F-47B7-A438-96490E4EF3CF}"/>
              </a:ext>
            </a:extLst>
          </p:cNvPr>
          <p:cNvSpPr>
            <a:spLocks noGrp="1"/>
          </p:cNvSpPr>
          <p:nvPr/>
        </p:nvSpPr>
        <p:spPr>
          <a:xfrm>
            <a:off x="10836000" y="22314667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abela 1: Prevalência de diagnóstico médico de asma por UF, PNS 2013 e 2019.-cell-26-0">
            <a:extLst>
              <a:ext uri="{FF2B5EF4-FFF2-40B4-BE49-F238E27FC236}">
                <a16:creationId xmlns:a16="http://schemas.microsoft.com/office/drawing/2014/main" id="{B8A9636C-4DDD-46D0-AC7A-CF91DDEDF370}"/>
              </a:ext>
            </a:extLst>
          </p:cNvPr>
          <p:cNvSpPr>
            <a:spLocks noGrp="1"/>
          </p:cNvSpPr>
          <p:nvPr/>
        </p:nvSpPr>
        <p:spPr>
          <a:xfrm>
            <a:off x="10879200" y="22350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DF</a:t>
            </a:r>
          </a:p>
        </p:txBody>
      </p:sp>
      <p:sp>
        <p:nvSpPr>
          <p:cNvPr id="154" name="Tabela 1: Prevalência de diagnóstico médico de asma por UF, PNS 2013 e 2019.-cell-26-1">
            <a:extLst>
              <a:ext uri="{FF2B5EF4-FFF2-40B4-BE49-F238E27FC236}">
                <a16:creationId xmlns:a16="http://schemas.microsoft.com/office/drawing/2014/main" id="{6D922350-010E-4783-9F57-65D48B409A3F}"/>
              </a:ext>
            </a:extLst>
          </p:cNvPr>
          <p:cNvSpPr>
            <a:spLocks noGrp="1"/>
          </p:cNvSpPr>
          <p:nvPr/>
        </p:nvSpPr>
        <p:spPr>
          <a:xfrm>
            <a:off x="12103200" y="22350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5,91 [4,62-7,44]</a:t>
            </a:r>
          </a:p>
        </p:txBody>
      </p:sp>
      <p:sp>
        <p:nvSpPr>
          <p:cNvPr id="155" name="Tabela 1: Prevalência de diagnóstico médico de asma por UF, PNS 2013 e 2019.-cell-26-2">
            <a:extLst>
              <a:ext uri="{FF2B5EF4-FFF2-40B4-BE49-F238E27FC236}">
                <a16:creationId xmlns:a16="http://schemas.microsoft.com/office/drawing/2014/main" id="{74D1E02F-52EB-4858-8F44-232287807856}"/>
              </a:ext>
            </a:extLst>
          </p:cNvPr>
          <p:cNvSpPr>
            <a:spLocks noGrp="1"/>
          </p:cNvSpPr>
          <p:nvPr/>
        </p:nvSpPr>
        <p:spPr>
          <a:xfrm>
            <a:off x="16063200" y="22350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4,93 [3,78-6,30]</a:t>
            </a:r>
          </a:p>
        </p:txBody>
      </p:sp>
      <p:sp>
        <p:nvSpPr>
          <p:cNvPr id="156" name="Tabela 1: Prevalência de diagnóstico médico de asma por UF, PNS 2013 e 2019.-note">
            <a:extLst>
              <a:ext uri="{FF2B5EF4-FFF2-40B4-BE49-F238E27FC236}">
                <a16:creationId xmlns:a16="http://schemas.microsoft.com/office/drawing/2014/main" id="{70E5A0D4-C329-4172-935A-DD74C7A4B384}"/>
              </a:ext>
            </a:extLst>
          </p:cNvPr>
          <p:cNvSpPr>
            <a:spLocks noGrp="1"/>
          </p:cNvSpPr>
          <p:nvPr/>
        </p:nvSpPr>
        <p:spPr>
          <a:xfrm>
            <a:off x="10836000" y="22716000"/>
            <a:ext cx="9144000" cy="3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30" b="0">
                <a:solidFill>
                  <a:srgbClr val="4F6372"/>
                </a:solidFill>
              </a:defRPr>
            </a:pPr>
            <a:r>
              <a:rPr sz="1630" b="0">
                <a:solidFill>
                  <a:srgbClr val="4F6372"/>
                </a:solidFill>
              </a:rPr>
              <a:t>UF por sigla. Valores em %; IC95% beta entre colchetes. Brasil nos cards.</a:t>
            </a:r>
          </a:p>
        </p:txBody>
      </p:sp>
      <p:sp>
        <p:nvSpPr>
          <p:cNvPr id="157" name="Tabela 2: Uso de medicam">
            <a:extLst>
              <a:ext uri="{FF2B5EF4-FFF2-40B4-BE49-F238E27FC236}">
                <a16:creationId xmlns:a16="http://schemas.microsoft.com/office/drawing/2014/main" id="{15B2855D-7614-491D-B8DE-17F657CCB371}"/>
              </a:ext>
            </a:extLst>
          </p:cNvPr>
          <p:cNvSpPr>
            <a:spLocks noGrp="1"/>
          </p:cNvSpPr>
          <p:nvPr/>
        </p:nvSpPr>
        <p:spPr>
          <a:xfrm>
            <a:off x="22176000" y="11052000"/>
            <a:ext cx="12672000" cy="86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23" b="1">
                <a:solidFill>
                  <a:srgbClr val="153F59"/>
                </a:solidFill>
              </a:defRPr>
            </a:pPr>
            <a:r>
              <a:rPr sz="2523" b="1">
                <a:solidFill>
                  <a:srgbClr val="153F59"/>
                </a:solidFill>
              </a:rPr>
              <a:t>Tabela 2: Uso de medicamento oral ou bombinha entre pessoas com asma por UF.</a:t>
            </a:r>
          </a:p>
        </p:txBody>
      </p:sp>
      <p:sp>
        <p:nvSpPr>
          <p:cNvPr id="158" name="Tabela 2: Uso de medicamento oral ou bombinha entre pessoas com asma por UF.-frame">
            <a:extLst>
              <a:ext uri="{FF2B5EF4-FFF2-40B4-BE49-F238E27FC236}">
                <a16:creationId xmlns:a16="http://schemas.microsoft.com/office/drawing/2014/main" id="{26F89DDA-A2F6-4674-BF0C-6DB5A7FDF79D}"/>
              </a:ext>
            </a:extLst>
          </p:cNvPr>
          <p:cNvSpPr>
            <a:spLocks noGrp="1"/>
          </p:cNvSpPr>
          <p:nvPr/>
        </p:nvSpPr>
        <p:spPr>
          <a:xfrm>
            <a:off x="22176000" y="11988000"/>
            <a:ext cx="12672000" cy="11232000"/>
          </a:xfrm>
          <a:prstGeom prst="rect">
            <a:avLst/>
          </a:prstGeom>
          <a:solidFill>
            <a:srgbClr val="FFFFFF"/>
          </a:solidFill>
          <a:ln w="36000">
            <a:solidFill>
              <a:srgbClr val="9BC5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abela 2: Uso de medicamento oral ou bombinha entre pessoas com asma por UF.-head-bg">
            <a:extLst>
              <a:ext uri="{FF2B5EF4-FFF2-40B4-BE49-F238E27FC236}">
                <a16:creationId xmlns:a16="http://schemas.microsoft.com/office/drawing/2014/main" id="{C21DF8FD-85CA-4F15-AEF4-00C4E805E48F}"/>
              </a:ext>
            </a:extLst>
          </p:cNvPr>
          <p:cNvSpPr>
            <a:spLocks noGrp="1"/>
          </p:cNvSpPr>
          <p:nvPr/>
        </p:nvSpPr>
        <p:spPr>
          <a:xfrm>
            <a:off x="23940000" y="12168000"/>
            <a:ext cx="9144000" cy="648000"/>
          </a:xfrm>
          <a:prstGeom prst="rect">
            <a:avLst/>
          </a:prstGeom>
          <a:solidFill>
            <a:srgbClr val="153F59"/>
          </a:solidFill>
          <a:ln w="0">
            <a:solidFill>
              <a:srgbClr val="153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abela 2: Uso de medicamento oral ou bombinha entre pessoas com asma por UF.-head-0">
            <a:extLst>
              <a:ext uri="{FF2B5EF4-FFF2-40B4-BE49-F238E27FC236}">
                <a16:creationId xmlns:a16="http://schemas.microsoft.com/office/drawing/2014/main" id="{8F7C0304-FF78-4DFB-B721-8034990B8AEF}"/>
              </a:ext>
            </a:extLst>
          </p:cNvPr>
          <p:cNvSpPr>
            <a:spLocks noGrp="1"/>
          </p:cNvSpPr>
          <p:nvPr/>
        </p:nvSpPr>
        <p:spPr>
          <a:xfrm>
            <a:off x="24012000" y="12276000"/>
            <a:ext cx="1080000" cy="50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39" b="1">
                <a:solidFill>
                  <a:srgbClr val="FFFFFF"/>
                </a:solidFill>
              </a:defRPr>
            </a:pPr>
            <a:r>
              <a:rPr sz="2239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161" name="Tabela 2: Uso de medicamento oral ou bombinha entre pessoas com asma por UF.-head-1">
            <a:extLst>
              <a:ext uri="{FF2B5EF4-FFF2-40B4-BE49-F238E27FC236}">
                <a16:creationId xmlns:a16="http://schemas.microsoft.com/office/drawing/2014/main" id="{52BCDE83-70B2-4227-987D-1895CB6D2955}"/>
              </a:ext>
            </a:extLst>
          </p:cNvPr>
          <p:cNvSpPr>
            <a:spLocks noGrp="1"/>
          </p:cNvSpPr>
          <p:nvPr/>
        </p:nvSpPr>
        <p:spPr>
          <a:xfrm>
            <a:off x="25236000" y="12276000"/>
            <a:ext cx="3816000" cy="50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39" b="1">
                <a:solidFill>
                  <a:srgbClr val="FFFFFF"/>
                </a:solidFill>
              </a:defRPr>
            </a:pPr>
            <a:r>
              <a:rPr sz="2239" b="1">
                <a:solidFill>
                  <a:srgbClr val="FFFFFF"/>
                </a:solidFill>
              </a:rPr>
              <a:t>2013</a:t>
            </a:r>
          </a:p>
        </p:txBody>
      </p:sp>
      <p:sp>
        <p:nvSpPr>
          <p:cNvPr id="162" name="Tabela 2: Uso de medicamento oral ou bombinha entre pessoas com asma por UF.-head-2">
            <a:extLst>
              <a:ext uri="{FF2B5EF4-FFF2-40B4-BE49-F238E27FC236}">
                <a16:creationId xmlns:a16="http://schemas.microsoft.com/office/drawing/2014/main" id="{2ACAEA0A-D98C-443A-9F95-D310EB745C46}"/>
              </a:ext>
            </a:extLst>
          </p:cNvPr>
          <p:cNvSpPr>
            <a:spLocks noGrp="1"/>
          </p:cNvSpPr>
          <p:nvPr/>
        </p:nvSpPr>
        <p:spPr>
          <a:xfrm>
            <a:off x="29196000" y="12276000"/>
            <a:ext cx="3816000" cy="50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39" b="1">
                <a:solidFill>
                  <a:srgbClr val="FFFFFF"/>
                </a:solidFill>
              </a:defRPr>
            </a:pPr>
            <a:r>
              <a:rPr sz="2239" b="1">
                <a:solidFill>
                  <a:srgbClr val="FFFFFF"/>
                </a:solidFill>
              </a:rPr>
              <a:t>2019</a:t>
            </a:r>
          </a:p>
        </p:txBody>
      </p:sp>
      <p:sp>
        <p:nvSpPr>
          <p:cNvPr id="163" name="Tabela 2: Uso de medicamento oral ou bombinha entre pessoas com asma por UF.-stripe-0">
            <a:extLst>
              <a:ext uri="{FF2B5EF4-FFF2-40B4-BE49-F238E27FC236}">
                <a16:creationId xmlns:a16="http://schemas.microsoft.com/office/drawing/2014/main" id="{FE1B8753-743E-4478-A440-CA6A1373A405}"/>
              </a:ext>
            </a:extLst>
          </p:cNvPr>
          <p:cNvSpPr>
            <a:spLocks noGrp="1"/>
          </p:cNvSpPr>
          <p:nvPr/>
        </p:nvSpPr>
        <p:spPr>
          <a:xfrm>
            <a:off x="23940000" y="12816000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abela 2: Uso de medicamento oral ou bombinha entre pessoas com asma por UF.-cell-0-0">
            <a:extLst>
              <a:ext uri="{FF2B5EF4-FFF2-40B4-BE49-F238E27FC236}">
                <a16:creationId xmlns:a16="http://schemas.microsoft.com/office/drawing/2014/main" id="{15BD5C6B-CDB2-4F02-8A82-49067CB77384}"/>
              </a:ext>
            </a:extLst>
          </p:cNvPr>
          <p:cNvSpPr>
            <a:spLocks noGrp="1"/>
          </p:cNvSpPr>
          <p:nvPr/>
        </p:nvSpPr>
        <p:spPr>
          <a:xfrm>
            <a:off x="23983200" y="12852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RO</a:t>
            </a:r>
          </a:p>
        </p:txBody>
      </p:sp>
      <p:sp>
        <p:nvSpPr>
          <p:cNvPr id="165" name="Tabela 2: Uso de medicamento oral ou bombinha entre pessoas com asma por UF.-cell-0-1">
            <a:extLst>
              <a:ext uri="{FF2B5EF4-FFF2-40B4-BE49-F238E27FC236}">
                <a16:creationId xmlns:a16="http://schemas.microsoft.com/office/drawing/2014/main" id="{B2B3D820-F2FE-45EE-9365-AA4E322875EA}"/>
              </a:ext>
            </a:extLst>
          </p:cNvPr>
          <p:cNvSpPr>
            <a:spLocks noGrp="1"/>
          </p:cNvSpPr>
          <p:nvPr/>
        </p:nvSpPr>
        <p:spPr>
          <a:xfrm>
            <a:off x="25207200" y="12852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79,94 [58,68-93,34]</a:t>
            </a:r>
          </a:p>
        </p:txBody>
      </p:sp>
      <p:sp>
        <p:nvSpPr>
          <p:cNvPr id="166" name="Tabela 2: Uso de medicamento oral ou bombinha entre pessoas com asma por UF.-cell-0-2">
            <a:extLst>
              <a:ext uri="{FF2B5EF4-FFF2-40B4-BE49-F238E27FC236}">
                <a16:creationId xmlns:a16="http://schemas.microsoft.com/office/drawing/2014/main" id="{68F063B3-5CD7-4E6D-9167-A302B193748F}"/>
              </a:ext>
            </a:extLst>
          </p:cNvPr>
          <p:cNvSpPr>
            <a:spLocks noGrp="1"/>
          </p:cNvSpPr>
          <p:nvPr/>
        </p:nvSpPr>
        <p:spPr>
          <a:xfrm>
            <a:off x="29167200" y="12852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79,76 [56,69-93,92]</a:t>
            </a:r>
          </a:p>
        </p:txBody>
      </p:sp>
      <p:sp>
        <p:nvSpPr>
          <p:cNvPr id="167" name="Tabela 2: Uso de medicamento oral ou bombinha entre pessoas com asma por UF.-cell-1-0">
            <a:extLst>
              <a:ext uri="{FF2B5EF4-FFF2-40B4-BE49-F238E27FC236}">
                <a16:creationId xmlns:a16="http://schemas.microsoft.com/office/drawing/2014/main" id="{98E62DA1-7642-4A4C-A6A1-F68EBCD5D8FC}"/>
              </a:ext>
            </a:extLst>
          </p:cNvPr>
          <p:cNvSpPr>
            <a:spLocks noGrp="1"/>
          </p:cNvSpPr>
          <p:nvPr/>
        </p:nvSpPr>
        <p:spPr>
          <a:xfrm>
            <a:off x="23983200" y="13217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AC</a:t>
            </a:r>
          </a:p>
        </p:txBody>
      </p:sp>
      <p:sp>
        <p:nvSpPr>
          <p:cNvPr id="168" name="Tabela 2: Uso de medicamento oral ou bombinha entre pessoas com asma por UF.-cell-1-1">
            <a:extLst>
              <a:ext uri="{FF2B5EF4-FFF2-40B4-BE49-F238E27FC236}">
                <a16:creationId xmlns:a16="http://schemas.microsoft.com/office/drawing/2014/main" id="{2C248382-EBDA-460A-95A4-AB7C4D28EFA7}"/>
              </a:ext>
            </a:extLst>
          </p:cNvPr>
          <p:cNvSpPr>
            <a:spLocks noGrp="1"/>
          </p:cNvSpPr>
          <p:nvPr/>
        </p:nvSpPr>
        <p:spPr>
          <a:xfrm>
            <a:off x="25207200" y="13217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74,66 [43,93-93,83]</a:t>
            </a:r>
          </a:p>
        </p:txBody>
      </p:sp>
      <p:sp>
        <p:nvSpPr>
          <p:cNvPr id="169" name="Tabela 2: Uso de medicamento oral ou bombinha entre pessoas com asma por UF.-cell-1-2">
            <a:extLst>
              <a:ext uri="{FF2B5EF4-FFF2-40B4-BE49-F238E27FC236}">
                <a16:creationId xmlns:a16="http://schemas.microsoft.com/office/drawing/2014/main" id="{839659E0-4F17-4014-BA4B-7C4C123B753E}"/>
              </a:ext>
            </a:extLst>
          </p:cNvPr>
          <p:cNvSpPr>
            <a:spLocks noGrp="1"/>
          </p:cNvSpPr>
          <p:nvPr/>
        </p:nvSpPr>
        <p:spPr>
          <a:xfrm>
            <a:off x="29167200" y="13217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54,47 [31,58-76,05]</a:t>
            </a:r>
          </a:p>
        </p:txBody>
      </p:sp>
      <p:sp>
        <p:nvSpPr>
          <p:cNvPr id="170" name="Tabela 2: Uso de medicamento oral ou bombinha entre pessoas com asma por UF.-stripe-2">
            <a:extLst>
              <a:ext uri="{FF2B5EF4-FFF2-40B4-BE49-F238E27FC236}">
                <a16:creationId xmlns:a16="http://schemas.microsoft.com/office/drawing/2014/main" id="{27A08952-A070-487B-8B01-0A4AE17F2CE2}"/>
              </a:ext>
            </a:extLst>
          </p:cNvPr>
          <p:cNvSpPr>
            <a:spLocks noGrp="1"/>
          </p:cNvSpPr>
          <p:nvPr/>
        </p:nvSpPr>
        <p:spPr>
          <a:xfrm>
            <a:off x="23940000" y="13546667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Tabela 2: Uso de medicamento oral ou bombinha entre pessoas com asma por UF.-cell-2-0">
            <a:extLst>
              <a:ext uri="{FF2B5EF4-FFF2-40B4-BE49-F238E27FC236}">
                <a16:creationId xmlns:a16="http://schemas.microsoft.com/office/drawing/2014/main" id="{C513A005-5384-48AA-84F7-4D2208D1EEE0}"/>
              </a:ext>
            </a:extLst>
          </p:cNvPr>
          <p:cNvSpPr>
            <a:spLocks noGrp="1"/>
          </p:cNvSpPr>
          <p:nvPr/>
        </p:nvSpPr>
        <p:spPr>
          <a:xfrm>
            <a:off x="23983200" y="13582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AM</a:t>
            </a:r>
          </a:p>
        </p:txBody>
      </p:sp>
      <p:sp>
        <p:nvSpPr>
          <p:cNvPr id="172" name="Tabela 2: Uso de medicamento oral ou bombinha entre pessoas com asma por UF.-cell-2-1">
            <a:extLst>
              <a:ext uri="{FF2B5EF4-FFF2-40B4-BE49-F238E27FC236}">
                <a16:creationId xmlns:a16="http://schemas.microsoft.com/office/drawing/2014/main" id="{8D0D0DA3-DEE1-42F0-96DD-6A38D850E598}"/>
              </a:ext>
            </a:extLst>
          </p:cNvPr>
          <p:cNvSpPr>
            <a:spLocks noGrp="1"/>
          </p:cNvSpPr>
          <p:nvPr/>
        </p:nvSpPr>
        <p:spPr>
          <a:xfrm>
            <a:off x="25207200" y="13582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86,72 [70,34-95,98]</a:t>
            </a:r>
          </a:p>
        </p:txBody>
      </p:sp>
      <p:sp>
        <p:nvSpPr>
          <p:cNvPr id="173" name="Tabela 2: Uso de medicamento oral ou bombinha entre pessoas com asma por UF.-cell-2-2">
            <a:extLst>
              <a:ext uri="{FF2B5EF4-FFF2-40B4-BE49-F238E27FC236}">
                <a16:creationId xmlns:a16="http://schemas.microsoft.com/office/drawing/2014/main" id="{D4EB1ED7-884F-4E9F-BEDB-750AC2C358A5}"/>
              </a:ext>
            </a:extLst>
          </p:cNvPr>
          <p:cNvSpPr>
            <a:spLocks noGrp="1"/>
          </p:cNvSpPr>
          <p:nvPr/>
        </p:nvSpPr>
        <p:spPr>
          <a:xfrm>
            <a:off x="29167200" y="13582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46,70 [23,74-70,73]</a:t>
            </a:r>
          </a:p>
        </p:txBody>
      </p:sp>
      <p:sp>
        <p:nvSpPr>
          <p:cNvPr id="174" name="Tabela 2: Uso de medicamento oral ou bombinha entre pessoas com asma por UF.-cell-3-0">
            <a:extLst>
              <a:ext uri="{FF2B5EF4-FFF2-40B4-BE49-F238E27FC236}">
                <a16:creationId xmlns:a16="http://schemas.microsoft.com/office/drawing/2014/main" id="{DCAB4E43-F933-44DA-BAB6-4BDEC781A222}"/>
              </a:ext>
            </a:extLst>
          </p:cNvPr>
          <p:cNvSpPr>
            <a:spLocks noGrp="1"/>
          </p:cNvSpPr>
          <p:nvPr/>
        </p:nvSpPr>
        <p:spPr>
          <a:xfrm>
            <a:off x="23983200" y="13948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RR</a:t>
            </a:r>
          </a:p>
        </p:txBody>
      </p:sp>
      <p:sp>
        <p:nvSpPr>
          <p:cNvPr id="175" name="Tabela 2: Uso de medicamento oral ou bombinha entre pessoas com asma por UF.-cell-3-1">
            <a:extLst>
              <a:ext uri="{FF2B5EF4-FFF2-40B4-BE49-F238E27FC236}">
                <a16:creationId xmlns:a16="http://schemas.microsoft.com/office/drawing/2014/main" id="{5DD74733-5B9B-4537-8FC7-2A5430AFFF0E}"/>
              </a:ext>
            </a:extLst>
          </p:cNvPr>
          <p:cNvSpPr>
            <a:spLocks noGrp="1"/>
          </p:cNvSpPr>
          <p:nvPr/>
        </p:nvSpPr>
        <p:spPr>
          <a:xfrm>
            <a:off x="25207200" y="13948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81,69 [56,61-95,67]</a:t>
            </a:r>
          </a:p>
        </p:txBody>
      </p:sp>
      <p:sp>
        <p:nvSpPr>
          <p:cNvPr id="176" name="Tabela 2: Uso de medicamento oral ou bombinha entre pessoas com asma por UF.-cell-3-2">
            <a:extLst>
              <a:ext uri="{FF2B5EF4-FFF2-40B4-BE49-F238E27FC236}">
                <a16:creationId xmlns:a16="http://schemas.microsoft.com/office/drawing/2014/main" id="{514651BF-49B3-4325-8CB7-A4AFEB9F7361}"/>
              </a:ext>
            </a:extLst>
          </p:cNvPr>
          <p:cNvSpPr>
            <a:spLocks noGrp="1"/>
          </p:cNvSpPr>
          <p:nvPr/>
        </p:nvSpPr>
        <p:spPr>
          <a:xfrm>
            <a:off x="29167200" y="13948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74,36 [52,38-89,91]</a:t>
            </a:r>
          </a:p>
        </p:txBody>
      </p:sp>
      <p:sp>
        <p:nvSpPr>
          <p:cNvPr id="177" name="Tabela 2: Uso de medicamento oral ou bombinha entre pessoas com asma por UF.-stripe-4">
            <a:extLst>
              <a:ext uri="{FF2B5EF4-FFF2-40B4-BE49-F238E27FC236}">
                <a16:creationId xmlns:a16="http://schemas.microsoft.com/office/drawing/2014/main" id="{AEBC2B40-738C-4342-A2F4-60C5976CADC8}"/>
              </a:ext>
            </a:extLst>
          </p:cNvPr>
          <p:cNvSpPr>
            <a:spLocks noGrp="1"/>
          </p:cNvSpPr>
          <p:nvPr/>
        </p:nvSpPr>
        <p:spPr>
          <a:xfrm>
            <a:off x="23940000" y="14277333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Tabela 2: Uso de medicamento oral ou bombinha entre pessoas com asma por UF.-cell-4-0">
            <a:extLst>
              <a:ext uri="{FF2B5EF4-FFF2-40B4-BE49-F238E27FC236}">
                <a16:creationId xmlns:a16="http://schemas.microsoft.com/office/drawing/2014/main" id="{28F213B6-37AB-47C1-8FF8-31BC285BA207}"/>
              </a:ext>
            </a:extLst>
          </p:cNvPr>
          <p:cNvSpPr>
            <a:spLocks noGrp="1"/>
          </p:cNvSpPr>
          <p:nvPr/>
        </p:nvSpPr>
        <p:spPr>
          <a:xfrm>
            <a:off x="23983200" y="14313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PA</a:t>
            </a:r>
          </a:p>
        </p:txBody>
      </p:sp>
      <p:sp>
        <p:nvSpPr>
          <p:cNvPr id="179" name="Tabela 2: Uso de medicamento oral ou bombinha entre pessoas com asma por UF.-cell-4-1">
            <a:extLst>
              <a:ext uri="{FF2B5EF4-FFF2-40B4-BE49-F238E27FC236}">
                <a16:creationId xmlns:a16="http://schemas.microsoft.com/office/drawing/2014/main" id="{80A33D0C-73C9-44D3-BE0C-586EE896E1C6}"/>
              </a:ext>
            </a:extLst>
          </p:cNvPr>
          <p:cNvSpPr>
            <a:spLocks noGrp="1"/>
          </p:cNvSpPr>
          <p:nvPr/>
        </p:nvSpPr>
        <p:spPr>
          <a:xfrm>
            <a:off x="25207200" y="14313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82,30 [47,71-98,05]</a:t>
            </a:r>
          </a:p>
        </p:txBody>
      </p:sp>
      <p:sp>
        <p:nvSpPr>
          <p:cNvPr id="180" name="Tabela 2: Uso de medicamento oral ou bombinha entre pessoas com asma por UF.-cell-4-2">
            <a:extLst>
              <a:ext uri="{FF2B5EF4-FFF2-40B4-BE49-F238E27FC236}">
                <a16:creationId xmlns:a16="http://schemas.microsoft.com/office/drawing/2014/main" id="{C5C9DCA4-5909-4365-8819-D5A299227C62}"/>
              </a:ext>
            </a:extLst>
          </p:cNvPr>
          <p:cNvSpPr>
            <a:spLocks noGrp="1"/>
          </p:cNvSpPr>
          <p:nvPr/>
        </p:nvSpPr>
        <p:spPr>
          <a:xfrm>
            <a:off x="29167200" y="14313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63,73 [41,71-82,21]</a:t>
            </a:r>
          </a:p>
        </p:txBody>
      </p:sp>
      <p:sp>
        <p:nvSpPr>
          <p:cNvPr id="181" name="Tabela 2: Uso de medicamento oral ou bombinha entre pessoas com asma por UF.-cell-5-0">
            <a:extLst>
              <a:ext uri="{FF2B5EF4-FFF2-40B4-BE49-F238E27FC236}">
                <a16:creationId xmlns:a16="http://schemas.microsoft.com/office/drawing/2014/main" id="{D7AA5B92-0E2D-4AF3-856E-EBC6C4129324}"/>
              </a:ext>
            </a:extLst>
          </p:cNvPr>
          <p:cNvSpPr>
            <a:spLocks noGrp="1"/>
          </p:cNvSpPr>
          <p:nvPr/>
        </p:nvSpPr>
        <p:spPr>
          <a:xfrm>
            <a:off x="23983200" y="14678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AP</a:t>
            </a:r>
          </a:p>
        </p:txBody>
      </p:sp>
      <p:sp>
        <p:nvSpPr>
          <p:cNvPr id="182" name="Tabela 2: Uso de medicamento oral ou bombinha entre pessoas com asma por UF.-cell-5-1">
            <a:extLst>
              <a:ext uri="{FF2B5EF4-FFF2-40B4-BE49-F238E27FC236}">
                <a16:creationId xmlns:a16="http://schemas.microsoft.com/office/drawing/2014/main" id="{5C5C033B-4284-4E77-83FA-CA90D1055193}"/>
              </a:ext>
            </a:extLst>
          </p:cNvPr>
          <p:cNvSpPr>
            <a:spLocks noGrp="1"/>
          </p:cNvSpPr>
          <p:nvPr/>
        </p:nvSpPr>
        <p:spPr>
          <a:xfrm>
            <a:off x="25207200" y="14678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82,76 [56,11-96,62]</a:t>
            </a:r>
          </a:p>
        </p:txBody>
      </p:sp>
      <p:sp>
        <p:nvSpPr>
          <p:cNvPr id="183" name="Tabela 2: Uso de medicamento oral ou bombinha entre pessoas com asma por UF.-cell-5-2">
            <a:extLst>
              <a:ext uri="{FF2B5EF4-FFF2-40B4-BE49-F238E27FC236}">
                <a16:creationId xmlns:a16="http://schemas.microsoft.com/office/drawing/2014/main" id="{B336B64D-EDF1-43FC-B874-B25CDF98D1F0}"/>
              </a:ext>
            </a:extLst>
          </p:cNvPr>
          <p:cNvSpPr>
            <a:spLocks noGrp="1"/>
          </p:cNvSpPr>
          <p:nvPr/>
        </p:nvSpPr>
        <p:spPr>
          <a:xfrm>
            <a:off x="29167200" y="14678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67,30 [31,93-92,16]</a:t>
            </a:r>
          </a:p>
        </p:txBody>
      </p:sp>
      <p:sp>
        <p:nvSpPr>
          <p:cNvPr id="184" name="Tabela 2: Uso de medicamento oral ou bombinha entre pessoas com asma por UF.-stripe-6">
            <a:extLst>
              <a:ext uri="{FF2B5EF4-FFF2-40B4-BE49-F238E27FC236}">
                <a16:creationId xmlns:a16="http://schemas.microsoft.com/office/drawing/2014/main" id="{A983B469-8396-42C4-85C9-ECB1780D1925}"/>
              </a:ext>
            </a:extLst>
          </p:cNvPr>
          <p:cNvSpPr>
            <a:spLocks noGrp="1"/>
          </p:cNvSpPr>
          <p:nvPr/>
        </p:nvSpPr>
        <p:spPr>
          <a:xfrm>
            <a:off x="23940000" y="15008000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Tabela 2: Uso de medicamento oral ou bombinha entre pessoas com asma por UF.-cell-6-0">
            <a:extLst>
              <a:ext uri="{FF2B5EF4-FFF2-40B4-BE49-F238E27FC236}">
                <a16:creationId xmlns:a16="http://schemas.microsoft.com/office/drawing/2014/main" id="{3DB59314-04FA-442B-9B23-68C0D998592A}"/>
              </a:ext>
            </a:extLst>
          </p:cNvPr>
          <p:cNvSpPr>
            <a:spLocks noGrp="1"/>
          </p:cNvSpPr>
          <p:nvPr/>
        </p:nvSpPr>
        <p:spPr>
          <a:xfrm>
            <a:off x="23983200" y="15044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TO</a:t>
            </a:r>
          </a:p>
        </p:txBody>
      </p:sp>
      <p:sp>
        <p:nvSpPr>
          <p:cNvPr id="186" name="Tabela 2: Uso de medicamento oral ou bombinha entre pessoas com asma por UF.-cell-6-1">
            <a:extLst>
              <a:ext uri="{FF2B5EF4-FFF2-40B4-BE49-F238E27FC236}">
                <a16:creationId xmlns:a16="http://schemas.microsoft.com/office/drawing/2014/main" id="{1505EE75-E119-4A80-99BA-6B50D2AE3941}"/>
              </a:ext>
            </a:extLst>
          </p:cNvPr>
          <p:cNvSpPr>
            <a:spLocks noGrp="1"/>
          </p:cNvSpPr>
          <p:nvPr/>
        </p:nvSpPr>
        <p:spPr>
          <a:xfrm>
            <a:off x="25207200" y="15044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66,97 [36,61-89,49]</a:t>
            </a:r>
          </a:p>
        </p:txBody>
      </p:sp>
      <p:sp>
        <p:nvSpPr>
          <p:cNvPr id="187" name="Tabela 2: Uso de medicamento oral ou bombinha entre pessoas com asma por UF.-cell-6-2">
            <a:extLst>
              <a:ext uri="{FF2B5EF4-FFF2-40B4-BE49-F238E27FC236}">
                <a16:creationId xmlns:a16="http://schemas.microsoft.com/office/drawing/2014/main" id="{5F96E8F0-1BC6-4C67-9688-96C5CD0BC7B8}"/>
              </a:ext>
            </a:extLst>
          </p:cNvPr>
          <p:cNvSpPr>
            <a:spLocks noGrp="1"/>
          </p:cNvSpPr>
          <p:nvPr/>
        </p:nvSpPr>
        <p:spPr>
          <a:xfrm>
            <a:off x="29167200" y="15044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49,52 [25,39-73,81]</a:t>
            </a:r>
          </a:p>
        </p:txBody>
      </p:sp>
      <p:sp>
        <p:nvSpPr>
          <p:cNvPr id="188" name="Tabela 2: Uso de medicamento oral ou bombinha entre pessoas com asma por UF.-cell-7-0">
            <a:extLst>
              <a:ext uri="{FF2B5EF4-FFF2-40B4-BE49-F238E27FC236}">
                <a16:creationId xmlns:a16="http://schemas.microsoft.com/office/drawing/2014/main" id="{96D1A43E-BF88-4243-92F5-F7B1FD015371}"/>
              </a:ext>
            </a:extLst>
          </p:cNvPr>
          <p:cNvSpPr>
            <a:spLocks noGrp="1"/>
          </p:cNvSpPr>
          <p:nvPr/>
        </p:nvSpPr>
        <p:spPr>
          <a:xfrm>
            <a:off x="23983200" y="15409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MA</a:t>
            </a:r>
          </a:p>
        </p:txBody>
      </p:sp>
      <p:sp>
        <p:nvSpPr>
          <p:cNvPr id="189" name="Tabela 2: Uso de medicamento oral ou bombinha entre pessoas com asma por UF.-cell-7-1">
            <a:extLst>
              <a:ext uri="{FF2B5EF4-FFF2-40B4-BE49-F238E27FC236}">
                <a16:creationId xmlns:a16="http://schemas.microsoft.com/office/drawing/2014/main" id="{03DE91EE-E69F-4014-8576-92BE0C838C8D}"/>
              </a:ext>
            </a:extLst>
          </p:cNvPr>
          <p:cNvSpPr>
            <a:spLocks noGrp="1"/>
          </p:cNvSpPr>
          <p:nvPr/>
        </p:nvSpPr>
        <p:spPr>
          <a:xfrm>
            <a:off x="25207200" y="15409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53,24 [22,96-81,84]</a:t>
            </a:r>
          </a:p>
        </p:txBody>
      </p:sp>
      <p:sp>
        <p:nvSpPr>
          <p:cNvPr id="190" name="Tabela 2: Uso de medicamento oral ou bombinha entre pessoas com asma por UF.-cell-7-2">
            <a:extLst>
              <a:ext uri="{FF2B5EF4-FFF2-40B4-BE49-F238E27FC236}">
                <a16:creationId xmlns:a16="http://schemas.microsoft.com/office/drawing/2014/main" id="{5B5A66D0-C729-4A59-BE84-6C21B2903255}"/>
              </a:ext>
            </a:extLst>
          </p:cNvPr>
          <p:cNvSpPr>
            <a:spLocks noGrp="1"/>
          </p:cNvSpPr>
          <p:nvPr/>
        </p:nvSpPr>
        <p:spPr>
          <a:xfrm>
            <a:off x="29167200" y="15409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61,26 [42,46-77,89]</a:t>
            </a:r>
          </a:p>
        </p:txBody>
      </p:sp>
      <p:sp>
        <p:nvSpPr>
          <p:cNvPr id="191" name="Tabela 2: Uso de medicamento oral ou bombinha entre pessoas com asma por UF.-stripe-8">
            <a:extLst>
              <a:ext uri="{FF2B5EF4-FFF2-40B4-BE49-F238E27FC236}">
                <a16:creationId xmlns:a16="http://schemas.microsoft.com/office/drawing/2014/main" id="{43480AE6-7860-409A-AA61-48E95723ADB6}"/>
              </a:ext>
            </a:extLst>
          </p:cNvPr>
          <p:cNvSpPr>
            <a:spLocks noGrp="1"/>
          </p:cNvSpPr>
          <p:nvPr/>
        </p:nvSpPr>
        <p:spPr>
          <a:xfrm>
            <a:off x="23940000" y="15738667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Tabela 2: Uso de medicamento oral ou bombinha entre pessoas com asma por UF.-cell-8-0">
            <a:extLst>
              <a:ext uri="{FF2B5EF4-FFF2-40B4-BE49-F238E27FC236}">
                <a16:creationId xmlns:a16="http://schemas.microsoft.com/office/drawing/2014/main" id="{E17A13D1-52FD-44FF-8767-05B8C6AE9706}"/>
              </a:ext>
            </a:extLst>
          </p:cNvPr>
          <p:cNvSpPr>
            <a:spLocks noGrp="1"/>
          </p:cNvSpPr>
          <p:nvPr/>
        </p:nvSpPr>
        <p:spPr>
          <a:xfrm>
            <a:off x="23983200" y="15774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PI</a:t>
            </a:r>
          </a:p>
        </p:txBody>
      </p:sp>
      <p:sp>
        <p:nvSpPr>
          <p:cNvPr id="193" name="Tabela 2: Uso de medicamento oral ou bombinha entre pessoas com asma por UF.-cell-8-1">
            <a:extLst>
              <a:ext uri="{FF2B5EF4-FFF2-40B4-BE49-F238E27FC236}">
                <a16:creationId xmlns:a16="http://schemas.microsoft.com/office/drawing/2014/main" id="{F2AB074C-2233-43F6-A1FE-FF164E3E6158}"/>
              </a:ext>
            </a:extLst>
          </p:cNvPr>
          <p:cNvSpPr>
            <a:spLocks noGrp="1"/>
          </p:cNvSpPr>
          <p:nvPr/>
        </p:nvSpPr>
        <p:spPr>
          <a:xfrm>
            <a:off x="25207200" y="15774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68,25 [37,26-90,53]</a:t>
            </a:r>
          </a:p>
        </p:txBody>
      </p:sp>
      <p:sp>
        <p:nvSpPr>
          <p:cNvPr id="194" name="Tabela 2: Uso de medicamento oral ou bombinha entre pessoas com asma por UF.-cell-8-2">
            <a:extLst>
              <a:ext uri="{FF2B5EF4-FFF2-40B4-BE49-F238E27FC236}">
                <a16:creationId xmlns:a16="http://schemas.microsoft.com/office/drawing/2014/main" id="{58F930A3-D168-4DB6-BC81-A727EB36E2FE}"/>
              </a:ext>
            </a:extLst>
          </p:cNvPr>
          <p:cNvSpPr>
            <a:spLocks noGrp="1"/>
          </p:cNvSpPr>
          <p:nvPr/>
        </p:nvSpPr>
        <p:spPr>
          <a:xfrm>
            <a:off x="29167200" y="15774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53,03 [31,04-74,19]</a:t>
            </a:r>
          </a:p>
        </p:txBody>
      </p:sp>
      <p:sp>
        <p:nvSpPr>
          <p:cNvPr id="195" name="Tabela 2: Uso de medicamento oral ou bombinha entre pessoas com asma por UF.-cell-9-0">
            <a:extLst>
              <a:ext uri="{FF2B5EF4-FFF2-40B4-BE49-F238E27FC236}">
                <a16:creationId xmlns:a16="http://schemas.microsoft.com/office/drawing/2014/main" id="{A68A9095-D95B-4F78-BFC3-A2794104D3F6}"/>
              </a:ext>
            </a:extLst>
          </p:cNvPr>
          <p:cNvSpPr>
            <a:spLocks noGrp="1"/>
          </p:cNvSpPr>
          <p:nvPr/>
        </p:nvSpPr>
        <p:spPr>
          <a:xfrm>
            <a:off x="23983200" y="16140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CE</a:t>
            </a:r>
          </a:p>
        </p:txBody>
      </p:sp>
      <p:sp>
        <p:nvSpPr>
          <p:cNvPr id="196" name="Tabela 2: Uso de medicamento oral ou bombinha entre pessoas com asma por UF.-cell-9-1">
            <a:extLst>
              <a:ext uri="{FF2B5EF4-FFF2-40B4-BE49-F238E27FC236}">
                <a16:creationId xmlns:a16="http://schemas.microsoft.com/office/drawing/2014/main" id="{9680D9FE-5643-4CBD-9BDB-3E3111A486AA}"/>
              </a:ext>
            </a:extLst>
          </p:cNvPr>
          <p:cNvSpPr>
            <a:spLocks noGrp="1"/>
          </p:cNvSpPr>
          <p:nvPr/>
        </p:nvSpPr>
        <p:spPr>
          <a:xfrm>
            <a:off x="25207200" y="16140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78,81 [58,75-92,11]</a:t>
            </a:r>
          </a:p>
        </p:txBody>
      </p:sp>
      <p:sp>
        <p:nvSpPr>
          <p:cNvPr id="197" name="Tabela 2: Uso de medicamento oral ou bombinha entre pessoas com asma por UF.-cell-9-2">
            <a:extLst>
              <a:ext uri="{FF2B5EF4-FFF2-40B4-BE49-F238E27FC236}">
                <a16:creationId xmlns:a16="http://schemas.microsoft.com/office/drawing/2014/main" id="{6F9BB4F6-48EF-417C-BF56-883515BCDCE3}"/>
              </a:ext>
            </a:extLst>
          </p:cNvPr>
          <p:cNvSpPr>
            <a:spLocks noGrp="1"/>
          </p:cNvSpPr>
          <p:nvPr/>
        </p:nvSpPr>
        <p:spPr>
          <a:xfrm>
            <a:off x="29167200" y="16140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44,49 [30,19-59,49]</a:t>
            </a:r>
          </a:p>
        </p:txBody>
      </p:sp>
      <p:sp>
        <p:nvSpPr>
          <p:cNvPr id="198" name="Tabela 2: Uso de medicamento oral ou bombinha entre pessoas com asma por UF.-stripe-10">
            <a:extLst>
              <a:ext uri="{FF2B5EF4-FFF2-40B4-BE49-F238E27FC236}">
                <a16:creationId xmlns:a16="http://schemas.microsoft.com/office/drawing/2014/main" id="{BFD2E33A-B2C7-4B6C-AD19-1EF52DCB2427}"/>
              </a:ext>
            </a:extLst>
          </p:cNvPr>
          <p:cNvSpPr>
            <a:spLocks noGrp="1"/>
          </p:cNvSpPr>
          <p:nvPr/>
        </p:nvSpPr>
        <p:spPr>
          <a:xfrm>
            <a:off x="23940000" y="16469333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Tabela 2: Uso de medicamento oral ou bombinha entre pessoas com asma por UF.-cell-10-0">
            <a:extLst>
              <a:ext uri="{FF2B5EF4-FFF2-40B4-BE49-F238E27FC236}">
                <a16:creationId xmlns:a16="http://schemas.microsoft.com/office/drawing/2014/main" id="{625172E5-DDFF-4218-B360-49A947D31726}"/>
              </a:ext>
            </a:extLst>
          </p:cNvPr>
          <p:cNvSpPr>
            <a:spLocks noGrp="1"/>
          </p:cNvSpPr>
          <p:nvPr/>
        </p:nvSpPr>
        <p:spPr>
          <a:xfrm>
            <a:off x="23983200" y="16505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RN</a:t>
            </a:r>
          </a:p>
        </p:txBody>
      </p:sp>
      <p:sp>
        <p:nvSpPr>
          <p:cNvPr id="200" name="Tabela 2: Uso de medicamento oral ou bombinha entre pessoas com asma por UF.-cell-10-1">
            <a:extLst>
              <a:ext uri="{FF2B5EF4-FFF2-40B4-BE49-F238E27FC236}">
                <a16:creationId xmlns:a16="http://schemas.microsoft.com/office/drawing/2014/main" id="{7A19F663-FA45-49D8-BFA0-C635506E13E5}"/>
              </a:ext>
            </a:extLst>
          </p:cNvPr>
          <p:cNvSpPr>
            <a:spLocks noGrp="1"/>
          </p:cNvSpPr>
          <p:nvPr/>
        </p:nvSpPr>
        <p:spPr>
          <a:xfrm>
            <a:off x="25207200" y="16505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68,53 [38,21-90,35]</a:t>
            </a:r>
          </a:p>
        </p:txBody>
      </p:sp>
      <p:sp>
        <p:nvSpPr>
          <p:cNvPr id="201" name="Tabela 2: Uso de medicamento oral ou bombinha entre pessoas com asma por UF.-cell-10-2">
            <a:extLst>
              <a:ext uri="{FF2B5EF4-FFF2-40B4-BE49-F238E27FC236}">
                <a16:creationId xmlns:a16="http://schemas.microsoft.com/office/drawing/2014/main" id="{0D33EEF6-A768-4B52-AF7C-DC851098A821}"/>
              </a:ext>
            </a:extLst>
          </p:cNvPr>
          <p:cNvSpPr>
            <a:spLocks noGrp="1"/>
          </p:cNvSpPr>
          <p:nvPr/>
        </p:nvSpPr>
        <p:spPr>
          <a:xfrm>
            <a:off x="29167200" y="16505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61,69 [41,26-79,48]</a:t>
            </a:r>
          </a:p>
        </p:txBody>
      </p:sp>
      <p:sp>
        <p:nvSpPr>
          <p:cNvPr id="202" name="Tabela 2: Uso de medicamento oral ou bombinha entre pessoas com asma por UF.-cell-11-0">
            <a:extLst>
              <a:ext uri="{FF2B5EF4-FFF2-40B4-BE49-F238E27FC236}">
                <a16:creationId xmlns:a16="http://schemas.microsoft.com/office/drawing/2014/main" id="{B953F6BE-C79C-40E4-97A5-E4D4AEA5E99A}"/>
              </a:ext>
            </a:extLst>
          </p:cNvPr>
          <p:cNvSpPr>
            <a:spLocks noGrp="1"/>
          </p:cNvSpPr>
          <p:nvPr/>
        </p:nvSpPr>
        <p:spPr>
          <a:xfrm>
            <a:off x="23983200" y="16870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PB</a:t>
            </a:r>
          </a:p>
        </p:txBody>
      </p:sp>
      <p:sp>
        <p:nvSpPr>
          <p:cNvPr id="203" name="Tabela 2: Uso de medicamento oral ou bombinha entre pessoas com asma por UF.-cell-11-1">
            <a:extLst>
              <a:ext uri="{FF2B5EF4-FFF2-40B4-BE49-F238E27FC236}">
                <a16:creationId xmlns:a16="http://schemas.microsoft.com/office/drawing/2014/main" id="{0BC10ED4-8D10-4485-9F57-F70ECF965F27}"/>
              </a:ext>
            </a:extLst>
          </p:cNvPr>
          <p:cNvSpPr>
            <a:spLocks noGrp="1"/>
          </p:cNvSpPr>
          <p:nvPr/>
        </p:nvSpPr>
        <p:spPr>
          <a:xfrm>
            <a:off x="25207200" y="16870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77,50 [58,84-90,53]</a:t>
            </a:r>
          </a:p>
        </p:txBody>
      </p:sp>
      <p:sp>
        <p:nvSpPr>
          <p:cNvPr id="204" name="Tabela 2: Uso de medicamento oral ou bombinha entre pessoas com asma por UF.-cell-11-2">
            <a:extLst>
              <a:ext uri="{FF2B5EF4-FFF2-40B4-BE49-F238E27FC236}">
                <a16:creationId xmlns:a16="http://schemas.microsoft.com/office/drawing/2014/main" id="{65E370B8-08E5-4C81-BA16-0A738466493C}"/>
              </a:ext>
            </a:extLst>
          </p:cNvPr>
          <p:cNvSpPr>
            <a:spLocks noGrp="1"/>
          </p:cNvSpPr>
          <p:nvPr/>
        </p:nvSpPr>
        <p:spPr>
          <a:xfrm>
            <a:off x="29167200" y="16870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56,03 [37,07-73,79]</a:t>
            </a:r>
          </a:p>
        </p:txBody>
      </p:sp>
      <p:sp>
        <p:nvSpPr>
          <p:cNvPr id="205" name="Tabela 2: Uso de medicamento oral ou bombinha entre pessoas com asma por UF.-stripe-12">
            <a:extLst>
              <a:ext uri="{FF2B5EF4-FFF2-40B4-BE49-F238E27FC236}">
                <a16:creationId xmlns:a16="http://schemas.microsoft.com/office/drawing/2014/main" id="{A891F372-3C35-4119-AADB-9ACD6AF187F2}"/>
              </a:ext>
            </a:extLst>
          </p:cNvPr>
          <p:cNvSpPr>
            <a:spLocks noGrp="1"/>
          </p:cNvSpPr>
          <p:nvPr/>
        </p:nvSpPr>
        <p:spPr>
          <a:xfrm>
            <a:off x="23940000" y="17200000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Tabela 2: Uso de medicamento oral ou bombinha entre pessoas com asma por UF.-cell-12-0">
            <a:extLst>
              <a:ext uri="{FF2B5EF4-FFF2-40B4-BE49-F238E27FC236}">
                <a16:creationId xmlns:a16="http://schemas.microsoft.com/office/drawing/2014/main" id="{A7887BDC-73C3-4764-AC88-7CB7C4DDFA88}"/>
              </a:ext>
            </a:extLst>
          </p:cNvPr>
          <p:cNvSpPr>
            <a:spLocks noGrp="1"/>
          </p:cNvSpPr>
          <p:nvPr/>
        </p:nvSpPr>
        <p:spPr>
          <a:xfrm>
            <a:off x="23983200" y="17236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PE</a:t>
            </a:r>
          </a:p>
        </p:txBody>
      </p:sp>
      <p:sp>
        <p:nvSpPr>
          <p:cNvPr id="207" name="Tabela 2: Uso de medicamento oral ou bombinha entre pessoas com asma por UF.-cell-12-1">
            <a:extLst>
              <a:ext uri="{FF2B5EF4-FFF2-40B4-BE49-F238E27FC236}">
                <a16:creationId xmlns:a16="http://schemas.microsoft.com/office/drawing/2014/main" id="{7C7D6E7B-3731-4847-B1AC-6A53E876E21B}"/>
              </a:ext>
            </a:extLst>
          </p:cNvPr>
          <p:cNvSpPr>
            <a:spLocks noGrp="1"/>
          </p:cNvSpPr>
          <p:nvPr/>
        </p:nvSpPr>
        <p:spPr>
          <a:xfrm>
            <a:off x="25207200" y="17236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68,46 [49,08-84,06]</a:t>
            </a:r>
          </a:p>
        </p:txBody>
      </p:sp>
      <p:sp>
        <p:nvSpPr>
          <p:cNvPr id="208" name="Tabela 2: Uso de medicamento oral ou bombinha entre pessoas com asma por UF.-cell-12-2">
            <a:extLst>
              <a:ext uri="{FF2B5EF4-FFF2-40B4-BE49-F238E27FC236}">
                <a16:creationId xmlns:a16="http://schemas.microsoft.com/office/drawing/2014/main" id="{C71460CC-0DE8-474F-BE67-E379DA0C690E}"/>
              </a:ext>
            </a:extLst>
          </p:cNvPr>
          <p:cNvSpPr>
            <a:spLocks noGrp="1"/>
          </p:cNvSpPr>
          <p:nvPr/>
        </p:nvSpPr>
        <p:spPr>
          <a:xfrm>
            <a:off x="29167200" y="17236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60,93 [44,32-75,86]</a:t>
            </a:r>
          </a:p>
        </p:txBody>
      </p:sp>
      <p:sp>
        <p:nvSpPr>
          <p:cNvPr id="209" name="Tabela 2: Uso de medicamento oral ou bombinha entre pessoas com asma por UF.-cell-13-0">
            <a:extLst>
              <a:ext uri="{FF2B5EF4-FFF2-40B4-BE49-F238E27FC236}">
                <a16:creationId xmlns:a16="http://schemas.microsoft.com/office/drawing/2014/main" id="{8D59F6FC-F5CB-4B99-906C-A37274A8C871}"/>
              </a:ext>
            </a:extLst>
          </p:cNvPr>
          <p:cNvSpPr>
            <a:spLocks noGrp="1"/>
          </p:cNvSpPr>
          <p:nvPr/>
        </p:nvSpPr>
        <p:spPr>
          <a:xfrm>
            <a:off x="23983200" y="17601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AL</a:t>
            </a:r>
          </a:p>
        </p:txBody>
      </p:sp>
      <p:sp>
        <p:nvSpPr>
          <p:cNvPr id="210" name="Tabela 2: Uso de medicamento oral ou bombinha entre pessoas com asma por UF.-cell-13-1">
            <a:extLst>
              <a:ext uri="{FF2B5EF4-FFF2-40B4-BE49-F238E27FC236}">
                <a16:creationId xmlns:a16="http://schemas.microsoft.com/office/drawing/2014/main" id="{D10D2CAB-12BB-4259-AC97-A453A4876A50}"/>
              </a:ext>
            </a:extLst>
          </p:cNvPr>
          <p:cNvSpPr>
            <a:spLocks noGrp="1"/>
          </p:cNvSpPr>
          <p:nvPr/>
        </p:nvSpPr>
        <p:spPr>
          <a:xfrm>
            <a:off x="25207200" y="17601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85,95 [58,87-98,07]</a:t>
            </a:r>
          </a:p>
        </p:txBody>
      </p:sp>
      <p:sp>
        <p:nvSpPr>
          <p:cNvPr id="211" name="Tabela 2: Uso de medicamento oral ou bombinha entre pessoas com asma por UF.-cell-13-2">
            <a:extLst>
              <a:ext uri="{FF2B5EF4-FFF2-40B4-BE49-F238E27FC236}">
                <a16:creationId xmlns:a16="http://schemas.microsoft.com/office/drawing/2014/main" id="{D3444C01-9E6A-4C4B-9085-D2DEF369FA2A}"/>
              </a:ext>
            </a:extLst>
          </p:cNvPr>
          <p:cNvSpPr>
            <a:spLocks noGrp="1"/>
          </p:cNvSpPr>
          <p:nvPr/>
        </p:nvSpPr>
        <p:spPr>
          <a:xfrm>
            <a:off x="29167200" y="17601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62,04 [43,17-78,58]</a:t>
            </a:r>
          </a:p>
        </p:txBody>
      </p:sp>
      <p:sp>
        <p:nvSpPr>
          <p:cNvPr id="212" name="Tabela 2: Uso de medicamento oral ou bombinha entre pessoas com asma por UF.-stripe-14">
            <a:extLst>
              <a:ext uri="{FF2B5EF4-FFF2-40B4-BE49-F238E27FC236}">
                <a16:creationId xmlns:a16="http://schemas.microsoft.com/office/drawing/2014/main" id="{D64F4C23-989A-4249-928F-AEA2534E5680}"/>
              </a:ext>
            </a:extLst>
          </p:cNvPr>
          <p:cNvSpPr>
            <a:spLocks noGrp="1"/>
          </p:cNvSpPr>
          <p:nvPr/>
        </p:nvSpPr>
        <p:spPr>
          <a:xfrm>
            <a:off x="23940000" y="17930667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Tabela 2: Uso de medicamento oral ou bombinha entre pessoas com asma por UF.-cell-14-0">
            <a:extLst>
              <a:ext uri="{FF2B5EF4-FFF2-40B4-BE49-F238E27FC236}">
                <a16:creationId xmlns:a16="http://schemas.microsoft.com/office/drawing/2014/main" id="{59798343-5406-4736-9E01-37F5421B5B86}"/>
              </a:ext>
            </a:extLst>
          </p:cNvPr>
          <p:cNvSpPr>
            <a:spLocks noGrp="1"/>
          </p:cNvSpPr>
          <p:nvPr/>
        </p:nvSpPr>
        <p:spPr>
          <a:xfrm>
            <a:off x="23983200" y="17966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SE</a:t>
            </a:r>
          </a:p>
        </p:txBody>
      </p:sp>
      <p:sp>
        <p:nvSpPr>
          <p:cNvPr id="214" name="Tabela 2: Uso de medicamento oral ou bombinha entre pessoas com asma por UF.-cell-14-1">
            <a:extLst>
              <a:ext uri="{FF2B5EF4-FFF2-40B4-BE49-F238E27FC236}">
                <a16:creationId xmlns:a16="http://schemas.microsoft.com/office/drawing/2014/main" id="{815FEC19-1E37-4E32-81E7-52EAF9FDE8EA}"/>
              </a:ext>
            </a:extLst>
          </p:cNvPr>
          <p:cNvSpPr>
            <a:spLocks noGrp="1"/>
          </p:cNvSpPr>
          <p:nvPr/>
        </p:nvSpPr>
        <p:spPr>
          <a:xfrm>
            <a:off x="25207200" y="17966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87,58 [59,92-98,72]</a:t>
            </a:r>
          </a:p>
        </p:txBody>
      </p:sp>
      <p:sp>
        <p:nvSpPr>
          <p:cNvPr id="215" name="Tabela 2: Uso de medicamento oral ou bombinha entre pessoas com asma por UF.-cell-14-2">
            <a:extLst>
              <a:ext uri="{FF2B5EF4-FFF2-40B4-BE49-F238E27FC236}">
                <a16:creationId xmlns:a16="http://schemas.microsoft.com/office/drawing/2014/main" id="{03A8B6F7-7F6B-44C6-A89B-CD31A8205E22}"/>
              </a:ext>
            </a:extLst>
          </p:cNvPr>
          <p:cNvSpPr>
            <a:spLocks noGrp="1"/>
          </p:cNvSpPr>
          <p:nvPr/>
        </p:nvSpPr>
        <p:spPr>
          <a:xfrm>
            <a:off x="29167200" y="17966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80,23 [60,76-92,82]</a:t>
            </a:r>
          </a:p>
        </p:txBody>
      </p:sp>
      <p:sp>
        <p:nvSpPr>
          <p:cNvPr id="216" name="Tabela 2: Uso de medicamento oral ou bombinha entre pessoas com asma por UF.-cell-15-0">
            <a:extLst>
              <a:ext uri="{FF2B5EF4-FFF2-40B4-BE49-F238E27FC236}">
                <a16:creationId xmlns:a16="http://schemas.microsoft.com/office/drawing/2014/main" id="{D30DED98-5952-43B8-9A11-472700ADCC0D}"/>
              </a:ext>
            </a:extLst>
          </p:cNvPr>
          <p:cNvSpPr>
            <a:spLocks noGrp="1"/>
          </p:cNvSpPr>
          <p:nvPr/>
        </p:nvSpPr>
        <p:spPr>
          <a:xfrm>
            <a:off x="23983200" y="18332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BA</a:t>
            </a:r>
          </a:p>
        </p:txBody>
      </p:sp>
      <p:sp>
        <p:nvSpPr>
          <p:cNvPr id="217" name="Tabela 2: Uso de medicamento oral ou bombinha entre pessoas com asma por UF.-cell-15-1">
            <a:extLst>
              <a:ext uri="{FF2B5EF4-FFF2-40B4-BE49-F238E27FC236}">
                <a16:creationId xmlns:a16="http://schemas.microsoft.com/office/drawing/2014/main" id="{00396CA8-5326-42B9-8C61-8A5337A34154}"/>
              </a:ext>
            </a:extLst>
          </p:cNvPr>
          <p:cNvSpPr>
            <a:spLocks noGrp="1"/>
          </p:cNvSpPr>
          <p:nvPr/>
        </p:nvSpPr>
        <p:spPr>
          <a:xfrm>
            <a:off x="25207200" y="18332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84,22 [55,45-97,71]</a:t>
            </a:r>
          </a:p>
        </p:txBody>
      </p:sp>
      <p:sp>
        <p:nvSpPr>
          <p:cNvPr id="218" name="Tabela 2: Uso de medicamento oral ou bombinha entre pessoas com asma por UF.-cell-15-2">
            <a:extLst>
              <a:ext uri="{FF2B5EF4-FFF2-40B4-BE49-F238E27FC236}">
                <a16:creationId xmlns:a16="http://schemas.microsoft.com/office/drawing/2014/main" id="{FD0A5BAC-426E-45BA-BBE3-6220A1E0BCD1}"/>
              </a:ext>
            </a:extLst>
          </p:cNvPr>
          <p:cNvSpPr>
            <a:spLocks noGrp="1"/>
          </p:cNvSpPr>
          <p:nvPr/>
        </p:nvSpPr>
        <p:spPr>
          <a:xfrm>
            <a:off x="29167200" y="18332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74,04 [42,37-93,86]</a:t>
            </a:r>
          </a:p>
        </p:txBody>
      </p:sp>
      <p:sp>
        <p:nvSpPr>
          <p:cNvPr id="219" name="Tabela 2: Uso de medicamento oral ou bombinha entre pessoas com asma por UF.-stripe-16">
            <a:extLst>
              <a:ext uri="{FF2B5EF4-FFF2-40B4-BE49-F238E27FC236}">
                <a16:creationId xmlns:a16="http://schemas.microsoft.com/office/drawing/2014/main" id="{044540C8-9196-4623-B02F-3BB61CA9F2FC}"/>
              </a:ext>
            </a:extLst>
          </p:cNvPr>
          <p:cNvSpPr>
            <a:spLocks noGrp="1"/>
          </p:cNvSpPr>
          <p:nvPr/>
        </p:nvSpPr>
        <p:spPr>
          <a:xfrm>
            <a:off x="23940000" y="18661333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Tabela 2: Uso de medicamento oral ou bombinha entre pessoas com asma por UF.-cell-16-0">
            <a:extLst>
              <a:ext uri="{FF2B5EF4-FFF2-40B4-BE49-F238E27FC236}">
                <a16:creationId xmlns:a16="http://schemas.microsoft.com/office/drawing/2014/main" id="{1D13B018-5C25-4BC0-9ACE-52E9B2F5F25C}"/>
              </a:ext>
            </a:extLst>
          </p:cNvPr>
          <p:cNvSpPr>
            <a:spLocks noGrp="1"/>
          </p:cNvSpPr>
          <p:nvPr/>
        </p:nvSpPr>
        <p:spPr>
          <a:xfrm>
            <a:off x="23983200" y="18697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MG</a:t>
            </a:r>
          </a:p>
        </p:txBody>
      </p:sp>
      <p:sp>
        <p:nvSpPr>
          <p:cNvPr id="221" name="Tabela 2: Uso de medicamento oral ou bombinha entre pessoas com asma por UF.-cell-16-1">
            <a:extLst>
              <a:ext uri="{FF2B5EF4-FFF2-40B4-BE49-F238E27FC236}">
                <a16:creationId xmlns:a16="http://schemas.microsoft.com/office/drawing/2014/main" id="{2F0D293C-34B5-4DB8-99A5-E7F33FDD601A}"/>
              </a:ext>
            </a:extLst>
          </p:cNvPr>
          <p:cNvSpPr>
            <a:spLocks noGrp="1"/>
          </p:cNvSpPr>
          <p:nvPr/>
        </p:nvSpPr>
        <p:spPr>
          <a:xfrm>
            <a:off x="25207200" y="18697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71,82 [43,99-91,07]</a:t>
            </a:r>
          </a:p>
        </p:txBody>
      </p:sp>
      <p:sp>
        <p:nvSpPr>
          <p:cNvPr id="222" name="Tabela 2: Uso de medicamento oral ou bombinha entre pessoas com asma por UF.-cell-16-2">
            <a:extLst>
              <a:ext uri="{FF2B5EF4-FFF2-40B4-BE49-F238E27FC236}">
                <a16:creationId xmlns:a16="http://schemas.microsoft.com/office/drawing/2014/main" id="{A1BA0A25-0A02-4083-802D-DB9DB6FDA71D}"/>
              </a:ext>
            </a:extLst>
          </p:cNvPr>
          <p:cNvSpPr>
            <a:spLocks noGrp="1"/>
          </p:cNvSpPr>
          <p:nvPr/>
        </p:nvSpPr>
        <p:spPr>
          <a:xfrm>
            <a:off x="29167200" y="18697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64,00 [50,05-76,42]</a:t>
            </a:r>
          </a:p>
        </p:txBody>
      </p:sp>
      <p:sp>
        <p:nvSpPr>
          <p:cNvPr id="223" name="Tabela 2: Uso de medicamento oral ou bombinha entre pessoas com asma por UF.-cell-17-0">
            <a:extLst>
              <a:ext uri="{FF2B5EF4-FFF2-40B4-BE49-F238E27FC236}">
                <a16:creationId xmlns:a16="http://schemas.microsoft.com/office/drawing/2014/main" id="{9FD75402-EF4C-412B-AAD8-E20889A951FA}"/>
              </a:ext>
            </a:extLst>
          </p:cNvPr>
          <p:cNvSpPr>
            <a:spLocks noGrp="1"/>
          </p:cNvSpPr>
          <p:nvPr/>
        </p:nvSpPr>
        <p:spPr>
          <a:xfrm>
            <a:off x="23983200" y="19062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ES</a:t>
            </a:r>
          </a:p>
        </p:txBody>
      </p:sp>
      <p:sp>
        <p:nvSpPr>
          <p:cNvPr id="224" name="Tabela 2: Uso de medicamento oral ou bombinha entre pessoas com asma por UF.-cell-17-1">
            <a:extLst>
              <a:ext uri="{FF2B5EF4-FFF2-40B4-BE49-F238E27FC236}">
                <a16:creationId xmlns:a16="http://schemas.microsoft.com/office/drawing/2014/main" id="{1944E55C-0126-4DE2-9F1C-AE14868DE5C7}"/>
              </a:ext>
            </a:extLst>
          </p:cNvPr>
          <p:cNvSpPr>
            <a:spLocks noGrp="1"/>
          </p:cNvSpPr>
          <p:nvPr/>
        </p:nvSpPr>
        <p:spPr>
          <a:xfrm>
            <a:off x="25207200" y="19062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64,90 [32,88-89,27]</a:t>
            </a:r>
          </a:p>
        </p:txBody>
      </p:sp>
      <p:sp>
        <p:nvSpPr>
          <p:cNvPr id="225" name="Tabela 2: Uso de medicamento oral ou bombinha entre pessoas com asma por UF.-cell-17-2">
            <a:extLst>
              <a:ext uri="{FF2B5EF4-FFF2-40B4-BE49-F238E27FC236}">
                <a16:creationId xmlns:a16="http://schemas.microsoft.com/office/drawing/2014/main" id="{7AA71A46-287F-4B03-BF58-D6785D94DC64}"/>
              </a:ext>
            </a:extLst>
          </p:cNvPr>
          <p:cNvSpPr>
            <a:spLocks noGrp="1"/>
          </p:cNvSpPr>
          <p:nvPr/>
        </p:nvSpPr>
        <p:spPr>
          <a:xfrm>
            <a:off x="29167200" y="19062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76,46 [63,42-86,65]</a:t>
            </a:r>
          </a:p>
        </p:txBody>
      </p:sp>
      <p:sp>
        <p:nvSpPr>
          <p:cNvPr id="226" name="Tabela 2: Uso de medicamento oral ou bombinha entre pessoas com asma por UF.-stripe-18">
            <a:extLst>
              <a:ext uri="{FF2B5EF4-FFF2-40B4-BE49-F238E27FC236}">
                <a16:creationId xmlns:a16="http://schemas.microsoft.com/office/drawing/2014/main" id="{0121B669-4A22-430D-9E9E-FA5B0553FBE3}"/>
              </a:ext>
            </a:extLst>
          </p:cNvPr>
          <p:cNvSpPr>
            <a:spLocks noGrp="1"/>
          </p:cNvSpPr>
          <p:nvPr/>
        </p:nvSpPr>
        <p:spPr>
          <a:xfrm>
            <a:off x="23940000" y="19392000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Tabela 2: Uso de medicamento oral ou bombinha entre pessoas com asma por UF.-cell-18-0">
            <a:extLst>
              <a:ext uri="{FF2B5EF4-FFF2-40B4-BE49-F238E27FC236}">
                <a16:creationId xmlns:a16="http://schemas.microsoft.com/office/drawing/2014/main" id="{84F78173-0F58-4881-BA33-55B446394E19}"/>
              </a:ext>
            </a:extLst>
          </p:cNvPr>
          <p:cNvSpPr>
            <a:spLocks noGrp="1"/>
          </p:cNvSpPr>
          <p:nvPr/>
        </p:nvSpPr>
        <p:spPr>
          <a:xfrm>
            <a:off x="23983200" y="19428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RJ</a:t>
            </a:r>
          </a:p>
        </p:txBody>
      </p:sp>
      <p:sp>
        <p:nvSpPr>
          <p:cNvPr id="228" name="Tabela 2: Uso de medicamento oral ou bombinha entre pessoas com asma por UF.-cell-18-1">
            <a:extLst>
              <a:ext uri="{FF2B5EF4-FFF2-40B4-BE49-F238E27FC236}">
                <a16:creationId xmlns:a16="http://schemas.microsoft.com/office/drawing/2014/main" id="{5C999DB2-6EBF-47C4-802F-A64787B9A0AC}"/>
              </a:ext>
            </a:extLst>
          </p:cNvPr>
          <p:cNvSpPr>
            <a:spLocks noGrp="1"/>
          </p:cNvSpPr>
          <p:nvPr/>
        </p:nvSpPr>
        <p:spPr>
          <a:xfrm>
            <a:off x="25207200" y="19428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91,98 [82,45-97,29]</a:t>
            </a:r>
          </a:p>
        </p:txBody>
      </p:sp>
      <p:sp>
        <p:nvSpPr>
          <p:cNvPr id="229" name="Tabela 2: Uso de medicamento oral ou bombinha entre pessoas com asma por UF.-cell-18-2">
            <a:extLst>
              <a:ext uri="{FF2B5EF4-FFF2-40B4-BE49-F238E27FC236}">
                <a16:creationId xmlns:a16="http://schemas.microsoft.com/office/drawing/2014/main" id="{3DDF0F67-D133-4BFD-B4A2-1DC36F6C5C20}"/>
              </a:ext>
            </a:extLst>
          </p:cNvPr>
          <p:cNvSpPr>
            <a:spLocks noGrp="1"/>
          </p:cNvSpPr>
          <p:nvPr/>
        </p:nvSpPr>
        <p:spPr>
          <a:xfrm>
            <a:off x="29167200" y="19428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54,29 [35,89-71,87]</a:t>
            </a:r>
          </a:p>
        </p:txBody>
      </p:sp>
      <p:sp>
        <p:nvSpPr>
          <p:cNvPr id="230" name="Tabela 2: Uso de medicamento oral ou bombinha entre pessoas com asma por UF.-cell-19-0">
            <a:extLst>
              <a:ext uri="{FF2B5EF4-FFF2-40B4-BE49-F238E27FC236}">
                <a16:creationId xmlns:a16="http://schemas.microsoft.com/office/drawing/2014/main" id="{988D6336-E1EF-4711-A7FD-F6195101E466}"/>
              </a:ext>
            </a:extLst>
          </p:cNvPr>
          <p:cNvSpPr>
            <a:spLocks noGrp="1"/>
          </p:cNvSpPr>
          <p:nvPr/>
        </p:nvSpPr>
        <p:spPr>
          <a:xfrm>
            <a:off x="23983200" y="19793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SP</a:t>
            </a:r>
          </a:p>
        </p:txBody>
      </p:sp>
      <p:sp>
        <p:nvSpPr>
          <p:cNvPr id="231" name="Tabela 2: Uso de medicamento oral ou bombinha entre pessoas com asma por UF.-cell-19-1">
            <a:extLst>
              <a:ext uri="{FF2B5EF4-FFF2-40B4-BE49-F238E27FC236}">
                <a16:creationId xmlns:a16="http://schemas.microsoft.com/office/drawing/2014/main" id="{1A4341D3-EAF0-4FB1-B85E-09131840227D}"/>
              </a:ext>
            </a:extLst>
          </p:cNvPr>
          <p:cNvSpPr>
            <a:spLocks noGrp="1"/>
          </p:cNvSpPr>
          <p:nvPr/>
        </p:nvSpPr>
        <p:spPr>
          <a:xfrm>
            <a:off x="25207200" y="19793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88,46 [80,12-94,17]</a:t>
            </a:r>
          </a:p>
        </p:txBody>
      </p:sp>
      <p:sp>
        <p:nvSpPr>
          <p:cNvPr id="232" name="Tabela 2: Uso de medicamento oral ou bombinha entre pessoas com asma por UF.-cell-19-2">
            <a:extLst>
              <a:ext uri="{FF2B5EF4-FFF2-40B4-BE49-F238E27FC236}">
                <a16:creationId xmlns:a16="http://schemas.microsoft.com/office/drawing/2014/main" id="{E050E621-D45F-4947-8BDD-9A51F6F8D311}"/>
              </a:ext>
            </a:extLst>
          </p:cNvPr>
          <p:cNvSpPr>
            <a:spLocks noGrp="1"/>
          </p:cNvSpPr>
          <p:nvPr/>
        </p:nvSpPr>
        <p:spPr>
          <a:xfrm>
            <a:off x="29167200" y="19793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69,34 [56,38-80,39]</a:t>
            </a:r>
          </a:p>
        </p:txBody>
      </p:sp>
      <p:sp>
        <p:nvSpPr>
          <p:cNvPr id="233" name="Tabela 2: Uso de medicamento oral ou bombinha entre pessoas com asma por UF.-stripe-20">
            <a:extLst>
              <a:ext uri="{FF2B5EF4-FFF2-40B4-BE49-F238E27FC236}">
                <a16:creationId xmlns:a16="http://schemas.microsoft.com/office/drawing/2014/main" id="{2C520804-BB7C-43C2-9A86-3946568F7777}"/>
              </a:ext>
            </a:extLst>
          </p:cNvPr>
          <p:cNvSpPr>
            <a:spLocks noGrp="1"/>
          </p:cNvSpPr>
          <p:nvPr/>
        </p:nvSpPr>
        <p:spPr>
          <a:xfrm>
            <a:off x="23940000" y="20122667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Tabela 2: Uso de medicamento oral ou bombinha entre pessoas com asma por UF.-cell-20-0">
            <a:extLst>
              <a:ext uri="{FF2B5EF4-FFF2-40B4-BE49-F238E27FC236}">
                <a16:creationId xmlns:a16="http://schemas.microsoft.com/office/drawing/2014/main" id="{D18F31E6-2D6C-48C8-AABE-B83CFC816450}"/>
              </a:ext>
            </a:extLst>
          </p:cNvPr>
          <p:cNvSpPr>
            <a:spLocks noGrp="1"/>
          </p:cNvSpPr>
          <p:nvPr/>
        </p:nvSpPr>
        <p:spPr>
          <a:xfrm>
            <a:off x="23983200" y="20158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PR</a:t>
            </a:r>
          </a:p>
        </p:txBody>
      </p:sp>
      <p:sp>
        <p:nvSpPr>
          <p:cNvPr id="235" name="Tabela 2: Uso de medicamento oral ou bombinha entre pessoas com asma por UF.-cell-20-1">
            <a:extLst>
              <a:ext uri="{FF2B5EF4-FFF2-40B4-BE49-F238E27FC236}">
                <a16:creationId xmlns:a16="http://schemas.microsoft.com/office/drawing/2014/main" id="{F2F5C015-9BD8-4C17-8DE1-7DBA4BACF3BF}"/>
              </a:ext>
            </a:extLst>
          </p:cNvPr>
          <p:cNvSpPr>
            <a:spLocks noGrp="1"/>
          </p:cNvSpPr>
          <p:nvPr/>
        </p:nvSpPr>
        <p:spPr>
          <a:xfrm>
            <a:off x="25207200" y="20158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85,31 [70,59-94,46]</a:t>
            </a:r>
          </a:p>
        </p:txBody>
      </p:sp>
      <p:sp>
        <p:nvSpPr>
          <p:cNvPr id="236" name="Tabela 2: Uso de medicamento oral ou bombinha entre pessoas com asma por UF.-cell-20-2">
            <a:extLst>
              <a:ext uri="{FF2B5EF4-FFF2-40B4-BE49-F238E27FC236}">
                <a16:creationId xmlns:a16="http://schemas.microsoft.com/office/drawing/2014/main" id="{B5063D22-C123-4458-A80B-63FF9AB5DF65}"/>
              </a:ext>
            </a:extLst>
          </p:cNvPr>
          <p:cNvSpPr>
            <a:spLocks noGrp="1"/>
          </p:cNvSpPr>
          <p:nvPr/>
        </p:nvSpPr>
        <p:spPr>
          <a:xfrm>
            <a:off x="29167200" y="20158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74,79 [60,28-86,14]</a:t>
            </a:r>
          </a:p>
        </p:txBody>
      </p:sp>
      <p:sp>
        <p:nvSpPr>
          <p:cNvPr id="237" name="Tabela 2: Uso de medicamento oral ou bombinha entre pessoas com asma por UF.-cell-21-0">
            <a:extLst>
              <a:ext uri="{FF2B5EF4-FFF2-40B4-BE49-F238E27FC236}">
                <a16:creationId xmlns:a16="http://schemas.microsoft.com/office/drawing/2014/main" id="{9D63E9BE-DA26-4A70-AE57-680A9F9985FF}"/>
              </a:ext>
            </a:extLst>
          </p:cNvPr>
          <p:cNvSpPr>
            <a:spLocks noGrp="1"/>
          </p:cNvSpPr>
          <p:nvPr/>
        </p:nvSpPr>
        <p:spPr>
          <a:xfrm>
            <a:off x="23983200" y="20524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SC</a:t>
            </a:r>
          </a:p>
        </p:txBody>
      </p:sp>
      <p:sp>
        <p:nvSpPr>
          <p:cNvPr id="238" name="Tabela 2: Uso de medicamento oral ou bombinha entre pessoas com asma por UF.-cell-21-1">
            <a:extLst>
              <a:ext uri="{FF2B5EF4-FFF2-40B4-BE49-F238E27FC236}">
                <a16:creationId xmlns:a16="http://schemas.microsoft.com/office/drawing/2014/main" id="{1A249F3F-5417-4B4D-A5EF-FA27BC623B46}"/>
              </a:ext>
            </a:extLst>
          </p:cNvPr>
          <p:cNvSpPr>
            <a:spLocks noGrp="1"/>
          </p:cNvSpPr>
          <p:nvPr/>
        </p:nvSpPr>
        <p:spPr>
          <a:xfrm>
            <a:off x="25207200" y="20524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67,01 [30,86-92,39]</a:t>
            </a:r>
          </a:p>
        </p:txBody>
      </p:sp>
      <p:sp>
        <p:nvSpPr>
          <p:cNvPr id="239" name="Tabela 2: Uso de medicamento oral ou bombinha entre pessoas com asma por UF.-cell-21-2">
            <a:extLst>
              <a:ext uri="{FF2B5EF4-FFF2-40B4-BE49-F238E27FC236}">
                <a16:creationId xmlns:a16="http://schemas.microsoft.com/office/drawing/2014/main" id="{55C6057A-E673-4E94-A341-DB67DB403DFE}"/>
              </a:ext>
            </a:extLst>
          </p:cNvPr>
          <p:cNvSpPr>
            <a:spLocks noGrp="1"/>
          </p:cNvSpPr>
          <p:nvPr/>
        </p:nvSpPr>
        <p:spPr>
          <a:xfrm>
            <a:off x="29167200" y="20524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65,68 [45,89-82,15]</a:t>
            </a:r>
          </a:p>
        </p:txBody>
      </p:sp>
      <p:sp>
        <p:nvSpPr>
          <p:cNvPr id="240" name="Tabela 2: Uso de medicamento oral ou bombinha entre pessoas com asma por UF.-stripe-22">
            <a:extLst>
              <a:ext uri="{FF2B5EF4-FFF2-40B4-BE49-F238E27FC236}">
                <a16:creationId xmlns:a16="http://schemas.microsoft.com/office/drawing/2014/main" id="{081946CA-CA36-4728-8693-40E01A35C500}"/>
              </a:ext>
            </a:extLst>
          </p:cNvPr>
          <p:cNvSpPr>
            <a:spLocks noGrp="1"/>
          </p:cNvSpPr>
          <p:nvPr/>
        </p:nvSpPr>
        <p:spPr>
          <a:xfrm>
            <a:off x="23940000" y="20853333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Tabela 2: Uso de medicamento oral ou bombinha entre pessoas com asma por UF.-cell-22-0">
            <a:extLst>
              <a:ext uri="{FF2B5EF4-FFF2-40B4-BE49-F238E27FC236}">
                <a16:creationId xmlns:a16="http://schemas.microsoft.com/office/drawing/2014/main" id="{EB5A3219-E04B-4639-A742-C1D1C14FC7C0}"/>
              </a:ext>
            </a:extLst>
          </p:cNvPr>
          <p:cNvSpPr>
            <a:spLocks noGrp="1"/>
          </p:cNvSpPr>
          <p:nvPr/>
        </p:nvSpPr>
        <p:spPr>
          <a:xfrm>
            <a:off x="23983200" y="20889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RS</a:t>
            </a:r>
          </a:p>
        </p:txBody>
      </p:sp>
      <p:sp>
        <p:nvSpPr>
          <p:cNvPr id="242" name="Tabela 2: Uso de medicamento oral ou bombinha entre pessoas com asma por UF.-cell-22-1">
            <a:extLst>
              <a:ext uri="{FF2B5EF4-FFF2-40B4-BE49-F238E27FC236}">
                <a16:creationId xmlns:a16="http://schemas.microsoft.com/office/drawing/2014/main" id="{6F7C44E8-F195-4466-BDA3-4910EA10124C}"/>
              </a:ext>
            </a:extLst>
          </p:cNvPr>
          <p:cNvSpPr>
            <a:spLocks noGrp="1"/>
          </p:cNvSpPr>
          <p:nvPr/>
        </p:nvSpPr>
        <p:spPr>
          <a:xfrm>
            <a:off x="25207200" y="20889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83,19 [64,65-94,43]</a:t>
            </a:r>
          </a:p>
        </p:txBody>
      </p:sp>
      <p:sp>
        <p:nvSpPr>
          <p:cNvPr id="243" name="Tabela 2: Uso de medicamento oral ou bombinha entre pessoas com asma por UF.-cell-22-2">
            <a:extLst>
              <a:ext uri="{FF2B5EF4-FFF2-40B4-BE49-F238E27FC236}">
                <a16:creationId xmlns:a16="http://schemas.microsoft.com/office/drawing/2014/main" id="{7BCC6AE9-EC30-4ABF-AAC3-3155146784F2}"/>
              </a:ext>
            </a:extLst>
          </p:cNvPr>
          <p:cNvSpPr>
            <a:spLocks noGrp="1"/>
          </p:cNvSpPr>
          <p:nvPr/>
        </p:nvSpPr>
        <p:spPr>
          <a:xfrm>
            <a:off x="29167200" y="20889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61,33 [45,42-75,65]</a:t>
            </a:r>
          </a:p>
        </p:txBody>
      </p:sp>
      <p:sp>
        <p:nvSpPr>
          <p:cNvPr id="244" name="Tabela 2: Uso de medicamento oral ou bombinha entre pessoas com asma por UF.-cell-23-0">
            <a:extLst>
              <a:ext uri="{FF2B5EF4-FFF2-40B4-BE49-F238E27FC236}">
                <a16:creationId xmlns:a16="http://schemas.microsoft.com/office/drawing/2014/main" id="{D5E63074-8FF4-4E59-95F5-7DB37EAE6878}"/>
              </a:ext>
            </a:extLst>
          </p:cNvPr>
          <p:cNvSpPr>
            <a:spLocks noGrp="1"/>
          </p:cNvSpPr>
          <p:nvPr/>
        </p:nvSpPr>
        <p:spPr>
          <a:xfrm>
            <a:off x="23983200" y="21254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MS</a:t>
            </a:r>
          </a:p>
        </p:txBody>
      </p:sp>
      <p:sp>
        <p:nvSpPr>
          <p:cNvPr id="245" name="Tabela 2: Uso de medicamento oral ou bombinha entre pessoas com asma por UF.-cell-23-1">
            <a:extLst>
              <a:ext uri="{FF2B5EF4-FFF2-40B4-BE49-F238E27FC236}">
                <a16:creationId xmlns:a16="http://schemas.microsoft.com/office/drawing/2014/main" id="{E8A1D245-12DC-44DB-A859-3D53D0A4FAF8}"/>
              </a:ext>
            </a:extLst>
          </p:cNvPr>
          <p:cNvSpPr>
            <a:spLocks noGrp="1"/>
          </p:cNvSpPr>
          <p:nvPr/>
        </p:nvSpPr>
        <p:spPr>
          <a:xfrm>
            <a:off x="25207200" y="21254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80,53 [61,07-93,02]</a:t>
            </a:r>
          </a:p>
        </p:txBody>
      </p:sp>
      <p:sp>
        <p:nvSpPr>
          <p:cNvPr id="246" name="Tabela 2: Uso de medicamento oral ou bombinha entre pessoas com asma por UF.-cell-23-2">
            <a:extLst>
              <a:ext uri="{FF2B5EF4-FFF2-40B4-BE49-F238E27FC236}">
                <a16:creationId xmlns:a16="http://schemas.microsoft.com/office/drawing/2014/main" id="{15FFDFF5-753C-4088-87AD-21F505739417}"/>
              </a:ext>
            </a:extLst>
          </p:cNvPr>
          <p:cNvSpPr>
            <a:spLocks noGrp="1"/>
          </p:cNvSpPr>
          <p:nvPr/>
        </p:nvSpPr>
        <p:spPr>
          <a:xfrm>
            <a:off x="29167200" y="21254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69,40 [51,51-83,83]</a:t>
            </a:r>
          </a:p>
        </p:txBody>
      </p:sp>
      <p:sp>
        <p:nvSpPr>
          <p:cNvPr id="247" name="Tabela 2: Uso de medicamento oral ou bombinha entre pessoas com asma por UF.-stripe-24">
            <a:extLst>
              <a:ext uri="{FF2B5EF4-FFF2-40B4-BE49-F238E27FC236}">
                <a16:creationId xmlns:a16="http://schemas.microsoft.com/office/drawing/2014/main" id="{BAD9409A-B28E-4ABF-B2E1-467FBC72CFE3}"/>
              </a:ext>
            </a:extLst>
          </p:cNvPr>
          <p:cNvSpPr>
            <a:spLocks noGrp="1"/>
          </p:cNvSpPr>
          <p:nvPr/>
        </p:nvSpPr>
        <p:spPr>
          <a:xfrm>
            <a:off x="23940000" y="21584000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Tabela 2: Uso de medicamento oral ou bombinha entre pessoas com asma por UF.-cell-24-0">
            <a:extLst>
              <a:ext uri="{FF2B5EF4-FFF2-40B4-BE49-F238E27FC236}">
                <a16:creationId xmlns:a16="http://schemas.microsoft.com/office/drawing/2014/main" id="{BB8E866E-8069-4B35-AD4F-D00E46ADB7BF}"/>
              </a:ext>
            </a:extLst>
          </p:cNvPr>
          <p:cNvSpPr>
            <a:spLocks noGrp="1"/>
          </p:cNvSpPr>
          <p:nvPr/>
        </p:nvSpPr>
        <p:spPr>
          <a:xfrm>
            <a:off x="23983200" y="21620000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MT</a:t>
            </a:r>
          </a:p>
        </p:txBody>
      </p:sp>
      <p:sp>
        <p:nvSpPr>
          <p:cNvPr id="249" name="Tabela 2: Uso de medicamento oral ou bombinha entre pessoas com asma por UF.-cell-24-1">
            <a:extLst>
              <a:ext uri="{FF2B5EF4-FFF2-40B4-BE49-F238E27FC236}">
                <a16:creationId xmlns:a16="http://schemas.microsoft.com/office/drawing/2014/main" id="{557C90A6-EDA7-4838-B14A-5FF1BA6C4B8A}"/>
              </a:ext>
            </a:extLst>
          </p:cNvPr>
          <p:cNvSpPr>
            <a:spLocks noGrp="1"/>
          </p:cNvSpPr>
          <p:nvPr/>
        </p:nvSpPr>
        <p:spPr>
          <a:xfrm>
            <a:off x="25207200" y="21620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86,59 [61,99-97,89]</a:t>
            </a:r>
          </a:p>
        </p:txBody>
      </p:sp>
      <p:sp>
        <p:nvSpPr>
          <p:cNvPr id="250" name="Tabela 2: Uso de medicamento oral ou bombinha entre pessoas com asma por UF.-cell-24-2">
            <a:extLst>
              <a:ext uri="{FF2B5EF4-FFF2-40B4-BE49-F238E27FC236}">
                <a16:creationId xmlns:a16="http://schemas.microsoft.com/office/drawing/2014/main" id="{0F16AAD6-D8A7-481F-87C8-B202F70556E2}"/>
              </a:ext>
            </a:extLst>
          </p:cNvPr>
          <p:cNvSpPr>
            <a:spLocks noGrp="1"/>
          </p:cNvSpPr>
          <p:nvPr/>
        </p:nvSpPr>
        <p:spPr>
          <a:xfrm>
            <a:off x="29167200" y="21620000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71,01 [37,48-93,10]</a:t>
            </a:r>
          </a:p>
        </p:txBody>
      </p:sp>
      <p:sp>
        <p:nvSpPr>
          <p:cNvPr id="251" name="Tabela 2: Uso de medicamento oral ou bombinha entre pessoas com asma por UF.-cell-25-0">
            <a:extLst>
              <a:ext uri="{FF2B5EF4-FFF2-40B4-BE49-F238E27FC236}">
                <a16:creationId xmlns:a16="http://schemas.microsoft.com/office/drawing/2014/main" id="{3D9DE944-334E-4610-A48D-51607EC9D835}"/>
              </a:ext>
            </a:extLst>
          </p:cNvPr>
          <p:cNvSpPr>
            <a:spLocks noGrp="1"/>
          </p:cNvSpPr>
          <p:nvPr/>
        </p:nvSpPr>
        <p:spPr>
          <a:xfrm>
            <a:off x="23983200" y="21985333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GO</a:t>
            </a:r>
          </a:p>
        </p:txBody>
      </p:sp>
      <p:sp>
        <p:nvSpPr>
          <p:cNvPr id="252" name="Tabela 2: Uso de medicamento oral ou bombinha entre pessoas com asma por UF.-cell-25-1">
            <a:extLst>
              <a:ext uri="{FF2B5EF4-FFF2-40B4-BE49-F238E27FC236}">
                <a16:creationId xmlns:a16="http://schemas.microsoft.com/office/drawing/2014/main" id="{9E03EC8C-92D0-498A-A9C4-553AE9B4D968}"/>
              </a:ext>
            </a:extLst>
          </p:cNvPr>
          <p:cNvSpPr>
            <a:spLocks noGrp="1"/>
          </p:cNvSpPr>
          <p:nvPr/>
        </p:nvSpPr>
        <p:spPr>
          <a:xfrm>
            <a:off x="25207200" y="21985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80,41 [63,61-91,80]</a:t>
            </a:r>
          </a:p>
        </p:txBody>
      </p:sp>
      <p:sp>
        <p:nvSpPr>
          <p:cNvPr id="253" name="Tabela 2: Uso de medicamento oral ou bombinha entre pessoas com asma por UF.-cell-25-2">
            <a:extLst>
              <a:ext uri="{FF2B5EF4-FFF2-40B4-BE49-F238E27FC236}">
                <a16:creationId xmlns:a16="http://schemas.microsoft.com/office/drawing/2014/main" id="{965AE58E-2CF8-4864-87FC-FB487D3F31E9}"/>
              </a:ext>
            </a:extLst>
          </p:cNvPr>
          <p:cNvSpPr>
            <a:spLocks noGrp="1"/>
          </p:cNvSpPr>
          <p:nvPr/>
        </p:nvSpPr>
        <p:spPr>
          <a:xfrm>
            <a:off x="29167200" y="21985333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60,59 [43,81-75,73]</a:t>
            </a:r>
          </a:p>
        </p:txBody>
      </p:sp>
      <p:sp>
        <p:nvSpPr>
          <p:cNvPr id="254" name="Tabela 2: Uso de medicamento oral ou bombinha entre pessoas com asma por UF.-stripe-26">
            <a:extLst>
              <a:ext uri="{FF2B5EF4-FFF2-40B4-BE49-F238E27FC236}">
                <a16:creationId xmlns:a16="http://schemas.microsoft.com/office/drawing/2014/main" id="{A55B94A3-41C2-4F86-89F9-C99D52F6F22B}"/>
              </a:ext>
            </a:extLst>
          </p:cNvPr>
          <p:cNvSpPr>
            <a:spLocks noGrp="1"/>
          </p:cNvSpPr>
          <p:nvPr/>
        </p:nvSpPr>
        <p:spPr>
          <a:xfrm>
            <a:off x="23940000" y="22314667"/>
            <a:ext cx="9144000" cy="365333"/>
          </a:xfrm>
          <a:prstGeom prst="rect">
            <a:avLst/>
          </a:prstGeom>
          <a:solidFill>
            <a:srgbClr val="EAF6FB"/>
          </a:solidFill>
          <a:ln w="0">
            <a:solidFill>
              <a:srgbClr val="EA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Tabela 2: Uso de medicamento oral ou bombinha entre pessoas com asma por UF.-cell-26-0">
            <a:extLst>
              <a:ext uri="{FF2B5EF4-FFF2-40B4-BE49-F238E27FC236}">
                <a16:creationId xmlns:a16="http://schemas.microsoft.com/office/drawing/2014/main" id="{651289BE-1D72-4172-973D-EC50CA23774E}"/>
              </a:ext>
            </a:extLst>
          </p:cNvPr>
          <p:cNvSpPr>
            <a:spLocks noGrp="1"/>
          </p:cNvSpPr>
          <p:nvPr/>
        </p:nvSpPr>
        <p:spPr>
          <a:xfrm>
            <a:off x="23983200" y="22350667"/>
            <a:ext cx="1137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25" b="1">
                <a:solidFill>
                  <a:srgbClr val="102536"/>
                </a:solidFill>
              </a:defRPr>
            </a:pPr>
            <a:r>
              <a:rPr sz="2225" b="1">
                <a:solidFill>
                  <a:srgbClr val="102536"/>
                </a:solidFill>
              </a:rPr>
              <a:t>DF</a:t>
            </a:r>
          </a:p>
        </p:txBody>
      </p:sp>
      <p:sp>
        <p:nvSpPr>
          <p:cNvPr id="256" name="Tabela 2: Uso de medicamento oral ou bombinha entre pessoas com asma por UF.-cell-26-1">
            <a:extLst>
              <a:ext uri="{FF2B5EF4-FFF2-40B4-BE49-F238E27FC236}">
                <a16:creationId xmlns:a16="http://schemas.microsoft.com/office/drawing/2014/main" id="{2BB6683C-3379-4FDA-8EB5-79A21052DC7C}"/>
              </a:ext>
            </a:extLst>
          </p:cNvPr>
          <p:cNvSpPr>
            <a:spLocks noGrp="1"/>
          </p:cNvSpPr>
          <p:nvPr/>
        </p:nvSpPr>
        <p:spPr>
          <a:xfrm>
            <a:off x="25207200" y="22350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77,45 [49,84-94,19]</a:t>
            </a:r>
          </a:p>
        </p:txBody>
      </p:sp>
      <p:sp>
        <p:nvSpPr>
          <p:cNvPr id="257" name="Tabela 2: Uso de medicamento oral ou bombinha entre pessoas com asma por UF.-cell-26-2">
            <a:extLst>
              <a:ext uri="{FF2B5EF4-FFF2-40B4-BE49-F238E27FC236}">
                <a16:creationId xmlns:a16="http://schemas.microsoft.com/office/drawing/2014/main" id="{931B8171-3D3E-4EEE-957E-079520F4485E}"/>
              </a:ext>
            </a:extLst>
          </p:cNvPr>
          <p:cNvSpPr>
            <a:spLocks noGrp="1"/>
          </p:cNvSpPr>
          <p:nvPr/>
        </p:nvSpPr>
        <p:spPr>
          <a:xfrm>
            <a:off x="29167200" y="22350667"/>
            <a:ext cx="3873600" cy="365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25" b="0">
                <a:solidFill>
                  <a:srgbClr val="102536"/>
                </a:solidFill>
              </a:defRPr>
            </a:pPr>
            <a:r>
              <a:rPr sz="2225" b="0">
                <a:solidFill>
                  <a:srgbClr val="102536"/>
                </a:solidFill>
              </a:rPr>
              <a:t>52,79 [32,84-72,12]</a:t>
            </a:r>
          </a:p>
        </p:txBody>
      </p:sp>
      <p:sp>
        <p:nvSpPr>
          <p:cNvPr id="258" name="Tabela 2: Uso de medicamento oral ou bombinha entre pessoas com asma por UF.-note">
            <a:extLst>
              <a:ext uri="{FF2B5EF4-FFF2-40B4-BE49-F238E27FC236}">
                <a16:creationId xmlns:a16="http://schemas.microsoft.com/office/drawing/2014/main" id="{E947CDCA-36AE-4423-ADDA-4D573F19EA88}"/>
              </a:ext>
            </a:extLst>
          </p:cNvPr>
          <p:cNvSpPr>
            <a:spLocks noGrp="1"/>
          </p:cNvSpPr>
          <p:nvPr/>
        </p:nvSpPr>
        <p:spPr>
          <a:xfrm>
            <a:off x="23940000" y="22716000"/>
            <a:ext cx="9144000" cy="3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30" b="0">
                <a:solidFill>
                  <a:srgbClr val="4F6372"/>
                </a:solidFill>
              </a:defRPr>
            </a:pPr>
            <a:r>
              <a:rPr sz="1630" b="0">
                <a:solidFill>
                  <a:srgbClr val="4F6372"/>
                </a:solidFill>
              </a:rPr>
              <a:t>UF por sigla. Valores em %; IC95% beta entre colchetes. Brasil nos cards.</a:t>
            </a:r>
          </a:p>
        </p:txBody>
      </p:sp>
      <p:sp>
        <p:nvSpPr>
          <p:cNvPr id="259" name="Figura 1: Absenteísmo po">
            <a:extLst>
              <a:ext uri="{FF2B5EF4-FFF2-40B4-BE49-F238E27FC236}">
                <a16:creationId xmlns:a16="http://schemas.microsoft.com/office/drawing/2014/main" id="{4C96CAF4-B1A7-412A-866F-549624D888FB}"/>
              </a:ext>
            </a:extLst>
          </p:cNvPr>
          <p:cNvSpPr>
            <a:spLocks noGrp="1"/>
          </p:cNvSpPr>
          <p:nvPr/>
        </p:nvSpPr>
        <p:spPr>
          <a:xfrm>
            <a:off x="9000000" y="23652000"/>
            <a:ext cx="11592000" cy="86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23" b="1">
                <a:solidFill>
                  <a:srgbClr val="153F59"/>
                </a:solidFill>
              </a:defRPr>
            </a:pPr>
            <a:r>
              <a:rPr sz="2523" b="1">
                <a:solidFill>
                  <a:srgbClr val="153F59"/>
                </a:solidFill>
              </a:rPr>
              <a:t>Figura 1: Absenteísmo por motivo de saúde no Brasil, com destaque para causas respiratórias, PNS 2019.</a:t>
            </a:r>
          </a:p>
        </p:txBody>
      </p:sp>
      <p:sp>
        <p:nvSpPr>
          <p:cNvPr id="260" name="Figura 1: Absenteísmo por motivo de saúde no Brasil, com destaque para causas respiratórias, PNS 2019.-frame">
            <a:extLst>
              <a:ext uri="{FF2B5EF4-FFF2-40B4-BE49-F238E27FC236}">
                <a16:creationId xmlns:a16="http://schemas.microsoft.com/office/drawing/2014/main" id="{219681FA-9D79-4E05-A7B9-BB9960FCB901}"/>
              </a:ext>
            </a:extLst>
          </p:cNvPr>
          <p:cNvSpPr>
            <a:spLocks noGrp="1"/>
          </p:cNvSpPr>
          <p:nvPr/>
        </p:nvSpPr>
        <p:spPr>
          <a:xfrm>
            <a:off x="9000000" y="24516000"/>
            <a:ext cx="11592000" cy="6876000"/>
          </a:xfrm>
          <a:prstGeom prst="rect">
            <a:avLst/>
          </a:prstGeom>
          <a:solidFill>
            <a:srgbClr val="FFFFFF"/>
          </a:solidFill>
          <a:ln w="36000">
            <a:solidFill>
              <a:srgbClr val="9BC5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3" name="Imagem 5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144000" y="24791571"/>
            <a:ext cx="11304000" cy="6324857"/>
          </a:xfrm>
          <a:prstGeom prst="rect">
            <a:avLst/>
          </a:prstGeom>
        </p:spPr>
      </p:pic>
      <p:sp>
        <p:nvSpPr>
          <p:cNvPr id="262" name="Figura 2: Média de dias ">
            <a:extLst>
              <a:ext uri="{FF2B5EF4-FFF2-40B4-BE49-F238E27FC236}">
                <a16:creationId xmlns:a16="http://schemas.microsoft.com/office/drawing/2014/main" id="{E105B12F-EA6F-462B-93E4-DB16DA143F37}"/>
              </a:ext>
            </a:extLst>
          </p:cNvPr>
          <p:cNvSpPr>
            <a:spLocks noGrp="1"/>
          </p:cNvSpPr>
          <p:nvPr/>
        </p:nvSpPr>
        <p:spPr>
          <a:xfrm>
            <a:off x="20880000" y="23652000"/>
            <a:ext cx="11592000" cy="86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23" b="1">
                <a:solidFill>
                  <a:srgbClr val="153F59"/>
                </a:solidFill>
              </a:defRPr>
            </a:pPr>
            <a:r>
              <a:rPr sz="2523" b="1">
                <a:solidFill>
                  <a:srgbClr val="153F59"/>
                </a:solidFill>
              </a:rPr>
              <a:t>Figura 2: Média de dias perdidos por motivo de saúde no Brasil, com destaque para causas respiratórias, PNS 2019.</a:t>
            </a:r>
          </a:p>
        </p:txBody>
      </p:sp>
      <p:sp>
        <p:nvSpPr>
          <p:cNvPr id="263" name="Figura 2: Média de dias perdidos por motivo de saúde no Brasil, com destaque para causas respiratórias, PNS 2019.-frame">
            <a:extLst>
              <a:ext uri="{FF2B5EF4-FFF2-40B4-BE49-F238E27FC236}">
                <a16:creationId xmlns:a16="http://schemas.microsoft.com/office/drawing/2014/main" id="{E38344A8-1010-401C-AECE-500657EDE669}"/>
              </a:ext>
            </a:extLst>
          </p:cNvPr>
          <p:cNvSpPr>
            <a:spLocks noGrp="1"/>
          </p:cNvSpPr>
          <p:nvPr/>
        </p:nvSpPr>
        <p:spPr>
          <a:xfrm>
            <a:off x="20880000" y="24516000"/>
            <a:ext cx="11592000" cy="6876000"/>
          </a:xfrm>
          <a:prstGeom prst="rect">
            <a:avLst/>
          </a:prstGeom>
          <a:solidFill>
            <a:srgbClr val="FFFFFF"/>
          </a:solidFill>
          <a:ln w="36000">
            <a:solidFill>
              <a:srgbClr val="9BC5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6" name="Imagem 53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1024000" y="24791571"/>
            <a:ext cx="11304000" cy="6324857"/>
          </a:xfrm>
          <a:prstGeom prst="rect">
            <a:avLst/>
          </a:prstGeom>
        </p:spPr>
      </p:pic>
      <p:sp>
        <p:nvSpPr>
          <p:cNvPr id="265" name="qr-label">
            <a:extLst>
              <a:ext uri="{FF2B5EF4-FFF2-40B4-BE49-F238E27FC236}">
                <a16:creationId xmlns:a16="http://schemas.microsoft.com/office/drawing/2014/main" id="{E74D9AFC-765D-4004-8E01-8CDE7DCFAEED}"/>
              </a:ext>
            </a:extLst>
          </p:cNvPr>
          <p:cNvSpPr>
            <a:spLocks noGrp="1"/>
          </p:cNvSpPr>
          <p:nvPr/>
        </p:nvSpPr>
        <p:spPr>
          <a:xfrm>
            <a:off x="32760000" y="24696000"/>
            <a:ext cx="2376000" cy="230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66" b="1">
                <a:solidFill>
                  <a:srgbClr val="153F59"/>
                </a:solidFill>
              </a:defRPr>
            </a:pPr>
            <a:r>
              <a:rPr sz="2466" b="1">
                <a:solidFill>
                  <a:srgbClr val="153F59"/>
                </a:solidFill>
              </a:rPr>
              <a:t>Aponte para acessar o relatório metodológico completo</a:t>
            </a:r>
          </a:p>
        </p:txBody>
      </p:sp>
      <p:pic>
        <p:nvPicPr>
          <p:cNvPr id="538" name="Imagem 537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2760000" y="27360000"/>
            <a:ext cx="2376000" cy="2376000"/>
          </a:xfrm>
          <a:prstGeom prst="rect">
            <a:avLst/>
          </a:prstGeom>
        </p:spPr>
      </p:pic>
      <p:sp>
        <p:nvSpPr>
          <p:cNvPr id="267" name="right-title">
            <a:extLst>
              <a:ext uri="{FF2B5EF4-FFF2-40B4-BE49-F238E27FC236}">
                <a16:creationId xmlns:a16="http://schemas.microsoft.com/office/drawing/2014/main" id="{31EEF22B-A91C-4CB4-9110-D72CB26CB57E}"/>
              </a:ext>
            </a:extLst>
          </p:cNvPr>
          <p:cNvSpPr>
            <a:spLocks noGrp="1"/>
          </p:cNvSpPr>
          <p:nvPr/>
        </p:nvSpPr>
        <p:spPr>
          <a:xfrm>
            <a:off x="36057600" y="5400000"/>
            <a:ext cx="6840000" cy="12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25" b="1">
                <a:solidFill>
                  <a:srgbClr val="102536"/>
                </a:solidFill>
              </a:defRPr>
            </a:pPr>
            <a:r>
              <a:rPr sz="4025" b="1">
                <a:solidFill>
                  <a:srgbClr val="102536"/>
                </a:solidFill>
              </a:rPr>
              <a:t>Discussão e Implicações</a:t>
            </a:r>
          </a:p>
        </p:txBody>
      </p:sp>
      <p:sp>
        <p:nvSpPr>
          <p:cNvPr id="268" name="right-discussion">
            <a:extLst>
              <a:ext uri="{FF2B5EF4-FFF2-40B4-BE49-F238E27FC236}">
                <a16:creationId xmlns:a16="http://schemas.microsoft.com/office/drawing/2014/main" id="{4E9DACD4-4F95-40C8-A2A4-958DDE5CF98C}"/>
              </a:ext>
            </a:extLst>
          </p:cNvPr>
          <p:cNvSpPr>
            <a:spLocks noGrp="1"/>
          </p:cNvSpPr>
          <p:nvPr/>
        </p:nvSpPr>
        <p:spPr>
          <a:xfrm>
            <a:off x="36057600" y="6840000"/>
            <a:ext cx="7092000" cy="15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DISCUSSÃO APLICADA</a:t>
            </a:r>
          </a:p>
          <a:p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O aumento de diagnóstico pode refletir maior ocorrência, melhor acesso diagnóstico ou ambos.</a:t>
            </a:r>
          </a:p>
          <a:p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Crises recentes estáveis indicam que maior detecção não se traduz automaticamente em melhor controle clínico.</a:t>
            </a:r>
          </a:p>
          <a:p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A queda no uso de medicamentos entre asmáticos deve ser lida com cautela: denominador, composição dos diagnosticados e IC95% mudam a interpretação.</a:t>
            </a:r>
          </a:p>
          <a:p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O impacto funcional interessa à economia: crises e sintomas respiratórios podem aumentar faltas, dias perdidos, perda de produtividade e pressão financeira sobre famílias e serviços.</a:t>
            </a:r>
          </a:p>
          <a:p>
            <a:endParaRPr sz="2112" b="0">
              <a:solidFill>
                <a:srgbClr val="102536"/>
              </a:solidFill>
            </a:endParaRPr>
          </a:p>
          <a:p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IC BETA E INFERÊNCIA</a:t>
            </a:r>
          </a:p>
          <a:p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Proporções em UFs e subgrupos podem ter poucos eventos e limites próximos de 0 ou 1.</a:t>
            </a:r>
          </a:p>
          <a:p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O IC de Wald pode gerar cobertura instável e limites impossíveis.</a:t>
            </a:r>
          </a:p>
          <a:p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O IC beta respeita a escala 0-1 e foi usado nas proporções estimadas pelo survey::svyciprop(method = "beta").</a:t>
            </a:r>
          </a:p>
          <a:p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Comparações entre anos/UFs combinam magnitude e sobreposição dos IC95%.</a:t>
            </a:r>
          </a:p>
          <a:p>
            <a:endParaRPr sz="2112" b="0">
              <a:solidFill>
                <a:srgbClr val="102536"/>
              </a:solidFill>
            </a:endParaRPr>
          </a:p>
          <a:p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ETL, OMOP E ECONOMIA</a:t>
            </a:r>
          </a:p>
          <a:p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O fluxo documenta extração, tratamento, desenho amostral e visualização reprodutível.</a:t>
            </a:r>
          </a:p>
          <a:p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A PNS não é base clínica longitudinal, mas pode servir como camada populacional de referência para OMOP/OHDSI.</a:t>
            </a:r>
          </a:p>
          <a:p>
            <a:pPr algn="l">
              <a:defRPr sz="2112" b="0">
                <a:solidFill>
                  <a:srgbClr val="102536"/>
                </a:solidFill>
              </a:defRPr>
            </a:pPr>
            <a:r>
              <a:rPr sz="2112" b="0">
                <a:solidFill>
                  <a:srgbClr val="102536"/>
                </a:solidFill>
              </a:rPr>
              <a:t>• A harmonização de indicadores apoia interoperabilidade, comparação com bases assistenciais e priorização de políticas.</a:t>
            </a:r>
          </a:p>
        </p:txBody>
      </p:sp>
      <p:sp>
        <p:nvSpPr>
          <p:cNvPr id="269" name="refs-heading">
            <a:extLst>
              <a:ext uri="{FF2B5EF4-FFF2-40B4-BE49-F238E27FC236}">
                <a16:creationId xmlns:a16="http://schemas.microsoft.com/office/drawing/2014/main" id="{37EFE6F2-23AC-49A4-96DB-602E01201BFF}"/>
              </a:ext>
            </a:extLst>
          </p:cNvPr>
          <p:cNvSpPr>
            <a:spLocks noGrp="1"/>
          </p:cNvSpPr>
          <p:nvPr/>
        </p:nvSpPr>
        <p:spPr>
          <a:xfrm>
            <a:off x="36057600" y="22788000"/>
            <a:ext cx="7272000" cy="50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53" b="1">
                <a:solidFill>
                  <a:srgbClr val="153F59"/>
                </a:solidFill>
              </a:defRPr>
            </a:pPr>
            <a:r>
              <a:rPr sz="2353" b="1">
                <a:solidFill>
                  <a:srgbClr val="153F59"/>
                </a:solidFill>
              </a:rPr>
              <a:t>REFERÊNCIAS</a:t>
            </a:r>
          </a:p>
        </p:txBody>
      </p:sp>
      <p:sp>
        <p:nvSpPr>
          <p:cNvPr id="270" name="refs-left">
            <a:extLst>
              <a:ext uri="{FF2B5EF4-FFF2-40B4-BE49-F238E27FC236}">
                <a16:creationId xmlns:a16="http://schemas.microsoft.com/office/drawing/2014/main" id="{5FD5517F-D450-4AB2-8A1F-F1775AD3B4FD}"/>
              </a:ext>
            </a:extLst>
          </p:cNvPr>
          <p:cNvSpPr>
            <a:spLocks noGrp="1"/>
          </p:cNvSpPr>
          <p:nvPr/>
        </p:nvSpPr>
        <p:spPr>
          <a:xfrm>
            <a:off x="36057600" y="23364000"/>
            <a:ext cx="3546000" cy="464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[1] GLOBAL ASTHMA NETWORK. Global Asthma Report 2022. Auckland, New Zealand: Global Asthma Network, 2022. Disponível em: https://globalasthmareport.org/resources/Global_Asthma_Report_2022.pdf. Acesso em: 19 set. 2025.</a:t>
            </a:r>
          </a:p>
          <a:p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[2] SOUZA-JÚNIOR, Paulo Roberto Borges de et al. Desenho da amostra da Pesquisa Nacional de Saúde 2013. Epidemiologia e Serviços de Saúde, v. 24, p. 207-216, 2015.</a:t>
            </a:r>
          </a:p>
          <a:p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[3] DUBE, I.; SILVA, M. E. L. PNS_2013_2019. GitHub, 2026. Disponível em: https://github.com/ingodube/PNS_2013_2019. Acesso em: 28 mai. 2026.</a:t>
            </a:r>
          </a:p>
          <a:p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[4] MENEZES, A. M. B. et al. Prevalência de diagnóstico médico de asma em adultos brasileiros: Pesquisa Nacional de Saúde, 2013. Revista Brasileira de Epidemiologia, São Paulo, v. 18, supl. 2, p. 204-213, 2015.</a:t>
            </a:r>
          </a:p>
          <a:p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[5] SEVERE ASTHMA. Non-Pharmacological Interventions for Asthma. Disponível em: https://www.severeasthma.org.au/non-pharmacological-interventions-asthma/. Acesso em: 19 set. 2025.</a:t>
            </a:r>
          </a:p>
          <a:p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[6] SANTOS, Felipe Moraes dos et al. Tendência da prevalência de asma autorreferida no Brasil de 2003 a 2013 em adultos e fatores associados à prevalência. Jornal Brasileiro de Pneumologia, v. 44, n. 6, p. 491-497, 2018. doi:10.1590/S1806-37562017000000328.</a:t>
            </a:r>
          </a:p>
          <a:p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[7] TO, T. et al. Global asthma prevalence in adults: findings from the cross-sectional world health survey. BMC Public Health, v. 12, art. 204, 2012. doi:10.1186/1471-2458-12-204.</a:t>
            </a:r>
          </a:p>
        </p:txBody>
      </p:sp>
      <p:sp>
        <p:nvSpPr>
          <p:cNvPr id="271" name="refs-right">
            <a:extLst>
              <a:ext uri="{FF2B5EF4-FFF2-40B4-BE49-F238E27FC236}">
                <a16:creationId xmlns:a16="http://schemas.microsoft.com/office/drawing/2014/main" id="{96613194-2C34-4112-B08A-535E81CC64ED}"/>
              </a:ext>
            </a:extLst>
          </p:cNvPr>
          <p:cNvSpPr>
            <a:spLocks noGrp="1"/>
          </p:cNvSpPr>
          <p:nvPr/>
        </p:nvSpPr>
        <p:spPr>
          <a:xfrm>
            <a:off x="39783600" y="23364000"/>
            <a:ext cx="3546000" cy="464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[8] OHDSI. Standardized Data: The OMOP Common Data Model. Disponível em: https://www.ohdsi.org/data-standardization/.</a:t>
            </a:r>
          </a:p>
          <a:p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[9] OHDSI. OMOP Common Data Model. Disponível em: https://ohdsi.github.io/CommonDataModel/.</a:t>
            </a:r>
          </a:p>
          <a:p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[10] OHDSI. ETL Creation Best Practices. Disponível em: https://www.ohdsi.org/web/wiki/doku.php?id=documentation:etl_best_practices.</a:t>
            </a:r>
          </a:p>
          <a:p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[11] LUMLEY, Thomas. Complex Surveys: A Guide to Analysis Using R. Hoboken: Wiley, 2010.</a:t>
            </a:r>
          </a:p>
          <a:p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[12] BROWN, Lawrence D.; CAI, T. Tony; DASGUPTA, Anirban. Interval estimation for a binomial proportion. Statistical Science, v. 16, n. 2, p. 101-133, 2001. doi:10.1214/ss/1009213286.</a:t>
            </a:r>
          </a:p>
          <a:p>
            <a:pPr algn="l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[13] KORN, Edward L.; GRAUBARD, Barry I. Confidence intervals for proportions with small expected number of positive counts estimated from survey data. Survey Methodology, v. 24, n. 2, p. 193-201, 1998.</a:t>
            </a:r>
          </a:p>
        </p:txBody>
      </p:sp>
      <p:sp>
        <p:nvSpPr>
          <p:cNvPr id="272" name="author-footer">
            <a:extLst>
              <a:ext uri="{FF2B5EF4-FFF2-40B4-BE49-F238E27FC236}">
                <a16:creationId xmlns:a16="http://schemas.microsoft.com/office/drawing/2014/main" id="{9FEF3994-0B72-4E25-8C79-BE640049C9B5}"/>
              </a:ext>
            </a:extLst>
          </p:cNvPr>
          <p:cNvSpPr>
            <a:spLocks noGrp="1"/>
          </p:cNvSpPr>
          <p:nvPr/>
        </p:nvSpPr>
        <p:spPr>
          <a:xfrm>
            <a:off x="36777600" y="28080000"/>
            <a:ext cx="4248000" cy="129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41" b="0">
                <a:solidFill>
                  <a:srgbClr val="102536"/>
                </a:solidFill>
              </a:defRPr>
            </a:pPr>
            <a:r>
              <a:rPr sz="2041" b="0">
                <a:solidFill>
                  <a:srgbClr val="102536"/>
                </a:solidFill>
              </a:rPr>
              <a:t>I. Dube; M. E. L. Silva</a:t>
            </a:r>
          </a:p>
          <a:p>
            <a:pPr algn="l">
              <a:defRPr sz="2041" b="0">
                <a:solidFill>
                  <a:srgbClr val="102536"/>
                </a:solidFill>
              </a:defRPr>
            </a:pPr>
            <a:r>
              <a:rPr sz="2041" b="0">
                <a:solidFill>
                  <a:srgbClr val="102536"/>
                </a:solidFill>
              </a:rPr>
              <a:t>PNS 2013-2019 | Brasil</a:t>
            </a:r>
          </a:p>
        </p:txBody>
      </p:sp>
    </p:spTree>
    <p:extLst>
      <p:ext uri="{BB962C8B-B14F-4D97-AF65-F5344CB8AC3E}">
        <p14:creationId xmlns:p14="http://schemas.microsoft.com/office/powerpoint/2010/main" val="14325283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1687</Words>
  <Application>Microsoft Office PowerPoint</Application>
  <DocSecurity>0</DocSecurity>
  <PresentationFormat>Personalizar</PresentationFormat>
  <Paragraphs>254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Calibri</vt:lpstr>
      <vt:lpstr>ChatGPT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Ingo Dube Souza</cp:lastModifiedBy>
  <cp:revision>1</cp:revision>
  <dcterms:created xsi:type="dcterms:W3CDTF">2026-07-22T11:53:59Z</dcterms:created>
  <dcterms:modified xsi:type="dcterms:W3CDTF">2026-07-22T12:04:23Z</dcterms:modified>
</cp:coreProperties>
</file>