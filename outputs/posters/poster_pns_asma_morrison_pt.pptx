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f58713e4a614b77" /><Relationship Type="http://schemas.openxmlformats.org/officeDocument/2006/relationships/extended-properties" Target="/docProps/app.xml" Id="Rf41c77a59d83467b" /><Relationship Type="http://schemas.openxmlformats.org/officeDocument/2006/relationships/officeDocument" Target="/ppt/presentation.xml" Id="Re0cc49789cb448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f25461995d4198"/>
  </p:sldMasterIdLst>
  <p:notesMasterIdLst>
    <p:notesMasterId xmlns:r="http://schemas.openxmlformats.org/officeDocument/2006/relationships" r:id="Rb75df8c89eb4499d"/>
  </p:notesMasterIdLst>
  <p:sldIdLst>
    <p:sldId xmlns:r="http://schemas.openxmlformats.org/officeDocument/2006/relationships" id="256" r:id="R9c13de1aaf62403d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3a573179ce342a5" /><Relationship Type="http://schemas.openxmlformats.org/officeDocument/2006/relationships/slideMaster" Target="/ppt/slideMasters/slideMaster1.xml" Id="R99f25461995d4198" /><Relationship Type="http://schemas.openxmlformats.org/officeDocument/2006/relationships/notesMaster" Target="/ppt/notesMasters/notesMaster1.xml" Id="Rb75df8c89eb4499d" /><Relationship Type="http://schemas.openxmlformats.org/officeDocument/2006/relationships/presProps" Target="/ppt/presProps.xml" Id="R20a77cf6eff54a57" /><Relationship Type="http://schemas.openxmlformats.org/officeDocument/2006/relationships/tableStyles" Target="/ppt/tableStyles.xml" Id="R2bced06a8a014c8f" /><Relationship Type="http://schemas.openxmlformats.org/officeDocument/2006/relationships/slide" Target="/ppt/slides/slide1.xml" Id="R9c13de1aaf6240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9b34df768c64a8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b4f9626ff3a4661" /><Relationship Type="http://schemas.openxmlformats.org/officeDocument/2006/relationships/notesMaster" Target="/ppt/notesMasters/notesMaster1.xml" Id="Rf4303212da7744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2110d82b594d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e91ca421cc4dcd" /><Relationship Type="http://schemas.openxmlformats.org/officeDocument/2006/relationships/slideLayout" Target="/ppt/slideLayouts/slideLayout1.xml" Id="R1d8fb080eca541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8fb080eca541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bbe76e4730435f" /><Relationship Type="http://schemas.openxmlformats.org/officeDocument/2006/relationships/image" Target="/ppt/media/image.png" Id="R12591d59717140b2" /><Relationship Type="http://schemas.openxmlformats.org/officeDocument/2006/relationships/image" Target="/ppt/media/image2.png" Id="R73234604581c4b31" /><Relationship Type="http://schemas.openxmlformats.org/officeDocument/2006/relationships/image" Target="/ppt/media/image3.png" Id="Rd44d9f4741a94fb1" /><Relationship Type="http://schemas.openxmlformats.org/officeDocument/2006/relationships/image" Target="/ppt/media/image4.png" Id="R2baa2a3f71b943ea" /><Relationship Type="http://schemas.openxmlformats.org/officeDocument/2006/relationships/image" Target="/ppt/media/image5.png" Id="R5f64831090624e02" /><Relationship Type="http://schemas.openxmlformats.org/officeDocument/2006/relationships/image" Target="/ppt/media/image6.png" Id="R71e68793bd2a4606" /><Relationship Type="http://schemas.openxmlformats.org/officeDocument/2006/relationships/image" Target="/ppt/media/image7.png" Id="Rcada5a43124e498a" /><Relationship Type="http://schemas.openxmlformats.org/officeDocument/2006/relationships/image" Target="/ppt/media/image8.png" Id="R7c3dca966e854fff" /><Relationship Type="http://schemas.openxmlformats.org/officeDocument/2006/relationships/notesSlide" Target="/ppt/notesSlides/notesSlide1.xml" Id="Rdb990cb638c041b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591d59717140b2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234604581c4b31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4d9f4741a94fb1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morrison-title">
            <a:extLst xmlns:a="http://schemas.openxmlformats.org/drawingml/2006/main">
              <a:ext uri="{FF2B5EF4-FFF2-40B4-BE49-F238E27FC236}">
                <a16:creationId xmlns:a16="http://schemas.microsoft.com/office/drawing/2014/main" id="{AEDF4276-431A-4827-BFDB-2A391604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morrison-authors">
            <a:extLst xmlns:a="http://schemas.openxmlformats.org/drawingml/2006/main">
              <a:ext uri="{FF2B5EF4-FFF2-40B4-BE49-F238E27FC236}">
                <a16:creationId xmlns:a16="http://schemas.microsoft.com/office/drawing/2014/main" id="{6652BD72-81F7-4FE6-B3B5-11D6D274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central-message">
            <a:extLst xmlns:a="http://schemas.openxmlformats.org/drawingml/2006/main">
              <a:ext uri="{FF2B5EF4-FFF2-40B4-BE49-F238E27FC236}">
                <a16:creationId xmlns:a16="http://schemas.microsoft.com/office/drawing/2014/main" id="{446E88EE-021E-4C63-BE81-D2CAB54E5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8153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Diagnóstico médico de asma aumentou no Brasil; crises e uso de medicamentos não indicam melhora proporcional no controle da doença.</a:t>
            </a:r>
          </a:p>
        </p:txBody>
      </p:sp>
      <p:sp>
        <p:nvSpPr>
          <p:cNvPr id="7" name="1-Método em uma linha-box">
            <a:extLst xmlns:a="http://schemas.openxmlformats.org/drawingml/2006/main">
              <a:ext uri="{FF2B5EF4-FFF2-40B4-BE49-F238E27FC236}">
                <a16:creationId xmlns:a16="http://schemas.microsoft.com/office/drawing/2014/main" id="{1EF45DB5-58FC-4C9E-8D32-2E3F9094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8" name="1-Método em uma linha-head">
            <a:extLst xmlns:a="http://schemas.openxmlformats.org/drawingml/2006/main">
              <a:ext uri="{FF2B5EF4-FFF2-40B4-BE49-F238E27FC236}">
                <a16:creationId xmlns:a16="http://schemas.microsoft.com/office/drawing/2014/main" id="{32531A19-9C34-46DB-AA8F-317DCC4A2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515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9" name="1-Método em uma linha-title">
            <a:extLst xmlns:a="http://schemas.openxmlformats.org/drawingml/2006/main">
              <a:ext uri="{FF2B5EF4-FFF2-40B4-BE49-F238E27FC236}">
                <a16:creationId xmlns:a16="http://schemas.microsoft.com/office/drawing/2014/main" id="{37659DFB-B9C3-4D22-B775-DCDB74A6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5277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Método em uma linha</a:t>
            </a:r>
          </a:p>
        </p:txBody>
      </p:sp>
      <p:sp>
        <p:nvSpPr>
          <p:cNvPr id="10" name="1-Método em uma linha-body">
            <a:extLst xmlns:a="http://schemas.openxmlformats.org/drawingml/2006/main">
              <a:ext uri="{FF2B5EF4-FFF2-40B4-BE49-F238E27FC236}">
                <a16:creationId xmlns:a16="http://schemas.microsoft.com/office/drawing/2014/main" id="{26504A8D-7309-4822-9C6C-F7AD0C6B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48050"/>
            <a:ext cx="249555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11" name="morrison-formula-box">
            <a:extLst xmlns:a="http://schemas.openxmlformats.org/drawingml/2006/main">
              <a:ext uri="{FF2B5EF4-FFF2-40B4-BE49-F238E27FC236}">
                <a16:creationId xmlns:a16="http://schemas.microsoft.com/office/drawing/2014/main" id="{3D46F6C0-E341-4F33-A8B6-00E127020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10150"/>
            <a:ext cx="268605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2" name="morrison-formula-title">
            <a:extLst xmlns:a="http://schemas.openxmlformats.org/drawingml/2006/main">
              <a:ext uri="{FF2B5EF4-FFF2-40B4-BE49-F238E27FC236}">
                <a16:creationId xmlns:a16="http://schemas.microsoft.com/office/drawing/2014/main" id="{44FA876E-6A2A-4C0D-83EE-530582C8E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67300"/>
            <a:ext cx="2686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13" name="morrison-formula">
            <a:extLst xmlns:a="http://schemas.openxmlformats.org/drawingml/2006/main">
              <a:ext uri="{FF2B5EF4-FFF2-40B4-BE49-F238E27FC236}">
                <a16:creationId xmlns:a16="http://schemas.microsoft.com/office/drawing/2014/main" id="{03733974-F0C4-4DAC-ABFA-C0FDA6C73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276850"/>
            <a:ext cx="24955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14" name="2-Dados e denominadores-box">
            <a:extLst xmlns:a="http://schemas.openxmlformats.org/drawingml/2006/main">
              <a:ext uri="{FF2B5EF4-FFF2-40B4-BE49-F238E27FC236}">
                <a16:creationId xmlns:a16="http://schemas.microsoft.com/office/drawing/2014/main" id="{586D3F19-98A6-4BA4-806B-3ADEA20D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1314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2-Dados e denominadores-head">
            <a:extLst xmlns:a="http://schemas.openxmlformats.org/drawingml/2006/main">
              <a:ext uri="{FF2B5EF4-FFF2-40B4-BE49-F238E27FC236}">
                <a16:creationId xmlns:a16="http://schemas.microsoft.com/office/drawing/2014/main" id="{8989C50A-70B7-4C3C-B299-6D724CFE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532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16" name="2-Dados e denominadores-title">
            <a:extLst xmlns:a="http://schemas.openxmlformats.org/drawingml/2006/main">
              <a:ext uri="{FF2B5EF4-FFF2-40B4-BE49-F238E27FC236}">
                <a16:creationId xmlns:a16="http://schemas.microsoft.com/office/drawing/2014/main" id="{E86C7CB5-825C-49F5-8FB9-7BB03A45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008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Dados e denominadores</a:t>
            </a:r>
          </a:p>
        </p:txBody>
      </p:sp>
      <p:sp>
        <p:nvSpPr>
          <p:cNvPr id="17" name="2-Dados e denominadores-body">
            <a:extLst xmlns:a="http://schemas.openxmlformats.org/drawingml/2006/main">
              <a:ext uri="{FF2B5EF4-FFF2-40B4-BE49-F238E27FC236}">
                <a16:creationId xmlns:a16="http://schemas.microsoft.com/office/drawing/2014/main" id="{58D424B8-065A-45A2-A434-4E260D22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896100"/>
            <a:ext cx="2495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00" b="0">
                <a:solidFill>
                  <a:srgbClr val="102536"/>
                </a:solidFill>
              </a:defRPr>
            </a:pPr>
            <a:r>
              <a:rPr sz="600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3-Por que IC beta?-box">
            <a:extLst xmlns:a="http://schemas.openxmlformats.org/drawingml/2006/main">
              <a:ext uri="{FF2B5EF4-FFF2-40B4-BE49-F238E27FC236}">
                <a16:creationId xmlns:a16="http://schemas.microsoft.com/office/drawing/2014/main" id="{6222072A-C605-48FC-A8C3-4AFAD579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3-Por que IC beta?-head">
            <a:extLst xmlns:a="http://schemas.openxmlformats.org/drawingml/2006/main">
              <a:ext uri="{FF2B5EF4-FFF2-40B4-BE49-F238E27FC236}">
                <a16:creationId xmlns:a16="http://schemas.microsoft.com/office/drawing/2014/main" id="{8F522BDF-94BF-496E-B482-CE14E9F9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8001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0" name="3-Por que IC beta?-title">
            <a:extLst xmlns:a="http://schemas.openxmlformats.org/drawingml/2006/main">
              <a:ext uri="{FF2B5EF4-FFF2-40B4-BE49-F238E27FC236}">
                <a16:creationId xmlns:a16="http://schemas.microsoft.com/office/drawing/2014/main" id="{528244F5-C8DD-454A-AB93-C57C7F58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048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Por que IC beta?</a:t>
            </a:r>
          </a:p>
        </p:txBody>
      </p:sp>
      <p:sp>
        <p:nvSpPr>
          <p:cNvPr id="21" name="3-Por que IC beta?-body">
            <a:extLst xmlns:a="http://schemas.openxmlformats.org/drawingml/2006/main">
              <a:ext uri="{FF2B5EF4-FFF2-40B4-BE49-F238E27FC236}">
                <a16:creationId xmlns:a16="http://schemas.microsoft.com/office/drawing/2014/main" id="{52C782DF-AAE2-472D-8EF6-F339D9B3C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8343900"/>
            <a:ext cx="2495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85" b="0">
                <a:solidFill>
                  <a:srgbClr val="102536"/>
                </a:solidFill>
              </a:defRPr>
            </a:pPr>
            <a:r>
              <a:rPr sz="585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22" name="4-ETL e interoperabilidade-box">
            <a:extLst xmlns:a="http://schemas.openxmlformats.org/drawingml/2006/main">
              <a:ext uri="{FF2B5EF4-FFF2-40B4-BE49-F238E27FC236}">
                <a16:creationId xmlns:a16="http://schemas.microsoft.com/office/drawing/2014/main" id="{14729F0E-7B97-4D17-A01D-BD5D9700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3" name="4-ETL e interoperabilidade-head">
            <a:extLst xmlns:a="http://schemas.openxmlformats.org/drawingml/2006/main">
              <a:ext uri="{FF2B5EF4-FFF2-40B4-BE49-F238E27FC236}">
                <a16:creationId xmlns:a16="http://schemas.microsoft.com/office/drawing/2014/main" id="{4380F86C-CDBF-4896-AE79-1C0BB6E0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525000"/>
            <a:ext cx="2686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4" name="4-ETL e interoperabilidade-title">
            <a:extLst xmlns:a="http://schemas.openxmlformats.org/drawingml/2006/main">
              <a:ext uri="{FF2B5EF4-FFF2-40B4-BE49-F238E27FC236}">
                <a16:creationId xmlns:a16="http://schemas.microsoft.com/office/drawing/2014/main" id="{42AEAC04-DADE-4334-88CC-2BFBFBA1B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572625"/>
            <a:ext cx="2533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ETL e interoperabilidade</a:t>
            </a:r>
          </a:p>
        </p:txBody>
      </p:sp>
      <p:sp>
        <p:nvSpPr>
          <p:cNvPr id="25" name="4-ETL e interoperabilidade-body">
            <a:extLst xmlns:a="http://schemas.openxmlformats.org/drawingml/2006/main">
              <a:ext uri="{FF2B5EF4-FFF2-40B4-BE49-F238E27FC236}">
                <a16:creationId xmlns:a16="http://schemas.microsoft.com/office/drawing/2014/main" id="{D58036BA-722F-460D-9D71-915C9984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9867900"/>
            <a:ext cx="24955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48" b="0">
                <a:solidFill>
                  <a:srgbClr val="102536"/>
                </a:solidFill>
              </a:defRPr>
            </a:pPr>
            <a:r>
              <a:rPr sz="548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26" name="m-prev-metric">
            <a:extLst xmlns:a="http://schemas.openxmlformats.org/drawingml/2006/main">
              <a:ext uri="{FF2B5EF4-FFF2-40B4-BE49-F238E27FC236}">
                <a16:creationId xmlns:a16="http://schemas.microsoft.com/office/drawing/2014/main" id="{FCAEF3D7-6CD7-48CC-A710-94218FEF8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7" name="m-prev-metric-title">
            <a:extLst xmlns:a="http://schemas.openxmlformats.org/drawingml/2006/main">
              <a:ext uri="{FF2B5EF4-FFF2-40B4-BE49-F238E27FC236}">
                <a16:creationId xmlns:a16="http://schemas.microsoft.com/office/drawing/2014/main" id="{F445E551-EA47-4923-B177-EEED1F44D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diagnóstico</a:t>
            </a:r>
          </a:p>
        </p:txBody>
      </p:sp>
      <p:sp>
        <p:nvSpPr>
          <p:cNvPr id="28" name="m-prev-metric-value">
            <a:extLst xmlns:a="http://schemas.openxmlformats.org/drawingml/2006/main">
              <a:ext uri="{FF2B5EF4-FFF2-40B4-BE49-F238E27FC236}">
                <a16:creationId xmlns:a16="http://schemas.microsoft.com/office/drawing/2014/main" id="{5BA486BD-916B-4961-B9B7-A246B1B0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9" name="m-prev-metric-note">
            <a:extLst xmlns:a="http://schemas.openxmlformats.org/drawingml/2006/main">
              <a:ext uri="{FF2B5EF4-FFF2-40B4-BE49-F238E27FC236}">
                <a16:creationId xmlns:a16="http://schemas.microsoft.com/office/drawing/2014/main" id="{49483A75-14D3-41A2-A5A3-970493A5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Aumento com IC95% sem sobreposição.</a:t>
            </a:r>
          </a:p>
        </p:txBody>
      </p:sp>
      <p:sp>
        <p:nvSpPr>
          <p:cNvPr id="30" name="m-crisis-metric">
            <a:extLst xmlns:a="http://schemas.openxmlformats.org/drawingml/2006/main">
              <a:ext uri="{FF2B5EF4-FFF2-40B4-BE49-F238E27FC236}">
                <a16:creationId xmlns:a16="http://schemas.microsoft.com/office/drawing/2014/main" id="{A88A3FF9-822D-4B6C-8993-02AB61CC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1" name="m-crisis-metric-title">
            <a:extLst xmlns:a="http://schemas.openxmlformats.org/drawingml/2006/main">
              <a:ext uri="{FF2B5EF4-FFF2-40B4-BE49-F238E27FC236}">
                <a16:creationId xmlns:a16="http://schemas.microsoft.com/office/drawing/2014/main" id="{6CA35550-A38D-47E3-82BF-062A0F47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crises</a:t>
            </a:r>
          </a:p>
        </p:txBody>
      </p:sp>
      <p:sp>
        <p:nvSpPr>
          <p:cNvPr id="32" name="m-crisis-metric-value">
            <a:extLst xmlns:a="http://schemas.openxmlformats.org/drawingml/2006/main">
              <a:ext uri="{FF2B5EF4-FFF2-40B4-BE49-F238E27FC236}">
                <a16:creationId xmlns:a16="http://schemas.microsoft.com/office/drawing/2014/main" id="{95FC9CDC-CEED-41F8-BD81-39CA07977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38,3%→37,7%</a:t>
            </a:r>
          </a:p>
        </p:txBody>
      </p:sp>
      <p:sp>
        <p:nvSpPr>
          <p:cNvPr id="33" name="m-crisis-metric-note">
            <a:extLst xmlns:a="http://schemas.openxmlformats.org/drawingml/2006/main">
              <a:ext uri="{FF2B5EF4-FFF2-40B4-BE49-F238E27FC236}">
                <a16:creationId xmlns:a16="http://schemas.microsoft.com/office/drawing/2014/main" id="{AE83A72E-72EC-4CA2-9E17-DD59444D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Estabilidade sugere controle insuficiente.</a:t>
            </a:r>
          </a:p>
        </p:txBody>
      </p:sp>
      <p:sp>
        <p:nvSpPr>
          <p:cNvPr id="34" name="m-meds-metric">
            <a:extLst xmlns:a="http://schemas.openxmlformats.org/drawingml/2006/main">
              <a:ext uri="{FF2B5EF4-FFF2-40B4-BE49-F238E27FC236}">
                <a16:creationId xmlns:a16="http://schemas.microsoft.com/office/drawing/2014/main" id="{D1DFB3BD-497D-4CD1-9A41-6D56B86BB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05150"/>
            <a:ext cx="1162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5" name="m-meds-metric-title">
            <a:extLst xmlns:a="http://schemas.openxmlformats.org/drawingml/2006/main">
              <a:ext uri="{FF2B5EF4-FFF2-40B4-BE49-F238E27FC236}">
                <a16:creationId xmlns:a16="http://schemas.microsoft.com/office/drawing/2014/main" id="{EB8FDB4C-036D-4F94-8606-AE10C190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181350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medicamentos</a:t>
            </a:r>
          </a:p>
        </p:txBody>
      </p:sp>
      <p:sp>
        <p:nvSpPr>
          <p:cNvPr id="36" name="m-meds-metric-value">
            <a:extLst xmlns:a="http://schemas.openxmlformats.org/drawingml/2006/main">
              <a:ext uri="{FF2B5EF4-FFF2-40B4-BE49-F238E27FC236}">
                <a16:creationId xmlns:a16="http://schemas.microsoft.com/office/drawing/2014/main" id="{6AF46888-A69E-444B-A4D9-DC88A3F8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371850"/>
            <a:ext cx="990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37" name="m-meds-metric-note">
            <a:extLst xmlns:a="http://schemas.openxmlformats.org/drawingml/2006/main">
              <a:ext uri="{FF2B5EF4-FFF2-40B4-BE49-F238E27FC236}">
                <a16:creationId xmlns:a16="http://schemas.microsoft.com/office/drawing/2014/main" id="{7DF8C7AE-347E-41C3-ADA0-C244E376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3638550"/>
            <a:ext cx="990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Menor uso entre asmáticos; IC95% orienta cautela.</a:t>
            </a:r>
          </a:p>
        </p:txBody>
      </p:sp>
      <p:sp>
        <p:nvSpPr>
          <p:cNvPr id="38" name="m-chart-prev-caption">
            <a:extLst xmlns:a="http://schemas.openxmlformats.org/drawingml/2006/main">
              <a:ext uri="{FF2B5EF4-FFF2-40B4-BE49-F238E27FC236}">
                <a16:creationId xmlns:a16="http://schemas.microsoft.com/office/drawing/2014/main" id="{CB1CA011-6916-4341-94AF-42F0C2021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171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9" name="m-chart-prev-frame">
            <a:extLst xmlns:a="http://schemas.openxmlformats.org/drawingml/2006/main">
              <a:ext uri="{FF2B5EF4-FFF2-40B4-BE49-F238E27FC236}">
                <a16:creationId xmlns:a16="http://schemas.microsoft.com/office/drawing/2014/main" id="{A5CA54F7-56A5-4BD4-A3A3-56CEB476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a2a3f71b943ea"/>
          <a:stretch xmlns:a="http://schemas.openxmlformats.org/drawingml/2006/main"/>
        </p:blipFill>
        <p:spPr>
          <a:xfrm xmlns:a="http://schemas.openxmlformats.org/drawingml/2006/main">
            <a:off x="3480513" y="4476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1" name="m-chart-meds-caption">
            <a:extLst xmlns:a="http://schemas.openxmlformats.org/drawingml/2006/main">
              <a:ext uri="{FF2B5EF4-FFF2-40B4-BE49-F238E27FC236}">
                <a16:creationId xmlns:a16="http://schemas.microsoft.com/office/drawing/2014/main" id="{9F8654A1-5BC1-4F66-B9C2-E747FECF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6838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2" name="m-chart-meds-frame">
            <a:extLst xmlns:a="http://schemas.openxmlformats.org/drawingml/2006/main">
              <a:ext uri="{FF2B5EF4-FFF2-40B4-BE49-F238E27FC236}">
                <a16:creationId xmlns:a16="http://schemas.microsoft.com/office/drawing/2014/main" id="{ACBA8B12-D4D1-4287-AF32-A5C389DAC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7086600"/>
            <a:ext cx="3676650" cy="2305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4831090624e02"/>
          <a:stretch xmlns:a="http://schemas.openxmlformats.org/drawingml/2006/main"/>
        </p:blipFill>
        <p:spPr>
          <a:xfrm xmlns:a="http://schemas.openxmlformats.org/drawingml/2006/main">
            <a:off x="3480513" y="7143750"/>
            <a:ext cx="3040224" cy="2190750"/>
          </a:xfrm>
          <a:prstGeom xmlns:a="http://schemas.openxmlformats.org/drawingml/2006/main" prst="rect">
            <a:avLst/>
          </a:prstGeom>
        </p:spPr>
      </p:pic>
      <p:sp>
        <p:nvSpPr>
          <p:cNvPr id="44" name="m-chart-smoke-caption">
            <a:extLst xmlns:a="http://schemas.openxmlformats.org/drawingml/2006/main">
              <a:ext uri="{FF2B5EF4-FFF2-40B4-BE49-F238E27FC236}">
                <a16:creationId xmlns:a16="http://schemas.microsoft.com/office/drawing/2014/main" id="{5050716F-00CA-414E-AEDE-4023ADCB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505950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Taxa de fumantes ativos por 100 mil habitantes por UF, PNS 2013 e 2019.</a:t>
            </a:r>
          </a:p>
        </p:txBody>
      </p:sp>
      <p:sp>
        <p:nvSpPr>
          <p:cNvPr id="45" name="m-chart-smoke-frame">
            <a:extLst xmlns:a="http://schemas.openxmlformats.org/drawingml/2006/main">
              <a:ext uri="{FF2B5EF4-FFF2-40B4-BE49-F238E27FC236}">
                <a16:creationId xmlns:a16="http://schemas.microsoft.com/office/drawing/2014/main" id="{28C81DE3-14A9-476F-BF1D-4C5AD2E8E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9753600"/>
            <a:ext cx="367665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68793bd2a4606"/>
          <a:stretch xmlns:a="http://schemas.openxmlformats.org/drawingml/2006/main"/>
        </p:blipFill>
        <p:spPr>
          <a:xfrm xmlns:a="http://schemas.openxmlformats.org/drawingml/2006/main">
            <a:off x="3612696" y="9810750"/>
            <a:ext cx="2775857" cy="2000250"/>
          </a:xfrm>
          <a:prstGeom xmlns:a="http://schemas.openxmlformats.org/drawingml/2006/main" prst="rect">
            <a:avLst/>
          </a:prstGeom>
        </p:spPr>
      </p:pic>
      <p:sp>
        <p:nvSpPr>
          <p:cNvPr id="47" name="5-Achados principais-box">
            <a:extLst xmlns:a="http://schemas.openxmlformats.org/drawingml/2006/main">
              <a:ext uri="{FF2B5EF4-FFF2-40B4-BE49-F238E27FC236}">
                <a16:creationId xmlns:a16="http://schemas.microsoft.com/office/drawing/2014/main" id="{05A1D977-F48E-41E7-9830-92D8A8A3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8" name="5-Achados principais-head">
            <a:extLst xmlns:a="http://schemas.openxmlformats.org/drawingml/2006/main">
              <a:ext uri="{FF2B5EF4-FFF2-40B4-BE49-F238E27FC236}">
                <a16:creationId xmlns:a16="http://schemas.microsoft.com/office/drawing/2014/main" id="{A6D9DC0D-B647-4117-A3F3-F77202A6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051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49" name="5-Achados principais-title">
            <a:extLst xmlns:a="http://schemas.openxmlformats.org/drawingml/2006/main">
              <a:ext uri="{FF2B5EF4-FFF2-40B4-BE49-F238E27FC236}">
                <a16:creationId xmlns:a16="http://schemas.microsoft.com/office/drawing/2014/main" id="{0008CA9C-5F91-455E-B3C9-DDA4E33BB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527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Achados principais</a:t>
            </a:r>
          </a:p>
        </p:txBody>
      </p:sp>
      <p:sp>
        <p:nvSpPr>
          <p:cNvPr id="50" name="5-Achados principais-body">
            <a:extLst xmlns:a="http://schemas.openxmlformats.org/drawingml/2006/main">
              <a:ext uri="{FF2B5EF4-FFF2-40B4-BE49-F238E27FC236}">
                <a16:creationId xmlns:a16="http://schemas.microsoft.com/office/drawing/2014/main" id="{F79AD850-0A85-4EEB-B915-252236C44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48050"/>
            <a:ext cx="2171700" cy="177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Brasil: diagnóstico médico de asma aumentou de 4,41% em 2013 para 5,40% em 2019, com IC95% sem sobreposição.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Brasil: crises nos últimos 12 meses ficaram estáveis, de 38,3% para 37,7%.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Brasil: uso de medicamento oral/bombinha entre pessoas com asma passou de 81,5% para 64,4%; a leitura deve considerar IC95%, perfil dos diagnosticados e taxa populacional.</a:t>
            </a:r>
          </a:p>
          <a:p xmlns:a="http://schemas.openxmlformats.org/drawingml/2006/main">
            <a:pPr algn="l">
              <a:defRPr sz="518" b="0">
                <a:solidFill>
                  <a:srgbClr val="102536"/>
                </a:solidFill>
              </a:defRPr>
            </a:pPr>
            <a:r>
              <a:rPr sz="518" b="0">
                <a:solidFill>
                  <a:srgbClr val="102536"/>
                </a:solidFill>
              </a:rPr>
              <a:t>• Tabagismo caiu em várias UFs; a taxa nacional citada foi de 14.650 para 12.151 por 100 mil.</a:t>
            </a:r>
          </a:p>
        </p:txBody>
      </p:sp>
      <p:sp>
        <p:nvSpPr>
          <p:cNvPr id="51" name="6-Discussão aplicada-box">
            <a:extLst xmlns:a="http://schemas.openxmlformats.org/drawingml/2006/main">
              <a:ext uri="{FF2B5EF4-FFF2-40B4-BE49-F238E27FC236}">
                <a16:creationId xmlns:a16="http://schemas.microsoft.com/office/drawing/2014/main" id="{4D048718-C211-4B8E-812D-E7E6F20C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2" name="6-Discussão aplicada-head">
            <a:extLst xmlns:a="http://schemas.openxmlformats.org/drawingml/2006/main">
              <a:ext uri="{FF2B5EF4-FFF2-40B4-BE49-F238E27FC236}">
                <a16:creationId xmlns:a16="http://schemas.microsoft.com/office/drawing/2014/main" id="{B2121539-C61E-44B7-BAC1-CB2B7AFB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41020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3" name="6-Discussão aplicada-title">
            <a:extLst xmlns:a="http://schemas.openxmlformats.org/drawingml/2006/main">
              <a:ext uri="{FF2B5EF4-FFF2-40B4-BE49-F238E27FC236}">
                <a16:creationId xmlns:a16="http://schemas.microsoft.com/office/drawing/2014/main" id="{F362AA82-9E11-4DBC-8D33-F3E39C256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45782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Discussão aplicada</a:t>
            </a:r>
          </a:p>
        </p:txBody>
      </p:sp>
      <p:sp>
        <p:nvSpPr>
          <p:cNvPr id="54" name="6-Discussão aplicada-body">
            <a:extLst xmlns:a="http://schemas.openxmlformats.org/drawingml/2006/main">
              <a:ext uri="{FF2B5EF4-FFF2-40B4-BE49-F238E27FC236}">
                <a16:creationId xmlns:a16="http://schemas.microsoft.com/office/drawing/2014/main" id="{58F51328-77AA-4FAC-9DDC-21F06C90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753100"/>
            <a:ext cx="21717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A combinação diagnóstico↑, crises≈ e uso de medicamentos↓ sugere expansão do reconhecimento da asma sem melhora proporcional no controle.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O aumento do diagnóstico pode refletir maior ocorrência, melhor acesso ao diagnóstico ou ambos.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O controle da asma depende de acesso farmacológico, seguimento clínico, educação, controle de exposições e intervenções não farmacológicas.</a:t>
            </a:r>
          </a:p>
        </p:txBody>
      </p:sp>
      <p:sp>
        <p:nvSpPr>
          <p:cNvPr id="55" name="7-Conclusão central-box">
            <a:extLst xmlns:a="http://schemas.openxmlformats.org/drawingml/2006/main">
              <a:ext uri="{FF2B5EF4-FFF2-40B4-BE49-F238E27FC236}">
                <a16:creationId xmlns:a16="http://schemas.microsoft.com/office/drawing/2014/main" id="{95119E09-55CB-4BAA-99A6-566C00F1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6" name="7-Conclusão central-head">
            <a:extLst xmlns:a="http://schemas.openxmlformats.org/drawingml/2006/main">
              <a:ext uri="{FF2B5EF4-FFF2-40B4-BE49-F238E27FC236}">
                <a16:creationId xmlns:a16="http://schemas.microsoft.com/office/drawing/2014/main" id="{8C3DCA21-7999-4728-9F33-F5064430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991350"/>
            <a:ext cx="2362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5673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57" name="7-Conclusão central-title">
            <a:extLst xmlns:a="http://schemas.openxmlformats.org/drawingml/2006/main">
              <a:ext uri="{FF2B5EF4-FFF2-40B4-BE49-F238E27FC236}">
                <a16:creationId xmlns:a16="http://schemas.microsoft.com/office/drawing/2014/main" id="{54F29757-9122-410F-B951-76674CAA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7038975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Conclusão central</a:t>
            </a:r>
          </a:p>
        </p:txBody>
      </p:sp>
      <p:sp>
        <p:nvSpPr>
          <p:cNvPr id="58" name="7-Conclusão central-body">
            <a:extLst xmlns:a="http://schemas.openxmlformats.org/drawingml/2006/main">
              <a:ext uri="{FF2B5EF4-FFF2-40B4-BE49-F238E27FC236}">
                <a16:creationId xmlns:a16="http://schemas.microsoft.com/office/drawing/2014/main" id="{4692B837-C526-4AC3-8F0D-215999F5B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7334250"/>
            <a:ext cx="217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 Brasil apresentou aumento de diagnóstico, mas não evidência equivalente de melhora no controle.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Os gráficos por UF devem ser lidos com IC95%, pois várias comparações têm intervalos sobrepostos.</a:t>
            </a:r>
          </a:p>
        </p:txBody>
      </p:sp>
      <p:sp>
        <p:nvSpPr>
          <p:cNvPr id="59" name="m-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15AB4E66-9ED8-458F-BDA9-CE74C423E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62950"/>
            <a:ext cx="2362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Prevalência (%) de crise de asma nos últimos 12 meses por UF e Brasil, PNS 2013 e 2019.</a:t>
            </a:r>
          </a:p>
        </p:txBody>
      </p:sp>
      <p:sp>
        <p:nvSpPr>
          <p:cNvPr id="60" name="m-chart-crisis-frame">
            <a:extLst xmlns:a="http://schemas.openxmlformats.org/drawingml/2006/main">
              <a:ext uri="{FF2B5EF4-FFF2-40B4-BE49-F238E27FC236}">
                <a16:creationId xmlns:a16="http://schemas.microsoft.com/office/drawing/2014/main" id="{DF2D5D34-7CAC-4B78-B38C-B48F920D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610600"/>
            <a:ext cx="2362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da5a43124e498a"/>
          <a:stretch xmlns:a="http://schemas.openxmlformats.org/drawingml/2006/main"/>
        </p:blipFill>
        <p:spPr>
          <a:xfrm xmlns:a="http://schemas.openxmlformats.org/drawingml/2006/main">
            <a:off x="7075326" y="8667750"/>
            <a:ext cx="2194249" cy="1581150"/>
          </a:xfrm>
          <a:prstGeom xmlns:a="http://schemas.openxmlformats.org/drawingml/2006/main" prst="rect">
            <a:avLst/>
          </a:prstGeom>
        </p:spPr>
      </p:pic>
      <p:sp>
        <p:nvSpPr>
          <p:cNvPr id="62" name="qr-box">
            <a:extLst xmlns:a="http://schemas.openxmlformats.org/drawingml/2006/main">
              <a:ext uri="{FF2B5EF4-FFF2-40B4-BE49-F238E27FC236}">
                <a16:creationId xmlns:a16="http://schemas.microsoft.com/office/drawing/2014/main" id="{BE1500F4-AC40-4221-87ED-13C3BB8B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10591800"/>
            <a:ext cx="118110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3dca966e854fff"/>
          <a:stretch xmlns:a="http://schemas.openxmlformats.org/drawingml/2006/main"/>
        </p:blipFill>
        <p:spPr>
          <a:xfrm xmlns:a="http://schemas.openxmlformats.org/drawingml/2006/main">
            <a:off x="7715250" y="107061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64" name="qr-label">
            <a:extLst xmlns:a="http://schemas.openxmlformats.org/drawingml/2006/main">
              <a:ext uri="{FF2B5EF4-FFF2-40B4-BE49-F238E27FC236}">
                <a16:creationId xmlns:a16="http://schemas.microsoft.com/office/drawing/2014/main" id="{2EC6D7FE-BF19-4642-80C0-99C74112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1696700"/>
            <a:ext cx="10287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  <p:sp>
        <p:nvSpPr>
          <p:cNvPr id="65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AE4FEA97-1C77-4697-A09D-A42F9475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382500"/>
            <a:ext cx="88773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02C8DBCB-5424-43B0-A633-AF77F6E2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449175"/>
            <a:ext cx="872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67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E308CD4F-2D55-4FF9-89C3-2F0BEC1CC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649200"/>
            <a:ext cx="8724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</p:spTree>
    <p:extLst>
      <p:ext uri="{BB962C8B-B14F-4D97-AF65-F5344CB8AC3E}">
        <p14:creationId xmlns:p14="http://schemas.microsoft.com/office/powerpoint/2010/main" val="20776752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2026-07-21T21:53:28.5600000Z</dcterms:created>
  <dcterms:modified xsi:type="dcterms:W3CDTF">2026-07-21T21:53:28.5600000Z</dcterms:modified>
</coreProperties>
</file>