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dae896af7f48c0" /><Relationship Type="http://schemas.openxmlformats.org/officeDocument/2006/relationships/extended-properties" Target="/docProps/app.xml" Id="Rf93b168e7cdd424d" /><Relationship Type="http://schemas.openxmlformats.org/officeDocument/2006/relationships/officeDocument" Target="/ppt/presentation.xml" Id="R3c8704714af148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82686c500f494c"/>
  </p:sldMasterIdLst>
  <p:notesMasterIdLst>
    <p:notesMasterId xmlns:r="http://schemas.openxmlformats.org/officeDocument/2006/relationships" r:id="R6bea2ca982f84a97"/>
  </p:notesMasterIdLst>
  <p:sldIdLst>
    <p:sldId xmlns:r="http://schemas.openxmlformats.org/officeDocument/2006/relationships" id="256" r:id="R6f32f62aedbe4820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f58f9414204580" /><Relationship Type="http://schemas.openxmlformats.org/officeDocument/2006/relationships/slideMaster" Target="/ppt/slideMasters/slideMaster1.xml" Id="Rc682686c500f494c" /><Relationship Type="http://schemas.openxmlformats.org/officeDocument/2006/relationships/notesMaster" Target="/ppt/notesMasters/notesMaster1.xml" Id="R6bea2ca982f84a97" /><Relationship Type="http://schemas.openxmlformats.org/officeDocument/2006/relationships/presProps" Target="/ppt/presProps.xml" Id="Rc7e308457f5a485a" /><Relationship Type="http://schemas.openxmlformats.org/officeDocument/2006/relationships/viewProps" Target="/ppt/viewProps.xml" Id="Ra44464301d82415d" /><Relationship Type="http://schemas.openxmlformats.org/officeDocument/2006/relationships/tableStyles" Target="/ppt/tableStyles.xml" Id="R04947446ec95454f" /><Relationship Type="http://schemas.openxmlformats.org/officeDocument/2006/relationships/slide" Target="/ppt/slides/slide1.xml" Id="R6f32f62aedbe48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465069c55b48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dc44d5ca474838" /><Relationship Type="http://schemas.openxmlformats.org/officeDocument/2006/relationships/notesMaster" Target="/ppt/notesMasters/notesMaster1.xml" Id="R78a31531ed604a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3d55a0cd44a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31c52dc5541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a534bbca646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c7138bcae45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a14c079ac45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cd5786a93b41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c7eaa393b484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c4812bf89d49f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23bb25a9546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8a0bd2d084de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4fadc2bff241b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CB69A-8ED7-4838-B967-1CDD5EE156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76ED9EE-F819-4E60-9BA3-84636F8F1A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602AB3-A0A7-4EB7-B8F0-2B9D0E02AB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06D9E9-DFAB-47E6-AC77-54BBBE5F8F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BBC113-BC73-42A3-AC28-63E5181F9D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E63DCF-F9CC-49B8-9457-35DF8D2F27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06C1F6-7F2A-423B-A9A6-9602FC12D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F3975B-4B34-446C-AB9F-4725FC54363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773005-AE18-4369-A69B-CCEABD19ED9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8D983D-3257-43DB-8696-3A3EC5FB37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33953-7F31-425F-99D8-65AB0E4903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F14671E-0A5D-46EA-8A75-9949876739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8625AD4-6E71-40CA-B902-C254972783A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93FD81C-2855-4E81-B8A3-2A6B8D968F5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ED912F-24A8-4C46-ABB9-99A589935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5A8595-F2F8-44C5-A2E0-E5616AA04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B2A6704-4243-48AB-9DA9-0C43E255D1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FDAFF6-B842-463A-A736-5211041BCC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963033-8D04-498C-ADF5-1644D1A478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F7BB812-91C0-4A8A-A4FA-0B71A616311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B7BBE34-31F5-4EAC-9044-A6569ED157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EEAD7-1F31-4D3F-A6C2-10543DEB48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CCA969-48FF-4E35-BAA4-299DA2EE74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F6F8076-6CB1-4D71-A475-31B8E8CAB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746B13A-3C75-49D9-883E-E46CEAAE60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4a58366d84547" /><Relationship Type="http://schemas.openxmlformats.org/officeDocument/2006/relationships/slideLayout" Target="/ppt/slideLayouts/slideLayout1.xml" Id="R9990534782e441cb" /><Relationship Type="http://schemas.openxmlformats.org/officeDocument/2006/relationships/slideLayout" Target="/ppt/slideLayouts/slideLayout2.xml" Id="R69b98b5d994643c5" /><Relationship Type="http://schemas.openxmlformats.org/officeDocument/2006/relationships/slideLayout" Target="/ppt/slideLayouts/slideLayout3.xml" Id="R942a4d703df94ef2" /><Relationship Type="http://schemas.openxmlformats.org/officeDocument/2006/relationships/slideLayout" Target="/ppt/slideLayouts/slideLayout4.xml" Id="Rf7e036472221400e" /><Relationship Type="http://schemas.openxmlformats.org/officeDocument/2006/relationships/slideLayout" Target="/ppt/slideLayouts/slideLayout5.xml" Id="R261bf07cb2044fc3" /><Relationship Type="http://schemas.openxmlformats.org/officeDocument/2006/relationships/slideLayout" Target="/ppt/slideLayouts/slideLayout6.xml" Id="Rb8200da495a44f7e" /><Relationship Type="http://schemas.openxmlformats.org/officeDocument/2006/relationships/slideLayout" Target="/ppt/slideLayouts/slideLayout7.xml" Id="R4d2b0865cffd4e57" /><Relationship Type="http://schemas.openxmlformats.org/officeDocument/2006/relationships/slideLayout" Target="/ppt/slideLayouts/slideLayout8.xml" Id="Rf54c33e978df4272" /><Relationship Type="http://schemas.openxmlformats.org/officeDocument/2006/relationships/slideLayout" Target="/ppt/slideLayouts/slideLayout9.xml" Id="Rb56d3b19269c4056" /><Relationship Type="http://schemas.openxmlformats.org/officeDocument/2006/relationships/slideLayout" Target="/ppt/slideLayouts/slideLayout10.xml" Id="R6493b57edf7d4b2c" /><Relationship Type="http://schemas.openxmlformats.org/officeDocument/2006/relationships/slideLayout" Target="/ppt/slideLayouts/slideLayout11.xml" Id="Rb051260dbcff4b4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90534782e441cb"/>
    <p:sldLayoutId xmlns:r="http://schemas.openxmlformats.org/officeDocument/2006/relationships" id="2147483650" r:id="R69b98b5d994643c5"/>
    <p:sldLayoutId xmlns:r="http://schemas.openxmlformats.org/officeDocument/2006/relationships" id="2147483651" r:id="R942a4d703df94ef2"/>
    <p:sldLayoutId xmlns:r="http://schemas.openxmlformats.org/officeDocument/2006/relationships" id="2147483652" r:id="Rf7e036472221400e"/>
    <p:sldLayoutId xmlns:r="http://schemas.openxmlformats.org/officeDocument/2006/relationships" id="2147483653" r:id="R261bf07cb2044fc3"/>
    <p:sldLayoutId xmlns:r="http://schemas.openxmlformats.org/officeDocument/2006/relationships" id="2147483654" r:id="Rb8200da495a44f7e"/>
    <p:sldLayoutId xmlns:r="http://schemas.openxmlformats.org/officeDocument/2006/relationships" id="2147483655" r:id="R4d2b0865cffd4e57"/>
    <p:sldLayoutId xmlns:r="http://schemas.openxmlformats.org/officeDocument/2006/relationships" id="2147483656" r:id="Rf54c33e978df4272"/>
    <p:sldLayoutId xmlns:r="http://schemas.openxmlformats.org/officeDocument/2006/relationships" id="2147483657" r:id="Rb56d3b19269c4056"/>
    <p:sldLayoutId xmlns:r="http://schemas.openxmlformats.org/officeDocument/2006/relationships" id="2147483658" r:id="R6493b57edf7d4b2c"/>
    <p:sldLayoutId xmlns:r="http://schemas.openxmlformats.org/officeDocument/2006/relationships" id="2147483659" r:id="Rb051260dbcff4b48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f49b4a85f446f" /><Relationship Type="http://schemas.openxmlformats.org/officeDocument/2006/relationships/image" Target="/ppt/media/image.png" Id="Rc7226c8fcbba4c3d" /><Relationship Type="http://schemas.openxmlformats.org/officeDocument/2006/relationships/image" Target="/ppt/media/image2.png" Id="R9350a78eff9d4db9" /><Relationship Type="http://schemas.openxmlformats.org/officeDocument/2006/relationships/image" Target="/ppt/media/image3.png" Id="R29b2f0bbdb0c4ce0" /><Relationship Type="http://schemas.openxmlformats.org/officeDocument/2006/relationships/image" Target="/ppt/media/image4.png" Id="Rcb7cd4855f5c48de" /><Relationship Type="http://schemas.openxmlformats.org/officeDocument/2006/relationships/image" Target="/ppt/media/image5.png" Id="R6d7bf24421794ec6" /><Relationship Type="http://schemas.openxmlformats.org/officeDocument/2006/relationships/image" Target="/ppt/media/image6.png" Id="Rda4311979b7646cf" /><Relationship Type="http://schemas.openxmlformats.org/officeDocument/2006/relationships/image" Target="/ppt/media/image7.png" Id="Ra717ab67737d4009" /><Relationship Type="http://schemas.openxmlformats.org/officeDocument/2006/relationships/image" Target="/ppt/media/image8.png" Id="Ra4cf05863a65443f" /><Relationship Type="http://schemas.openxmlformats.org/officeDocument/2006/relationships/image" Target="/ppt/media/image9.png" Id="R33a642fdcdbc4d9e" /><Relationship Type="http://schemas.openxmlformats.org/officeDocument/2006/relationships/image" Target="/ppt/media/image10.png" Id="R93e2fce0c76e4357" /><Relationship Type="http://schemas.openxmlformats.org/officeDocument/2006/relationships/image" Target="/ppt/media/image11.png" Id="Rc0dc40d83a404b6d" /><Relationship Type="http://schemas.openxmlformats.org/officeDocument/2006/relationships/image" Target="/ppt/media/image12.png" Id="R3c339897eee5483f" /><Relationship Type="http://schemas.openxmlformats.org/officeDocument/2006/relationships/notesSlide" Target="/ppt/notesSlides/notesSlide1.xml" Id="R70389b4a7aaa4475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4" name="TextBox 3">
            <a:extLst>
              <a:ext uri="{FF2B5EF4-FFF2-40B4-BE49-F238E27FC236}">
                <ns2:creationId id="{953F0A63-7DBA-4862-8ADB-634BE2082DC4}"/>
              </a:ext>
            </a:extLst>
          </p:cNvPr>
          <p:cNvSpPr>
            <a:spLocks noGrp="1"/>
          </p:cNvSpPr>
          <p:nvPr/>
        </p:nvSpPr>
        <p:spPr>
          <a:xfrm>
            <a:off x="8436429" y="0"/>
            <a:ext cx="26974800" cy="32918400"/>
          </a:xfrm>
          <a:prstGeom prst="rect">
            <a:avLst/>
          </a:prstGeom>
          <a:solidFill>
            <a:srgbClr val="20425A"/>
          </a:solidFill>
        </p:spPr>
        <p:txBody>
          <a:bodyPr wrap="square">
            <a:spAutoFit/>
          </a:bodyPr>
          <a:lstStyle/>
          <a:p/>
        </p:txBody>
      </p:sp>
      <p:sp>
        <p:nvSpPr>
          <p:cNvPr id="5" name="Title 4">
            <a:extLst>
              <a:ext uri="{FF2B5EF4-FFF2-40B4-BE49-F238E27FC236}">
                <ns2:creationId id="{E2B6D61B-B0C1-41B4-91D3-8A4338C302FE}"/>
              </a:ext>
            </a:extLst>
          </p:cNvPr>
          <p:cNvSpPr>
            <a:spLocks noGrp="1"/>
          </p:cNvSpPr>
          <p:nvPr/>
        </p:nvSpPr>
        <p:spPr>
          <a:xfrm>
            <a:off x="8436429" y="6443810"/>
            <a:ext cx="26974800" cy="11097741"/>
          </a:xfrm>
          <a:prstGeom prst="rect">
            <a:avLst/>
          </a:prstGeom>
        </p:spPr>
        <p:txBody>
          <a:bodyPr vert="horz" lIns="914400" rIns="914400" anchor="t">
            <a:noAutofit/>
          </a:bodyPr>
          <a:lstStyle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sz="10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Mais diagnóstico de asma, sem melhora proporcional no controle</a:t>
            </a:r>
            <a:endParaRPr/>
          </a:p>
        </p:txBody>
      </p:sp>
      <p:sp>
        <p:nvSpPr>
          <p:cNvPr id="11" name="Graphic 7">
            <a:extLst>
              <a:ext uri="{FF2B5EF4-FFF2-40B4-BE49-F238E27FC236}">
                <ns2:creationId id="{6A914F07-9B81-4F27-AA77-A20809DD98D8}"/>
              </a:ext>
            </a:extLst>
          </p:cNvPr>
          <p:cNvSpPr>
            <a:spLocks noGrp="1"/>
          </p:cNvSpPr>
          <p:nvPr/>
        </p:nvSpPr>
        <p:spPr>
          <a:xfrm>
            <a:off x="17812662" y="25909266"/>
            <a:ext cx="1117158" cy="1932381"/>
          </a:xfrm>
          <a:custGeom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B9D9EB"/>
          </a:solidFill>
          <a:ln w="56406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12" name="TextBox 11">
            <a:extLst>
              <a:ext uri="{FF2B5EF4-FFF2-40B4-BE49-F238E27FC236}">
                <ns2:creationId id="{166E3CCB-B3D7-4851-9F10-196B92FE8D0C}"/>
              </a:ext>
            </a:extLst>
          </p:cNvPr>
          <p:cNvSpPr>
            <a:spLocks noGrp="1"/>
          </p:cNvSpPr>
          <p:nvPr/>
        </p:nvSpPr>
        <p:spPr>
          <a:xfrm>
            <a:off x="19306853" y="25997207"/>
            <a:ext cx="7179897" cy="140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Aponte para acessar</a:t>
            </a:r>
            <a:endParaRPr/>
          </a:p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o relatório metodológico</a:t>
            </a:r>
            <a:endParaRPr/>
          </a:p>
        </p:txBody>
      </p:sp>
      <p:cxnSp>
        <p:nvCxnSpPr>
          <p:cNvPr id="124" name="Straight Arrow Connector 12"/>
          <p:cNvCxnSpPr/>
          <p:nvPr/>
        </p:nvCxnSpPr>
        <p:spPr>
          <a:xfrm flipH="1">
            <a:off x="16574285" y="26803752"/>
            <a:ext cx="1153301" cy="0"/>
          </a:xfrm>
          <a:prstGeom prst="straightConnector1">
            <a:avLst/>
          </a:prstGeom>
          <a:ln w="66675">
            <a:solidFill>
              <a:srgbClr val="B9D9EB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613982A0-69CB-45AD-A5F2-E7F4BB7E86E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>
              <a:ext uri="{FF2B5EF4-FFF2-40B4-BE49-F238E27FC236}">
                <ns2:creationId id="{3E20FE60-407F-4C94-8E81-E6399E6D12A5}"/>
              </a:ext>
            </a:extLst>
          </p:cNvPr>
          <p:cNvSpPr>
            <a:spLocks noGrp="1"/>
          </p:cNvSpPr>
          <p:nvPr/>
        </p:nvSpPr>
        <p:spPr>
          <a:xfrm>
            <a:off x="35411229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noChangeAspect="1"/>
          </p:cNvPicPr>
          <p:nvPr/>
        </p:nvPicPr>
        <p:blipFill>
          <a:blip r:embed="Rc7226c8fcbba4c3d"/>
          <a:stretch>
            <a:fillRect l="0" t="0" r="0" b="0"/>
          </a:stretch>
        </p:blipFill>
        <p:spPr>
          <a:xfrm>
            <a:off x="36419038" y="29678799"/>
            <a:ext cx="2810933" cy="2294467"/>
          </a:xfrm>
          <a:prstGeom prst="rect">
            <a:avLst/>
          </a:prstGeom>
        </p:spPr>
      </p:pic>
      <p:sp>
        <p:nvSpPr>
          <p:cNvPr id="21" name="Graphic 18">
            <a:extLst>
              <a:ext uri="{FF2B5EF4-FFF2-40B4-BE49-F238E27FC236}">
                <ns2:creationId id="{DF6CD646-5E36-42FB-96E3-FEB08C25F063}"/>
              </a:ext>
            </a:extLst>
          </p:cNvPr>
          <p:cNvSpPr>
            <a:spLocks noGrp="1"/>
          </p:cNvSpPr>
          <p:nvPr/>
        </p:nvSpPr>
        <p:spPr>
          <a:xfrm rot="0" flipH="0" flipV="0">
            <a:off x="561452" y="7489285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24" name="Graphic 18">
            <a:extLst>
              <a:ext uri="{FF2B5EF4-FFF2-40B4-BE49-F238E27FC236}">
                <ns2:creationId id="{1726A8DA-9186-4C79-926E-2D1215AE14D2}"/>
              </a:ext>
            </a:extLst>
          </p:cNvPr>
          <p:cNvSpPr>
            <a:spLocks noGrp="1"/>
          </p:cNvSpPr>
          <p:nvPr/>
        </p:nvSpPr>
        <p:spPr>
          <a:xfrm>
            <a:off x="36419038" y="26632748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pic>
        <p:nvPicPr>
          <p:cNvPr id="130" name="Imagem 2"/>
          <p:cNvPicPr>
            <a:picLocks noChangeAspect="1"/>
          </p:cNvPicPr>
          <p:nvPr/>
        </p:nvPicPr>
        <p:blipFill>
          <a:blip r:embed="R9350a78eff9d4db9"/>
          <a:srcRect l="0" t="0" r="0" b="0"/>
          <a:stretch/>
        </p:blipFill>
        <p:spPr>
          <a:xfrm>
            <a:off x="40237780" y="28882425"/>
            <a:ext cx="3330899" cy="3731175"/>
          </a:xfrm>
          <a:prstGeom prst="rect">
            <a:avLst/>
          </a:prstGeom>
        </p:spPr>
      </p:pic>
      <p:pic>
        <p:nvPicPr>
          <p:cNvPr id="131" name="Imagem 15"/>
          <p:cNvPicPr>
            <a:picLocks noChangeAspect="1"/>
          </p:cNvPicPr>
          <p:nvPr/>
        </p:nvPicPr>
        <p:blipFill>
          <a:blip r:embed="R29b2f0bbdb0c4ce0"/>
          <a:srcRect l="0" t="41985" r="50251" b="34197"/>
          <a:stretch/>
        </p:blipFill>
        <p:spPr>
          <a:xfrm rot="0" flipH="1" flipV="0">
            <a:off x="17720847" y="1"/>
            <a:ext cx="17829495" cy="4696690"/>
          </a:xfrm>
          <a:prstGeom prst="rect">
            <a:avLst/>
          </a:prstGeom>
        </p:spPr>
      </p:pic>
      <p:pic>
        <p:nvPicPr>
          <p:cNvPr id="132" name="Imagem 25"/>
          <p:cNvPicPr>
            <a:picLocks noChangeAspect="1"/>
          </p:cNvPicPr>
          <p:nvPr/>
        </p:nvPicPr>
        <p:blipFill>
          <a:blip r:embed="R29b2f0bbdb0c4ce0"/>
          <a:srcRect l="0" t="0" r="0" b="0"/>
          <a:stretch/>
        </p:blipFill>
        <p:spPr>
          <a:xfrm rot="0" flipH="0" flipV="0">
            <a:off x="35372905" y="1"/>
            <a:ext cx="8518294" cy="4696690"/>
          </a:xfrm>
          <a:prstGeom prst="rect">
            <a:avLst/>
          </a:prstGeom>
        </p:spPr>
      </p:pic>
      <p:pic>
        <p:nvPicPr>
          <p:cNvPr id="133" name="Imagem 26"/>
          <p:cNvPicPr>
            <a:picLocks noChangeAspect="1"/>
          </p:cNvPicPr>
          <p:nvPr/>
        </p:nvPicPr>
        <p:blipFill>
          <a:blip r:embed="R29b2f0bbdb0c4ce0"/>
          <a:srcRect l="0" t="41985" r="50251" b="34197"/>
          <a:stretch/>
        </p:blipFill>
        <p:spPr>
          <a:xfrm rot="10800000" flipH="1" flipV="0">
            <a:off x="0" y="1"/>
            <a:ext cx="17829495" cy="4696690"/>
          </a:xfrm>
          <a:prstGeom prst="rect">
            <a:avLst/>
          </a:prstGeom>
        </p:spPr>
      </p:pic>
      <p:pic>
        <p:nvPicPr>
          <p:cNvPr id="134" name="Imagem 8"/>
          <p:cNvPicPr>
            <a:picLocks noChangeAspect="1"/>
          </p:cNvPicPr>
          <p:nvPr/>
        </p:nvPicPr>
        <p:blipFill>
          <a:blip r:embed="Rcb7cd4855f5c48de"/>
          <a:stretch>
            <a:fillRect l="0" t="0" r="0" b="0"/>
          </a:stretch>
        </p:blipFill>
        <p:spPr>
          <a:xfrm rot="0" flipH="0" flipV="0">
            <a:off x="1104807" y="998069"/>
            <a:ext cx="12847803" cy="2658990"/>
          </a:xfrm>
          <a:prstGeom prst="rect">
            <a:avLst/>
          </a:prstGeom>
        </p:spPr>
      </p:pic>
      <p:pic>
        <p:nvPicPr>
          <p:cNvPr id="135" name="Imagem 14"/>
          <p:cNvPicPr>
            <a:picLocks noChangeAspect="1"/>
          </p:cNvPicPr>
          <p:nvPr/>
        </p:nvPicPr>
        <p:blipFill>
          <a:blip r:embed="R6d7bf24421794ec6"/>
          <a:srcRect l="0" t="21190" r="0" b="0"/>
          <a:stretch>
            <a:fillRect l="0" t="0" r="0" b="0"/>
          </a:stretch>
        </p:blipFill>
        <p:spPr>
          <a:xfrm rot="0" flipH="0" flipV="0">
            <a:off x="16751300" y="1901593"/>
            <a:ext cx="23686714" cy="1755466"/>
          </a:xfrm>
          <a:prstGeom prst="rect">
            <a:avLst/>
          </a:prstGeom>
        </p:spPr>
      </p:pic>
      <p:pic>
        <p:nvPicPr>
          <p:cNvPr id="136" name="Imagem 30"/>
          <p:cNvPicPr>
            <a:picLocks noChangeAspect="1"/>
          </p:cNvPicPr>
          <p:nvPr/>
        </p:nvPicPr>
        <p:blipFill>
          <a:blip r:embed="R29b2f0bbdb0c4ce0"/>
          <a:srcRect l="0" t="41985" r="50251" b="34197"/>
          <a:stretch/>
        </p:blipFill>
        <p:spPr>
          <a:xfrm rot="0" flipH="1" flipV="0">
            <a:off x="17873247" y="152401"/>
            <a:ext cx="17829495" cy="4696690"/>
          </a:xfrm>
          <a:prstGeom prst="rect">
            <a:avLst/>
          </a:prstGeom>
        </p:spPr>
      </p:pic>
      <p:pic>
        <p:nvPicPr>
          <p:cNvPr id="137" name="Imagem 31"/>
          <p:cNvPicPr>
            <a:picLocks noChangeAspect="1"/>
          </p:cNvPicPr>
          <p:nvPr/>
        </p:nvPicPr>
        <p:blipFill>
          <a:blip r:embed="R29b2f0bbdb0c4ce0"/>
          <a:srcRect l="0" t="0" r="0" b="0"/>
          <a:stretch/>
        </p:blipFill>
        <p:spPr>
          <a:xfrm rot="0" flipH="0" flipV="0">
            <a:off x="35525305" y="152401"/>
            <a:ext cx="8518294" cy="4696690"/>
          </a:xfrm>
          <a:prstGeom prst="rect">
            <a:avLst/>
          </a:prstGeom>
        </p:spPr>
      </p:pic>
      <p:pic>
        <p:nvPicPr>
          <p:cNvPr id="138" name="Imagem 32"/>
          <p:cNvPicPr>
            <a:picLocks noChangeAspect="1"/>
          </p:cNvPicPr>
          <p:nvPr/>
        </p:nvPicPr>
        <p:blipFill>
          <a:blip r:embed="R29b2f0bbdb0c4ce0"/>
          <a:srcRect l="0" t="41985" r="50251" b="34197"/>
          <a:stretch/>
        </p:blipFill>
        <p:spPr>
          <a:xfrm rot="10800000" flipH="1" flipV="0">
            <a:off x="152400" y="152401"/>
            <a:ext cx="17829495" cy="4696690"/>
          </a:xfrm>
          <a:prstGeom prst="rect">
            <a:avLst/>
          </a:prstGeom>
        </p:spPr>
      </p:pic>
      <p:pic>
        <p:nvPicPr>
          <p:cNvPr id="139" name="Imagem 28"/>
          <p:cNvPicPr>
            <a:picLocks noChangeAspect="1"/>
          </p:cNvPicPr>
          <p:nvPr/>
        </p:nvPicPr>
        <p:blipFill>
          <a:blip r:embed="Rcb7cd4855f5c48de"/>
          <a:stretch>
            <a:fillRect l="0" t="0" r="0" b="0"/>
          </a:stretch>
        </p:blipFill>
        <p:spPr>
          <a:xfrm rot="0" flipH="0" flipV="0">
            <a:off x="1257207" y="1150469"/>
            <a:ext cx="12847803" cy="2658990"/>
          </a:xfrm>
          <a:prstGeom prst="rect">
            <a:avLst/>
          </a:prstGeom>
        </p:spPr>
      </p:pic>
      <p:pic>
        <p:nvPicPr>
          <p:cNvPr id="140" name="Imagem 34"/>
          <p:cNvPicPr>
            <a:picLocks noChangeAspect="1"/>
          </p:cNvPicPr>
          <p:nvPr/>
        </p:nvPicPr>
        <p:blipFill>
          <a:blip r:embed="Rda4311979b7646cf"/>
          <a:stretch>
            <a:fillRect l="0" t="0" r="0" b="0"/>
          </a:stretch>
        </p:blipFill>
        <p:spPr>
          <a:xfrm>
            <a:off x="16751301" y="1892510"/>
            <a:ext cx="24396700" cy="1536490"/>
          </a:xfrm>
          <a:prstGeom prst="rect">
            <a:avLst/>
          </a:prstGeom>
        </p:spPr>
      </p:pic>
      <p:sp>
        <p:nvSpPr>
          <p:cNvPr id="39" name="poster-title">
            <a:extLst>
              <a:ext uri="{FF2B5EF4-FFF2-40B4-BE49-F238E27FC236}">
                <ns2:creationId id="{CFE118DB-12E8-401C-88FB-C56E4AA5200D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70675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Evolução da asma no Brasil, 2013-2019</a:t>
            </a:r>
            <a:endParaRPr/>
          </a:p>
          <a:p>
            <a:r>
              <a:rPr sz="270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PNS, plano amostral e indicadores reprodutíveis</a:t>
            </a:r>
            <a:endParaRPr/>
          </a:p>
        </p:txBody>
      </p:sp>
      <p:sp>
        <p:nvSpPr>
          <p:cNvPr id="40" name="poster-presenter">
            <a:extLst>
              <a:ext uri="{FF2B5EF4-FFF2-40B4-BE49-F238E27FC236}">
                <ns2:creationId id="{B04A30FA-0FEC-4851-8992-90FBE5A86597}"/>
              </a:ext>
            </a:extLst>
          </p:cNvPr>
          <p:cNvSpPr>
            <a:spLocks noGrp="1"/>
          </p:cNvSpPr>
          <p:nvPr/>
        </p:nvSpPr>
        <p:spPr>
          <a:xfrm>
            <a:off x="942975" y="73342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APRESENTAÇÃO: I. Dube; M. E. L. Silva</a:t>
            </a:r>
          </a:p>
        </p:txBody>
      </p:sp>
      <p:sp>
        <p:nvSpPr>
          <p:cNvPr id="43" name="poster-authors">
            <a:extLst>
              <a:ext uri="{FF2B5EF4-FFF2-40B4-BE49-F238E27FC236}">
                <ns2:creationId id="{6F605D87-2F06-4045-9747-69A26DFAC9DD}"/>
              </a:ext>
            </a:extLst>
          </p:cNvPr>
          <p:cNvSpPr>
            <a:spLocks noGrp="1"/>
          </p:cNvSpPr>
          <p:nvPr/>
        </p:nvSpPr>
        <p:spPr>
          <a:xfrm>
            <a:off x="36852225" y="26450925"/>
            <a:ext cx="66675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Brasil</a:t>
            </a:r>
          </a:p>
        </p:txBody>
      </p:sp>
      <p:sp>
        <p:nvSpPr>
          <p:cNvPr id="44" name="github-qr-placeholder">
            <a:extLst>
              <a:ext uri="{FF2B5EF4-FFF2-40B4-BE49-F238E27FC236}">
                <ns2:creationId id="{D769B753-4009-4F89-910B-19A03CFC4E59}"/>
              </a:ext>
            </a:extLst>
          </p:cNvPr>
          <p:cNvSpPr>
            <a:spLocks noGrp="1"/>
          </p:cNvSpPr>
          <p:nvPr/>
        </p:nvSpPr>
        <p:spPr>
          <a:xfrm>
            <a:off x="12049125" y="24574500"/>
            <a:ext cx="4572000" cy="4572000"/>
          </a:xfrm>
          <a:prstGeom prst="rect">
            <a:avLst/>
          </a:prstGeom>
          <a:solidFill>
            <a:srgbClr val="FFFFFF"/>
          </a:solidFill>
          <a:ln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>
              <a:ext uri="{FF2B5EF4-FFF2-40B4-BE49-F238E27FC236}">
                <ns2:creationId id="{B202DFF5-D80F-462E-AF65-E5016D8ACD64}"/>
              </a:ext>
            </a:extLst>
          </p:cNvPr>
          <p:cNvSpPr>
            <a:spLocks noGrp="1"/>
          </p:cNvSpPr>
          <p:nvPr/>
        </p:nvSpPr>
        <p:spPr>
          <a:xfrm>
            <a:off x="12334875" y="26098500"/>
            <a:ext cx="4000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QR Code</a:t>
            </a:r>
            <a:endParaRPr/>
          </a:p>
          <a:p>
            <a:r>
              <a:rPr sz="2325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relatório metodológico</a:t>
            </a:r>
            <a:endParaRPr/>
          </a:p>
        </p:txBody>
      </p:sp>
      <p:pic>
        <p:nvPicPr>
          <p:cNvPr id="146" name=""/>
          <p:cNvPicPr>
            <a:picLocks noChangeAspect="1"/>
          </p:cNvPicPr>
          <p:nvPr/>
        </p:nvPicPr>
        <p:blipFill>
          <a:blip r:embed="Ra717ab67737d4009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7" name=""/>
          <p:cNvPicPr>
            <a:picLocks noChangeAspect="1"/>
          </p:cNvPicPr>
          <p:nvPr/>
        </p:nvPicPr>
        <p:blipFill>
          <a:blip r:embed="Ra4cf05863a65443f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pic>
        <p:nvPicPr>
          <p:cNvPr id="148" name=""/>
          <p:cNvPicPr>
            <a:picLocks noChangeAspect="1"/>
          </p:cNvPicPr>
          <p:nvPr/>
        </p:nvPicPr>
        <p:blipFill>
          <a:blip r:embed="R33a642fdcdbc4d9e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9" name=""/>
          <p:cNvPicPr>
            <a:picLocks noChangeAspect="1"/>
          </p:cNvPicPr>
          <p:nvPr/>
        </p:nvPicPr>
        <p:blipFill>
          <a:blip r:embed="R93e2fce0c76e4357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5" name="morrison-method-detail">
            <a:extLst>
              <a:ext uri="{FF2B5EF4-FFF2-40B4-BE49-F238E27FC236}">
                <ns2:creationId id="{D6FDB93F-4D1B-4B8D-AFAE-346D9F0697FB}"/>
              </a:ext>
            </a:extLst>
          </p:cNvPr>
          <p:cNvSpPr>
            <a:spLocks noGrp="1"/>
          </p:cNvSpPr>
          <p:nvPr/>
        </p:nvSpPr>
        <p:spPr>
          <a:xfrm>
            <a:off x="495300" y="8667750"/>
            <a:ext cx="7239000" cy="5600000"/>
            <a:off y="8667750"/>
            <a:ext cy="6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660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INTRO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 asma combina carga crônica, crises e manejo contínuo.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Indicadores da PNS orientam vigilância e políticas públicas.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MÉTODOS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Microdados PNS 2013/2019; morador selecionado.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Desenho complexo: UPA, estratos e pesos via `pns_design()`.</a:t>
            </a:r>
            <a:endParaRPr/>
          </a:p>
          <a:p>
            <a:r>
              <a:rPr sz="66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IC95% beta: adequado para proporções e domínios pequenos.</a:t>
            </a:r>
            <a:endParaRPr/>
          </a:p>
        </p:txBody>
      </p:sp>
      <p:sp>
        <p:nvSpPr>
          <p:cNvPr id="116" name="morrison-resource-detail">
            <a:extLst>
              <a:ext uri="{FF2B5EF4-FFF2-40B4-BE49-F238E27FC236}">
                <ns2:creationId id="{82D93542-35C1-4915-9FAB-BFAD5413ED49}"/>
              </a:ext>
            </a:extLst>
          </p:cNvPr>
          <p:cNvSpPr>
            <a:spLocks noGrp="1"/>
          </p:cNvSpPr>
          <p:nvPr/>
        </p:nvSpPr>
        <p:spPr>
          <a:xfrm>
            <a:off x="36223575" y="5686425"/>
            <a:ext cx="6905625" cy="1466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RECURSOS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QR: relatório metodológico, códigos e gráficos reprodutíveis.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Link: ingodube.github.io/PNS_2013_2019/metodologia.html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INTERPRETAÇÃO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ICs sem sobreposição sustentam aumento nacional do diagnóstico.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ICs sobrepostos limitam conclusões em várias UFs.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Estabilidade das crises sugere manejo ainda insuficiente.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Tabagismo caiu, mas não explica isoladamente o aumento do diagnóstico.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DADOS OBSERVACIONAIS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Fluxo analítico segue lógica ETL.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OMOP/OHDSI inspira padronização, interoperabilidade e comparação futura com bases assistenciais.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REFERÊNCIAS</a:t>
            </a:r>
            <a:endParaRPr/>
          </a:p>
          <a:p>
            <a:r>
              <a:rPr sz="187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[1] GAN 2022; [2] Souza-Júnior 2015; [3] Dube/Silva 2026; [4] Menezes 2015; [5] Santos 2018; [6] Brown 2001; [7] Korn 1998.</a:t>
            </a:r>
            <a:endParaRPr/>
          </a:p>
        </p:txBody>
      </p:sp>
      <p:pic>
        <p:nvPicPr>
          <p:cNvPr id="152" name=""/>
          <p:cNvPicPr>
            <a:picLocks noChangeAspect="1"/>
          </p:cNvPicPr>
          <p:nvPr/>
        </p:nvPicPr>
        <p:blipFill>
          <a:blip r:embed="Rc0dc40d83a404b6d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53" name=""/>
          <p:cNvPicPr>
            <a:picLocks noChangeAspect="1"/>
          </p:cNvPicPr>
          <p:nvPr/>
        </p:nvPicPr>
        <p:blipFill>
          <a:blip r:embed="R3c339897eee5483f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9" name="morrison-chart-note">
            <a:extLst>
              <a:ext uri="{FF2B5EF4-FFF2-40B4-BE49-F238E27FC236}">
                <ns2:creationId id="{B40F3A6E-9286-4BF6-A4DA-84A73CB4D9E6}"/>
              </a:ext>
            </a:extLst>
          </p:cNvPr>
          <p:cNvSpPr>
            <a:spLocks noGrp="1"/>
          </p:cNvSpPr>
          <p:nvPr/>
        </p:nvSpPr>
        <p:spPr>
          <a:xfrm>
            <a:off x="9334500" y="22145625"/>
            <a:ext cx="24765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Gráficos exportados dos códigos R: barras horizontais por UF, comparação 2013/2019, IC95% e paleta original.</a:t>
            </a:r>
            <a:endParaRPr/>
          </a:p>
        </p:txBody>
      </p:sp>
      <p:sp>
        <p:nvSpPr>
          <p:cNvPr id="154" name="formula-box-morrison-pt"/>
          <p:cNvSpPr txBox="1"/>
          <p:nvPr/>
        </p:nvSpPr>
        <p:spPr>
          <a:xfrm>
            <a:off x="495300" y="14550000"/>
            <a:ext cx="7239000" cy="1600000"/>
            <a:off x="495300" y="14950000"/>
            <a:ext cx="7239000" cy="245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pPr algn="ctr"/>
            <a:r>
              <a:rPr lang="pt-BR" sz="960" b="1">
                <a:latin typeface="Cambria Math"/>
              </a:rPr>
              <a:t>FÓRMULAS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p̂ = Σ wᵢyᵢ / Σ wᵢ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% = 100 × p̂</a:t>
            </a:r>
            <a:endParaRPr/>
          </a:p>
          <a:p>
            <a:pPr algn="ctr"/>
            <a:r>
              <a:rPr lang="pt-BR" sz="960" b="0">
                <a:latin typeface="Cambria Math"/>
              </a:rPr>
              <a:t>taxa₁₀₀k = 100000 × p̂</a:t>
            </a:r>
            <a:endParaRPr/>
          </a:p>
        </p:txBody>
      </p:sp>
      <p:sp>
        <p:nvSpPr>
          <p:cNvPr id="155" name="results-box-morrison-pt"/>
          <p:cNvSpPr txBox="1"/>
          <p:nvPr/>
        </p:nvSpPr>
        <p:spPr>
          <a:xfrm>
            <a:off x="495300" y="16450000"/>
            <a:ext cx="7239000" cy="4700000"/>
            <a:off x="495300" y="17650000"/>
            <a:ext cx="7239000" cy="360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r>
              <a:rPr lang="pt-BR" sz="740" b="1"/>
              <a:t>RESULTADOS</a:t>
            </a:r>
            <a:endParaRPr/>
          </a:p>
          <a:p>
            <a:r>
              <a:rPr lang="pt-BR" sz="740" b="0"/>
              <a:t>• Asma: 4,41% -&gt; 5,40%.</a:t>
            </a:r>
            <a:endParaRPr/>
          </a:p>
          <a:p>
            <a:r>
              <a:rPr lang="pt-BR" sz="740" b="0"/>
              <a:t>• Crises: 38,3% -&gt; 37,7%.</a:t>
            </a:r>
            <a:endParaRPr/>
          </a:p>
          <a:p>
            <a:r>
              <a:rPr lang="pt-BR" sz="740" b="0"/>
              <a:t>• Medicamentos: 81,5% -&gt; 64,4%.</a:t>
            </a:r>
            <a:endParaRPr/>
          </a:p>
          <a:p>
            <a:r>
              <a:rPr lang="pt-BR" sz="740" b="0"/>
              <a:t>• IC95% orienta comparações entre anos e UFs.</a:t>
            </a:r>
            <a:endParaRPr/>
          </a:p>
        </p:txBody>
      </p:sp>
    </p:spTree>
    <p:extLst>
      <p:ext uri="{BB962C8B-B14F-4D97-AF65-F5344CB8AC3E}">
        <ns4:creationId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2026-07-21T12:19:13.8360000Z</dcterms:created>
  <dcterms:modified xsi:type="dcterms:W3CDTF">2026-07-21T12:19:13.8360000Z</dcterms:modified>
</coreProperties>
</file>